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6"/>
  </p:notesMasterIdLst>
  <p:sldIdLst>
    <p:sldId id="256" r:id="rId2"/>
    <p:sldId id="257" r:id="rId3"/>
    <p:sldId id="267" r:id="rId4"/>
    <p:sldId id="268" r:id="rId5"/>
    <p:sldId id="269" r:id="rId6"/>
    <p:sldId id="272" r:id="rId7"/>
    <p:sldId id="276" r:id="rId8"/>
    <p:sldId id="274" r:id="rId9"/>
    <p:sldId id="270" r:id="rId10"/>
    <p:sldId id="275" r:id="rId11"/>
    <p:sldId id="273" r:id="rId12"/>
    <p:sldId id="277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303" autoAdjust="0"/>
  </p:normalViewPr>
  <p:slideViewPr>
    <p:cSldViewPr snapToGrid="0">
      <p:cViewPr varScale="1">
        <p:scale>
          <a:sx n="74" d="100"/>
          <a:sy n="74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0E505-DE68-40E2-8464-674EAFE20382}" type="datetimeFigureOut">
              <a:rPr lang="en-GB" smtClean="0"/>
              <a:t>03/01/2023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6CFB9-8CDE-45AE-9BB4-0EB251787E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109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positive integers not divisible by 3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6CFB9-8CDE-45AE-9BB4-0EB251787E6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449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example of fitness formula is</a:t>
            </a:r>
            <a:r>
              <a:rPr lang="en-US" sz="1200" dirty="0"/>
              <a:t> the number of characters in random population which match the target phrase.</a:t>
            </a:r>
          </a:p>
          <a:p>
            <a:r>
              <a:rPr lang="en-US" dirty="0"/>
              <a:t>Most</a:t>
            </a:r>
            <a:r>
              <a:rPr lang="en-US" baseline="0" dirty="0"/>
              <a:t> fitting elements in selection are the ones closest to the target phrase</a:t>
            </a:r>
          </a:p>
          <a:p>
            <a:r>
              <a:rPr lang="en-US" dirty="0"/>
              <a:t>Mutation ensures</a:t>
            </a:r>
            <a:r>
              <a:rPr lang="en-US" baseline="0" dirty="0"/>
              <a:t> that there’s enough variable between the population to proceed. We can keep mutation rate to be 0 if the population for selection is high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6CFB9-8CDE-45AE-9BB4-0EB251787E6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466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dirty="0"/>
              <a:t>A.k.a. </a:t>
            </a:r>
            <a:r>
              <a:rPr lang="en-US" b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Randomized search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6CFB9-8CDE-45AE-9BB4-0EB251787E6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668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6CFB9-8CDE-45AE-9BB4-0EB251787E6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074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6CFB9-8CDE-45AE-9BB4-0EB251787E6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906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25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628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189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04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99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94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26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79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1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07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15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Genetic Algorithms</a:t>
            </a:r>
            <a:endParaRPr lang="en-GB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Owais A. Hussain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409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30"/>
            <a:ext cx="10058400" cy="4023360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Shakespeare and monkey with a keyboard</a:t>
            </a:r>
          </a:p>
          <a:p>
            <a:pPr lvl="1"/>
            <a:r>
              <a:rPr lang="en-US" sz="2800" dirty="0"/>
              <a:t>Socrates or Jean-Paul </a:t>
            </a:r>
            <a:r>
              <a:rPr lang="en-US" sz="2800" dirty="0" err="1"/>
              <a:t>Satre</a:t>
            </a:r>
            <a:r>
              <a:rPr lang="en-US" sz="2800" dirty="0"/>
              <a:t>?</a:t>
            </a:r>
          </a:p>
          <a:p>
            <a:pPr lvl="1"/>
            <a:r>
              <a:rPr lang="en-US" sz="2800" dirty="0"/>
              <a:t>The cost of Brute force and the age of Universe</a:t>
            </a:r>
          </a:p>
          <a:p>
            <a:pPr lvl="1"/>
            <a:r>
              <a:rPr lang="en-US" sz="2800" dirty="0"/>
              <a:t>Series guessing riddle</a:t>
            </a:r>
          </a:p>
          <a:p>
            <a:pPr lvl="1"/>
            <a:r>
              <a:rPr lang="en-US" sz="2800" dirty="0"/>
              <a:t>Mona Lisa</a:t>
            </a:r>
          </a:p>
          <a:p>
            <a:pPr lvl="1"/>
            <a:r>
              <a:rPr lang="en-US" sz="2800" dirty="0"/>
              <a:t>Darwinian natural selection</a:t>
            </a:r>
          </a:p>
          <a:p>
            <a:pPr lvl="1"/>
            <a:r>
              <a:rPr lang="en-US" sz="2800" dirty="0"/>
              <a:t>Genetic algorithms</a:t>
            </a:r>
          </a:p>
          <a:p>
            <a:pPr lvl="1"/>
            <a:r>
              <a:rPr lang="en-US" sz="2800" dirty="0"/>
              <a:t>In action</a:t>
            </a:r>
          </a:p>
        </p:txBody>
      </p:sp>
    </p:spTree>
    <p:extLst>
      <p:ext uri="{BB962C8B-B14F-4D97-AF65-F5344CB8AC3E}">
        <p14:creationId xmlns:p14="http://schemas.microsoft.com/office/powerpoint/2010/main" val="44081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Shakespeare and monkey with a keyboard</a:t>
            </a:r>
            <a:endParaRPr lang="en-GB" dirty="0"/>
          </a:p>
        </p:txBody>
      </p:sp>
      <p:pic>
        <p:nvPicPr>
          <p:cNvPr id="1028" name="Picture 4" descr="Image result for shakespeare and monkey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92841" y="1806157"/>
            <a:ext cx="6267278" cy="444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196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Socrates or Jean-Paul </a:t>
            </a:r>
            <a:r>
              <a:rPr lang="en-US" dirty="0" err="1"/>
              <a:t>Satre</a:t>
            </a:r>
            <a:r>
              <a:rPr lang="en-US" dirty="0"/>
              <a:t>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30"/>
            <a:ext cx="10058400" cy="4023360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To be is to do – Socrates</a:t>
            </a:r>
          </a:p>
          <a:p>
            <a:pPr lvl="1"/>
            <a:r>
              <a:rPr lang="en-US" sz="2800" dirty="0"/>
              <a:t>To do is to be – Jean-Paul </a:t>
            </a:r>
            <a:r>
              <a:rPr lang="en-US" sz="2800" dirty="0" err="1"/>
              <a:t>Satre</a:t>
            </a:r>
            <a:endParaRPr lang="en-US" sz="2800" dirty="0"/>
          </a:p>
          <a:p>
            <a:pPr lvl="1"/>
            <a:r>
              <a:rPr lang="en-US" sz="2800" dirty="0"/>
              <a:t>Let’s target: “To be is to do or to do is to be”</a:t>
            </a:r>
          </a:p>
          <a:p>
            <a:pPr lvl="1"/>
            <a:r>
              <a:rPr lang="en-US" sz="2800" dirty="0"/>
              <a:t>The monkey starts typing… when will he have typed the above phrase?</a:t>
            </a:r>
          </a:p>
        </p:txBody>
      </p:sp>
    </p:spTree>
    <p:extLst>
      <p:ext uri="{BB962C8B-B14F-4D97-AF65-F5344CB8AC3E}">
        <p14:creationId xmlns:p14="http://schemas.microsoft.com/office/powerpoint/2010/main" val="86434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cost of Brute force and the age of Universe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05906" y="1811230"/>
                <a:ext cx="10058400" cy="402336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sz="2800" dirty="0"/>
                  <a:t>Probability of typing “t”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800" dirty="0"/>
                  <a:t> on an alphabetic keyboard</a:t>
                </a:r>
              </a:p>
              <a:p>
                <a:pPr lvl="1"/>
                <a:r>
                  <a:rPr lang="en-US" sz="2800" dirty="0"/>
                  <a:t>Probability of typing “o” after “t”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endParaRPr lang="en-US" sz="2800" dirty="0"/>
              </a:p>
              <a:p>
                <a:pPr lvl="1"/>
                <a:r>
                  <a:rPr lang="en-US" sz="2800" dirty="0"/>
                  <a:t>Probability of “to be is to do or to do is to be” is: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den>
                    </m:f>
                  </m:oMath>
                </a14:m>
                <a:endParaRPr lang="en-US" sz="2800" dirty="0"/>
              </a:p>
              <a:p>
                <a:pPr lvl="1"/>
                <a:r>
                  <a:rPr lang="en-US" sz="2800" dirty="0"/>
                  <a:t>6,362,685,441,135,941,961,266,828,286,448,842,442,468,062,082</a:t>
                </a:r>
              </a:p>
              <a:p>
                <a:pPr lvl="1"/>
                <a:r>
                  <a:rPr lang="en-US" sz="2800" dirty="0"/>
                  <a:t>What if our monkey is a computer @ computing speed of 1M/sec</a:t>
                </a:r>
              </a:p>
              <a:p>
                <a:pPr lvl="1"/>
                <a:r>
                  <a:rPr lang="en-US" sz="2800" dirty="0"/>
                  <a:t>Still, it will take 4,842,226,363,117,155,566,080 Trillion years</a:t>
                </a:r>
              </a:p>
              <a:p>
                <a:pPr lvl="1"/>
                <a:r>
                  <a:rPr lang="en-US" sz="2800" dirty="0"/>
                  <a:t>The universe is 13.75 Billion years old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5906" y="1811230"/>
                <a:ext cx="10058400" cy="4023360"/>
              </a:xfrm>
              <a:blipFill rotWithShape="0">
                <a:blip r:embed="rId2"/>
                <a:stretch>
                  <a:fillRect l="-182" t="-606" r="-1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622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guessing riddle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30"/>
            <a:ext cx="10058400" cy="4023360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I have a numerical series in mind</a:t>
            </a:r>
          </a:p>
          <a:p>
            <a:pPr lvl="1"/>
            <a:r>
              <a:rPr lang="en-US" sz="2800" dirty="0"/>
              <a:t>0 lies in this series</a:t>
            </a:r>
          </a:p>
          <a:p>
            <a:pPr lvl="1"/>
            <a:r>
              <a:rPr lang="en-US" sz="2800" dirty="0"/>
              <a:t>1 lies in this series</a:t>
            </a:r>
          </a:p>
          <a:p>
            <a:pPr lvl="1"/>
            <a:r>
              <a:rPr lang="en-US" sz="2800" dirty="0"/>
              <a:t>3 does not lie in this series</a:t>
            </a:r>
          </a:p>
          <a:p>
            <a:pPr lvl="1"/>
            <a:r>
              <a:rPr lang="en-US" sz="2800" dirty="0"/>
              <a:t>Negative numbers do not lie in this series</a:t>
            </a:r>
          </a:p>
          <a:p>
            <a:pPr lvl="1"/>
            <a:r>
              <a:rPr lang="en-US" sz="2800" dirty="0"/>
              <a:t>You can ask if a certain number falls in my series</a:t>
            </a:r>
          </a:p>
          <a:p>
            <a:pPr lvl="1"/>
            <a:r>
              <a:rPr lang="en-US" sz="2800" dirty="0"/>
              <a:t>I will only answer in Yes/No</a:t>
            </a:r>
          </a:p>
          <a:p>
            <a:pPr lvl="1"/>
            <a:r>
              <a:rPr lang="en-US" sz="2800" dirty="0"/>
              <a:t>Let’s play…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2522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playback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259" y="116114"/>
            <a:ext cx="12188074" cy="6741887"/>
          </a:xfrm>
        </p:spPr>
      </p:pic>
    </p:spTree>
    <p:extLst>
      <p:ext uri="{BB962C8B-B14F-4D97-AF65-F5344CB8AC3E}">
        <p14:creationId xmlns:p14="http://schemas.microsoft.com/office/powerpoint/2010/main" val="118228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Darwinian Natural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Heredity: children receive genetic properties of their parents.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Selection: some (but not all) parents may transfer their genetic information to their children.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Variation: population has the ability to make variation to the genetic properties transferred by their parents.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39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Genetic Algorithms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29"/>
            <a:ext cx="10058400" cy="4461233"/>
          </a:xfrm>
        </p:spPr>
        <p:txBody>
          <a:bodyPr>
            <a:normAutofit/>
          </a:bodyPr>
          <a:lstStyle/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Setup: create a random population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Generation:</a:t>
            </a:r>
          </a:p>
          <a:p>
            <a:pPr marL="898398" lvl="2" indent="-514350">
              <a:buFont typeface="+mj-lt"/>
              <a:buAutoNum type="alphaLcParenR"/>
            </a:pPr>
            <a:r>
              <a:rPr lang="en-US" sz="2400" dirty="0"/>
              <a:t>Evaluation: calculate fitness of population by defining a fitness formula</a:t>
            </a:r>
          </a:p>
          <a:p>
            <a:pPr marL="898398" lvl="2" indent="-514350">
              <a:buFont typeface="+mj-lt"/>
              <a:buAutoNum type="alphaLcParenR"/>
            </a:pPr>
            <a:r>
              <a:rPr lang="en-US" sz="2400" dirty="0"/>
              <a:t>Selection: pick two or more (but not too many) most fitting elements</a:t>
            </a:r>
          </a:p>
          <a:p>
            <a:pPr marL="898398" lvl="2" indent="-514350">
              <a:buFont typeface="+mj-lt"/>
              <a:buAutoNum type="alphaLcParenR"/>
            </a:pPr>
            <a:r>
              <a:rPr lang="en-US" sz="2400" dirty="0"/>
              <a:t>Regeneration:</a:t>
            </a:r>
          </a:p>
          <a:p>
            <a:pPr marL="1081278" lvl="3" indent="-514350">
              <a:buFont typeface="+mj-lt"/>
              <a:buAutoNum type="romanLcPeriod"/>
            </a:pPr>
            <a:r>
              <a:rPr lang="en-US" sz="2400" dirty="0"/>
              <a:t>Crossover: combine parts from selection by crossover to generate new candidates</a:t>
            </a:r>
          </a:p>
          <a:p>
            <a:pPr marL="1081278" lvl="3" indent="-514350">
              <a:buFont typeface="+mj-lt"/>
              <a:buAutoNum type="romanLcPeriod"/>
            </a:pPr>
            <a:r>
              <a:rPr lang="en-US" sz="2400" dirty="0"/>
              <a:t>Mutation: the variation we make to the selection when crossing over</a:t>
            </a:r>
          </a:p>
          <a:p>
            <a:pPr marL="1081278" lvl="3" indent="-514350">
              <a:buFont typeface="+mj-lt"/>
              <a:buAutoNum type="romanLcPeriod"/>
            </a:pPr>
            <a:r>
              <a:rPr lang="en-US" sz="2400" dirty="0"/>
              <a:t>Add the new element to a new population set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Replace: old population is overridden with the new population</a:t>
            </a:r>
          </a:p>
        </p:txBody>
      </p:sp>
    </p:spTree>
    <p:extLst>
      <p:ext uri="{BB962C8B-B14F-4D97-AF65-F5344CB8AC3E}">
        <p14:creationId xmlns:p14="http://schemas.microsoft.com/office/powerpoint/2010/main" val="336808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Genetic Algorithms</a:t>
            </a:r>
            <a:endParaRPr lang="en-GB" dirty="0"/>
          </a:p>
        </p:txBody>
      </p:sp>
      <p:pic>
        <p:nvPicPr>
          <p:cNvPr id="1026" name="Picture 2" descr="Image result for genetic algorithm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82" b="12082"/>
          <a:stretch/>
        </p:blipFill>
        <p:spPr bwMode="auto">
          <a:xfrm>
            <a:off x="3444161" y="1766388"/>
            <a:ext cx="5364638" cy="449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344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29"/>
            <a:ext cx="10058400" cy="4461233"/>
          </a:xfrm>
        </p:spPr>
        <p:txBody>
          <a:bodyPr>
            <a:normAutofit fontScale="92500" lnSpcReduction="10000"/>
          </a:bodyPr>
          <a:lstStyle/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Assume our goal is to guess the word SAMSUNG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We can pick all 7-letter words from English dictionary and call it population. Our collection will be like:</a:t>
            </a:r>
            <a:br>
              <a:rPr lang="en-US" sz="2800" dirty="0"/>
            </a:br>
            <a:r>
              <a:rPr lang="en-US" sz="2800" dirty="0"/>
              <a:t>SAMURAI, PUZZLED, FEEDING, PURSUIT, BILLION, …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Evaluation: compute goodness of fit of each word:</a:t>
            </a:r>
          </a:p>
          <a:p>
            <a:pPr marL="384048" lvl="2" indent="0">
              <a:buNone/>
            </a:pPr>
            <a:r>
              <a:rPr lang="en-US" sz="2400" dirty="0"/>
              <a:t>	SAMURAI = 4/7; PUZZLED = 1/7; FEEDING = 2/7; PURSUIT = 2/7; BILLION = 1/7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Selection: </a:t>
            </a:r>
            <a:r>
              <a:rPr lang="en-US" sz="2800" u="sng" dirty="0"/>
              <a:t>SAMU</a:t>
            </a:r>
            <a:r>
              <a:rPr lang="en-US" sz="2800" dirty="0"/>
              <a:t>RAI, FEEDI</a:t>
            </a:r>
            <a:r>
              <a:rPr lang="en-US" sz="2800" u="sng" dirty="0"/>
              <a:t>NG</a:t>
            </a:r>
            <a:r>
              <a:rPr lang="en-US" sz="2800" dirty="0"/>
              <a:t>, PUR</a:t>
            </a:r>
            <a:r>
              <a:rPr lang="en-US" sz="2800" u="sng" dirty="0"/>
              <a:t>SU</a:t>
            </a:r>
            <a:r>
              <a:rPr lang="en-US" sz="2800" dirty="0"/>
              <a:t>IT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Crossover: SAMFEET, SAMDINT, …, SAMINGU, FEESAMU, SUSAMDI, NGSAMUS, …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Mutation: SAMREET, SAFDINT, …, SUMINGU, PEESAMU, SUSAMDN, NGSAMUF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Repeat…</a:t>
            </a:r>
          </a:p>
        </p:txBody>
      </p:sp>
    </p:spTree>
    <p:extLst>
      <p:ext uri="{BB962C8B-B14F-4D97-AF65-F5344CB8AC3E}">
        <p14:creationId xmlns:p14="http://schemas.microsoft.com/office/powerpoint/2010/main" val="21688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29"/>
            <a:ext cx="10058400" cy="4461233"/>
          </a:xfrm>
        </p:spPr>
        <p:txBody>
          <a:bodyPr>
            <a:normAutofit/>
          </a:bodyPr>
          <a:lstStyle/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Write a program which uses genetic algorithm to guess the word</a:t>
            </a:r>
            <a:r>
              <a:rPr lang="en-US" sz="2800"/>
              <a:t>: ABRACADABRA</a:t>
            </a:r>
            <a:endParaRPr lang="en-US" sz="2800" dirty="0"/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Use only CAPITAL letters.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Random population size should be 25 or less.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Select no more than 5 best candidates for regeneration.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No need to reinvent the wheel, to find out goodness of fit, calculate </a:t>
            </a:r>
            <a:r>
              <a:rPr lang="en-US" sz="2800" dirty="0" err="1"/>
              <a:t>Levenshtein</a:t>
            </a:r>
            <a:r>
              <a:rPr lang="en-US" sz="2800" dirty="0"/>
              <a:t> Distance between guess and candidates.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800" dirty="0"/>
              <a:t>Stop when exact match is found and return the number of generations it took to guess the word.</a:t>
            </a:r>
          </a:p>
        </p:txBody>
      </p:sp>
    </p:spTree>
    <p:extLst>
      <p:ext uri="{BB962C8B-B14F-4D97-AF65-F5344CB8AC3E}">
        <p14:creationId xmlns:p14="http://schemas.microsoft.com/office/powerpoint/2010/main" val="68613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63050" y="1471518"/>
            <a:ext cx="1367682" cy="3154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00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433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91530" y="2030318"/>
            <a:ext cx="8945206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800" dirty="0"/>
              <a:t>Thank you…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18181152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1416</TotalTime>
  <Words>644</Words>
  <Application>Microsoft Office PowerPoint</Application>
  <PresentationFormat>Widescreen</PresentationFormat>
  <Paragraphs>77</Paragraphs>
  <Slides>14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Calibri Light</vt:lpstr>
      <vt:lpstr>Cambria Math</vt:lpstr>
      <vt:lpstr>Roboto</vt:lpstr>
      <vt:lpstr>Retrospect</vt:lpstr>
      <vt:lpstr>Genetic Algorithms</vt:lpstr>
      <vt:lpstr>Outlines</vt:lpstr>
      <vt:lpstr>Shakespeare and monkey with a keyboard</vt:lpstr>
      <vt:lpstr>Socrates or Jean-Paul Satre?</vt:lpstr>
      <vt:lpstr>The cost of Brute force and the age of Universe</vt:lpstr>
      <vt:lpstr>Series guessing riddle</vt:lpstr>
      <vt:lpstr>PowerPoint Presentation</vt:lpstr>
      <vt:lpstr>Darwinian Natural Selection</vt:lpstr>
      <vt:lpstr>Genetic Algorithms</vt:lpstr>
      <vt:lpstr>Genetic Algorithms</vt:lpstr>
      <vt:lpstr>In action</vt:lpstr>
      <vt:lpstr>Code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Map-Reduce</dc:title>
  <dc:creator>Owais Ahmed</dc:creator>
  <cp:lastModifiedBy>Owais Ahmed</cp:lastModifiedBy>
  <cp:revision>92</cp:revision>
  <dcterms:created xsi:type="dcterms:W3CDTF">2018-04-25T13:42:40Z</dcterms:created>
  <dcterms:modified xsi:type="dcterms:W3CDTF">2023-01-03T07:45:55Z</dcterms:modified>
</cp:coreProperties>
</file>