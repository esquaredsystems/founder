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notesMasterIdLst>
    <p:notesMasterId r:id="rId20"/>
  </p:notesMasterIdLst>
  <p:sldIdLst>
    <p:sldId id="256" r:id="rId2"/>
    <p:sldId id="257" r:id="rId3"/>
    <p:sldId id="268" r:id="rId4"/>
    <p:sldId id="269" r:id="rId5"/>
    <p:sldId id="275" r:id="rId6"/>
    <p:sldId id="276" r:id="rId7"/>
    <p:sldId id="281" r:id="rId8"/>
    <p:sldId id="282" r:id="rId9"/>
    <p:sldId id="285" r:id="rId10"/>
    <p:sldId id="279" r:id="rId11"/>
    <p:sldId id="286" r:id="rId12"/>
    <p:sldId id="289" r:id="rId13"/>
    <p:sldId id="290" r:id="rId14"/>
    <p:sldId id="272" r:id="rId15"/>
    <p:sldId id="278" r:id="rId16"/>
    <p:sldId id="270" r:id="rId17"/>
    <p:sldId id="265" r:id="rId18"/>
    <p:sldId id="266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0303" autoAdjust="0"/>
  </p:normalViewPr>
  <p:slideViewPr>
    <p:cSldViewPr snapToGrid="0">
      <p:cViewPr varScale="1">
        <p:scale>
          <a:sx n="74" d="100"/>
          <a:sy n="74" d="100"/>
        </p:scale>
        <p:origin x="48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30E505-DE68-40E2-8464-674EAFE20382}" type="datetimeFigureOut">
              <a:rPr lang="en-GB" smtClean="0"/>
              <a:t>02/01/2023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86CFB9-8CDE-45AE-9BB4-0EB251787E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1109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Are these two models same?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86CFB9-8CDE-45AE-9BB4-0EB251787E6C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98777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many positives, out of all actual positives were retrieved?</a:t>
            </a:r>
          </a:p>
          <a:p>
            <a:r>
              <a:rPr lang="en-US" dirty="0"/>
              <a:t>A radar should have high Recall, even if sometimes it alerts on birds.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86CFB9-8CDE-45AE-9BB4-0EB251787E6C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9262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does not call it positive until it is very confident.</a:t>
            </a:r>
          </a:p>
          <a:p>
            <a:r>
              <a:rPr lang="en-US" dirty="0"/>
              <a:t>The high-risk cancer procedure should have high precision, even if it means it will reject some of the actual cancer patients.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86CFB9-8CDE-45AE-9BB4-0EB251787E6C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33216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is able to retrieve as many negatives as possible.</a:t>
            </a:r>
          </a:p>
          <a:p>
            <a:r>
              <a:rPr lang="en-US" dirty="0"/>
              <a:t>The HEC should have a high specificity model for grants. Even if some deserving candidates are incorrectly rejected the grant, thinking they will not return.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86CFB9-8CDE-45AE-9BB4-0EB251787E6C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78610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is able to retrieve as many negatives as possible.</a:t>
            </a:r>
          </a:p>
          <a:p>
            <a:r>
              <a:rPr lang="en-US" dirty="0"/>
              <a:t>The HEC should have a high specificity model for grants. Even if some deserving candidates are incorrectly rejected the grant, thinking they will not return.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86CFB9-8CDE-45AE-9BB4-0EB251787E6C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85621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7251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1628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5189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3048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993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0946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262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t>1/2/2023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3797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99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21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077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3153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Evaluating a Machine Learning Model</a:t>
            </a:r>
            <a:endParaRPr lang="en-GB" sz="6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Owais A. Hussain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24098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5906" y="1811229"/>
            <a:ext cx="10058400" cy="4460983"/>
          </a:xfrm>
        </p:spPr>
        <p:txBody>
          <a:bodyPr>
            <a:normAutofit lnSpcReduction="10000"/>
          </a:bodyPr>
          <a:lstStyle/>
          <a:p>
            <a:pPr lvl="1"/>
            <a:r>
              <a:rPr lang="en-US" sz="3200" dirty="0">
                <a:solidFill>
                  <a:schemeClr val="tx1"/>
                </a:solidFill>
              </a:rPr>
              <a:t>Recap</a:t>
            </a:r>
          </a:p>
          <a:p>
            <a:pPr lvl="1"/>
            <a:r>
              <a:rPr lang="en-US" sz="3200" dirty="0">
                <a:solidFill>
                  <a:schemeClr val="tx1"/>
                </a:solidFill>
              </a:rPr>
              <a:t>Confusion Matrix</a:t>
            </a:r>
          </a:p>
          <a:p>
            <a:pPr lvl="1"/>
            <a:r>
              <a:rPr lang="en-US" sz="3200" dirty="0">
                <a:solidFill>
                  <a:schemeClr val="tx1"/>
                </a:solidFill>
              </a:rPr>
              <a:t>High Accuracy Trap</a:t>
            </a:r>
          </a:p>
          <a:p>
            <a:pPr lvl="1"/>
            <a:r>
              <a:rPr lang="en-US" sz="3200" dirty="0">
                <a:solidFill>
                  <a:schemeClr val="tx1"/>
                </a:solidFill>
              </a:rPr>
              <a:t>Choosing the Right Metric</a:t>
            </a:r>
          </a:p>
          <a:p>
            <a:pPr lvl="1"/>
            <a:r>
              <a:rPr lang="en-US" sz="3200" dirty="0">
                <a:solidFill>
                  <a:schemeClr val="tx1"/>
                </a:solidFill>
              </a:rPr>
              <a:t>A Balanced Metric</a:t>
            </a:r>
          </a:p>
          <a:p>
            <a:pPr lvl="1"/>
            <a:r>
              <a:rPr lang="en-US" sz="3200" dirty="0">
                <a:solidFill>
                  <a:schemeClr val="tx1"/>
                </a:solidFill>
              </a:rPr>
              <a:t>High Accuracy Trap</a:t>
            </a:r>
          </a:p>
          <a:p>
            <a:pPr lvl="1"/>
            <a:r>
              <a:rPr lang="en-US" sz="3200" dirty="0">
                <a:solidFill>
                  <a:schemeClr val="tx1"/>
                </a:solidFill>
              </a:rPr>
              <a:t>Inventing your own Metrics</a:t>
            </a:r>
          </a:p>
          <a:p>
            <a:pPr lvl="1"/>
            <a:r>
              <a:rPr lang="en-US" sz="3200" dirty="0">
                <a:solidFill>
                  <a:schemeClr val="tx1"/>
                </a:solidFill>
              </a:rPr>
              <a:t>ROC and AUC</a:t>
            </a:r>
          </a:p>
          <a:p>
            <a:pPr lvl="1"/>
            <a:r>
              <a:rPr lang="en-US" sz="3200" dirty="0">
                <a:solidFill>
                  <a:schemeClr val="tx1"/>
                </a:solidFill>
              </a:rPr>
              <a:t>There are many more…</a:t>
            </a:r>
          </a:p>
          <a:p>
            <a:pPr marL="201168" lvl="1" indent="0">
              <a:buNone/>
            </a:pPr>
            <a:endParaRPr lang="en-US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0816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5906" y="1811229"/>
            <a:ext cx="10058400" cy="4460983"/>
          </a:xfrm>
        </p:spPr>
        <p:txBody>
          <a:bodyPr>
            <a:normAutofit/>
          </a:bodyPr>
          <a:lstStyle/>
          <a:p>
            <a:pPr lvl="1"/>
            <a:r>
              <a:rPr lang="en-US" sz="2800" dirty="0">
                <a:solidFill>
                  <a:schemeClr val="tx1"/>
                </a:solidFill>
              </a:rPr>
              <a:t>Machine learning model evaluation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Hold-out method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Cross-validation method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Sampling methods:</a:t>
            </a:r>
          </a:p>
          <a:p>
            <a:pPr lvl="2"/>
            <a:r>
              <a:rPr lang="en-US" sz="2400" dirty="0">
                <a:solidFill>
                  <a:schemeClr val="tx1"/>
                </a:solidFill>
              </a:rPr>
              <a:t>Random</a:t>
            </a:r>
          </a:p>
          <a:p>
            <a:pPr lvl="2"/>
            <a:r>
              <a:rPr lang="en-US" sz="2400" dirty="0">
                <a:solidFill>
                  <a:schemeClr val="tx1"/>
                </a:solidFill>
              </a:rPr>
              <a:t>Stratified</a:t>
            </a:r>
          </a:p>
          <a:p>
            <a:pPr lvl="2"/>
            <a:r>
              <a:rPr lang="en-US" sz="2400" dirty="0">
                <a:solidFill>
                  <a:schemeClr val="tx1"/>
                </a:solidFill>
              </a:rPr>
              <a:t>Bootstrap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Why evaluate?</a:t>
            </a:r>
          </a:p>
          <a:p>
            <a:pPr lvl="1"/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3847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Confusion Matrix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5906" y="1811229"/>
            <a:ext cx="10058400" cy="4460983"/>
          </a:xfrm>
        </p:spPr>
        <p:txBody>
          <a:bodyPr>
            <a:normAutofit/>
          </a:bodyPr>
          <a:lstStyle/>
          <a:p>
            <a:pPr lvl="1"/>
            <a:r>
              <a:rPr lang="en-US" sz="2800" i="1" dirty="0" err="1">
                <a:solidFill>
                  <a:schemeClr val="tx1"/>
                </a:solidFill>
              </a:rPr>
              <a:t>NxN</a:t>
            </a:r>
            <a:r>
              <a:rPr lang="en-US" sz="2800" dirty="0">
                <a:solidFill>
                  <a:schemeClr val="tx1"/>
                </a:solidFill>
              </a:rPr>
              <a:t> (distinct classes) matrix to show the number of correct and incorrect classifications.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For binary classifications, it looks like this:</a:t>
            </a:r>
          </a:p>
          <a:p>
            <a:pPr marL="201168" lvl="1" indent="0">
              <a:buNone/>
            </a:pPr>
            <a:endParaRPr lang="en-US" sz="2800" dirty="0">
              <a:solidFill>
                <a:schemeClr val="tx1"/>
              </a:solidFill>
            </a:endParaRPr>
          </a:p>
          <a:p>
            <a:pPr lvl="1"/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49320626"/>
                  </p:ext>
                </p:extLst>
              </p:nvPr>
            </p:nvGraphicFramePr>
            <p:xfrm>
              <a:off x="1105901" y="3360229"/>
              <a:ext cx="10049778" cy="291198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7496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67496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7496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7496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85259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497329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70840">
                    <a:tc rowSpan="2" gridSpan="2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rowSpan="2"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Target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rowSpan="2" gridSpan="2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rowSpan="2"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 gridSpan="2"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Positive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Negative</a:t>
                          </a:r>
                        </a:p>
                      </a:txBody>
                      <a:tcPr/>
                    </a:tc>
                    <a:tc gridSpan="2"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Model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Positive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Pos. Pred. Value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Negative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Neg. Pred. Value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 rowSpan="2" gridSpan="2">
                      <a:txBody>
                        <a:bodyPr/>
                        <a:lstStyle/>
                        <a:p>
                          <a:r>
                            <a:rPr lang="en-US" dirty="0"/>
                            <a:t>PPV = Precision</a:t>
                          </a:r>
                        </a:p>
                        <a:p>
                          <a:r>
                            <a:rPr lang="en-US" dirty="0"/>
                            <a:t>Sensitivity</a:t>
                          </a:r>
                          <a:r>
                            <a:rPr lang="en-US" baseline="0" dirty="0"/>
                            <a:t> = Recall</a:t>
                          </a:r>
                          <a:endParaRPr lang="en-US" dirty="0"/>
                        </a:p>
                      </a:txBody>
                      <a:tcPr/>
                    </a:tc>
                    <a:tc rowSpan="2"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Sensitivity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Specificity</a:t>
                          </a:r>
                        </a:p>
                      </a:txBody>
                      <a:tcPr/>
                    </a:tc>
                    <a:tc rowSpan="2" gridSpan="2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𝑢𝑟𝑎𝑐𝑦</m:t>
                                </m:r>
                                <m:r>
                                  <a:rPr lang="en-US" i="1" baseline="0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b="0" i="1" baseline="0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baseline="0" dirty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b="0" i="1" baseline="0" dirty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b="0" i="1" baseline="0" dirty="0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num>
                                  <m:den>
                                    <m:r>
                                      <a:rPr lang="en-US" b="0" i="1" baseline="0" dirty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b="0" i="1" baseline="0" dirty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b="0" i="1" baseline="0" dirty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b="0" i="1" baseline="0" dirty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b="0" i="1" baseline="0" dirty="0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  <m:r>
                                      <a:rPr lang="en-US" b="0" i="1" baseline="0" dirty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b="0" i="1" baseline="0" dirty="0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 rowSpan="2"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 gridSpan="2"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 gridSpan="2"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49320626"/>
                  </p:ext>
                </p:extLst>
              </p:nvPr>
            </p:nvGraphicFramePr>
            <p:xfrm>
              <a:off x="1105901" y="3360229"/>
              <a:ext cx="10049778" cy="291198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74963"/>
                    <a:gridCol w="1674963"/>
                    <a:gridCol w="1674963"/>
                    <a:gridCol w="1674963"/>
                    <a:gridCol w="1852597"/>
                    <a:gridCol w="1497329"/>
                  </a:tblGrid>
                  <a:tr h="370840">
                    <a:tc rowSpan="2" gridSpan="2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rowSpan="2"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/>
                            <a:t>Target</a:t>
                          </a:r>
                          <a:endParaRPr lang="en-US" b="1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rowSpan="2" gridSpan="2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rowSpan="2"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</a:tr>
                  <a:tr h="370840">
                    <a:tc gridSpan="2"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/>
                            <a:t>Positive</a:t>
                          </a:r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/>
                            <a:t>Negative</a:t>
                          </a:r>
                          <a:endParaRPr lang="en-US" b="1" dirty="0"/>
                        </a:p>
                      </a:txBody>
                      <a:tcPr/>
                    </a:tc>
                    <a:tc gridSpan="2"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  <a:tr h="565785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/>
                            <a:t>Model</a:t>
                          </a:r>
                          <a:endParaRPr lang="en-US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 smtClean="0"/>
                            <a:t>Positive</a:t>
                          </a:r>
                          <a:endParaRPr lang="en-US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a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b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Pos. Pred. Value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570732" t="-136559" r="-1220" b="-284946"/>
                          </a:stretch>
                        </a:blipFill>
                      </a:tcPr>
                    </a:tc>
                  </a:tr>
                  <a:tr h="616839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 smtClean="0"/>
                            <a:t>Negative</a:t>
                          </a:r>
                          <a:endParaRPr lang="en-US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c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d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Neg. Pred. Value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570732" t="-217822" r="-1220" b="-162376"/>
                          </a:stretch>
                        </a:blipFill>
                      </a:tcPr>
                    </a:tc>
                  </a:tr>
                  <a:tr h="370840">
                    <a:tc rowSpan="2" gridSpan="2">
                      <a:txBody>
                        <a:bodyPr/>
                        <a:lstStyle/>
                        <a:p>
                          <a:r>
                            <a:rPr lang="en-US" dirty="0" smtClean="0"/>
                            <a:t>PPV = Precision</a:t>
                          </a:r>
                        </a:p>
                        <a:p>
                          <a:r>
                            <a:rPr lang="en-US" dirty="0" smtClean="0"/>
                            <a:t>Sensitivity</a:t>
                          </a:r>
                          <a:r>
                            <a:rPr lang="en-US" baseline="0" dirty="0" smtClean="0"/>
                            <a:t> = Recall</a:t>
                          </a:r>
                          <a:endParaRPr lang="en-US" dirty="0"/>
                        </a:p>
                      </a:txBody>
                      <a:tcPr/>
                    </a:tc>
                    <a:tc rowSpan="2"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Sensitivity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Specificity</a:t>
                          </a:r>
                          <a:endParaRPr lang="en-US" dirty="0"/>
                        </a:p>
                      </a:txBody>
                      <a:tcPr/>
                    </a:tc>
                    <a:tc rowSpan="2"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200000" t="-198148" r="-545" b="-1235"/>
                          </a:stretch>
                        </a:blipFill>
                      </a:tcPr>
                    </a:tc>
                    <a:tc rowSpan="2"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</a:tr>
                  <a:tr h="616839">
                    <a:tc gridSpan="2"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200364" t="-378218" r="-300727" b="-19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301460" t="-378218" r="-201825" b="-1980"/>
                          </a:stretch>
                        </a:blipFill>
                      </a:tcPr>
                    </a:tc>
                    <a:tc gridSpan="2"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17980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Accuracy Trap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5906" y="1811229"/>
            <a:ext cx="10058400" cy="4460983"/>
          </a:xfrm>
        </p:spPr>
        <p:txBody>
          <a:bodyPr>
            <a:normAutofit lnSpcReduction="10000"/>
          </a:bodyPr>
          <a:lstStyle/>
          <a:p>
            <a:pPr lvl="1"/>
            <a:r>
              <a:rPr lang="en-US" sz="2800" b="1" dirty="0">
                <a:solidFill>
                  <a:schemeClr val="tx1"/>
                </a:solidFill>
              </a:rPr>
              <a:t>Case 1:</a:t>
            </a:r>
            <a:br>
              <a:rPr lang="en-US" sz="2800" dirty="0">
                <a:solidFill>
                  <a:schemeClr val="tx1"/>
                </a:solidFill>
              </a:rPr>
            </a:br>
            <a:r>
              <a:rPr lang="en-US" sz="2800" dirty="0">
                <a:solidFill>
                  <a:schemeClr val="tx1"/>
                </a:solidFill>
              </a:rPr>
              <a:t>An automobile manufacturer wants to classify people interested in buying a luxury car to market their latest flagship car.</a:t>
            </a:r>
          </a:p>
          <a:p>
            <a:pPr lvl="1"/>
            <a:r>
              <a:rPr lang="en-US" sz="2800" b="1" dirty="0">
                <a:solidFill>
                  <a:schemeClr val="tx1"/>
                </a:solidFill>
              </a:rPr>
              <a:t>Case 2:</a:t>
            </a:r>
            <a:br>
              <a:rPr lang="en-US" sz="2800" b="1" dirty="0">
                <a:solidFill>
                  <a:schemeClr val="tx1"/>
                </a:solidFill>
              </a:rPr>
            </a:br>
            <a:r>
              <a:rPr lang="en-US" sz="2800" dirty="0">
                <a:solidFill>
                  <a:schemeClr val="tx1"/>
                </a:solidFill>
              </a:rPr>
              <a:t>Health ministry wants to classify high-risk potentially cancerous people for a new preventive therapy with serious side effects.</a:t>
            </a:r>
          </a:p>
          <a:p>
            <a:pPr lvl="1"/>
            <a:r>
              <a:rPr lang="en-US" sz="2800" b="1" dirty="0">
                <a:solidFill>
                  <a:schemeClr val="tx1"/>
                </a:solidFill>
              </a:rPr>
              <a:t>Case 3:</a:t>
            </a:r>
            <a:br>
              <a:rPr lang="en-US" sz="2800" b="1" dirty="0">
                <a:solidFill>
                  <a:schemeClr val="tx1"/>
                </a:solidFill>
              </a:rPr>
            </a:br>
            <a:r>
              <a:rPr lang="en-US" sz="2800" dirty="0">
                <a:solidFill>
                  <a:schemeClr val="tx1"/>
                </a:solidFill>
              </a:rPr>
              <a:t>An academic grant is interested in awarding scholarships to study abroad, only to candidates who would potentially return after completion.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Which one is the right metric for these cases?</a:t>
            </a:r>
          </a:p>
        </p:txBody>
      </p:sp>
    </p:spTree>
    <p:extLst>
      <p:ext uri="{BB962C8B-B14F-4D97-AF65-F5344CB8AC3E}">
        <p14:creationId xmlns:p14="http://schemas.microsoft.com/office/powerpoint/2010/main" val="3186659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the Right Metric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433145"/>
          </a:xfrm>
        </p:spPr>
        <p:txBody>
          <a:bodyPr>
            <a:normAutofit/>
          </a:bodyPr>
          <a:lstStyle/>
          <a:p>
            <a:pPr lvl="1"/>
            <a:r>
              <a:rPr lang="en-US" sz="2800" dirty="0">
                <a:solidFill>
                  <a:schemeClr val="tx1"/>
                </a:solidFill>
              </a:rPr>
              <a:t>Model ‘A’</a:t>
            </a:r>
          </a:p>
          <a:p>
            <a:pPr lvl="1"/>
            <a:endParaRPr lang="en-US" sz="2800" dirty="0">
              <a:solidFill>
                <a:schemeClr val="tx1"/>
              </a:solidFill>
            </a:endParaRPr>
          </a:p>
          <a:p>
            <a:pPr lvl="1"/>
            <a:endParaRPr lang="en-US" sz="2800" dirty="0">
              <a:solidFill>
                <a:schemeClr val="tx1"/>
              </a:solidFill>
            </a:endParaRPr>
          </a:p>
          <a:p>
            <a:pPr lvl="1"/>
            <a:endParaRPr lang="en-US" sz="2800" dirty="0">
              <a:solidFill>
                <a:schemeClr val="tx1"/>
              </a:solidFill>
            </a:endParaRP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Accuracy: 0.70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half" idx="2"/>
          </p:nvPr>
        </p:nvSpPr>
        <p:spPr>
          <a:xfrm>
            <a:off x="6217920" y="1845734"/>
            <a:ext cx="4937760" cy="4433145"/>
          </a:xfrm>
        </p:spPr>
        <p:txBody>
          <a:bodyPr>
            <a:normAutofit/>
          </a:bodyPr>
          <a:lstStyle/>
          <a:p>
            <a:pPr lvl="1"/>
            <a:r>
              <a:rPr lang="en-US" sz="2800" dirty="0">
                <a:solidFill>
                  <a:schemeClr val="tx1"/>
                </a:solidFill>
              </a:rPr>
              <a:t>Model ‘B’</a:t>
            </a:r>
          </a:p>
          <a:p>
            <a:pPr lvl="1"/>
            <a:endParaRPr lang="en-US" sz="2800" dirty="0">
              <a:solidFill>
                <a:schemeClr val="tx1"/>
              </a:solidFill>
            </a:endParaRPr>
          </a:p>
          <a:p>
            <a:pPr lvl="1"/>
            <a:endParaRPr lang="en-US" sz="2800" dirty="0">
              <a:solidFill>
                <a:schemeClr val="tx1"/>
              </a:solidFill>
            </a:endParaRPr>
          </a:p>
          <a:p>
            <a:pPr lvl="1"/>
            <a:endParaRPr lang="en-US" sz="2800" dirty="0">
              <a:solidFill>
                <a:schemeClr val="tx1"/>
              </a:solidFill>
            </a:endParaRP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Accuracy: 0.70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6431285"/>
              </p:ext>
            </p:extLst>
          </p:nvPr>
        </p:nvGraphicFramePr>
        <p:xfrm>
          <a:off x="1325879" y="2487506"/>
          <a:ext cx="4709160" cy="11125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569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9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9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5382167"/>
              </p:ext>
            </p:extLst>
          </p:nvPr>
        </p:nvGraphicFramePr>
        <p:xfrm>
          <a:off x="6446520" y="2487506"/>
          <a:ext cx="4709160" cy="11125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569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9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9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2662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Sensitivity (Recall)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433145"/>
          </a:xfrm>
        </p:spPr>
        <p:txBody>
          <a:bodyPr>
            <a:normAutofit/>
          </a:bodyPr>
          <a:lstStyle/>
          <a:p>
            <a:pPr lvl="1"/>
            <a:r>
              <a:rPr lang="en-US" sz="2800" dirty="0">
                <a:solidFill>
                  <a:schemeClr val="tx1"/>
                </a:solidFill>
              </a:rPr>
              <a:t>Model ‘A’</a:t>
            </a:r>
          </a:p>
          <a:p>
            <a:pPr lvl="1"/>
            <a:endParaRPr lang="en-US" sz="2800" dirty="0">
              <a:solidFill>
                <a:schemeClr val="tx1"/>
              </a:solidFill>
            </a:endParaRPr>
          </a:p>
          <a:p>
            <a:pPr lvl="1"/>
            <a:endParaRPr lang="en-US" sz="2800" dirty="0">
              <a:solidFill>
                <a:schemeClr val="tx1"/>
              </a:solidFill>
            </a:endParaRPr>
          </a:p>
          <a:p>
            <a:pPr lvl="1"/>
            <a:endParaRPr lang="en-US" sz="2800" dirty="0">
              <a:solidFill>
                <a:schemeClr val="tx1"/>
              </a:solidFill>
            </a:endParaRP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Accuracy: 0.70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Sensitivity: 0.64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half" idx="2"/>
          </p:nvPr>
        </p:nvSpPr>
        <p:spPr>
          <a:xfrm>
            <a:off x="6217920" y="1845734"/>
            <a:ext cx="4937760" cy="4433145"/>
          </a:xfrm>
        </p:spPr>
        <p:txBody>
          <a:bodyPr>
            <a:normAutofit/>
          </a:bodyPr>
          <a:lstStyle/>
          <a:p>
            <a:pPr lvl="1"/>
            <a:r>
              <a:rPr lang="en-US" sz="2800" dirty="0">
                <a:solidFill>
                  <a:schemeClr val="tx1"/>
                </a:solidFill>
              </a:rPr>
              <a:t>Model ‘B’</a:t>
            </a:r>
          </a:p>
          <a:p>
            <a:pPr lvl="1"/>
            <a:endParaRPr lang="en-US" sz="2800" dirty="0">
              <a:solidFill>
                <a:schemeClr val="tx1"/>
              </a:solidFill>
            </a:endParaRPr>
          </a:p>
          <a:p>
            <a:pPr lvl="1"/>
            <a:endParaRPr lang="en-US" sz="2800" dirty="0">
              <a:solidFill>
                <a:schemeClr val="tx1"/>
              </a:solidFill>
            </a:endParaRPr>
          </a:p>
          <a:p>
            <a:pPr lvl="1"/>
            <a:endParaRPr lang="en-US" sz="2800" dirty="0">
              <a:solidFill>
                <a:schemeClr val="tx1"/>
              </a:solidFill>
            </a:endParaRP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Accuracy: 0.70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Sensitivity: 0.83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325879" y="2487506"/>
          <a:ext cx="4709160" cy="11125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569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9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9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46520" y="2487506"/>
          <a:ext cx="4709160" cy="11125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569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9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9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7829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Precision (Positive Prediction Value)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433145"/>
          </a:xfrm>
        </p:spPr>
        <p:txBody>
          <a:bodyPr>
            <a:normAutofit/>
          </a:bodyPr>
          <a:lstStyle/>
          <a:p>
            <a:pPr lvl="1"/>
            <a:r>
              <a:rPr lang="en-US" sz="2800" dirty="0">
                <a:solidFill>
                  <a:schemeClr val="tx1"/>
                </a:solidFill>
              </a:rPr>
              <a:t>Model ‘A’</a:t>
            </a:r>
          </a:p>
          <a:p>
            <a:pPr lvl="1"/>
            <a:endParaRPr lang="en-US" sz="2800" dirty="0">
              <a:solidFill>
                <a:schemeClr val="tx1"/>
              </a:solidFill>
            </a:endParaRPr>
          </a:p>
          <a:p>
            <a:pPr lvl="1"/>
            <a:endParaRPr lang="en-US" sz="2800" dirty="0">
              <a:solidFill>
                <a:schemeClr val="tx1"/>
              </a:solidFill>
            </a:endParaRPr>
          </a:p>
          <a:p>
            <a:pPr lvl="1"/>
            <a:endParaRPr lang="en-US" sz="2800" dirty="0">
              <a:solidFill>
                <a:schemeClr val="tx1"/>
              </a:solidFill>
            </a:endParaRP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Accuracy: 0.70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Sensitivity: 0.64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Precision: 0.90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half" idx="2"/>
          </p:nvPr>
        </p:nvSpPr>
        <p:spPr>
          <a:xfrm>
            <a:off x="6217920" y="1845734"/>
            <a:ext cx="4937760" cy="4433145"/>
          </a:xfrm>
        </p:spPr>
        <p:txBody>
          <a:bodyPr>
            <a:normAutofit/>
          </a:bodyPr>
          <a:lstStyle/>
          <a:p>
            <a:pPr lvl="1"/>
            <a:r>
              <a:rPr lang="en-US" sz="2800" dirty="0">
                <a:solidFill>
                  <a:schemeClr val="tx1"/>
                </a:solidFill>
              </a:rPr>
              <a:t>Model ‘B’</a:t>
            </a:r>
          </a:p>
          <a:p>
            <a:pPr lvl="1"/>
            <a:endParaRPr lang="en-US" sz="2800" dirty="0">
              <a:solidFill>
                <a:schemeClr val="tx1"/>
              </a:solidFill>
            </a:endParaRPr>
          </a:p>
          <a:p>
            <a:pPr lvl="1"/>
            <a:endParaRPr lang="en-US" sz="2800" dirty="0">
              <a:solidFill>
                <a:schemeClr val="tx1"/>
              </a:solidFill>
            </a:endParaRPr>
          </a:p>
          <a:p>
            <a:pPr lvl="1"/>
            <a:endParaRPr lang="en-US" sz="2800" dirty="0">
              <a:solidFill>
                <a:schemeClr val="tx1"/>
              </a:solidFill>
            </a:endParaRP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Accuracy: 0.70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Sensitivity: 0.83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Precision : 0.50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325879" y="2487506"/>
          <a:ext cx="4709160" cy="11125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569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9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9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46520" y="2487506"/>
          <a:ext cx="4709160" cy="11125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569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9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9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936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Specificity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433145"/>
          </a:xfrm>
        </p:spPr>
        <p:txBody>
          <a:bodyPr>
            <a:normAutofit/>
          </a:bodyPr>
          <a:lstStyle/>
          <a:p>
            <a:pPr lvl="1"/>
            <a:r>
              <a:rPr lang="en-US" sz="2800" dirty="0">
                <a:solidFill>
                  <a:schemeClr val="tx1"/>
                </a:solidFill>
              </a:rPr>
              <a:t>Model ‘A’</a:t>
            </a:r>
          </a:p>
          <a:p>
            <a:pPr lvl="1"/>
            <a:endParaRPr lang="en-US" sz="2800" dirty="0">
              <a:solidFill>
                <a:schemeClr val="tx1"/>
              </a:solidFill>
            </a:endParaRPr>
          </a:p>
          <a:p>
            <a:pPr lvl="1"/>
            <a:endParaRPr lang="en-US" sz="2800" dirty="0">
              <a:solidFill>
                <a:schemeClr val="tx1"/>
              </a:solidFill>
            </a:endParaRPr>
          </a:p>
          <a:p>
            <a:pPr lvl="1"/>
            <a:endParaRPr lang="en-US" sz="2800" dirty="0">
              <a:solidFill>
                <a:schemeClr val="tx1"/>
              </a:solidFill>
            </a:endParaRP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Accuracy: 0.70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Sensitivity: 0.64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Precision : 0.90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Specificity: 0.83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half" idx="2"/>
          </p:nvPr>
        </p:nvSpPr>
        <p:spPr>
          <a:xfrm>
            <a:off x="6217920" y="1845734"/>
            <a:ext cx="4937760" cy="4433145"/>
          </a:xfrm>
        </p:spPr>
        <p:txBody>
          <a:bodyPr>
            <a:normAutofit/>
          </a:bodyPr>
          <a:lstStyle/>
          <a:p>
            <a:pPr lvl="1"/>
            <a:r>
              <a:rPr lang="en-US" sz="2800" dirty="0">
                <a:solidFill>
                  <a:schemeClr val="tx1"/>
                </a:solidFill>
              </a:rPr>
              <a:t>Model ‘B’</a:t>
            </a:r>
          </a:p>
          <a:p>
            <a:pPr lvl="1"/>
            <a:endParaRPr lang="en-US" sz="2800" dirty="0">
              <a:solidFill>
                <a:schemeClr val="tx1"/>
              </a:solidFill>
            </a:endParaRPr>
          </a:p>
          <a:p>
            <a:pPr lvl="1"/>
            <a:endParaRPr lang="en-US" sz="2800" dirty="0">
              <a:solidFill>
                <a:schemeClr val="tx1"/>
              </a:solidFill>
            </a:endParaRPr>
          </a:p>
          <a:p>
            <a:pPr lvl="1"/>
            <a:endParaRPr lang="en-US" sz="2800" dirty="0">
              <a:solidFill>
                <a:schemeClr val="tx1"/>
              </a:solidFill>
            </a:endParaRP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Accuracy: 0.70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Sensitivity: 0.83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Precision : 0.50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Specificity: 0.64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325879" y="2487506"/>
          <a:ext cx="4709160" cy="11125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569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9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9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46520" y="2487506"/>
          <a:ext cx="4709160" cy="11125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569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9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9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7465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there a way to balance them all?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05906" y="1811229"/>
                <a:ext cx="10058400" cy="4460983"/>
              </a:xfrm>
            </p:spPr>
            <p:txBody>
              <a:bodyPr>
                <a:normAutofit/>
              </a:bodyPr>
              <a:lstStyle/>
              <a:p>
                <a:pPr lvl="1"/>
                <a:r>
                  <a:rPr lang="en-US" sz="2800" dirty="0">
                    <a:solidFill>
                      <a:schemeClr val="tx1"/>
                    </a:solidFill>
                  </a:rPr>
                  <a:t>Precision and Recall are (generally) two of the most preferred tie breakers.</a:t>
                </a:r>
              </a:p>
              <a:p>
                <a:pPr lvl="1"/>
                <a:r>
                  <a:rPr lang="en-US" sz="2800" dirty="0">
                    <a:solidFill>
                      <a:schemeClr val="tx1"/>
                    </a:solidFill>
                  </a:rPr>
                  <a:t>F</a:t>
                </a:r>
                <a:r>
                  <a:rPr lang="en-US" sz="2800" baseline="-25000" dirty="0">
                    <a:solidFill>
                      <a:schemeClr val="tx1"/>
                    </a:solidFill>
                  </a:rPr>
                  <a:t>1</a:t>
                </a:r>
                <a:r>
                  <a:rPr lang="en-US" sz="2800" dirty="0">
                    <a:solidFill>
                      <a:schemeClr val="tx1"/>
                    </a:solidFill>
                  </a:rPr>
                  <a:t>-score is the harmonics mean between Precision and Recall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=2</m:t>
                    </m:r>
                    <m:f>
                      <m:f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𝑝𝑟𝑒𝑐𝑖𝑠𝑖𝑜𝑛</m:t>
                        </m:r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𝑟𝑒𝑐𝑎𝑙𝑙</m:t>
                        </m:r>
                      </m:num>
                      <m:den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𝑝𝑟𝑒𝑐𝑖𝑠𝑖𝑜𝑛</m:t>
                        </m:r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𝑟𝑒𝑐𝑎𝑙𝑙</m:t>
                        </m:r>
                      </m:den>
                    </m:f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𝐹𝑃</m:t>
                        </m:r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𝐹𝑁</m:t>
                        </m:r>
                      </m:den>
                    </m:f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sz="2800" dirty="0">
                    <a:solidFill>
                      <a:schemeClr val="tx1"/>
                    </a:solidFill>
                  </a:rPr>
                  <a:t>F</a:t>
                </a:r>
                <a:r>
                  <a:rPr lang="el-GR" sz="2800" baseline="-25000" dirty="0">
                    <a:solidFill>
                      <a:schemeClr val="tx1"/>
                    </a:solidFill>
                  </a:rPr>
                  <a:t>β</a:t>
                </a:r>
                <a:r>
                  <a:rPr lang="en-US" sz="2800" dirty="0">
                    <a:solidFill>
                      <a:schemeClr val="tx1"/>
                    </a:solidFill>
                  </a:rPr>
                  <a:t>-score assigns a bias towards a specific metric.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sub>
                    </m:sSub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=(1+</m:t>
                    </m:r>
                    <m:sSup>
                      <m:sSup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𝑝𝑟𝑒𝑐𝑖𝑠𝑖𝑜𝑛</m:t>
                        </m:r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𝑟𝑒𝑐𝑎𝑙𝑙</m:t>
                        </m:r>
                      </m:num>
                      <m:den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p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𝑝𝑟𝑒𝑐𝑖𝑠𝑖𝑜𝑛</m:t>
                        </m:r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)+</m:t>
                        </m:r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𝑟𝑒𝑐𝑎𝑙𝑙</m:t>
                        </m:r>
                      </m:den>
                    </m:f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sz="2800" dirty="0">
                    <a:solidFill>
                      <a:schemeClr val="tx1"/>
                    </a:solidFill>
                  </a:rPr>
                  <a:t>The above means Precision is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times more important than Recall.</a:t>
                </a:r>
              </a:p>
              <a:p>
                <a:pPr lvl="1"/>
                <a:r>
                  <a:rPr lang="en-US" sz="2800" b="1" dirty="0">
                    <a:solidFill>
                      <a:schemeClr val="tx1"/>
                    </a:solidFill>
                  </a:rPr>
                  <a:t>CAUTION!</a:t>
                </a:r>
                <a:r>
                  <a:rPr lang="en-US" sz="2800" dirty="0">
                    <a:solidFill>
                      <a:schemeClr val="tx1"/>
                    </a:solidFill>
                  </a:rPr>
                  <a:t> F1-score is NOT the same as F-statistic/F-test used in Analysis of Variance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05906" y="1811229"/>
                <a:ext cx="10058400" cy="4460983"/>
              </a:xfrm>
              <a:blipFill>
                <a:blip r:embed="rId2"/>
                <a:stretch>
                  <a:fillRect l="-182" t="-2459" r="-970" b="-3552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1100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</a:t>
            </a:r>
            <a:r>
              <a:rPr lang="en-US" baseline="-25000" dirty="0"/>
              <a:t>1</a:t>
            </a:r>
            <a:r>
              <a:rPr lang="en-US" dirty="0"/>
              <a:t>-Score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433145"/>
          </a:xfrm>
        </p:spPr>
        <p:txBody>
          <a:bodyPr>
            <a:normAutofit/>
          </a:bodyPr>
          <a:lstStyle/>
          <a:p>
            <a:pPr lvl="1"/>
            <a:r>
              <a:rPr lang="en-US" sz="2800" dirty="0">
                <a:solidFill>
                  <a:schemeClr val="tx1"/>
                </a:solidFill>
              </a:rPr>
              <a:t>Model ‘A’</a:t>
            </a:r>
          </a:p>
          <a:p>
            <a:pPr lvl="1"/>
            <a:endParaRPr lang="en-US" sz="2800" dirty="0">
              <a:solidFill>
                <a:schemeClr val="tx1"/>
              </a:solidFill>
            </a:endParaRPr>
          </a:p>
          <a:p>
            <a:pPr lvl="1"/>
            <a:endParaRPr lang="en-US" sz="2800" dirty="0">
              <a:solidFill>
                <a:schemeClr val="tx1"/>
              </a:solidFill>
            </a:endParaRPr>
          </a:p>
          <a:p>
            <a:pPr lvl="1"/>
            <a:endParaRPr lang="en-US" sz="2800" dirty="0">
              <a:solidFill>
                <a:schemeClr val="tx1"/>
              </a:solidFill>
            </a:endParaRP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Accuracy: 0.70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Sensitivity: 0.64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Precision : 0.90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Specificity: 0.83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F</a:t>
            </a:r>
            <a:r>
              <a:rPr lang="en-US" sz="2800" baseline="-25000" dirty="0">
                <a:solidFill>
                  <a:schemeClr val="tx1"/>
                </a:solidFill>
              </a:rPr>
              <a:t>1</a:t>
            </a:r>
            <a:r>
              <a:rPr lang="en-US" sz="2800" dirty="0">
                <a:solidFill>
                  <a:schemeClr val="tx1"/>
                </a:solidFill>
              </a:rPr>
              <a:t>-Score: 0.75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half" idx="2"/>
          </p:nvPr>
        </p:nvSpPr>
        <p:spPr>
          <a:xfrm>
            <a:off x="6217920" y="1845734"/>
            <a:ext cx="4937760" cy="4433145"/>
          </a:xfrm>
        </p:spPr>
        <p:txBody>
          <a:bodyPr>
            <a:normAutofit/>
          </a:bodyPr>
          <a:lstStyle/>
          <a:p>
            <a:pPr lvl="1"/>
            <a:r>
              <a:rPr lang="en-US" sz="2800" dirty="0">
                <a:solidFill>
                  <a:schemeClr val="tx1"/>
                </a:solidFill>
              </a:rPr>
              <a:t>Model ‘B’</a:t>
            </a:r>
          </a:p>
          <a:p>
            <a:pPr lvl="1"/>
            <a:endParaRPr lang="en-US" sz="2800" dirty="0">
              <a:solidFill>
                <a:schemeClr val="tx1"/>
              </a:solidFill>
            </a:endParaRPr>
          </a:p>
          <a:p>
            <a:pPr lvl="1"/>
            <a:endParaRPr lang="en-US" sz="2800" dirty="0">
              <a:solidFill>
                <a:schemeClr val="tx1"/>
              </a:solidFill>
            </a:endParaRPr>
          </a:p>
          <a:p>
            <a:pPr lvl="1"/>
            <a:endParaRPr lang="en-US" sz="2800" dirty="0">
              <a:solidFill>
                <a:schemeClr val="tx1"/>
              </a:solidFill>
            </a:endParaRP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Accuracy: 0.70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Sensitivity: 0.83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Precision : 0.50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Specificity: 0.64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F</a:t>
            </a:r>
            <a:r>
              <a:rPr lang="en-US" sz="2800" baseline="-25000" dirty="0">
                <a:solidFill>
                  <a:schemeClr val="tx1"/>
                </a:solidFill>
              </a:rPr>
              <a:t>1</a:t>
            </a:r>
            <a:r>
              <a:rPr lang="en-US" sz="2800" dirty="0">
                <a:solidFill>
                  <a:schemeClr val="tx1"/>
                </a:solidFill>
              </a:rPr>
              <a:t>-Score: 0.63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325879" y="2487506"/>
          <a:ext cx="4709160" cy="11125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569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9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9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46520" y="2487506"/>
          <a:ext cx="4709160" cy="11125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569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9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9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939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Very High Accuracy Trap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5906" y="1811229"/>
            <a:ext cx="10058400" cy="4460983"/>
          </a:xfrm>
        </p:spPr>
        <p:txBody>
          <a:bodyPr>
            <a:normAutofit/>
          </a:bodyPr>
          <a:lstStyle/>
          <a:p>
            <a:pPr lvl="1"/>
            <a:r>
              <a:rPr lang="en-US" sz="2800" dirty="0">
                <a:solidFill>
                  <a:schemeClr val="tx1"/>
                </a:solidFill>
              </a:rPr>
              <a:t>My model is already 99% accurate. I shouldn’t need all these.</a:t>
            </a:r>
          </a:p>
          <a:p>
            <a:pPr lvl="1"/>
            <a:r>
              <a:rPr lang="en-US" sz="2800" b="1" dirty="0">
                <a:solidFill>
                  <a:schemeClr val="tx1"/>
                </a:solidFill>
              </a:rPr>
              <a:t>Case 4:</a:t>
            </a:r>
            <a:br>
              <a:rPr lang="en-US" sz="2800" b="1" dirty="0">
                <a:solidFill>
                  <a:schemeClr val="tx1"/>
                </a:solidFill>
              </a:rPr>
            </a:br>
            <a:r>
              <a:rPr lang="en-US" sz="2800" dirty="0">
                <a:solidFill>
                  <a:schemeClr val="tx1"/>
                </a:solidFill>
              </a:rPr>
              <a:t>Airport Security requires a model, which can detect arms in luggage.</a:t>
            </a:r>
            <a:endParaRPr lang="en-US" sz="2400" dirty="0">
              <a:solidFill>
                <a:schemeClr val="tx1"/>
              </a:solidFill>
            </a:endParaRP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The problem? In real world, there’s no weapon in passenger luggage in 999/1000 cases.</a:t>
            </a:r>
          </a:p>
        </p:txBody>
      </p:sp>
    </p:spTree>
    <p:extLst>
      <p:ext uri="{BB962C8B-B14F-4D97-AF65-F5344CB8AC3E}">
        <p14:creationId xmlns:p14="http://schemas.microsoft.com/office/powerpoint/2010/main" val="1367444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Inventing your own Metrics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05906" y="1811229"/>
                <a:ext cx="10058400" cy="4460983"/>
              </a:xfrm>
            </p:spPr>
            <p:txBody>
              <a:bodyPr>
                <a:normAutofit/>
              </a:bodyPr>
              <a:lstStyle/>
              <a:p>
                <a:pPr lvl="1"/>
                <a:r>
                  <a:rPr lang="en-US" sz="3200" dirty="0">
                    <a:solidFill>
                      <a:schemeClr val="tx1"/>
                    </a:solidFill>
                  </a:rPr>
                  <a:t>Answer: Penalized Accuracy (made up name)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</m:num>
                      <m:den>
                        <m:r>
                          <a:rPr 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𝐹𝑃</m:t>
                        </m:r>
                        <m:r>
                          <a:rPr 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  <m:r>
                          <a:rPr 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+(</m:t>
                        </m:r>
                        <m:r>
                          <a:rPr 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𝐹𝑁</m:t>
                        </m:r>
                        <m:r>
                          <a:rPr 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sz="320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sz="3200" dirty="0">
                    <a:solidFill>
                      <a:schemeClr val="tx1"/>
                    </a:solidFill>
                  </a:rPr>
                  <a:t>Here, </a:t>
                </a:r>
                <a:r>
                  <a:rPr lang="en-US" sz="3200" i="1" dirty="0">
                    <a:solidFill>
                      <a:schemeClr val="tx1"/>
                    </a:solidFill>
                  </a:rPr>
                  <a:t>p (e.g. 100)</a:t>
                </a:r>
                <a:r>
                  <a:rPr lang="en-US" sz="3200" dirty="0">
                    <a:solidFill>
                      <a:schemeClr val="tx1"/>
                    </a:solidFill>
                  </a:rPr>
                  <a:t> is the penalty paid for a FN, which means the model is missing out a Positive.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05906" y="1811229"/>
                <a:ext cx="10058400" cy="4460983"/>
              </a:xfrm>
              <a:blipFill>
                <a:blip r:embed="rId2"/>
                <a:stretch>
                  <a:fillRect l="-485" t="-3142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9012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ROC-AUC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5906" y="1811229"/>
            <a:ext cx="10058400" cy="4460983"/>
          </a:xfrm>
        </p:spPr>
        <p:txBody>
          <a:bodyPr>
            <a:normAutofit/>
          </a:bodyPr>
          <a:lstStyle/>
          <a:p>
            <a:pPr lvl="1"/>
            <a:r>
              <a:rPr lang="en-US" sz="2800" dirty="0">
                <a:solidFill>
                  <a:schemeClr val="tx1"/>
                </a:solidFill>
              </a:rPr>
              <a:t>Receiver Operating Characteristic Curve is a graphical plot.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Used to evaluate the performance of model on different </a:t>
            </a:r>
            <a:r>
              <a:rPr lang="en-US" sz="2800" i="1" dirty="0">
                <a:solidFill>
                  <a:schemeClr val="tx1"/>
                </a:solidFill>
              </a:rPr>
              <a:t>probability thresholds</a:t>
            </a:r>
            <a:r>
              <a:rPr lang="en-US" sz="2800" dirty="0">
                <a:solidFill>
                  <a:schemeClr val="tx1"/>
                </a:solidFill>
              </a:rPr>
              <a:t> for classification.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Probability is the threshold on which we label a case as Positive.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The curve is plot by setting various values for probability and computing FPR (x-axis) and TPR (y-axis).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Probability threshold itself is not shown on graph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AUC is the Area Under the ROC Curve</a:t>
            </a:r>
          </a:p>
        </p:txBody>
      </p:sp>
    </p:spTree>
    <p:extLst>
      <p:ext uri="{BB962C8B-B14F-4D97-AF65-F5344CB8AC3E}">
        <p14:creationId xmlns:p14="http://schemas.microsoft.com/office/powerpoint/2010/main" val="3450548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ROC-AUC</a:t>
            </a:r>
            <a:endParaRPr lang="en-GB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6005" y="1765936"/>
            <a:ext cx="5340949" cy="4332287"/>
          </a:xfrm>
        </p:spPr>
      </p:pic>
      <p:sp>
        <p:nvSpPr>
          <p:cNvPr id="11" name="Rectangle 10"/>
          <p:cNvSpPr/>
          <p:nvPr/>
        </p:nvSpPr>
        <p:spPr>
          <a:xfrm>
            <a:off x="4348107" y="6043076"/>
            <a:ext cx="35567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https://i.stack.imgur.com/kxfbR.png</a:t>
            </a:r>
          </a:p>
        </p:txBody>
      </p:sp>
    </p:spTree>
    <p:extLst>
      <p:ext uri="{BB962C8B-B14F-4D97-AF65-F5344CB8AC3E}">
        <p14:creationId xmlns:p14="http://schemas.microsoft.com/office/powerpoint/2010/main" val="26445190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There are many more…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05906" y="1811229"/>
                <a:ext cx="10058400" cy="4460983"/>
              </a:xfrm>
            </p:spPr>
            <p:txBody>
              <a:bodyPr>
                <a:normAutofit/>
              </a:bodyPr>
              <a:lstStyle/>
              <a:p>
                <a:pPr lvl="1"/>
                <a:r>
                  <a:rPr lang="en-US" sz="3200" dirty="0">
                    <a:solidFill>
                      <a:schemeClr val="tx1"/>
                    </a:solidFill>
                  </a:rPr>
                  <a:t>Gain and Lift: Used to measures of effectiveness; as ratio between results obtained with and without the classification model.</a:t>
                </a:r>
              </a:p>
              <a:p>
                <a:pPr lvl="1"/>
                <a:r>
                  <a:rPr lang="en-US" sz="3200" dirty="0">
                    <a:solidFill>
                      <a:schemeClr val="tx1"/>
                    </a:solidFill>
                  </a:rPr>
                  <a:t>Intersection over Union: Used in Image Classification to measure overlap between predicted box and its actual bounding box.</a:t>
                </a:r>
              </a:p>
              <a:p>
                <a:pPr lvl="1"/>
                <a:r>
                  <a:rPr lang="en-US" sz="3200" b="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Error-based: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3200" dirty="0">
                    <a:solidFill>
                      <a:schemeClr val="tx1"/>
                    </a:solidFill>
                  </a:rPr>
                  <a:t> (Chi-Sq), Mean Squared Error, Residual Standard Error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05906" y="1811229"/>
                <a:ext cx="10058400" cy="4460983"/>
              </a:xfrm>
              <a:blipFill>
                <a:blip r:embed="rId2"/>
                <a:stretch>
                  <a:fillRect l="-485" t="-3142" r="-121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5334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163050" y="1471518"/>
            <a:ext cx="1367682" cy="31547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9900" dirty="0"/>
              <a:t>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724336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91530" y="2030318"/>
            <a:ext cx="8945206" cy="22159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3800" dirty="0"/>
              <a:t>Thank you…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18181152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1806</TotalTime>
  <Words>917</Words>
  <Application>Microsoft Office PowerPoint</Application>
  <PresentationFormat>Widescreen</PresentationFormat>
  <Paragraphs>250</Paragraphs>
  <Slides>18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Calibri</vt:lpstr>
      <vt:lpstr>Calibri Light</vt:lpstr>
      <vt:lpstr>Cambria Math</vt:lpstr>
      <vt:lpstr>Retrospect</vt:lpstr>
      <vt:lpstr>Evaluating a Machine Learning Model</vt:lpstr>
      <vt:lpstr>Outlines</vt:lpstr>
      <vt:lpstr>Recap</vt:lpstr>
      <vt:lpstr>Confusion Matrix</vt:lpstr>
      <vt:lpstr>High Accuracy Trap</vt:lpstr>
      <vt:lpstr>Choosing the Right Metric</vt:lpstr>
      <vt:lpstr>Sensitivity (Recall)</vt:lpstr>
      <vt:lpstr>Precision (Positive Prediction Value)</vt:lpstr>
      <vt:lpstr>Specificity</vt:lpstr>
      <vt:lpstr>Is there a way to balance them all?</vt:lpstr>
      <vt:lpstr>F1-Score</vt:lpstr>
      <vt:lpstr>Very High Accuracy Trap</vt:lpstr>
      <vt:lpstr>Inventing your own Metrics</vt:lpstr>
      <vt:lpstr>ROC-AUC</vt:lpstr>
      <vt:lpstr>ROC-AUC</vt:lpstr>
      <vt:lpstr>There are many more…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Map-Reduce</dc:title>
  <dc:creator>Owais Ahmed</dc:creator>
  <cp:lastModifiedBy>Owais Ahmed</cp:lastModifiedBy>
  <cp:revision>200</cp:revision>
  <dcterms:created xsi:type="dcterms:W3CDTF">2018-04-25T13:42:40Z</dcterms:created>
  <dcterms:modified xsi:type="dcterms:W3CDTF">2023-01-02T17:55:27Z</dcterms:modified>
</cp:coreProperties>
</file>