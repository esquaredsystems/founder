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4"/>
  </p:notesMasterIdLst>
  <p:sldIdLst>
    <p:sldId id="267" r:id="rId2"/>
    <p:sldId id="269" r:id="rId3"/>
    <p:sldId id="271" r:id="rId4"/>
    <p:sldId id="268" r:id="rId5"/>
    <p:sldId id="275" r:id="rId6"/>
    <p:sldId id="281" r:id="rId7"/>
    <p:sldId id="276" r:id="rId8"/>
    <p:sldId id="277" r:id="rId9"/>
    <p:sldId id="278" r:id="rId10"/>
    <p:sldId id="279" r:id="rId11"/>
    <p:sldId id="282" r:id="rId12"/>
    <p:sldId id="28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8" autoAdjust="0"/>
    <p:restoredTop sz="91453" autoAdjust="0"/>
  </p:normalViewPr>
  <p:slideViewPr>
    <p:cSldViewPr>
      <p:cViewPr>
        <p:scale>
          <a:sx n="100" d="100"/>
          <a:sy n="100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</a:t>
            </a:r>
            <a:r>
              <a:rPr lang="en-US" smtClean="0"/>
              <a:t>: 15</a:t>
            </a:r>
            <a:endParaRPr lang="en-US" dirty="0" smtClean="0"/>
          </a:p>
          <a:p>
            <a:r>
              <a:rPr lang="en-US" dirty="0" smtClean="0"/>
              <a:t>-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reference is a key value used to look up the actual object in the memory heap (i.e. used to map to an actual pointer maintained by the JVM object-management internals)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15m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20m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</a:t>
            </a:r>
            <a:r>
              <a:rPr lang="en-US" baseline="0" dirty="0" smtClean="0"/>
              <a:t>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</a:t>
            </a:r>
            <a:r>
              <a:rPr lang="en-US" baseline="0" dirty="0" smtClean="0"/>
              <a:t>15</a:t>
            </a:r>
          </a:p>
          <a:p>
            <a:r>
              <a:rPr lang="en-US" baseline="0" dirty="0" smtClean="0"/>
              <a:t>- </a:t>
            </a:r>
            <a:r>
              <a:rPr lang="en-US" baseline="0" smtClean="0"/>
              <a:t>Slide </a:t>
            </a:r>
            <a:r>
              <a:rPr lang="en-US" baseline="0" smtClean="0"/>
              <a:t>22 </a:t>
            </a:r>
            <a:r>
              <a:rPr lang="en-US" baseline="0" dirty="0" smtClean="0"/>
              <a:t>from “</a:t>
            </a:r>
            <a:r>
              <a:rPr lang="en-US" baseline="0" dirty="0" smtClean="0"/>
              <a:t>2 Basic </a:t>
            </a:r>
            <a:r>
              <a:rPr lang="en-US" baseline="0" dirty="0" smtClean="0"/>
              <a:t>Programming Elements.pdf”</a:t>
            </a:r>
          </a:p>
          <a:p>
            <a:r>
              <a:rPr lang="en-US" baseline="0" dirty="0" smtClean="0"/>
              <a:t>- Challenge: Why 1.0 / 0 = Infinity and 1 / 0 is exception?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</a:t>
            </a:r>
            <a:r>
              <a:rPr lang="en-US" baseline="0" dirty="0" smtClean="0"/>
              <a:t>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Estimated Time: </a:t>
            </a:r>
            <a:r>
              <a:rPr lang="en-US" baseline="0" dirty="0" smtClean="0"/>
              <a:t>2h 30m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Variables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Data Types</a:t>
            </a:r>
          </a:p>
          <a:p>
            <a:pPr lvl="1"/>
            <a:r>
              <a:rPr lang="en-US" sz="2800" dirty="0" smtClean="0"/>
              <a:t>Primitive Types</a:t>
            </a:r>
          </a:p>
          <a:p>
            <a:pPr lvl="1"/>
            <a:r>
              <a:rPr lang="en-US" sz="2800" dirty="0" smtClean="0"/>
              <a:t>Non-primitive Types</a:t>
            </a:r>
          </a:p>
          <a:p>
            <a:r>
              <a:rPr lang="en-US" sz="3000" dirty="0" smtClean="0"/>
              <a:t>Local Variables</a:t>
            </a:r>
          </a:p>
          <a:p>
            <a:pPr lvl="1"/>
            <a:r>
              <a:rPr lang="en-US" sz="2800" dirty="0" smtClean="0"/>
              <a:t>Choosing Data Type</a:t>
            </a:r>
          </a:p>
          <a:p>
            <a:pPr lvl="1"/>
            <a:r>
              <a:rPr lang="en-US" sz="2800" dirty="0" smtClean="0"/>
              <a:t>Declaring</a:t>
            </a:r>
          </a:p>
          <a:p>
            <a:pPr lvl="1"/>
            <a:r>
              <a:rPr lang="en-US" sz="2800" dirty="0" smtClean="0"/>
              <a:t>Initializing</a:t>
            </a:r>
          </a:p>
          <a:p>
            <a:r>
              <a:rPr lang="en-US" sz="3000" dirty="0"/>
              <a:t>Access Modifiers</a:t>
            </a:r>
          </a:p>
          <a:p>
            <a:r>
              <a:rPr lang="en-US" sz="3000" dirty="0" smtClean="0"/>
              <a:t>Class (static) Variables</a:t>
            </a:r>
          </a:p>
          <a:p>
            <a:r>
              <a:rPr lang="en-US" sz="3000" dirty="0"/>
              <a:t>Instance </a:t>
            </a:r>
            <a:r>
              <a:rPr lang="en-US" sz="3000" dirty="0" smtClean="0"/>
              <a:t>(non-static</a:t>
            </a:r>
            <a:r>
              <a:rPr lang="en-US" sz="3000" dirty="0"/>
              <a:t>) </a:t>
            </a:r>
            <a:r>
              <a:rPr lang="en-US" sz="3000" dirty="0" smtClean="0"/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362039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Primitive Data Types</a:t>
            </a:r>
            <a:endParaRPr lang="en-US" sz="4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08"/>
          <a:stretch/>
        </p:blipFill>
        <p:spPr bwMode="auto">
          <a:xfrm>
            <a:off x="228600" y="1600200"/>
            <a:ext cx="793258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078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Primitive Data Types</a:t>
            </a:r>
            <a:endParaRPr lang="en-US" sz="4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6"/>
          <a:stretch/>
        </p:blipFill>
        <p:spPr bwMode="auto">
          <a:xfrm>
            <a:off x="685800" y="1219200"/>
            <a:ext cx="7135038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91617"/>
              </p:ext>
            </p:extLst>
          </p:nvPr>
        </p:nvGraphicFramePr>
        <p:xfrm>
          <a:off x="685800" y="4156710"/>
          <a:ext cx="7135040" cy="2682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1880"/>
                <a:gridCol w="891880"/>
                <a:gridCol w="891880"/>
                <a:gridCol w="891880"/>
                <a:gridCol w="891880"/>
                <a:gridCol w="891880"/>
                <a:gridCol w="891880"/>
                <a:gridCol w="891880"/>
              </a:tblGrid>
              <a:tr h="316071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byte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long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float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double</a:t>
                      </a:r>
                      <a:endParaRPr lang="en-US" sz="1600" dirty="0"/>
                    </a:p>
                  </a:txBody>
                  <a:tcPr/>
                </a:tc>
              </a:tr>
              <a:tr h="31607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byte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1607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short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1607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1607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char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1607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long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1607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float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1607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double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96973" y="3790950"/>
            <a:ext cx="4912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Implicit Conversion between Primitive Types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1626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Non-Primitive Data Types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User-created</a:t>
            </a:r>
          </a:p>
          <a:p>
            <a:r>
              <a:rPr lang="en-US" sz="3000" dirty="0" err="1" smtClean="0"/>
              <a:t>Nullable</a:t>
            </a:r>
            <a:endParaRPr lang="en-US" sz="3000" dirty="0" smtClean="0"/>
          </a:p>
          <a:p>
            <a:r>
              <a:rPr lang="en-US" sz="3000" dirty="0" smtClean="0"/>
              <a:t>Also called “Reference Types”</a:t>
            </a:r>
          </a:p>
          <a:p>
            <a:r>
              <a:rPr lang="en-US" sz="3000" dirty="0" smtClean="0"/>
              <a:t>Examples:</a:t>
            </a:r>
          </a:p>
          <a:p>
            <a:pPr lvl="1"/>
            <a:r>
              <a:rPr lang="en-US" sz="2800" dirty="0" smtClean="0"/>
              <a:t>Arrays</a:t>
            </a:r>
          </a:p>
          <a:p>
            <a:pPr lvl="1"/>
            <a:r>
              <a:rPr lang="en-US" sz="2800" dirty="0" smtClean="0"/>
              <a:t>Lists</a:t>
            </a:r>
          </a:p>
          <a:p>
            <a:pPr lvl="1"/>
            <a:r>
              <a:rPr lang="en-US" sz="2800" dirty="0" smtClean="0"/>
              <a:t>Files</a:t>
            </a:r>
          </a:p>
          <a:p>
            <a:endParaRPr lang="en-US" sz="3000" dirty="0" smtClean="0"/>
          </a:p>
          <a:p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160676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Access Modifiers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Access Modifiers</a:t>
            </a:r>
          </a:p>
          <a:p>
            <a:pPr lvl="1"/>
            <a:r>
              <a:rPr lang="en-US" sz="2800" dirty="0" smtClean="0"/>
              <a:t>Public</a:t>
            </a:r>
          </a:p>
          <a:p>
            <a:pPr lvl="1"/>
            <a:r>
              <a:rPr lang="en-US" sz="2800" dirty="0" smtClean="0"/>
              <a:t>Private</a:t>
            </a:r>
          </a:p>
          <a:p>
            <a:pPr lvl="1"/>
            <a:r>
              <a:rPr lang="en-US" sz="2800" dirty="0" smtClean="0"/>
              <a:t>Protected</a:t>
            </a:r>
          </a:p>
          <a:p>
            <a:pPr lvl="1"/>
            <a:r>
              <a:rPr lang="en-US" sz="2800" dirty="0" smtClean="0"/>
              <a:t>Default</a:t>
            </a:r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878221"/>
              </p:ext>
            </p:extLst>
          </p:nvPr>
        </p:nvGraphicFramePr>
        <p:xfrm>
          <a:off x="1143000" y="4419600"/>
          <a:ext cx="6096000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Modifier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Child-Class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Sub-Class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Project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Public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Protected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Default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07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Static/Non-static Variables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Class (static) Variables</a:t>
            </a:r>
          </a:p>
          <a:p>
            <a:r>
              <a:rPr lang="en-US" sz="3000" dirty="0"/>
              <a:t>Instance </a:t>
            </a:r>
            <a:r>
              <a:rPr lang="en-US" sz="3000" dirty="0" smtClean="0"/>
              <a:t>(non-static</a:t>
            </a:r>
            <a:r>
              <a:rPr lang="en-US" sz="3000" dirty="0"/>
              <a:t>) </a:t>
            </a:r>
            <a:r>
              <a:rPr lang="en-US" sz="3000" dirty="0" smtClean="0"/>
              <a:t>Variables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821955"/>
              </p:ext>
            </p:extLst>
          </p:nvPr>
        </p:nvGraphicFramePr>
        <p:xfrm>
          <a:off x="762000" y="373380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Accessibility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Non-static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Non-static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C00000"/>
                          </a:solidFill>
                        </a:rPr>
                        <a:t>!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85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Statements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Initialize</a:t>
            </a:r>
          </a:p>
          <a:p>
            <a:r>
              <a:rPr lang="en-US" sz="3000" dirty="0" smtClean="0"/>
              <a:t>Assignments</a:t>
            </a:r>
          </a:p>
          <a:p>
            <a:r>
              <a:rPr lang="en-US" sz="3000" dirty="0" smtClean="0"/>
              <a:t>Mathematical Expressions</a:t>
            </a:r>
          </a:p>
          <a:p>
            <a:r>
              <a:rPr lang="en-US" sz="3000" dirty="0" smtClean="0"/>
              <a:t>Control Statements</a:t>
            </a:r>
          </a:p>
          <a:p>
            <a:pPr lvl="1"/>
            <a:r>
              <a:rPr lang="en-US" sz="2800" dirty="0" smtClean="0"/>
              <a:t>Conditions: if – else, switch</a:t>
            </a:r>
          </a:p>
          <a:p>
            <a:pPr lvl="1"/>
            <a:r>
              <a:rPr lang="en-US" sz="2800" dirty="0" smtClean="0"/>
              <a:t>Loops: for, while</a:t>
            </a:r>
          </a:p>
          <a:p>
            <a:pPr lvl="1"/>
            <a:r>
              <a:rPr lang="en-US" sz="2800" dirty="0" smtClean="0"/>
              <a:t>Special Control Statements: break, continue, </a:t>
            </a:r>
            <a:r>
              <a:rPr lang="en-US" sz="2800" dirty="0"/>
              <a:t>return, </a:t>
            </a:r>
            <a:r>
              <a:rPr lang="en-US" sz="2800" dirty="0" smtClean="0"/>
              <a:t>try-catch-finally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5638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Initializing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Declaration</a:t>
            </a:r>
          </a:p>
          <a:p>
            <a:pPr lvl="1"/>
            <a:r>
              <a:rPr lang="en-US" sz="2800" dirty="0" smtClean="0"/>
              <a:t>Type and Name</a:t>
            </a:r>
          </a:p>
          <a:p>
            <a:r>
              <a:rPr lang="en-US" sz="3000" dirty="0" smtClean="0"/>
              <a:t>Definition</a:t>
            </a:r>
          </a:p>
          <a:p>
            <a:pPr lvl="1"/>
            <a:r>
              <a:rPr lang="en-US" sz="2800" dirty="0" smtClean="0"/>
              <a:t>Assign value to a primitive type</a:t>
            </a:r>
          </a:p>
          <a:p>
            <a:r>
              <a:rPr lang="en-US" sz="3000" dirty="0" smtClean="0"/>
              <a:t>Instantiation</a:t>
            </a:r>
          </a:p>
          <a:p>
            <a:pPr lvl="1"/>
            <a:r>
              <a:rPr lang="en-US" sz="2800" i="1" dirty="0" smtClean="0"/>
              <a:t>“new”</a:t>
            </a:r>
            <a:r>
              <a:rPr lang="en-US" sz="2800" dirty="0" smtClean="0"/>
              <a:t> Keyword</a:t>
            </a:r>
          </a:p>
          <a:p>
            <a:r>
              <a:rPr lang="en-US" sz="3000" dirty="0" smtClean="0"/>
              <a:t>Initialization</a:t>
            </a:r>
          </a:p>
          <a:p>
            <a:pPr lvl="1"/>
            <a:r>
              <a:rPr lang="en-US" sz="2800" dirty="0" smtClean="0"/>
              <a:t>Assign values</a:t>
            </a:r>
          </a:p>
          <a:p>
            <a:r>
              <a:rPr lang="en-US" sz="3000" dirty="0" smtClean="0"/>
              <a:t>Constants</a:t>
            </a:r>
          </a:p>
        </p:txBody>
      </p:sp>
    </p:spTree>
    <p:extLst>
      <p:ext uri="{BB962C8B-B14F-4D97-AF65-F5344CB8AC3E}">
        <p14:creationId xmlns:p14="http://schemas.microsoft.com/office/powerpoint/2010/main" val="221201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Assignments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Assigning constant value</a:t>
            </a:r>
          </a:p>
          <a:p>
            <a:r>
              <a:rPr lang="en-US" sz="2800" dirty="0" smtClean="0"/>
              <a:t>Increment/Decrement</a:t>
            </a:r>
          </a:p>
          <a:p>
            <a:pPr lvl="1"/>
            <a:r>
              <a:rPr lang="en-US" sz="2600" smtClean="0"/>
              <a:t>?++, ++?, +=</a:t>
            </a:r>
            <a:endParaRPr lang="en-US" sz="2600" dirty="0"/>
          </a:p>
          <a:p>
            <a:r>
              <a:rPr lang="en-US" sz="2800" dirty="0" smtClean="0"/>
              <a:t>Assignment from Primitives</a:t>
            </a:r>
          </a:p>
          <a:p>
            <a:r>
              <a:rPr lang="en-US" sz="2800" dirty="0" smtClean="0"/>
              <a:t>Assignment from Non-primitives</a:t>
            </a:r>
          </a:p>
          <a:p>
            <a:r>
              <a:rPr lang="en-US" sz="2800" dirty="0" smtClean="0"/>
              <a:t>Copying References</a:t>
            </a:r>
          </a:p>
          <a:p>
            <a:r>
              <a:rPr lang="en-US" sz="2800" dirty="0" smtClean="0"/>
              <a:t>Cloning Objects</a:t>
            </a:r>
          </a:p>
          <a:p>
            <a:r>
              <a:rPr lang="en-US" sz="2800" dirty="0" smtClean="0"/>
              <a:t>Again.. Primitives cannot be Null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083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Mathematical Expressions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Avoiding Ambiguity</a:t>
            </a:r>
          </a:p>
          <a:p>
            <a:r>
              <a:rPr lang="en-US" sz="2800" dirty="0" smtClean="0"/>
              <a:t>Evaluation</a:t>
            </a:r>
            <a:endParaRPr 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86"/>
          <a:stretch/>
        </p:blipFill>
        <p:spPr bwMode="auto">
          <a:xfrm>
            <a:off x="161925" y="2590800"/>
            <a:ext cx="8143875" cy="376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58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Logical Operators</a:t>
            </a:r>
          </a:p>
          <a:p>
            <a:pPr lvl="1"/>
            <a:r>
              <a:rPr lang="en-US" sz="2800" dirty="0"/>
              <a:t>De’ Morgan’s Law</a:t>
            </a:r>
          </a:p>
          <a:p>
            <a:r>
              <a:rPr lang="en-US" sz="3000" dirty="0" smtClean="0"/>
              <a:t>Relational Operators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08777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Control Statements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dirty="0" smtClean="0"/>
              <a:t>Conditions</a:t>
            </a:r>
          </a:p>
          <a:p>
            <a:pPr lvl="1"/>
            <a:r>
              <a:rPr lang="en-US" sz="2800" dirty="0" smtClean="0"/>
              <a:t>if </a:t>
            </a:r>
            <a:r>
              <a:rPr lang="en-US" sz="2800" dirty="0"/>
              <a:t>– </a:t>
            </a:r>
            <a:r>
              <a:rPr lang="en-US" sz="2800" dirty="0" smtClean="0"/>
              <a:t>else</a:t>
            </a:r>
          </a:p>
          <a:p>
            <a:pPr lvl="1"/>
            <a:r>
              <a:rPr lang="en-US" sz="2800" dirty="0" smtClean="0"/>
              <a:t>switch</a:t>
            </a:r>
            <a:endParaRPr lang="en-US" sz="2800" dirty="0"/>
          </a:p>
          <a:p>
            <a:r>
              <a:rPr lang="en-US" sz="3000" dirty="0" smtClean="0"/>
              <a:t>Loops</a:t>
            </a:r>
          </a:p>
          <a:p>
            <a:pPr lvl="1"/>
            <a:r>
              <a:rPr lang="en-US" sz="2800" dirty="0" smtClean="0"/>
              <a:t>for</a:t>
            </a:r>
          </a:p>
          <a:p>
            <a:pPr lvl="1"/>
            <a:r>
              <a:rPr lang="en-US" sz="2800" dirty="0" smtClean="0"/>
              <a:t>while</a:t>
            </a:r>
            <a:endParaRPr lang="en-US" sz="2800" dirty="0"/>
          </a:p>
          <a:p>
            <a:r>
              <a:rPr lang="en-US" sz="3000" dirty="0"/>
              <a:t>Special Control </a:t>
            </a:r>
            <a:r>
              <a:rPr lang="en-US" sz="3000" dirty="0" smtClean="0"/>
              <a:t>Statements</a:t>
            </a:r>
          </a:p>
          <a:p>
            <a:pPr lvl="1"/>
            <a:r>
              <a:rPr lang="en-US" sz="2800" dirty="0" smtClean="0"/>
              <a:t>break</a:t>
            </a:r>
            <a:r>
              <a:rPr lang="en-US" sz="2800" dirty="0"/>
              <a:t>, </a:t>
            </a:r>
            <a:r>
              <a:rPr lang="en-US" sz="2800" dirty="0" smtClean="0"/>
              <a:t>continue</a:t>
            </a:r>
          </a:p>
          <a:p>
            <a:pPr lvl="1"/>
            <a:r>
              <a:rPr lang="en-US" sz="2800" dirty="0" smtClean="0"/>
              <a:t>Return</a:t>
            </a:r>
          </a:p>
          <a:p>
            <a:pPr lvl="1"/>
            <a:r>
              <a:rPr lang="en-US" sz="2800" dirty="0" smtClean="0"/>
              <a:t>try-catch-finally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81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584</TotalTime>
  <Words>388</Words>
  <Application>Microsoft Office PowerPoint</Application>
  <PresentationFormat>On-screen Show (4:3)</PresentationFormat>
  <Paragraphs>200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Adjacency</vt:lpstr>
      <vt:lpstr>Variables</vt:lpstr>
      <vt:lpstr>Primitive Data Types</vt:lpstr>
      <vt:lpstr>Primitive Data Types</vt:lpstr>
      <vt:lpstr>Non-Primitive Data Types</vt:lpstr>
      <vt:lpstr>Access Modifiers</vt:lpstr>
      <vt:lpstr>Static/Non-static Variables</vt:lpstr>
      <vt:lpstr>Statements</vt:lpstr>
      <vt:lpstr>Initializing</vt:lpstr>
      <vt:lpstr>Assignments</vt:lpstr>
      <vt:lpstr>Mathematical Expressions</vt:lpstr>
      <vt:lpstr>Operators</vt:lpstr>
      <vt:lpstr>Control Statements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146</cp:revision>
  <dcterms:created xsi:type="dcterms:W3CDTF">2013-12-19T10:50:36Z</dcterms:created>
  <dcterms:modified xsi:type="dcterms:W3CDTF">2013-12-26T07:34:47Z</dcterms:modified>
</cp:coreProperties>
</file>