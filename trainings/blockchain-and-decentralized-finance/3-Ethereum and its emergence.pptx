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60" r:id="rId2"/>
    <p:sldId id="291" r:id="rId3"/>
    <p:sldId id="263" r:id="rId4"/>
    <p:sldId id="290" r:id="rId5"/>
    <p:sldId id="264" r:id="rId6"/>
    <p:sldId id="278" r:id="rId7"/>
    <p:sldId id="296" r:id="rId8"/>
    <p:sldId id="297" r:id="rId9"/>
    <p:sldId id="299" r:id="rId10"/>
    <p:sldId id="300" r:id="rId11"/>
    <p:sldId id="301" r:id="rId12"/>
    <p:sldId id="298" r:id="rId13"/>
    <p:sldId id="303" r:id="rId14"/>
    <p:sldId id="302" r:id="rId15"/>
    <p:sldId id="304" r:id="rId16"/>
    <p:sldId id="295" r:id="rId17"/>
    <p:sldId id="277" r:id="rId18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0F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056DC8-2D24-4CA6-B14A-D482033F1681}" v="1937" dt="2026-10-01T17:19:13.8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30" autoAdjust="0"/>
    <p:restoredTop sz="92593" autoAdjust="0"/>
  </p:normalViewPr>
  <p:slideViewPr>
    <p:cSldViewPr snapToGrid="0" snapToObjects="1">
      <p:cViewPr varScale="1">
        <p:scale>
          <a:sx n="87" d="100"/>
          <a:sy n="87" d="100"/>
        </p:scale>
        <p:origin x="104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D0A51F83-B713-4A4D-8105-C75936B8E1D2}"/>
    <pc:docChg chg="undo redo custSel addSld delSld modSld sldOrd">
      <pc:chgData name="Owais Ahmed" userId="6abc7d4556b3b071" providerId="LiveId" clId="{D0A51F83-B713-4A4D-8105-C75936B8E1D2}" dt="2026-10-01T17:19:13.842" v="25936"/>
      <pc:docMkLst>
        <pc:docMk/>
      </pc:docMkLst>
      <pc:sldChg chg="delSp modSp mod ord delAnim modNotesTx">
        <pc:chgData name="Owais Ahmed" userId="6abc7d4556b3b071" providerId="LiveId" clId="{D0A51F83-B713-4A4D-8105-C75936B8E1D2}" dt="2026-09-23T10:51:00.380" v="18656" actId="20577"/>
        <pc:sldMkLst>
          <pc:docMk/>
          <pc:sldMk cId="0" sldId="260"/>
        </pc:sldMkLst>
        <pc:spChg chg="mod">
          <ac:chgData name="Owais Ahmed" userId="6abc7d4556b3b071" providerId="LiveId" clId="{D0A51F83-B713-4A4D-8105-C75936B8E1D2}" dt="2026-09-17T04:17:15.317" v="4391" actId="20577"/>
          <ac:spMkLst>
            <pc:docMk/>
            <pc:sldMk cId="0" sldId="260"/>
            <ac:spMk id="2" creationId="{00000000-0000-0000-0000-000000000000}"/>
          </ac:spMkLst>
        </pc:spChg>
        <pc:spChg chg="mod">
          <ac:chgData name="Owais Ahmed" userId="6abc7d4556b3b071" providerId="LiveId" clId="{D0A51F83-B713-4A4D-8105-C75936B8E1D2}" dt="2026-09-23T10:51:00.380" v="18656" actId="20577"/>
          <ac:spMkLst>
            <pc:docMk/>
            <pc:sldMk cId="0" sldId="260"/>
            <ac:spMk id="3" creationId="{00000000-0000-0000-0000-000000000000}"/>
          </ac:spMkLst>
        </pc:spChg>
      </pc:sldChg>
      <pc:sldChg chg="addSp delSp modSp mod ord addAnim delAnim modAnim modNotesTx">
        <pc:chgData name="Owais Ahmed" userId="6abc7d4556b3b071" providerId="LiveId" clId="{D0A51F83-B713-4A4D-8105-C75936B8E1D2}" dt="2026-10-01T10:02:17.719" v="24799" actId="20577"/>
        <pc:sldMkLst>
          <pc:docMk/>
          <pc:sldMk cId="0" sldId="263"/>
        </pc:sldMkLst>
        <pc:spChg chg="mod">
          <ac:chgData name="Owais Ahmed" userId="6abc7d4556b3b071" providerId="LiveId" clId="{D0A51F83-B713-4A4D-8105-C75936B8E1D2}" dt="2026-09-23T10:51:27.300" v="18673" actId="20577"/>
          <ac:spMkLst>
            <pc:docMk/>
            <pc:sldMk cId="0" sldId="263"/>
            <ac:spMk id="2" creationId="{00000000-0000-0000-0000-000000000000}"/>
          </ac:spMkLst>
        </pc:spChg>
        <pc:spChg chg="mod">
          <ac:chgData name="Owais Ahmed" userId="6abc7d4556b3b071" providerId="LiveId" clId="{D0A51F83-B713-4A4D-8105-C75936B8E1D2}" dt="2026-09-23T10:51:21.331" v="18671" actId="20577"/>
          <ac:spMkLst>
            <pc:docMk/>
            <pc:sldMk cId="0" sldId="263"/>
            <ac:spMk id="5" creationId="{00000000-0000-0000-0000-000000000000}"/>
          </ac:spMkLst>
        </pc:spChg>
        <pc:spChg chg="add mod">
          <ac:chgData name="Owais Ahmed" userId="6abc7d4556b3b071" providerId="LiveId" clId="{D0A51F83-B713-4A4D-8105-C75936B8E1D2}" dt="2026-10-01T10:02:17.719" v="24799" actId="20577"/>
          <ac:spMkLst>
            <pc:docMk/>
            <pc:sldMk cId="0" sldId="263"/>
            <ac:spMk id="40" creationId="{C7647194-0E31-0264-1D4B-64EAC554D8BC}"/>
          </ac:spMkLst>
        </pc:spChg>
      </pc:sldChg>
      <pc:sldChg chg="addSp modSp add mod modAnim modNotesTx">
        <pc:chgData name="Owais Ahmed" userId="6abc7d4556b3b071" providerId="LiveId" clId="{D0A51F83-B713-4A4D-8105-C75936B8E1D2}" dt="2026-10-01T09:54:40.334" v="24631" actId="20577"/>
        <pc:sldMkLst>
          <pc:docMk/>
          <pc:sldMk cId="3818387841" sldId="264"/>
        </pc:sldMkLst>
        <pc:spChg chg="mod">
          <ac:chgData name="Owais Ahmed" userId="6abc7d4556b3b071" providerId="LiveId" clId="{D0A51F83-B713-4A4D-8105-C75936B8E1D2}" dt="2026-10-01T09:54:40.334" v="24631" actId="20577"/>
          <ac:spMkLst>
            <pc:docMk/>
            <pc:sldMk cId="3818387841" sldId="264"/>
            <ac:spMk id="2" creationId="{4721CEFB-537A-77D5-CDA9-63C3243BB288}"/>
          </ac:spMkLst>
        </pc:spChg>
        <pc:spChg chg="add mod">
          <ac:chgData name="Owais Ahmed" userId="6abc7d4556b3b071" providerId="LiveId" clId="{D0A51F83-B713-4A4D-8105-C75936B8E1D2}" dt="2026-10-01T09:53:02.642" v="24611" actId="403"/>
          <ac:spMkLst>
            <pc:docMk/>
            <pc:sldMk cId="3818387841" sldId="264"/>
            <ac:spMk id="3" creationId="{DAA4E077-C9E9-60BF-EC61-12F086C6C39B}"/>
          </ac:spMkLst>
        </pc:spChg>
        <pc:spChg chg="mod">
          <ac:chgData name="Owais Ahmed" userId="6abc7d4556b3b071" providerId="LiveId" clId="{D0A51F83-B713-4A4D-8105-C75936B8E1D2}" dt="2026-10-01T09:50:54.354" v="24546" actId="20577"/>
          <ac:spMkLst>
            <pc:docMk/>
            <pc:sldMk cId="3818387841" sldId="264"/>
            <ac:spMk id="5" creationId="{3EDC6F8B-4294-40E8-579E-2C6CF776D24A}"/>
          </ac:spMkLst>
        </pc:spChg>
        <pc:spChg chg="mod">
          <ac:chgData name="Owais Ahmed" userId="6abc7d4556b3b071" providerId="LiveId" clId="{D0A51F83-B713-4A4D-8105-C75936B8E1D2}" dt="2026-10-01T09:54:03.766" v="24620" actId="27636"/>
          <ac:spMkLst>
            <pc:docMk/>
            <pc:sldMk cId="3818387841" sldId="264"/>
            <ac:spMk id="40" creationId="{90AE0532-0849-8314-2A5B-1751DAE0D2F6}"/>
          </ac:spMkLst>
        </pc:spChg>
        <pc:picChg chg="add mod">
          <ac:chgData name="Owais Ahmed" userId="6abc7d4556b3b071" providerId="LiveId" clId="{D0A51F83-B713-4A4D-8105-C75936B8E1D2}" dt="2026-10-01T09:53:43.719" v="24615" actId="14100"/>
          <ac:picMkLst>
            <pc:docMk/>
            <pc:sldMk cId="3818387841" sldId="264"/>
            <ac:picMk id="6" creationId="{06064688-CD61-A0A9-5F8C-5ACE5F14F8F4}"/>
          </ac:picMkLst>
        </pc:picChg>
      </pc:sldChg>
      <pc:sldChg chg="modSp add del mod ord">
        <pc:chgData name="Owais Ahmed" userId="6abc7d4556b3b071" providerId="LiveId" clId="{D0A51F83-B713-4A4D-8105-C75936B8E1D2}" dt="2026-10-01T09:56:04.160" v="24648" actId="47"/>
        <pc:sldMkLst>
          <pc:docMk/>
          <pc:sldMk cId="2538095297" sldId="270"/>
        </pc:sldMkLst>
      </pc:sldChg>
      <pc:sldChg chg="modSp add ord modAnim">
        <pc:chgData name="Owais Ahmed" userId="6abc7d4556b3b071" providerId="LiveId" clId="{D0A51F83-B713-4A4D-8105-C75936B8E1D2}" dt="2026-10-01T13:04:28.634" v="25629" actId="6549"/>
        <pc:sldMkLst>
          <pc:docMk/>
          <pc:sldMk cId="3791392342" sldId="277"/>
        </pc:sldMkLst>
        <pc:spChg chg="mod">
          <ac:chgData name="Owais Ahmed" userId="6abc7d4556b3b071" providerId="LiveId" clId="{D0A51F83-B713-4A4D-8105-C75936B8E1D2}" dt="2026-09-17T13:39:54.445" v="18050" actId="5793"/>
          <ac:spMkLst>
            <pc:docMk/>
            <pc:sldMk cId="3791392342" sldId="277"/>
            <ac:spMk id="5" creationId="{BFEFBD1C-0470-5A7D-AC88-938C5A50D67B}"/>
          </ac:spMkLst>
        </pc:spChg>
        <pc:spChg chg="mod">
          <ac:chgData name="Owais Ahmed" userId="6abc7d4556b3b071" providerId="LiveId" clId="{D0A51F83-B713-4A4D-8105-C75936B8E1D2}" dt="2026-10-01T13:04:28.634" v="25629" actId="6549"/>
          <ac:spMkLst>
            <pc:docMk/>
            <pc:sldMk cId="3791392342" sldId="277"/>
            <ac:spMk id="40" creationId="{6BBCF4FE-3C7C-4592-E45B-B3C65DDDB7C6}"/>
          </ac:spMkLst>
        </pc:spChg>
      </pc:sldChg>
      <pc:sldChg chg="modSp add mod modAnim">
        <pc:chgData name="Owais Ahmed" userId="6abc7d4556b3b071" providerId="LiveId" clId="{D0A51F83-B713-4A4D-8105-C75936B8E1D2}" dt="2026-10-01T09:59:25.082" v="24776" actId="20577"/>
        <pc:sldMkLst>
          <pc:docMk/>
          <pc:sldMk cId="2742078132" sldId="278"/>
        </pc:sldMkLst>
        <pc:spChg chg="mod">
          <ac:chgData name="Owais Ahmed" userId="6abc7d4556b3b071" providerId="LiveId" clId="{D0A51F83-B713-4A4D-8105-C75936B8E1D2}" dt="2026-10-01T09:56:02.261" v="24646" actId="20577"/>
          <ac:spMkLst>
            <pc:docMk/>
            <pc:sldMk cId="2742078132" sldId="278"/>
            <ac:spMk id="2" creationId="{53B4040E-CDC3-23D1-3CDB-75D447CA41FE}"/>
          </ac:spMkLst>
        </pc:spChg>
        <pc:spChg chg="mod">
          <ac:chgData name="Owais Ahmed" userId="6abc7d4556b3b071" providerId="LiveId" clId="{D0A51F83-B713-4A4D-8105-C75936B8E1D2}" dt="2026-10-01T09:55:58.437" v="24643" actId="20577"/>
          <ac:spMkLst>
            <pc:docMk/>
            <pc:sldMk cId="2742078132" sldId="278"/>
            <ac:spMk id="5" creationId="{509F10D7-78E4-F176-F509-A90E901420F6}"/>
          </ac:spMkLst>
        </pc:spChg>
        <pc:spChg chg="mod">
          <ac:chgData name="Owais Ahmed" userId="6abc7d4556b3b071" providerId="LiveId" clId="{D0A51F83-B713-4A4D-8105-C75936B8E1D2}" dt="2026-10-01T09:59:25.082" v="24776" actId="20577"/>
          <ac:spMkLst>
            <pc:docMk/>
            <pc:sldMk cId="2742078132" sldId="278"/>
            <ac:spMk id="40" creationId="{77C9C9A8-754A-CC10-2B61-95BBBDDD3717}"/>
          </ac:spMkLst>
        </pc:spChg>
      </pc:sldChg>
      <pc:sldChg chg="addSp delSp modSp add del mod modAnim">
        <pc:chgData name="Owais Ahmed" userId="6abc7d4556b3b071" providerId="LiveId" clId="{D0A51F83-B713-4A4D-8105-C75936B8E1D2}" dt="2026-10-01T09:54:26.676" v="24621" actId="47"/>
        <pc:sldMkLst>
          <pc:docMk/>
          <pc:sldMk cId="699771480" sldId="279"/>
        </pc:sldMkLst>
      </pc:sldChg>
      <pc:sldChg chg="modSp add del mod ord addAnim delAnim modAnim modNotesTx">
        <pc:chgData name="Owais Ahmed" userId="6abc7d4556b3b071" providerId="LiveId" clId="{D0A51F83-B713-4A4D-8105-C75936B8E1D2}" dt="2026-10-01T09:54:26.793" v="24622" actId="47"/>
        <pc:sldMkLst>
          <pc:docMk/>
          <pc:sldMk cId="1862690012" sldId="280"/>
        </pc:sldMkLst>
      </pc:sldChg>
      <pc:sldChg chg="modSp add del mod modAnim modNotesTx">
        <pc:chgData name="Owais Ahmed" userId="6abc7d4556b3b071" providerId="LiveId" clId="{D0A51F83-B713-4A4D-8105-C75936B8E1D2}" dt="2026-10-01T09:54:26.986" v="24623" actId="47"/>
        <pc:sldMkLst>
          <pc:docMk/>
          <pc:sldMk cId="4240554305" sldId="281"/>
        </pc:sldMkLst>
      </pc:sldChg>
      <pc:sldChg chg="modSp add del mod modAnim modNotesTx">
        <pc:chgData name="Owais Ahmed" userId="6abc7d4556b3b071" providerId="LiveId" clId="{D0A51F83-B713-4A4D-8105-C75936B8E1D2}" dt="2026-10-01T09:54:28.346" v="24624" actId="47"/>
        <pc:sldMkLst>
          <pc:docMk/>
          <pc:sldMk cId="3736121317" sldId="282"/>
        </pc:sldMkLst>
      </pc:sldChg>
      <pc:sldChg chg="modSp add del mod ord modAnim modNotesTx">
        <pc:chgData name="Owais Ahmed" userId="6abc7d4556b3b071" providerId="LiveId" clId="{D0A51F83-B713-4A4D-8105-C75936B8E1D2}" dt="2026-10-01T09:54:28.664" v="24626" actId="47"/>
        <pc:sldMkLst>
          <pc:docMk/>
          <pc:sldMk cId="2320039468" sldId="283"/>
        </pc:sldMkLst>
      </pc:sldChg>
      <pc:sldChg chg="addSp delSp modSp add del mod ord delAnim">
        <pc:chgData name="Owais Ahmed" userId="6abc7d4556b3b071" providerId="LiveId" clId="{D0A51F83-B713-4A4D-8105-C75936B8E1D2}" dt="2026-10-01T09:54:28.482" v="24625" actId="47"/>
        <pc:sldMkLst>
          <pc:docMk/>
          <pc:sldMk cId="1482045399" sldId="284"/>
        </pc:sldMkLst>
      </pc:sldChg>
      <pc:sldChg chg="addSp delSp modSp add del mod modAnim modNotesTx">
        <pc:chgData name="Owais Ahmed" userId="6abc7d4556b3b071" providerId="LiveId" clId="{D0A51F83-B713-4A4D-8105-C75936B8E1D2}" dt="2026-10-01T09:54:28.844" v="24627" actId="47"/>
        <pc:sldMkLst>
          <pc:docMk/>
          <pc:sldMk cId="862787210" sldId="285"/>
        </pc:sldMkLst>
      </pc:sldChg>
      <pc:sldChg chg="modSp add del mod ord modAnim">
        <pc:chgData name="Owais Ahmed" userId="6abc7d4556b3b071" providerId="LiveId" clId="{D0A51F83-B713-4A4D-8105-C75936B8E1D2}" dt="2026-10-01T09:56:04.417" v="24649" actId="47"/>
        <pc:sldMkLst>
          <pc:docMk/>
          <pc:sldMk cId="3796576263" sldId="286"/>
        </pc:sldMkLst>
      </pc:sldChg>
      <pc:sldChg chg="del">
        <pc:chgData name="Owais Ahmed" userId="6abc7d4556b3b071" providerId="LiveId" clId="{D0A51F83-B713-4A4D-8105-C75936B8E1D2}" dt="2026-10-01T09:54:29.049" v="24628" actId="47"/>
        <pc:sldMkLst>
          <pc:docMk/>
          <pc:sldMk cId="2595605574" sldId="287"/>
        </pc:sldMkLst>
      </pc:sldChg>
      <pc:sldChg chg="del">
        <pc:chgData name="Owais Ahmed" userId="6abc7d4556b3b071" providerId="LiveId" clId="{D0A51F83-B713-4A4D-8105-C75936B8E1D2}" dt="2026-10-01T09:54:29.915" v="24629" actId="47"/>
        <pc:sldMkLst>
          <pc:docMk/>
          <pc:sldMk cId="281887759" sldId="288"/>
        </pc:sldMkLst>
      </pc:sldChg>
      <pc:sldChg chg="del">
        <pc:chgData name="Owais Ahmed" userId="6abc7d4556b3b071" providerId="LiveId" clId="{D0A51F83-B713-4A4D-8105-C75936B8E1D2}" dt="2026-10-01T09:54:33.168" v="24630" actId="47"/>
        <pc:sldMkLst>
          <pc:docMk/>
          <pc:sldMk cId="2609658769" sldId="289"/>
        </pc:sldMkLst>
      </pc:sldChg>
      <pc:sldChg chg="addSp modSp mod">
        <pc:chgData name="Owais Ahmed" userId="6abc7d4556b3b071" providerId="LiveId" clId="{D0A51F83-B713-4A4D-8105-C75936B8E1D2}" dt="2026-10-01T11:40:40.312" v="25356" actId="208"/>
        <pc:sldMkLst>
          <pc:docMk/>
          <pc:sldMk cId="3497937786" sldId="290"/>
        </pc:sldMkLst>
        <pc:spChg chg="mod">
          <ac:chgData name="Owais Ahmed" userId="6abc7d4556b3b071" providerId="LiveId" clId="{D0A51F83-B713-4A4D-8105-C75936B8E1D2}" dt="2026-10-01T11:39:42.999" v="25344" actId="14100"/>
          <ac:spMkLst>
            <pc:docMk/>
            <pc:sldMk cId="3497937786" sldId="290"/>
            <ac:spMk id="2" creationId="{518EAA5D-B2C9-B55B-D9BD-9C618B6A4AE6}"/>
          </ac:spMkLst>
        </pc:spChg>
        <pc:spChg chg="mod">
          <ac:chgData name="Owais Ahmed" userId="6abc7d4556b3b071" providerId="LiveId" clId="{D0A51F83-B713-4A4D-8105-C75936B8E1D2}" dt="2026-10-01T11:39:49.259" v="25347" actId="27636"/>
          <ac:spMkLst>
            <pc:docMk/>
            <pc:sldMk cId="3497937786" sldId="290"/>
            <ac:spMk id="3" creationId="{CF032D0F-B9A7-6EC8-988F-ABEC167FCFF5}"/>
          </ac:spMkLst>
        </pc:spChg>
        <pc:picChg chg="add mod modCrop">
          <ac:chgData name="Owais Ahmed" userId="6abc7d4556b3b071" providerId="LiveId" clId="{D0A51F83-B713-4A4D-8105-C75936B8E1D2}" dt="2026-10-01T11:40:40.312" v="25356" actId="208"/>
          <ac:picMkLst>
            <pc:docMk/>
            <pc:sldMk cId="3497937786" sldId="290"/>
            <ac:picMk id="6" creationId="{9BFD0E2C-8F85-2DA4-537A-BDFFE8793F58}"/>
          </ac:picMkLst>
        </pc:picChg>
      </pc:sldChg>
      <pc:sldChg chg="modSp mod modAnim">
        <pc:chgData name="Owais Ahmed" userId="6abc7d4556b3b071" providerId="LiveId" clId="{D0A51F83-B713-4A4D-8105-C75936B8E1D2}" dt="2026-10-01T08:23:37.266" v="24151" actId="20577"/>
        <pc:sldMkLst>
          <pc:docMk/>
          <pc:sldMk cId="1184793862" sldId="291"/>
        </pc:sldMkLst>
        <pc:spChg chg="mod">
          <ac:chgData name="Owais Ahmed" userId="6abc7d4556b3b071" providerId="LiveId" clId="{D0A51F83-B713-4A4D-8105-C75936B8E1D2}" dt="2026-10-01T08:23:37.266" v="24151" actId="20577"/>
          <ac:spMkLst>
            <pc:docMk/>
            <pc:sldMk cId="1184793862" sldId="291"/>
            <ac:spMk id="40" creationId="{A08B25B7-5072-0421-A751-8B444568DC32}"/>
          </ac:spMkLst>
        </pc:spChg>
      </pc:sldChg>
      <pc:sldChg chg="del">
        <pc:chgData name="Owais Ahmed" userId="6abc7d4556b3b071" providerId="LiveId" clId="{D0A51F83-B713-4A4D-8105-C75936B8E1D2}" dt="2026-10-01T09:56:04.543" v="24650" actId="47"/>
        <pc:sldMkLst>
          <pc:docMk/>
          <pc:sldMk cId="2929408495" sldId="293"/>
        </pc:sldMkLst>
      </pc:sldChg>
      <pc:sldChg chg="del">
        <pc:chgData name="Owais Ahmed" userId="6abc7d4556b3b071" providerId="LiveId" clId="{D0A51F83-B713-4A4D-8105-C75936B8E1D2}" dt="2026-10-01T09:56:03.957" v="24647" actId="47"/>
        <pc:sldMkLst>
          <pc:docMk/>
          <pc:sldMk cId="3300285091" sldId="294"/>
        </pc:sldMkLst>
      </pc:sldChg>
      <pc:sldChg chg="modSp mod modAnim modNotesTx">
        <pc:chgData name="Owais Ahmed" userId="6abc7d4556b3b071" providerId="LiveId" clId="{D0A51F83-B713-4A4D-8105-C75936B8E1D2}" dt="2026-10-01T17:19:13.842" v="25936"/>
        <pc:sldMkLst>
          <pc:docMk/>
          <pc:sldMk cId="1375781637" sldId="295"/>
        </pc:sldMkLst>
        <pc:spChg chg="mod">
          <ac:chgData name="Owais Ahmed" userId="6abc7d4556b3b071" providerId="LiveId" clId="{D0A51F83-B713-4A4D-8105-C75936B8E1D2}" dt="2026-10-01T09:56:10.649" v="24651" actId="20577"/>
          <ac:spMkLst>
            <pc:docMk/>
            <pc:sldMk cId="1375781637" sldId="295"/>
            <ac:spMk id="2" creationId="{FE7C0807-C18B-D764-596B-032AF072FC0B}"/>
          </ac:spMkLst>
        </pc:spChg>
        <pc:spChg chg="mod">
          <ac:chgData name="Owais Ahmed" userId="6abc7d4556b3b071" providerId="LiveId" clId="{D0A51F83-B713-4A4D-8105-C75936B8E1D2}" dt="2026-10-01T17:19:13.842" v="25936"/>
          <ac:spMkLst>
            <pc:docMk/>
            <pc:sldMk cId="1375781637" sldId="295"/>
            <ac:spMk id="40" creationId="{EEE8C305-0C46-037F-15F5-F88C33920D0F}"/>
          </ac:spMkLst>
        </pc:spChg>
      </pc:sldChg>
      <pc:sldChg chg="modSp add mod modAnim">
        <pc:chgData name="Owais Ahmed" userId="6abc7d4556b3b071" providerId="LiveId" clId="{D0A51F83-B713-4A4D-8105-C75936B8E1D2}" dt="2026-10-01T10:01:57.409" v="24785" actId="5793"/>
        <pc:sldMkLst>
          <pc:docMk/>
          <pc:sldMk cId="3241220937" sldId="296"/>
        </pc:sldMkLst>
        <pc:spChg chg="mod">
          <ac:chgData name="Owais Ahmed" userId="6abc7d4556b3b071" providerId="LiveId" clId="{D0A51F83-B713-4A4D-8105-C75936B8E1D2}" dt="2026-10-01T10:00:11.287" v="24778"/>
          <ac:spMkLst>
            <pc:docMk/>
            <pc:sldMk cId="3241220937" sldId="296"/>
            <ac:spMk id="5" creationId="{71E44FB5-13E1-F05E-7843-D75AFEB2ACBF}"/>
          </ac:spMkLst>
        </pc:spChg>
        <pc:spChg chg="mod">
          <ac:chgData name="Owais Ahmed" userId="6abc7d4556b3b071" providerId="LiveId" clId="{D0A51F83-B713-4A4D-8105-C75936B8E1D2}" dt="2026-10-01T10:01:57.409" v="24785" actId="5793"/>
          <ac:spMkLst>
            <pc:docMk/>
            <pc:sldMk cId="3241220937" sldId="296"/>
            <ac:spMk id="40" creationId="{D39F8F11-D0AB-B0AC-34A9-10D1173FDE0A}"/>
          </ac:spMkLst>
        </pc:spChg>
      </pc:sldChg>
      <pc:sldChg chg="modSp add del modNotesTx">
        <pc:chgData name="Owais Ahmed" userId="6abc7d4556b3b071" providerId="LiveId" clId="{D0A51F83-B713-4A4D-8105-C75936B8E1D2}" dt="2026-10-01T11:25:47.833" v="25004" actId="115"/>
        <pc:sldMkLst>
          <pc:docMk/>
          <pc:sldMk cId="2187573342" sldId="297"/>
        </pc:sldMkLst>
        <pc:spChg chg="mod">
          <ac:chgData name="Owais Ahmed" userId="6abc7d4556b3b071" providerId="LiveId" clId="{D0A51F83-B713-4A4D-8105-C75936B8E1D2}" dt="2026-10-01T10:38:59.504" v="24849" actId="20577"/>
          <ac:spMkLst>
            <pc:docMk/>
            <pc:sldMk cId="2187573342" sldId="297"/>
            <ac:spMk id="5" creationId="{111F9316-45F7-1E3C-09C1-D623D7AF4D4B}"/>
          </ac:spMkLst>
        </pc:spChg>
        <pc:spChg chg="mod">
          <ac:chgData name="Owais Ahmed" userId="6abc7d4556b3b071" providerId="LiveId" clId="{D0A51F83-B713-4A4D-8105-C75936B8E1D2}" dt="2026-10-01T11:25:47.833" v="25004" actId="115"/>
          <ac:spMkLst>
            <pc:docMk/>
            <pc:sldMk cId="2187573342" sldId="297"/>
            <ac:spMk id="40" creationId="{42D67B2D-055C-9FBF-373B-5EE830C624EE}"/>
          </ac:spMkLst>
        </pc:spChg>
      </pc:sldChg>
      <pc:sldChg chg="modSp add mod modAnim modNotesTx">
        <pc:chgData name="Owais Ahmed" userId="6abc7d4556b3b071" providerId="LiveId" clId="{D0A51F83-B713-4A4D-8105-C75936B8E1D2}" dt="2026-10-01T11:31:04.890" v="25066" actId="20577"/>
        <pc:sldMkLst>
          <pc:docMk/>
          <pc:sldMk cId="2324059795" sldId="298"/>
        </pc:sldMkLst>
        <pc:spChg chg="mod">
          <ac:chgData name="Owais Ahmed" userId="6abc7d4556b3b071" providerId="LiveId" clId="{D0A51F83-B713-4A4D-8105-C75936B8E1D2}" dt="2026-10-01T10:39:22.110" v="24864" actId="20577"/>
          <ac:spMkLst>
            <pc:docMk/>
            <pc:sldMk cId="2324059795" sldId="298"/>
            <ac:spMk id="5" creationId="{C545F14D-65D0-D317-F520-DC71EDC9AB54}"/>
          </ac:spMkLst>
        </pc:spChg>
        <pc:spChg chg="mod">
          <ac:chgData name="Owais Ahmed" userId="6abc7d4556b3b071" providerId="LiveId" clId="{D0A51F83-B713-4A4D-8105-C75936B8E1D2}" dt="2026-10-01T11:31:04.890" v="25066" actId="20577"/>
          <ac:spMkLst>
            <pc:docMk/>
            <pc:sldMk cId="2324059795" sldId="298"/>
            <ac:spMk id="40" creationId="{5AE732B3-86BC-E8A9-0458-6A8A1D0FD35A}"/>
          </ac:spMkLst>
        </pc:spChg>
      </pc:sldChg>
      <pc:sldChg chg="modSp add mod modAnim modNotesTx">
        <pc:chgData name="Owais Ahmed" userId="6abc7d4556b3b071" providerId="LiveId" clId="{D0A51F83-B713-4A4D-8105-C75936B8E1D2}" dt="2026-10-01T11:05:17.520" v="24965" actId="6549"/>
        <pc:sldMkLst>
          <pc:docMk/>
          <pc:sldMk cId="3974842603" sldId="299"/>
        </pc:sldMkLst>
        <pc:spChg chg="mod">
          <ac:chgData name="Owais Ahmed" userId="6abc7d4556b3b071" providerId="LiveId" clId="{D0A51F83-B713-4A4D-8105-C75936B8E1D2}" dt="2026-10-01T11:05:17.520" v="24965" actId="6549"/>
          <ac:spMkLst>
            <pc:docMk/>
            <pc:sldMk cId="3974842603" sldId="299"/>
            <ac:spMk id="40" creationId="{D260C22B-8DF1-C5E4-F4F1-063D6B06EE3A}"/>
          </ac:spMkLst>
        </pc:spChg>
      </pc:sldChg>
      <pc:sldChg chg="modSp add mod modAnim">
        <pc:chgData name="Owais Ahmed" userId="6abc7d4556b3b071" providerId="LiveId" clId="{D0A51F83-B713-4A4D-8105-C75936B8E1D2}" dt="2026-10-01T11:04:29.895" v="24964" actId="20577"/>
        <pc:sldMkLst>
          <pc:docMk/>
          <pc:sldMk cId="3179685610" sldId="300"/>
        </pc:sldMkLst>
        <pc:spChg chg="mod">
          <ac:chgData name="Owais Ahmed" userId="6abc7d4556b3b071" providerId="LiveId" clId="{D0A51F83-B713-4A4D-8105-C75936B8E1D2}" dt="2026-10-01T11:03:46" v="24952" actId="207"/>
          <ac:spMkLst>
            <pc:docMk/>
            <pc:sldMk cId="3179685610" sldId="300"/>
            <ac:spMk id="5" creationId="{303830B3-59D7-8643-BE3A-9A2458BE17BC}"/>
          </ac:spMkLst>
        </pc:spChg>
        <pc:spChg chg="mod">
          <ac:chgData name="Owais Ahmed" userId="6abc7d4556b3b071" providerId="LiveId" clId="{D0A51F83-B713-4A4D-8105-C75936B8E1D2}" dt="2026-10-01T11:04:29.895" v="24964" actId="20577"/>
          <ac:spMkLst>
            <pc:docMk/>
            <pc:sldMk cId="3179685610" sldId="300"/>
            <ac:spMk id="40" creationId="{88B2CEC0-18C4-1B33-D3F8-D11E64AC72EA}"/>
          </ac:spMkLst>
        </pc:spChg>
      </pc:sldChg>
      <pc:sldChg chg="addSp modSp add mod modAnim">
        <pc:chgData name="Owais Ahmed" userId="6abc7d4556b3b071" providerId="LiveId" clId="{D0A51F83-B713-4A4D-8105-C75936B8E1D2}" dt="2026-10-01T11:46:09.960" v="25448" actId="27636"/>
        <pc:sldMkLst>
          <pc:docMk/>
          <pc:sldMk cId="4180970305" sldId="301"/>
        </pc:sldMkLst>
        <pc:spChg chg="mod">
          <ac:chgData name="Owais Ahmed" userId="6abc7d4556b3b071" providerId="LiveId" clId="{D0A51F83-B713-4A4D-8105-C75936B8E1D2}" dt="2026-10-01T11:46:09.960" v="25448" actId="27636"/>
          <ac:spMkLst>
            <pc:docMk/>
            <pc:sldMk cId="4180970305" sldId="301"/>
            <ac:spMk id="40" creationId="{0934F417-6620-C7B2-A912-2C4900B54587}"/>
          </ac:spMkLst>
        </pc:spChg>
        <pc:graphicFrameChg chg="add mod modGraphic">
          <ac:chgData name="Owais Ahmed" userId="6abc7d4556b3b071" providerId="LiveId" clId="{D0A51F83-B713-4A4D-8105-C75936B8E1D2}" dt="2026-10-01T11:07:21.908" v="24991" actId="1076"/>
          <ac:graphicFrameMkLst>
            <pc:docMk/>
            <pc:sldMk cId="4180970305" sldId="301"/>
            <ac:graphicFrameMk id="3" creationId="{1E96C62B-EEFF-C07B-19C1-7B987141555F}"/>
          </ac:graphicFrameMkLst>
        </pc:graphicFrameChg>
        <pc:graphicFrameChg chg="add mod modGraphic">
          <ac:chgData name="Owais Ahmed" userId="6abc7d4556b3b071" providerId="LiveId" clId="{D0A51F83-B713-4A4D-8105-C75936B8E1D2}" dt="2026-10-01T11:07:21.908" v="24991" actId="1076"/>
          <ac:graphicFrameMkLst>
            <pc:docMk/>
            <pc:sldMk cId="4180970305" sldId="301"/>
            <ac:graphicFrameMk id="6" creationId="{3E045B57-981A-F08C-0A37-7AEBDD62EC4D}"/>
          </ac:graphicFrameMkLst>
        </pc:graphicFrameChg>
        <pc:graphicFrameChg chg="add mod modGraphic">
          <ac:chgData name="Owais Ahmed" userId="6abc7d4556b3b071" providerId="LiveId" clId="{D0A51F83-B713-4A4D-8105-C75936B8E1D2}" dt="2026-10-01T11:07:21.908" v="24991" actId="1076"/>
          <ac:graphicFrameMkLst>
            <pc:docMk/>
            <pc:sldMk cId="4180970305" sldId="301"/>
            <ac:graphicFrameMk id="7" creationId="{AF92B04A-278E-6446-1021-3FFA83D8015C}"/>
          </ac:graphicFrameMkLst>
        </pc:graphicFrameChg>
      </pc:sldChg>
      <pc:sldChg chg="modSp add mod modAnim modNotesTx">
        <pc:chgData name="Owais Ahmed" userId="6abc7d4556b3b071" providerId="LiveId" clId="{D0A51F83-B713-4A4D-8105-C75936B8E1D2}" dt="2026-10-01T11:35:52.940" v="25321" actId="20577"/>
        <pc:sldMkLst>
          <pc:docMk/>
          <pc:sldMk cId="3414881650" sldId="302"/>
        </pc:sldMkLst>
        <pc:spChg chg="mod">
          <ac:chgData name="Owais Ahmed" userId="6abc7d4556b3b071" providerId="LiveId" clId="{D0A51F83-B713-4A4D-8105-C75936B8E1D2}" dt="2026-10-01T11:32:01.826" v="25074" actId="20577"/>
          <ac:spMkLst>
            <pc:docMk/>
            <pc:sldMk cId="3414881650" sldId="302"/>
            <ac:spMk id="5" creationId="{CE138238-A57F-FB40-BC41-D30073EDA47A}"/>
          </ac:spMkLst>
        </pc:spChg>
        <pc:spChg chg="mod">
          <ac:chgData name="Owais Ahmed" userId="6abc7d4556b3b071" providerId="LiveId" clId="{D0A51F83-B713-4A4D-8105-C75936B8E1D2}" dt="2026-10-01T11:35:52.940" v="25321" actId="20577"/>
          <ac:spMkLst>
            <pc:docMk/>
            <pc:sldMk cId="3414881650" sldId="302"/>
            <ac:spMk id="40" creationId="{D65EDCFB-AF7C-261C-FE9E-92DBDE282816}"/>
          </ac:spMkLst>
        </pc:spChg>
      </pc:sldChg>
      <pc:sldChg chg="addSp delSp modSp add mod ord modAnim">
        <pc:chgData name="Owais Ahmed" userId="6abc7d4556b3b071" providerId="LiveId" clId="{D0A51F83-B713-4A4D-8105-C75936B8E1D2}" dt="2026-10-01T11:38:06.466" v="25333"/>
        <pc:sldMkLst>
          <pc:docMk/>
          <pc:sldMk cId="1177633528" sldId="303"/>
        </pc:sldMkLst>
        <pc:spChg chg="mod">
          <ac:chgData name="Owais Ahmed" userId="6abc7d4556b3b071" providerId="LiveId" clId="{D0A51F83-B713-4A4D-8105-C75936B8E1D2}" dt="2026-10-01T11:37:33.769" v="25328" actId="27636"/>
          <ac:spMkLst>
            <pc:docMk/>
            <pc:sldMk cId="1177633528" sldId="303"/>
            <ac:spMk id="40" creationId="{FAE73110-6D0F-5E63-C718-BAF425C6B27E}"/>
          </ac:spMkLst>
        </pc:spChg>
        <pc:picChg chg="del mod">
          <ac:chgData name="Owais Ahmed" userId="6abc7d4556b3b071" providerId="LiveId" clId="{D0A51F83-B713-4A4D-8105-C75936B8E1D2}" dt="2026-10-01T11:37:29.418" v="25326" actId="21"/>
          <ac:picMkLst>
            <pc:docMk/>
            <pc:sldMk cId="1177633528" sldId="303"/>
            <ac:picMk id="3" creationId="{BF6EDE47-AB01-1D89-121F-99925F146C47}"/>
          </ac:picMkLst>
        </pc:picChg>
        <pc:picChg chg="add mod">
          <ac:chgData name="Owais Ahmed" userId="6abc7d4556b3b071" providerId="LiveId" clId="{D0A51F83-B713-4A4D-8105-C75936B8E1D2}" dt="2026-10-01T11:37:49.095" v="25332" actId="14100"/>
          <ac:picMkLst>
            <pc:docMk/>
            <pc:sldMk cId="1177633528" sldId="303"/>
            <ac:picMk id="7" creationId="{B8C315B3-8E76-145E-E691-53506365692D}"/>
          </ac:picMkLst>
        </pc:picChg>
      </pc:sldChg>
      <pc:sldChg chg="modSp add modAnim modNotesTx">
        <pc:chgData name="Owais Ahmed" userId="6abc7d4556b3b071" providerId="LiveId" clId="{D0A51F83-B713-4A4D-8105-C75936B8E1D2}" dt="2026-10-01T11:49:43.797" v="25625" actId="20577"/>
        <pc:sldMkLst>
          <pc:docMk/>
          <pc:sldMk cId="2536891945" sldId="304"/>
        </pc:sldMkLst>
        <pc:spChg chg="mod">
          <ac:chgData name="Owais Ahmed" userId="6abc7d4556b3b071" providerId="LiveId" clId="{D0A51F83-B713-4A4D-8105-C75936B8E1D2}" dt="2026-10-01T11:49:43.797" v="25625" actId="20577"/>
          <ac:spMkLst>
            <pc:docMk/>
            <pc:sldMk cId="2536891945" sldId="304"/>
            <ac:spMk id="40" creationId="{330437F3-FFFF-DB20-1F6A-CC152E609F5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973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35197-60CB-3F31-05EF-E40361434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862CFA-E1CD-81F8-36C4-5C2EC221FD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E76AF8-E153-BC41-66A5-68E8FA755B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64D472-AF71-F96F-79FB-73BA65F638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4793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0DCFA-4021-C09B-D9C1-4B139A121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55B14C-1542-D58B-A295-8864D52947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D5DA9B-76DA-34BF-8CB4-A03C527274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A8F1F-2542-F31A-0540-6345314BA8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86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E30AB-B721-66D8-29C6-BD2DC6670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935C83-C165-9F50-E3C6-D8DF06BD29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103FD4-7A0A-7AB7-7A60-BBA091229C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GB" dirty="0"/>
              <a:t>Nietzsche spoke of chaos giving birth to stars; Vitalik Buterin proved it — from the uncertainty of what Bitcoin could not do, he created what the blockchain could become.</a:t>
            </a:r>
          </a:p>
          <a:p>
            <a:pPr marL="228600" indent="-228600">
              <a:buAutoNum type="arabicPeriod"/>
            </a:pPr>
            <a:r>
              <a:rPr lang="en-GB" dirty="0"/>
              <a:t>Vitalik questioned Bitcoin’s limits and imagined a system where </a:t>
            </a:r>
            <a:r>
              <a:rPr lang="en-GB" i="0" dirty="0"/>
              <a:t>the blockchain itself could think</a:t>
            </a:r>
            <a:endParaRPr lang="en-US" i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8AC2F6-6E12-CD98-44CB-241810AF72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9355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A046E-DC95-86B5-4A70-4E544578D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107DE0-D650-5A56-6429-D65AA7A4BF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88F207-B6B3-077F-D9E5-6793076E34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3E148A-C3F3-F3D0-BC46-ED35DC6992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7399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849DD-5424-887D-6926-CB8AC3DF9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F65199-88FE-B5E6-79DC-BDBDA3F598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5DCBEF-0D22-8C43-CB7E-B55F1D5C2A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Proof of work requires immense computation for no good reason other than just solving a puzzle. Also, after 21M BTC, mining reward will be zeroed and only Tx fee rewards will remain, which will definitely be much higher then.</a:t>
            </a:r>
          </a:p>
          <a:p>
            <a:pPr marL="228600" indent="-228600">
              <a:buAutoNum type="arabicPeriod"/>
            </a:pPr>
            <a:r>
              <a:rPr lang="en-US" dirty="0"/>
              <a:t>Namecoin, in 2010 started a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decentralized name registration database which allows named identifiers and not only pseudo-random hash codes as addresses.</a:t>
            </a:r>
          </a:p>
          <a:p>
            <a:pPr marL="228600" indent="-228600">
              <a:buAutoNum type="arabicPeriod"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Bitcoin scripts are more of a function with fixed parameters, not like a class that can have its own custom data and functions.</a:t>
            </a:r>
            <a:endParaRPr lang="en-US" dirty="0"/>
          </a:p>
          <a:p>
            <a:pPr marL="228600" indent="-22860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A2F675-E0F8-B94B-D45C-F374822710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5735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54340-4F02-E9C4-8A45-02848CE45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C62729-D622-0255-89F7-10B82016E4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7111A2-4417-FB18-368C-5F47935EF2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GB" dirty="0" err="1"/>
              <a:t>PoS</a:t>
            </a:r>
            <a:r>
              <a:rPr lang="en-GB" dirty="0"/>
              <a:t> came after The MERGE in 2022: validators lock up 32 ETH to create blocks. </a:t>
            </a:r>
            <a:r>
              <a:rPr lang="en-GB" i="0" dirty="0"/>
              <a:t>It uses far less energy, achieves faster finality, and supports higher scalability via sharding. BTC is 7TPS (Tx per second), ETH is 20-30TPS.</a:t>
            </a:r>
          </a:p>
          <a:p>
            <a:pPr marL="228600" indent="-228600">
              <a:buAutoNum type="arabicPeriod"/>
            </a:pPr>
            <a:r>
              <a:rPr lang="en-GB" i="0" dirty="0"/>
              <a:t>With new blocks, new Ethers are created and when transactions occur, these Ethers are burnt as Gas.</a:t>
            </a:r>
          </a:p>
          <a:p>
            <a:pPr marL="228600" indent="-228600">
              <a:buAutoNum type="arabicPeriod"/>
            </a:pPr>
            <a:r>
              <a:rPr lang="en-US" i="0" dirty="0"/>
              <a:t>While BTC manages state of coins in transactions, ETH maintains accounts and balances inside.</a:t>
            </a:r>
          </a:p>
          <a:p>
            <a:pPr marL="228600" indent="-228600">
              <a:buAutoNum type="arabicPeriod"/>
            </a:pPr>
            <a:r>
              <a:rPr lang="en-US" i="0" dirty="0"/>
              <a:t>Layer-2 can have custom tokens which can be currencies, DAOs, NFTs, DeFi, Identity systems, gaming economics, etc.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05DB4B-4DD8-ABDE-7E2E-F3EDF51EF3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8498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A01E6-7E09-DD7A-F6DF-73098E3A4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8CEB74-CCD2-837C-30EB-3CB12BA9AF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0C48E5-DDCB-48D0-A43D-C5088D5460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i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00319E-FA55-ADC9-55A8-C4B3ADD4C9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2281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C609B-C3D5-724C-7C0D-EBD2F6CA2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624DB4-8796-FA20-FC76-01872BF0C9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AB8EFD-47A3-E529-700F-2C4020BC83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i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AE3B04-AE07-3560-144B-C61FCE144D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6750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A4156-0462-07EC-ED01-44BC2BBE4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0DB96E-927B-3CE3-5CEF-20906626A1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6C03BF-37CC-95E8-0ACF-8EDB274769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i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6997A-8F33-C26D-D461-88B7F99287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470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E4575-C85C-6780-E56C-17B5A1D4A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435079-352D-7D74-74F8-5E0F0981A9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1261EE-F828-68E1-11D8-DED9CDE53F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i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AFAA6B-A37F-0C59-61F6-5C4F3EB1E4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5383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DABDB-38CE-1F2C-3AA2-CB68A9CD0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51B47D-38BD-ED87-2687-2120E27350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EB87FF-A31E-DC97-D5B1-002E1129E7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i="0" dirty="0"/>
              <a:t>Hosting an Ethereum node doesn’t even require you to stop using your computer.</a:t>
            </a:r>
          </a:p>
          <a:p>
            <a:pPr marL="228600" indent="-228600">
              <a:buAutoNum type="arabicPeriod"/>
            </a:pPr>
            <a:r>
              <a:rPr lang="en-GB" i="0" dirty="0"/>
              <a:t>Ethereum Virtual Machine is a VM inside the Ethereum node where the native bytecode executes.</a:t>
            </a:r>
          </a:p>
          <a:p>
            <a:pPr marL="228600" indent="-228600">
              <a:buAutoNum type="arabicPeriod"/>
            </a:pPr>
            <a:endParaRPr lang="en-US" i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AE81BC-620C-F84B-0EC4-3EE84544B6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597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B363A-FFD9-5B82-DB68-7A566BFAD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DAA55B-CFC7-0E54-5CFF-4622CDA5DB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2CF427-367B-D1FE-A993-4E16E155AD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Geth is written in Go language. Nethermind (C#), Besu (Java) are some of its alternatives</a:t>
            </a:r>
          </a:p>
          <a:p>
            <a:pPr marL="228600" indent="-228600">
              <a:buAutoNum type="arabicPeriod"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Prysm’s alternatives are Lighthouse (rust) and Teku (Java)</a:t>
            </a:r>
          </a:p>
          <a:p>
            <a:pPr marL="228600" indent="-228600">
              <a:buAutoNum type="arabicPeriod"/>
            </a:pPr>
            <a:endParaRPr lang="en-US" i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F54F0D-9292-5ED8-26E6-F00943CB0E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7222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F0BEC-28FE-81A0-4E64-65AAFC33A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B42EAD-8F70-F303-A8EF-33E45C101B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E9929B-7468-48E4-DCA2-85ACBB37C6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i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5261CA-9539-38AF-C18D-B428A7A0EF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0409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34E45-67CE-B42F-E1DF-E46F3E149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230092-0CC0-2E9E-ABEE-FEBC575A99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EE17EF-05EF-444F-004A-9AF46BD05F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FAA533-74C9-1D5A-C8F4-2D7CC40310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1074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4474E-3BD7-46F9-2897-CB20CE163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930D0B-BA65-763E-7E17-744A22EF20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23F405-691C-9436-8240-70BF87358F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BE8FD9-F155-D7D2-8CBB-9728728F12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452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iba-defi-workshop-2026-feedback.netlify.app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F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2852738"/>
            <a:ext cx="17602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C99B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BLOCKCHAIN &amp; DECENTRALIZED FINANCE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3576638"/>
            <a:ext cx="14716125" cy="1882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800"/>
              </a:lnSpc>
              <a:buNone/>
            </a:pPr>
            <a:r>
              <a:rPr lang="en-US" sz="6600" b="1" kern="0" spc="-132" dirty="0">
                <a:solidFill>
                  <a:srgbClr val="F6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Recap…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1143000" y="5992118"/>
            <a:ext cx="2095500" cy="19050"/>
          </a:xfrm>
          <a:prstGeom prst="rect">
            <a:avLst/>
          </a:prstGeom>
          <a:solidFill>
            <a:srgbClr val="8A4257"/>
          </a:solidFill>
          <a:ln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51501C-52F9-186B-C56A-FF2ACC189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BFA504D-A20D-839F-3CA8-3F1ADDCED968}"/>
              </a:ext>
            </a:extLst>
          </p:cNvPr>
          <p:cNvSpPr/>
          <p:nvPr/>
        </p:nvSpPr>
        <p:spPr>
          <a:xfrm>
            <a:off x="952500" y="838200"/>
            <a:ext cx="44660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252" dirty="0">
                <a:solidFill>
                  <a:srgbClr val="6A1B32"/>
                </a:solidFill>
                <a:latin typeface="Courier New" pitchFamily="34" charset="0"/>
                <a:cs typeface="Courier New" pitchFamily="34" charset="-120"/>
              </a:rPr>
              <a:t>Blockchain &amp; DeFi – Day 2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89EC98D-7BA8-CC65-5FFF-EAEA29387ACE}"/>
              </a:ext>
            </a:extLst>
          </p:cNvPr>
          <p:cNvSpPr/>
          <p:nvPr/>
        </p:nvSpPr>
        <p:spPr>
          <a:xfrm>
            <a:off x="952500" y="1352550"/>
            <a:ext cx="16383000" cy="19050"/>
          </a:xfrm>
          <a:prstGeom prst="rect">
            <a:avLst/>
          </a:prstGeom>
          <a:solidFill>
            <a:srgbClr val="DCD2C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847D1F9-818F-EBE6-2ED9-5CEB4095DAC5}"/>
              </a:ext>
            </a:extLst>
          </p:cNvPr>
          <p:cNvSpPr/>
          <p:nvPr/>
        </p:nvSpPr>
        <p:spPr>
          <a:xfrm>
            <a:off x="952500" y="1790700"/>
            <a:ext cx="16692116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kern="0" spc="-70" dirty="0">
                <a:solidFill>
                  <a:srgbClr val="20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Recap</a:t>
            </a:r>
            <a:endParaRPr lang="en-US" sz="4650" dirty="0"/>
          </a:p>
        </p:txBody>
      </p:sp>
      <p:sp>
        <p:nvSpPr>
          <p:cNvPr id="40" name="Shape 3">
            <a:extLst>
              <a:ext uri="{FF2B5EF4-FFF2-40B4-BE49-F238E27FC236}">
                <a16:creationId xmlns:a16="http://schemas.microsoft.com/office/drawing/2014/main" id="{A08B25B7-5072-0421-A751-8B444568DC32}"/>
              </a:ext>
            </a:extLst>
          </p:cNvPr>
          <p:cNvSpPr/>
          <p:nvPr/>
        </p:nvSpPr>
        <p:spPr>
          <a:xfrm>
            <a:off x="952500" y="2638425"/>
            <a:ext cx="16692116" cy="7467272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>
            <a:normAutofit fontScale="92500" lnSpcReduction="10000"/>
          </a:bodyPr>
          <a:lstStyle/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We discussed Bitcoin, the first truly distributed ledger.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We understood how the decentralization works in Bitcoin and why it is no longer centrally controlled?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We covered the structure, including Coin, Block, Transaction, UTXOs and Proof of Work protocol.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We briefly discussed Bitcoin from economic and environmental perspective.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We investigated a Bitcoin Transaction on its blockchain explorer.</a:t>
            </a:r>
          </a:p>
        </p:txBody>
      </p:sp>
    </p:spTree>
    <p:extLst>
      <p:ext uri="{BB962C8B-B14F-4D97-AF65-F5344CB8AC3E}">
        <p14:creationId xmlns:p14="http://schemas.microsoft.com/office/powerpoint/2010/main" val="1184793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44660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252" dirty="0">
                <a:solidFill>
                  <a:srgbClr val="6A1B32"/>
                </a:solidFill>
                <a:latin typeface="Courier New" pitchFamily="34" charset="0"/>
                <a:cs typeface="Courier New" pitchFamily="34" charset="-120"/>
              </a:rPr>
              <a:t>Blockchain &amp; DeFi – Day 2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52500" y="1352550"/>
            <a:ext cx="16383000" cy="19050"/>
          </a:xfrm>
          <a:prstGeom prst="rect">
            <a:avLst/>
          </a:prstGeom>
          <a:solidFill>
            <a:srgbClr val="DCD2C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952500" y="1790700"/>
            <a:ext cx="16692116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kern="0" spc="-70" dirty="0">
                <a:solidFill>
                  <a:srgbClr val="20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4650" dirty="0"/>
          </a:p>
        </p:txBody>
      </p:sp>
      <p:sp>
        <p:nvSpPr>
          <p:cNvPr id="40" name="Shape 3">
            <a:extLst>
              <a:ext uri="{FF2B5EF4-FFF2-40B4-BE49-F238E27FC236}">
                <a16:creationId xmlns:a16="http://schemas.microsoft.com/office/drawing/2014/main" id="{C7647194-0E31-0264-1D4B-64EAC554D8BC}"/>
              </a:ext>
            </a:extLst>
          </p:cNvPr>
          <p:cNvSpPr/>
          <p:nvPr/>
        </p:nvSpPr>
        <p:spPr>
          <a:xfrm>
            <a:off x="952500" y="2638425"/>
            <a:ext cx="16692116" cy="7279298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/>
          <a:lstStyle/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Ethereum and its emergence.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Bitcoin’s limitations and Ethereum’s contribution.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Proof of Stake, the Frankenstein slayer.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Why </a:t>
            </a:r>
            <a:r>
              <a:rPr lang="en-GB" sz="4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PoS</a:t>
            </a: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wins?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Ethereum Nodes. You can host one as well. Should IBA?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Building a Decentralized Web app through vibe coding.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Workshop feedback collection Dapp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0F1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498974-E001-173D-0169-8B1F8324E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18EAA5D-B2C9-B55B-D9BD-9C618B6A4AE6}"/>
              </a:ext>
            </a:extLst>
          </p:cNvPr>
          <p:cNvSpPr/>
          <p:nvPr/>
        </p:nvSpPr>
        <p:spPr>
          <a:xfrm>
            <a:off x="1143000" y="2852738"/>
            <a:ext cx="1046710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C99B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BLOCKCHAIN &amp; DECENTRALIZED FINANCE</a:t>
            </a:r>
            <a:endParaRPr lang="en-US" sz="1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F032D0F-B9A7-6EC8-988F-ABEC167FCFF5}"/>
              </a:ext>
            </a:extLst>
          </p:cNvPr>
          <p:cNvSpPr/>
          <p:nvPr/>
        </p:nvSpPr>
        <p:spPr>
          <a:xfrm>
            <a:off x="1143001" y="3576638"/>
            <a:ext cx="10467108" cy="1882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800"/>
              </a:lnSpc>
              <a:buNone/>
            </a:pPr>
            <a:r>
              <a:rPr lang="en-US" sz="6600" b="1" kern="0" spc="-132" dirty="0">
                <a:solidFill>
                  <a:srgbClr val="F6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Ethereum</a:t>
            </a:r>
            <a:endParaRPr lang="en-US" sz="6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1C36CA5-EA1D-32E8-792F-1AF89E8B6265}"/>
              </a:ext>
            </a:extLst>
          </p:cNvPr>
          <p:cNvSpPr/>
          <p:nvPr/>
        </p:nvSpPr>
        <p:spPr>
          <a:xfrm>
            <a:off x="1143000" y="5992118"/>
            <a:ext cx="2095500" cy="19050"/>
          </a:xfrm>
          <a:prstGeom prst="rect">
            <a:avLst/>
          </a:prstGeom>
          <a:solidFill>
            <a:srgbClr val="8A425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FD0E2C-8F85-2DA4-537A-BDFFE8793F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057" r="18855"/>
          <a:stretch>
            <a:fillRect/>
          </a:stretch>
        </p:blipFill>
        <p:spPr>
          <a:xfrm>
            <a:off x="11976643" y="225136"/>
            <a:ext cx="6034266" cy="9718964"/>
          </a:xfrm>
          <a:prstGeom prst="rect">
            <a:avLst/>
          </a:prstGeom>
          <a:ln w="38100" cap="sq">
            <a:solidFill>
              <a:srgbClr val="3F0F1D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97937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B23C22-B4F4-B953-87A5-A5B5F459C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721CEFB-537A-77D5-CDA9-63C3243BB288}"/>
              </a:ext>
            </a:extLst>
          </p:cNvPr>
          <p:cNvSpPr/>
          <p:nvPr/>
        </p:nvSpPr>
        <p:spPr>
          <a:xfrm>
            <a:off x="952500" y="838200"/>
            <a:ext cx="44660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252" dirty="0">
                <a:solidFill>
                  <a:srgbClr val="6A1B32"/>
                </a:solidFill>
                <a:latin typeface="Courier New" pitchFamily="34" charset="0"/>
                <a:cs typeface="Courier New" pitchFamily="34" charset="-120"/>
              </a:rPr>
              <a:t>Blockchain &amp; DeFi – Day 3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3B86C11-2803-5704-5285-85DE6ECB2EC7}"/>
              </a:ext>
            </a:extLst>
          </p:cNvPr>
          <p:cNvSpPr/>
          <p:nvPr/>
        </p:nvSpPr>
        <p:spPr>
          <a:xfrm>
            <a:off x="952500" y="1352550"/>
            <a:ext cx="16383000" cy="19050"/>
          </a:xfrm>
          <a:prstGeom prst="rect">
            <a:avLst/>
          </a:prstGeom>
          <a:solidFill>
            <a:srgbClr val="DCD2C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EDC6F8B-4294-40E8-579E-2C6CF776D24A}"/>
              </a:ext>
            </a:extLst>
          </p:cNvPr>
          <p:cNvSpPr/>
          <p:nvPr/>
        </p:nvSpPr>
        <p:spPr>
          <a:xfrm>
            <a:off x="952500" y="1790700"/>
            <a:ext cx="16692116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kern="0" spc="-70" dirty="0">
                <a:solidFill>
                  <a:srgbClr val="20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Emergence</a:t>
            </a:r>
            <a:endParaRPr lang="en-US" sz="4650" dirty="0"/>
          </a:p>
        </p:txBody>
      </p:sp>
      <p:sp>
        <p:nvSpPr>
          <p:cNvPr id="40" name="Shape 3">
            <a:extLst>
              <a:ext uri="{FF2B5EF4-FFF2-40B4-BE49-F238E27FC236}">
                <a16:creationId xmlns:a16="http://schemas.microsoft.com/office/drawing/2014/main" id="{90AE0532-0849-8314-2A5B-1751DAE0D2F6}"/>
              </a:ext>
            </a:extLst>
          </p:cNvPr>
          <p:cNvSpPr/>
          <p:nvPr/>
        </p:nvSpPr>
        <p:spPr>
          <a:xfrm>
            <a:off x="952499" y="4552936"/>
            <a:ext cx="7140088" cy="5734064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>
            <a:normAutofit fontScale="92500"/>
          </a:bodyPr>
          <a:lstStyle/>
          <a:p>
            <a:pPr marL="571500" indent="-5715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 2013, Vitalik published a groundbreaking whitepaper introducing Ethereum.</a:t>
            </a:r>
          </a:p>
          <a:p>
            <a:pPr marL="571500" indent="-5715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Bitcoin solves one giant problem – decentralization of money.</a:t>
            </a:r>
          </a:p>
          <a:p>
            <a:pPr marL="571500" indent="-5715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Ethereum harnessed the full potential of blockchains.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4E077-C9E9-60BF-EC61-12F086C6C39B}"/>
              </a:ext>
            </a:extLst>
          </p:cNvPr>
          <p:cNvSpPr txBox="1">
            <a:spLocks/>
          </p:cNvSpPr>
          <p:nvPr/>
        </p:nvSpPr>
        <p:spPr>
          <a:xfrm>
            <a:off x="952500" y="2638425"/>
            <a:ext cx="16692116" cy="170849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GB" sz="5400" dirty="0">
                <a:latin typeface="Dreaming Outloud Pro" panose="020F0502020204030204" pitchFamily="66" charset="0"/>
                <a:ea typeface="ADLaM Display" panose="020F0502020204030204" pitchFamily="2" charset="0"/>
                <a:cs typeface="Dreaming Outloud Pro" panose="020F0502020204030204" pitchFamily="66" charset="0"/>
              </a:rPr>
              <a:t>One must still have chaos in oneself to be able to give birth to a dancing star [Friedrich Nietzsche]</a:t>
            </a:r>
            <a:endParaRPr lang="en-GB" sz="4800" dirty="0">
              <a:latin typeface="Dreaming Outloud Pro" panose="020F0502020204030204" pitchFamily="66" charset="0"/>
              <a:ea typeface="ADLaM Display" panose="020F0502020204030204" pitchFamily="2" charset="0"/>
              <a:cs typeface="Dreaming Outloud Pro" panose="020F0502020204030204" pitchFamily="66" charset="0"/>
            </a:endParaRPr>
          </a:p>
        </p:txBody>
      </p:sp>
      <p:pic>
        <p:nvPicPr>
          <p:cNvPr id="6" name="Picture 2" descr="Vitalik Buterin: How to Optimize Cryptography Revealed">
            <a:extLst>
              <a:ext uri="{FF2B5EF4-FFF2-40B4-BE49-F238E27FC236}">
                <a16:creationId xmlns:a16="http://schemas.microsoft.com/office/drawing/2014/main" id="{06064688-CD61-A0A9-5F8C-5ACE5F14F8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2587" y="4552936"/>
            <a:ext cx="10195413" cy="5734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8387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F8D0FF-9DB3-57D8-528D-06B51C292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3B4040E-CDC3-23D1-3CDB-75D447CA41FE}"/>
              </a:ext>
            </a:extLst>
          </p:cNvPr>
          <p:cNvSpPr/>
          <p:nvPr/>
        </p:nvSpPr>
        <p:spPr>
          <a:xfrm>
            <a:off x="952500" y="838200"/>
            <a:ext cx="44660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252" dirty="0">
                <a:solidFill>
                  <a:srgbClr val="6A1B32"/>
                </a:solidFill>
                <a:latin typeface="Courier New" pitchFamily="34" charset="0"/>
                <a:cs typeface="Courier New" pitchFamily="34" charset="-120"/>
              </a:rPr>
              <a:t>Blockchain &amp; DeFi – Day 3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60C36CC-41AC-2C36-5785-72AA6B4CC380}"/>
              </a:ext>
            </a:extLst>
          </p:cNvPr>
          <p:cNvSpPr/>
          <p:nvPr/>
        </p:nvSpPr>
        <p:spPr>
          <a:xfrm>
            <a:off x="952500" y="1352550"/>
            <a:ext cx="16383000" cy="19050"/>
          </a:xfrm>
          <a:prstGeom prst="rect">
            <a:avLst/>
          </a:prstGeom>
          <a:solidFill>
            <a:srgbClr val="DCD2C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09F10D7-78E4-F176-F509-A90E901420F6}"/>
              </a:ext>
            </a:extLst>
          </p:cNvPr>
          <p:cNvSpPr/>
          <p:nvPr/>
        </p:nvSpPr>
        <p:spPr>
          <a:xfrm>
            <a:off x="952500" y="1790700"/>
            <a:ext cx="16692116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kern="0" spc="-70" dirty="0">
                <a:solidFill>
                  <a:srgbClr val="20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Emergence</a:t>
            </a:r>
            <a:endParaRPr lang="en-US" sz="46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Shape 3">
                <a:extLst>
                  <a:ext uri="{FF2B5EF4-FFF2-40B4-BE49-F238E27FC236}">
                    <a16:creationId xmlns:a16="http://schemas.microsoft.com/office/drawing/2014/main" id="{77C9C9A8-754A-CC10-2B61-95BBBDDD3717}"/>
                  </a:ext>
                </a:extLst>
              </p:cNvPr>
              <p:cNvSpPr/>
              <p:nvPr/>
            </p:nvSpPr>
            <p:spPr>
              <a:xfrm>
                <a:off x="952500" y="2638425"/>
                <a:ext cx="16692116" cy="7532517"/>
              </a:xfrm>
              <a:prstGeom prst="rect">
                <a:avLst/>
              </a:prstGeom>
              <a:noFill/>
              <a:ln w="19050">
                <a:noFill/>
                <a:prstDash val="solid"/>
              </a:ln>
            </p:spPr>
            <p:txBody>
              <a:bodyPr>
                <a:normAutofit fontScale="92500" lnSpcReduction="10000"/>
              </a:bodyPr>
              <a:lstStyle/>
              <a:p>
                <a:pPr marL="571500" indent="-571500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GB" sz="4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Ethereum: a blockchain created by Vitalik Buterin in 2015, who worked earlier with Bitcoin developers.</a:t>
                </a:r>
              </a:p>
              <a:p>
                <a:pPr marL="571500" indent="-571500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GB" sz="4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Its native currency is Ether (ETH) and its smallest unit is Wei (</a:t>
                </a:r>
                <a14:m>
                  <m:oMath xmlns:m="http://schemas.openxmlformats.org/officeDocument/2006/math">
                    <m:r>
                      <a:rPr lang="en-GB" sz="4400" i="1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1/</m:t>
                    </m:r>
                    <m:sSup>
                      <m:sSupPr>
                        <m:ctrlPr>
                          <a:rPr lang="en-GB" sz="4400" i="1" dirty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4400" i="1" dirty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GB" sz="4400" i="1" dirty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sup>
                    </m:sSup>
                    <m:r>
                      <a:rPr lang="en-GB" sz="4400" i="1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𝐸𝑇𝐻</m:t>
                    </m:r>
                  </m:oMath>
                </a14:m>
                <a:r>
                  <a:rPr lang="en-GB" sz="4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)</a:t>
                </a:r>
              </a:p>
              <a:p>
                <a:pPr marL="571500" indent="-571500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GB" sz="4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Offers programmable contracts called Smart contracts that automatically execute based on certain conditions.</a:t>
                </a:r>
              </a:p>
              <a:p>
                <a:pPr marL="571500" indent="-571500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GB" sz="4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Constantly evolving with EIP (Ethereum Improvement Proposals)</a:t>
                </a:r>
              </a:p>
              <a:p>
                <a:pPr marL="571500" indent="-571500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GB" sz="4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Most of the decentralized internet, i.e. wallets, tokens, governance systems are built around Ethereum (leave for meme tokens).</a:t>
                </a:r>
              </a:p>
              <a:p>
                <a:pPr marL="571500" indent="-571500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GB" sz="4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Movement towards true </a:t>
                </a:r>
                <a:r>
                  <a:rPr lang="en-GB" sz="4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Trustless</a:t>
                </a:r>
                <a:r>
                  <a:rPr lang="en-GB" sz="4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, self-sustained, autonomous blockchain with the potential to fully replace conventional financial system.</a:t>
                </a:r>
              </a:p>
            </p:txBody>
          </p:sp>
        </mc:Choice>
        <mc:Fallback xmlns="">
          <p:sp>
            <p:nvSpPr>
              <p:cNvPr id="40" name="Shape 3">
                <a:extLst>
                  <a:ext uri="{FF2B5EF4-FFF2-40B4-BE49-F238E27FC236}">
                    <a16:creationId xmlns:a16="http://schemas.microsoft.com/office/drawing/2014/main" id="{77C9C9A8-754A-CC10-2B61-95BBBDDD37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00" y="2638425"/>
                <a:ext cx="16692116" cy="7532517"/>
              </a:xfrm>
              <a:prstGeom prst="rect">
                <a:avLst/>
              </a:prstGeom>
              <a:blipFill>
                <a:blip r:embed="rId3"/>
                <a:stretch>
                  <a:fillRect l="-1169" t="-1053" r="-1680"/>
                </a:stretch>
              </a:blipFill>
              <a:ln w="19050">
                <a:noFill/>
                <a:prstDash val="solid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2078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45428F-AFD8-E45F-574B-A0B850AC2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52C5634-3280-C4C5-7075-2E618444CCB8}"/>
              </a:ext>
            </a:extLst>
          </p:cNvPr>
          <p:cNvSpPr/>
          <p:nvPr/>
        </p:nvSpPr>
        <p:spPr>
          <a:xfrm>
            <a:off x="952500" y="838200"/>
            <a:ext cx="44660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252" dirty="0">
                <a:solidFill>
                  <a:srgbClr val="6A1B32"/>
                </a:solidFill>
                <a:latin typeface="Courier New" pitchFamily="34" charset="0"/>
                <a:cs typeface="Courier New" pitchFamily="34" charset="-120"/>
              </a:rPr>
              <a:t>Blockchain &amp; DeFi – Day 3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1A6AF6D-7F28-76A9-919E-BC09CBACD60F}"/>
              </a:ext>
            </a:extLst>
          </p:cNvPr>
          <p:cNvSpPr/>
          <p:nvPr/>
        </p:nvSpPr>
        <p:spPr>
          <a:xfrm>
            <a:off x="952500" y="1352550"/>
            <a:ext cx="16383000" cy="19050"/>
          </a:xfrm>
          <a:prstGeom prst="rect">
            <a:avLst/>
          </a:prstGeom>
          <a:solidFill>
            <a:srgbClr val="DCD2C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1E44FB5-13E1-F05E-7843-D75AFEB2ACBF}"/>
              </a:ext>
            </a:extLst>
          </p:cNvPr>
          <p:cNvSpPr/>
          <p:nvPr/>
        </p:nvSpPr>
        <p:spPr>
          <a:xfrm>
            <a:off x="952500" y="1790700"/>
            <a:ext cx="16692116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GB" sz="4650" b="1" kern="0" spc="-70" dirty="0">
                <a:solidFill>
                  <a:srgbClr val="20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Bitcoin’s limitations and Ethereum’s contribution.</a:t>
            </a:r>
          </a:p>
          <a:p>
            <a:pPr marL="0" indent="0" algn="l">
              <a:buNone/>
            </a:pPr>
            <a:endParaRPr lang="en-US" sz="4650" dirty="0"/>
          </a:p>
        </p:txBody>
      </p:sp>
      <p:sp>
        <p:nvSpPr>
          <p:cNvPr id="40" name="Shape 3">
            <a:extLst>
              <a:ext uri="{FF2B5EF4-FFF2-40B4-BE49-F238E27FC236}">
                <a16:creationId xmlns:a16="http://schemas.microsoft.com/office/drawing/2014/main" id="{D39F8F11-D0AB-B0AC-34A9-10D1173FDE0A}"/>
              </a:ext>
            </a:extLst>
          </p:cNvPr>
          <p:cNvSpPr/>
          <p:nvPr/>
        </p:nvSpPr>
        <p:spPr>
          <a:xfrm>
            <a:off x="952500" y="2638425"/>
            <a:ext cx="16692116" cy="7532517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>
            <a:normAutofit/>
          </a:bodyPr>
          <a:lstStyle/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Proof of work is a good approach, until it isn’t.</a:t>
            </a:r>
          </a:p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Bitcoin maintains “state” of coins, not accounts. There isn’t even an option to introduce a human-friendly identifier.</a:t>
            </a:r>
          </a:p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BTC is the only currency, hence the blockchain can only be a shop, not a marketplace.</a:t>
            </a:r>
          </a:p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Scripts in Bitcoin can define rules about the funds… but that’s it.</a:t>
            </a:r>
          </a:p>
        </p:txBody>
      </p:sp>
    </p:spTree>
    <p:extLst>
      <p:ext uri="{BB962C8B-B14F-4D97-AF65-F5344CB8AC3E}">
        <p14:creationId xmlns:p14="http://schemas.microsoft.com/office/powerpoint/2010/main" val="3241220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64296E-1E5C-8412-F966-501FBDEC1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518B601-86C1-6F75-4B91-FBD429B620F5}"/>
              </a:ext>
            </a:extLst>
          </p:cNvPr>
          <p:cNvSpPr/>
          <p:nvPr/>
        </p:nvSpPr>
        <p:spPr>
          <a:xfrm>
            <a:off x="952500" y="838200"/>
            <a:ext cx="44660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252" dirty="0">
                <a:solidFill>
                  <a:srgbClr val="6A1B32"/>
                </a:solidFill>
                <a:latin typeface="Courier New" pitchFamily="34" charset="0"/>
                <a:cs typeface="Courier New" pitchFamily="34" charset="-120"/>
              </a:rPr>
              <a:t>Blockchain &amp; DeFi – Day 3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CB730E7-A764-B5ED-7754-4193A50B6663}"/>
              </a:ext>
            </a:extLst>
          </p:cNvPr>
          <p:cNvSpPr/>
          <p:nvPr/>
        </p:nvSpPr>
        <p:spPr>
          <a:xfrm>
            <a:off x="952500" y="1352550"/>
            <a:ext cx="16383000" cy="19050"/>
          </a:xfrm>
          <a:prstGeom prst="rect">
            <a:avLst/>
          </a:prstGeom>
          <a:solidFill>
            <a:srgbClr val="DCD2C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11F9316-45F7-1E3C-09C1-D623D7AF4D4B}"/>
              </a:ext>
            </a:extLst>
          </p:cNvPr>
          <p:cNvSpPr/>
          <p:nvPr/>
        </p:nvSpPr>
        <p:spPr>
          <a:xfrm>
            <a:off x="952500" y="1790700"/>
            <a:ext cx="16692116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GB" sz="4650" b="1" kern="0" spc="-70" dirty="0">
                <a:solidFill>
                  <a:srgbClr val="20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Proof of Stake, the Frankenstein slayer</a:t>
            </a:r>
          </a:p>
          <a:p>
            <a:pPr marL="0" indent="0" algn="l">
              <a:buNone/>
            </a:pPr>
            <a:endParaRPr lang="en-US" sz="4650" dirty="0"/>
          </a:p>
        </p:txBody>
      </p:sp>
      <p:sp>
        <p:nvSpPr>
          <p:cNvPr id="40" name="Shape 3">
            <a:extLst>
              <a:ext uri="{FF2B5EF4-FFF2-40B4-BE49-F238E27FC236}">
                <a16:creationId xmlns:a16="http://schemas.microsoft.com/office/drawing/2014/main" id="{42D67B2D-055C-9FBF-373B-5EE830C624EE}"/>
              </a:ext>
            </a:extLst>
          </p:cNvPr>
          <p:cNvSpPr/>
          <p:nvPr/>
        </p:nvSpPr>
        <p:spPr>
          <a:xfrm>
            <a:off x="952500" y="2638425"/>
            <a:ext cx="16692116" cy="7532517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>
            <a:normAutofit/>
          </a:bodyPr>
          <a:lstStyle/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Proof of stake (since 2021) as consensus mechanism.</a:t>
            </a:r>
          </a:p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Ethers have no hard cap; they are continuously created and </a:t>
            </a:r>
            <a:r>
              <a:rPr lang="en-GB" sz="4400" i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burned</a:t>
            </a: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(Gold vs Oil).</a:t>
            </a:r>
          </a:p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Account-centric. But the accounts can also contain data and even code.</a:t>
            </a:r>
          </a:p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Ethereum is common currency; then there’s Layer-2.</a:t>
            </a:r>
          </a:p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Smart Contracts… on a Turing-complete language.</a:t>
            </a:r>
          </a:p>
        </p:txBody>
      </p:sp>
    </p:spTree>
    <p:extLst>
      <p:ext uri="{BB962C8B-B14F-4D97-AF65-F5344CB8AC3E}">
        <p14:creationId xmlns:p14="http://schemas.microsoft.com/office/powerpoint/2010/main" val="2187573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77C6EA-FB63-9152-BC74-4BB3442AB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B13F7B7-8AED-B3BD-C8C3-DC37CBEDDCA5}"/>
              </a:ext>
            </a:extLst>
          </p:cNvPr>
          <p:cNvSpPr/>
          <p:nvPr/>
        </p:nvSpPr>
        <p:spPr>
          <a:xfrm>
            <a:off x="952500" y="838200"/>
            <a:ext cx="44660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252" dirty="0">
                <a:solidFill>
                  <a:srgbClr val="6A1B32"/>
                </a:solidFill>
                <a:latin typeface="Courier New" pitchFamily="34" charset="0"/>
                <a:cs typeface="Courier New" pitchFamily="34" charset="-120"/>
              </a:rPr>
              <a:t>Blockchain &amp; DeFi – Day 3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2E6C432-18BD-6DAA-0B42-7E1AFE1C1836}"/>
              </a:ext>
            </a:extLst>
          </p:cNvPr>
          <p:cNvSpPr/>
          <p:nvPr/>
        </p:nvSpPr>
        <p:spPr>
          <a:xfrm>
            <a:off x="952500" y="1352550"/>
            <a:ext cx="16383000" cy="19050"/>
          </a:xfrm>
          <a:prstGeom prst="rect">
            <a:avLst/>
          </a:prstGeom>
          <a:solidFill>
            <a:srgbClr val="DCD2C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FA971FF-D8A8-8213-0BE2-35D590D7C2ED}"/>
              </a:ext>
            </a:extLst>
          </p:cNvPr>
          <p:cNvSpPr/>
          <p:nvPr/>
        </p:nvSpPr>
        <p:spPr>
          <a:xfrm>
            <a:off x="952500" y="1790700"/>
            <a:ext cx="16692116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GB" sz="4650" b="1" kern="0" spc="-70" dirty="0">
                <a:solidFill>
                  <a:srgbClr val="20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Proof of Stake, the Frankenstein slayer</a:t>
            </a:r>
          </a:p>
          <a:p>
            <a:pPr marL="0" indent="0" algn="l">
              <a:buNone/>
            </a:pPr>
            <a:endParaRPr lang="en-US" sz="4650" dirty="0"/>
          </a:p>
        </p:txBody>
      </p:sp>
      <p:sp>
        <p:nvSpPr>
          <p:cNvPr id="40" name="Shape 3">
            <a:extLst>
              <a:ext uri="{FF2B5EF4-FFF2-40B4-BE49-F238E27FC236}">
                <a16:creationId xmlns:a16="http://schemas.microsoft.com/office/drawing/2014/main" id="{D260C22B-8DF1-C5E4-F4F1-063D6B06EE3A}"/>
              </a:ext>
            </a:extLst>
          </p:cNvPr>
          <p:cNvSpPr/>
          <p:nvPr/>
        </p:nvSpPr>
        <p:spPr>
          <a:xfrm>
            <a:off x="952500" y="2638425"/>
            <a:ext cx="16692116" cy="7532517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>
            <a:normAutofit/>
          </a:bodyPr>
          <a:lstStyle/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Proof of Work: a consensus mechanism.</a:t>
            </a:r>
          </a:p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PoW: solve a complex mathematical puzzle to compute a hash that also fits the criteria enforced by Blockchain.</a:t>
            </a:r>
          </a:p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Proof of Stake: another consensus mechanism used by Ethereum.</a:t>
            </a:r>
          </a:p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PoS</a:t>
            </a: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still compute hashes to create blocks, but difficulty is not deliberately increased.</a:t>
            </a:r>
          </a:p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Validator: an Eth node which stakes 32ETH to become a validator and validates transactions and creates new blocks.</a:t>
            </a:r>
          </a:p>
        </p:txBody>
      </p:sp>
    </p:spTree>
    <p:extLst>
      <p:ext uri="{BB962C8B-B14F-4D97-AF65-F5344CB8AC3E}">
        <p14:creationId xmlns:p14="http://schemas.microsoft.com/office/powerpoint/2010/main" val="3974842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298000-5D96-3277-E038-C42331F2F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9CBE0C4-3F90-1312-6165-86F269F60114}"/>
              </a:ext>
            </a:extLst>
          </p:cNvPr>
          <p:cNvSpPr/>
          <p:nvPr/>
        </p:nvSpPr>
        <p:spPr>
          <a:xfrm>
            <a:off x="952500" y="838200"/>
            <a:ext cx="44660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252" dirty="0">
                <a:solidFill>
                  <a:srgbClr val="6A1B32"/>
                </a:solidFill>
                <a:latin typeface="Courier New" pitchFamily="34" charset="0"/>
                <a:cs typeface="Courier New" pitchFamily="34" charset="-120"/>
              </a:rPr>
              <a:t>Blockchain &amp; DeFi – Day 3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662869E-040A-39F1-CF49-4508EE32B820}"/>
              </a:ext>
            </a:extLst>
          </p:cNvPr>
          <p:cNvSpPr/>
          <p:nvPr/>
        </p:nvSpPr>
        <p:spPr>
          <a:xfrm>
            <a:off x="952500" y="1352550"/>
            <a:ext cx="16383000" cy="19050"/>
          </a:xfrm>
          <a:prstGeom prst="rect">
            <a:avLst/>
          </a:prstGeom>
          <a:solidFill>
            <a:srgbClr val="DCD2C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03830B3-59D7-8643-BE3A-9A2458BE17BC}"/>
              </a:ext>
            </a:extLst>
          </p:cNvPr>
          <p:cNvSpPr/>
          <p:nvPr/>
        </p:nvSpPr>
        <p:spPr>
          <a:xfrm>
            <a:off x="952500" y="1790700"/>
            <a:ext cx="16692116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GB" sz="4650" b="1" kern="0" spc="-70" dirty="0">
                <a:solidFill>
                  <a:srgbClr val="20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Proof of Stake </a:t>
            </a:r>
            <a:r>
              <a:rPr lang="en-GB" sz="4650" b="1" kern="0" spc="-70" dirty="0">
                <a:solidFill>
                  <a:schemeClr val="bg2">
                    <a:lumMod val="5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</a:t>
            </a:r>
            <a:r>
              <a:rPr lang="en-GB" sz="4650" b="1" i="1" kern="0" spc="-70" dirty="0">
                <a:solidFill>
                  <a:schemeClr val="bg2">
                    <a:lumMod val="5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 </a:t>
            </a:r>
          </a:p>
          <a:p>
            <a:pPr marL="0" indent="0" algn="l">
              <a:buNone/>
            </a:pPr>
            <a:endParaRPr lang="en-US" sz="4650" dirty="0"/>
          </a:p>
        </p:txBody>
      </p:sp>
      <p:sp>
        <p:nvSpPr>
          <p:cNvPr id="40" name="Shape 3">
            <a:extLst>
              <a:ext uri="{FF2B5EF4-FFF2-40B4-BE49-F238E27FC236}">
                <a16:creationId xmlns:a16="http://schemas.microsoft.com/office/drawing/2014/main" id="{88B2CEC0-18C4-1B33-D3F8-D11E64AC72EA}"/>
              </a:ext>
            </a:extLst>
          </p:cNvPr>
          <p:cNvSpPr/>
          <p:nvPr/>
        </p:nvSpPr>
        <p:spPr>
          <a:xfrm>
            <a:off x="952500" y="2638425"/>
            <a:ext cx="16692116" cy="7532517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>
            <a:normAutofit fontScale="92500" lnSpcReduction="10000"/>
          </a:bodyPr>
          <a:lstStyle/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Thousands of nodes have submitted 32ETH or higher to become validators.</a:t>
            </a:r>
          </a:p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Once a node becomes validator, it is entrusted to:</a:t>
            </a:r>
          </a:p>
          <a:p>
            <a:pPr marL="1028700" lvl="1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Stay online and reachable</a:t>
            </a:r>
          </a:p>
          <a:p>
            <a:pPr marL="1028700" lvl="1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 the actual hash calculation to create new blocks.</a:t>
            </a:r>
          </a:p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network picks validators randomly to write new blocks (via lot).</a:t>
            </a:r>
          </a:p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validator checks transactions, verifies them, computes hashes and broadcast to the network.</a:t>
            </a:r>
          </a:p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Other validators verify as well. If a consensus is reached, the new block is added</a:t>
            </a:r>
          </a:p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If other validators find signs of forgery, the network slashes the staked ETH.</a:t>
            </a:r>
          </a:p>
        </p:txBody>
      </p:sp>
    </p:spTree>
    <p:extLst>
      <p:ext uri="{BB962C8B-B14F-4D97-AF65-F5344CB8AC3E}">
        <p14:creationId xmlns:p14="http://schemas.microsoft.com/office/powerpoint/2010/main" val="3179685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9EF865-627F-4C3B-7A1E-0FA5A7A90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034BC84-9B7E-5E16-E9F0-0B4BEF1647F1}"/>
              </a:ext>
            </a:extLst>
          </p:cNvPr>
          <p:cNvSpPr/>
          <p:nvPr/>
        </p:nvSpPr>
        <p:spPr>
          <a:xfrm>
            <a:off x="952500" y="838200"/>
            <a:ext cx="44660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252" dirty="0">
                <a:solidFill>
                  <a:srgbClr val="6A1B32"/>
                </a:solidFill>
                <a:latin typeface="Courier New" pitchFamily="34" charset="0"/>
                <a:cs typeface="Courier New" pitchFamily="34" charset="-120"/>
              </a:rPr>
              <a:t>Blockchain &amp; DeFi – Day 3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BEDDC26-CCFE-1CE4-E831-8CDBFC43256E}"/>
              </a:ext>
            </a:extLst>
          </p:cNvPr>
          <p:cNvSpPr/>
          <p:nvPr/>
        </p:nvSpPr>
        <p:spPr>
          <a:xfrm>
            <a:off x="952500" y="1352550"/>
            <a:ext cx="16383000" cy="19050"/>
          </a:xfrm>
          <a:prstGeom prst="rect">
            <a:avLst/>
          </a:prstGeom>
          <a:solidFill>
            <a:srgbClr val="DCD2C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A0B5689-70A5-5C2A-D698-4321E39882F3}"/>
              </a:ext>
            </a:extLst>
          </p:cNvPr>
          <p:cNvSpPr/>
          <p:nvPr/>
        </p:nvSpPr>
        <p:spPr>
          <a:xfrm>
            <a:off x="952500" y="1790700"/>
            <a:ext cx="16692116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GB" sz="4650" b="1" kern="0" spc="-70" dirty="0">
                <a:solidFill>
                  <a:srgbClr val="20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Proof of Stake </a:t>
            </a:r>
            <a:r>
              <a:rPr lang="en-GB" sz="4650" b="1" kern="0" spc="-70" dirty="0">
                <a:solidFill>
                  <a:schemeClr val="bg2">
                    <a:lumMod val="5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</a:t>
            </a:r>
            <a:r>
              <a:rPr lang="en-GB" sz="4650" b="1" i="1" kern="0" spc="-70" dirty="0">
                <a:solidFill>
                  <a:schemeClr val="bg2">
                    <a:lumMod val="5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 </a:t>
            </a:r>
          </a:p>
          <a:p>
            <a:pPr marL="0" indent="0" algn="l">
              <a:buNone/>
            </a:pPr>
            <a:endParaRPr lang="en-US" sz="4650" dirty="0"/>
          </a:p>
        </p:txBody>
      </p:sp>
      <p:sp>
        <p:nvSpPr>
          <p:cNvPr id="40" name="Shape 3">
            <a:extLst>
              <a:ext uri="{FF2B5EF4-FFF2-40B4-BE49-F238E27FC236}">
                <a16:creationId xmlns:a16="http://schemas.microsoft.com/office/drawing/2014/main" id="{0934F417-6620-C7B2-A912-2C4900B54587}"/>
              </a:ext>
            </a:extLst>
          </p:cNvPr>
          <p:cNvSpPr/>
          <p:nvPr/>
        </p:nvSpPr>
        <p:spPr>
          <a:xfrm>
            <a:off x="952500" y="2638425"/>
            <a:ext cx="8191500" cy="7532517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>
            <a:normAutofit fontScale="85000" lnSpcReduction="10000"/>
          </a:bodyPr>
          <a:lstStyle/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Imagine a network with 3 validator nodes.</a:t>
            </a:r>
          </a:p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Ali is randomly selected in advance to form a new block.</a:t>
            </a:r>
          </a:p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Ali adds 3 transactions, calculates block hash and broadcasts to Omar and Fatima.</a:t>
            </a:r>
          </a:p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Omar and Fatima becomes validators and are rewarded for attestation.</a:t>
            </a:r>
          </a:p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Ali appears to be at a loss, but as more validators are added, their individual share is reduced.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E96C62B-EEFF-C07B-19C1-7B98714155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2077847"/>
              </p:ext>
            </p:extLst>
          </p:nvPr>
        </p:nvGraphicFramePr>
        <p:xfrm>
          <a:off x="9144000" y="2454304"/>
          <a:ext cx="8193639" cy="268919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731213">
                  <a:extLst>
                    <a:ext uri="{9D8B030D-6E8A-4147-A177-3AD203B41FA5}">
                      <a16:colId xmlns:a16="http://schemas.microsoft.com/office/drawing/2014/main" val="4250390888"/>
                    </a:ext>
                  </a:extLst>
                </a:gridCol>
                <a:gridCol w="3013258">
                  <a:extLst>
                    <a:ext uri="{9D8B030D-6E8A-4147-A177-3AD203B41FA5}">
                      <a16:colId xmlns:a16="http://schemas.microsoft.com/office/drawing/2014/main" val="2365922355"/>
                    </a:ext>
                  </a:extLst>
                </a:gridCol>
                <a:gridCol w="2449168">
                  <a:extLst>
                    <a:ext uri="{9D8B030D-6E8A-4147-A177-3AD203B41FA5}">
                      <a16:colId xmlns:a16="http://schemas.microsoft.com/office/drawing/2014/main" val="4104149458"/>
                    </a:ext>
                  </a:extLst>
                </a:gridCol>
              </a:tblGrid>
              <a:tr h="6722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0" b="1" u="none" strike="noStrike" dirty="0">
                          <a:effectLst/>
                        </a:rPr>
                        <a:t>Validator</a:t>
                      </a:r>
                      <a:endParaRPr lang="en-US" sz="4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514" marR="31514" marT="3151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0" b="1" u="none" strike="noStrike" dirty="0">
                          <a:effectLst/>
                        </a:rPr>
                        <a:t>Coins Staked</a:t>
                      </a:r>
                      <a:endParaRPr lang="en-US" sz="4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514" marR="31514" marT="3151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0" b="1" u="none" strike="noStrike" dirty="0">
                          <a:effectLst/>
                        </a:rPr>
                        <a:t>Share</a:t>
                      </a:r>
                      <a:endParaRPr lang="en-US" sz="4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514" marR="31514" marT="31514" marB="0" anchor="b"/>
                </a:tc>
                <a:extLst>
                  <a:ext uri="{0D108BD9-81ED-4DB2-BD59-A6C34878D82A}">
                    <a16:rowId xmlns:a16="http://schemas.microsoft.com/office/drawing/2014/main" val="2771881982"/>
                  </a:ext>
                </a:extLst>
              </a:tr>
              <a:tr h="6722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0" u="none" strike="noStrike">
                          <a:effectLst/>
                        </a:rPr>
                        <a:t>Ali</a:t>
                      </a:r>
                      <a:endParaRPr lang="en-US" sz="4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514" marR="31514" marT="3151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4000" u="none" strike="noStrike" dirty="0">
                          <a:effectLst/>
                        </a:rPr>
                        <a:t>500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514" marR="31514" marT="3151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4000" u="none" strike="noStrike" dirty="0">
                          <a:effectLst/>
                        </a:rPr>
                        <a:t>50%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514" marR="31514" marT="31514" marB="0" anchor="b"/>
                </a:tc>
                <a:extLst>
                  <a:ext uri="{0D108BD9-81ED-4DB2-BD59-A6C34878D82A}">
                    <a16:rowId xmlns:a16="http://schemas.microsoft.com/office/drawing/2014/main" val="3977006899"/>
                  </a:ext>
                </a:extLst>
              </a:tr>
              <a:tr h="6722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0" u="none" strike="noStrike">
                          <a:effectLst/>
                        </a:rPr>
                        <a:t>Omar</a:t>
                      </a:r>
                      <a:endParaRPr lang="en-US" sz="4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514" marR="31514" marT="3151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4000" u="none" strike="noStrike">
                          <a:effectLst/>
                        </a:rPr>
                        <a:t>300</a:t>
                      </a:r>
                      <a:endParaRPr lang="en-US" sz="4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514" marR="31514" marT="3151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4000" u="none" strike="noStrike">
                          <a:effectLst/>
                        </a:rPr>
                        <a:t>30%</a:t>
                      </a:r>
                      <a:endParaRPr lang="en-US" sz="4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514" marR="31514" marT="31514" marB="0" anchor="b"/>
                </a:tc>
                <a:extLst>
                  <a:ext uri="{0D108BD9-81ED-4DB2-BD59-A6C34878D82A}">
                    <a16:rowId xmlns:a16="http://schemas.microsoft.com/office/drawing/2014/main" val="1221264968"/>
                  </a:ext>
                </a:extLst>
              </a:tr>
              <a:tr h="6722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0" u="none" strike="noStrike">
                          <a:effectLst/>
                        </a:rPr>
                        <a:t>Fatima</a:t>
                      </a:r>
                      <a:endParaRPr lang="en-US" sz="4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514" marR="31514" marT="3151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4000" u="none" strike="noStrike">
                          <a:effectLst/>
                        </a:rPr>
                        <a:t>200</a:t>
                      </a:r>
                      <a:endParaRPr lang="en-US" sz="4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514" marR="31514" marT="3151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4000" u="none" strike="noStrike" dirty="0">
                          <a:effectLst/>
                        </a:rPr>
                        <a:t>20%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514" marR="31514" marT="31514" marB="0" anchor="b"/>
                </a:tc>
                <a:extLst>
                  <a:ext uri="{0D108BD9-81ED-4DB2-BD59-A6C34878D82A}">
                    <a16:rowId xmlns:a16="http://schemas.microsoft.com/office/drawing/2014/main" val="377923942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E045B57-981A-F08C-0A37-7AEBDD62EC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5910912"/>
              </p:ext>
            </p:extLst>
          </p:nvPr>
        </p:nvGraphicFramePr>
        <p:xfrm>
          <a:off x="9144006" y="5303617"/>
          <a:ext cx="8193633" cy="268919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02693">
                  <a:extLst>
                    <a:ext uri="{9D8B030D-6E8A-4147-A177-3AD203B41FA5}">
                      <a16:colId xmlns:a16="http://schemas.microsoft.com/office/drawing/2014/main" val="4250390888"/>
                    </a:ext>
                  </a:extLst>
                </a:gridCol>
                <a:gridCol w="2319832">
                  <a:extLst>
                    <a:ext uri="{9D8B030D-6E8A-4147-A177-3AD203B41FA5}">
                      <a16:colId xmlns:a16="http://schemas.microsoft.com/office/drawing/2014/main" val="2365922355"/>
                    </a:ext>
                  </a:extLst>
                </a:gridCol>
                <a:gridCol w="1885554">
                  <a:extLst>
                    <a:ext uri="{9D8B030D-6E8A-4147-A177-3AD203B41FA5}">
                      <a16:colId xmlns:a16="http://schemas.microsoft.com/office/drawing/2014/main" val="4104149458"/>
                    </a:ext>
                  </a:extLst>
                </a:gridCol>
                <a:gridCol w="1885554">
                  <a:extLst>
                    <a:ext uri="{9D8B030D-6E8A-4147-A177-3AD203B41FA5}">
                      <a16:colId xmlns:a16="http://schemas.microsoft.com/office/drawing/2014/main" val="973852793"/>
                    </a:ext>
                  </a:extLst>
                </a:gridCol>
              </a:tblGrid>
              <a:tr h="6722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0" b="1" u="none" strike="noStrike" dirty="0">
                          <a:effectLst/>
                        </a:rPr>
                        <a:t>From</a:t>
                      </a:r>
                      <a:endParaRPr lang="en-US" sz="4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514" marR="31514" marT="3151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0" b="1" u="none" strike="noStrike" dirty="0">
                          <a:effectLst/>
                        </a:rPr>
                        <a:t>To</a:t>
                      </a:r>
                      <a:endParaRPr lang="en-US" sz="4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514" marR="31514" marT="3151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0" b="1" u="none" strike="noStrike" dirty="0">
                          <a:effectLst/>
                        </a:rPr>
                        <a:t>Amount</a:t>
                      </a:r>
                      <a:endParaRPr lang="en-US" sz="4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514" marR="31514" marT="3151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Gas fee</a:t>
                      </a:r>
                    </a:p>
                  </a:txBody>
                  <a:tcPr marL="31514" marR="31514" marT="31514" marB="0" anchor="b"/>
                </a:tc>
                <a:extLst>
                  <a:ext uri="{0D108BD9-81ED-4DB2-BD59-A6C34878D82A}">
                    <a16:rowId xmlns:a16="http://schemas.microsoft.com/office/drawing/2014/main" val="2771881982"/>
                  </a:ext>
                </a:extLst>
              </a:tr>
              <a:tr h="6722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Fizza</a:t>
                      </a:r>
                    </a:p>
                  </a:txBody>
                  <a:tcPr marL="31514" marR="31514" marT="31514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Ahmed</a:t>
                      </a:r>
                    </a:p>
                  </a:txBody>
                  <a:tcPr marL="31514" marR="31514" marT="31514" marB="0" anchor="b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0.023</a:t>
                      </a:r>
                    </a:p>
                  </a:txBody>
                  <a:tcPr marL="31514" marR="31514" marT="31514" marB="0" anchor="b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0.005</a:t>
                      </a:r>
                    </a:p>
                  </a:txBody>
                  <a:tcPr marL="31514" marR="31514" marT="31514" marB="0" anchor="b"/>
                </a:tc>
                <a:extLst>
                  <a:ext uri="{0D108BD9-81ED-4DB2-BD59-A6C34878D82A}">
                    <a16:rowId xmlns:a16="http://schemas.microsoft.com/office/drawing/2014/main" val="3977006899"/>
                  </a:ext>
                </a:extLst>
              </a:tr>
              <a:tr h="6722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Imran</a:t>
                      </a:r>
                    </a:p>
                  </a:txBody>
                  <a:tcPr marL="31514" marR="31514" marT="31514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Huzaifa</a:t>
                      </a:r>
                    </a:p>
                  </a:txBody>
                  <a:tcPr marL="31514" marR="31514" marT="31514" marB="0" anchor="b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0.8</a:t>
                      </a:r>
                    </a:p>
                  </a:txBody>
                  <a:tcPr marL="31514" marR="31514" marT="31514" marB="0" anchor="b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0.005</a:t>
                      </a:r>
                    </a:p>
                  </a:txBody>
                  <a:tcPr marL="31514" marR="31514" marT="31514" marB="0" anchor="b"/>
                </a:tc>
                <a:extLst>
                  <a:ext uri="{0D108BD9-81ED-4DB2-BD59-A6C34878D82A}">
                    <a16:rowId xmlns:a16="http://schemas.microsoft.com/office/drawing/2014/main" val="1221264968"/>
                  </a:ext>
                </a:extLst>
              </a:tr>
              <a:tr h="6722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Saad</a:t>
                      </a:r>
                    </a:p>
                  </a:txBody>
                  <a:tcPr marL="31514" marR="31514" marT="31514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Ayesha</a:t>
                      </a:r>
                    </a:p>
                  </a:txBody>
                  <a:tcPr marL="31514" marR="31514" marT="31514" marB="0" anchor="b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1.55</a:t>
                      </a:r>
                    </a:p>
                  </a:txBody>
                  <a:tcPr marL="31514" marR="31514" marT="31514" marB="0" anchor="b"/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0.01</a:t>
                      </a:r>
                    </a:p>
                  </a:txBody>
                  <a:tcPr marL="31514" marR="31514" marT="31514" marB="0" anchor="b"/>
                </a:tc>
                <a:extLst>
                  <a:ext uri="{0D108BD9-81ED-4DB2-BD59-A6C34878D82A}">
                    <a16:rowId xmlns:a16="http://schemas.microsoft.com/office/drawing/2014/main" val="377923942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F92B04A-278E-6446-1021-3FFA83D801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1325654"/>
              </p:ext>
            </p:extLst>
          </p:nvPr>
        </p:nvGraphicFramePr>
        <p:xfrm>
          <a:off x="9146139" y="8151720"/>
          <a:ext cx="8191500" cy="2016369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894654">
                  <a:extLst>
                    <a:ext uri="{9D8B030D-6E8A-4147-A177-3AD203B41FA5}">
                      <a16:colId xmlns:a16="http://schemas.microsoft.com/office/drawing/2014/main" val="4250390888"/>
                    </a:ext>
                  </a:extLst>
                </a:gridCol>
                <a:gridCol w="4296846">
                  <a:extLst>
                    <a:ext uri="{9D8B030D-6E8A-4147-A177-3AD203B41FA5}">
                      <a16:colId xmlns:a16="http://schemas.microsoft.com/office/drawing/2014/main" val="2365922355"/>
                    </a:ext>
                  </a:extLst>
                </a:gridCol>
              </a:tblGrid>
              <a:tr h="67212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0" b="1" u="none" strike="noStrike" dirty="0">
                          <a:effectLst/>
                        </a:rPr>
                        <a:t>Validator</a:t>
                      </a:r>
                      <a:endParaRPr lang="en-US" sz="4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506" marR="31506" marT="3150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0" b="1" u="none" strike="noStrike" dirty="0">
                          <a:effectLst/>
                        </a:rPr>
                        <a:t>Reward</a:t>
                      </a:r>
                      <a:endParaRPr lang="en-US" sz="4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506" marR="31506" marT="31506" marB="0" anchor="b"/>
                </a:tc>
                <a:extLst>
                  <a:ext uri="{0D108BD9-81ED-4DB2-BD59-A6C34878D82A}">
                    <a16:rowId xmlns:a16="http://schemas.microsoft.com/office/drawing/2014/main" val="2771881982"/>
                  </a:ext>
                </a:extLst>
              </a:tr>
              <a:tr h="67212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Ali</a:t>
                      </a:r>
                    </a:p>
                  </a:txBody>
                  <a:tcPr marL="31506" marR="31506" marT="31506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20% of 0.02 = 0.004</a:t>
                      </a:r>
                    </a:p>
                  </a:txBody>
                  <a:tcPr marL="31506" marR="31506" marT="31506" marB="0" anchor="b"/>
                </a:tc>
                <a:extLst>
                  <a:ext uri="{0D108BD9-81ED-4DB2-BD59-A6C34878D82A}">
                    <a16:rowId xmlns:a16="http://schemas.microsoft.com/office/drawing/2014/main" val="3977006899"/>
                  </a:ext>
                </a:extLst>
              </a:tr>
              <a:tr h="67212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Omar, Fatima</a:t>
                      </a:r>
                    </a:p>
                  </a:txBody>
                  <a:tcPr marL="31506" marR="31506" marT="31506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0.008 each</a:t>
                      </a:r>
                    </a:p>
                  </a:txBody>
                  <a:tcPr marL="31506" marR="31506" marT="31506" marB="0" anchor="b"/>
                </a:tc>
                <a:extLst>
                  <a:ext uri="{0D108BD9-81ED-4DB2-BD59-A6C34878D82A}">
                    <a16:rowId xmlns:a16="http://schemas.microsoft.com/office/drawing/2014/main" val="37792394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0970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C2C19C-51CF-2242-2244-3B89EF8B8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AE31D18-3FD0-EED0-242C-48CFB49A57A0}"/>
              </a:ext>
            </a:extLst>
          </p:cNvPr>
          <p:cNvSpPr/>
          <p:nvPr/>
        </p:nvSpPr>
        <p:spPr>
          <a:xfrm>
            <a:off x="952500" y="838200"/>
            <a:ext cx="44660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252" dirty="0">
                <a:solidFill>
                  <a:srgbClr val="6A1B32"/>
                </a:solidFill>
                <a:latin typeface="Courier New" pitchFamily="34" charset="0"/>
                <a:cs typeface="Courier New" pitchFamily="34" charset="-120"/>
              </a:rPr>
              <a:t>Blockchain &amp; DeFi – Day 3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9CF0800-DD6E-A3FE-4E7A-1A4CFD806F55}"/>
              </a:ext>
            </a:extLst>
          </p:cNvPr>
          <p:cNvSpPr/>
          <p:nvPr/>
        </p:nvSpPr>
        <p:spPr>
          <a:xfrm>
            <a:off x="952500" y="1352550"/>
            <a:ext cx="16383000" cy="19050"/>
          </a:xfrm>
          <a:prstGeom prst="rect">
            <a:avLst/>
          </a:prstGeom>
          <a:solidFill>
            <a:srgbClr val="DCD2C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545F14D-65D0-D317-F520-DC71EDC9AB54}"/>
              </a:ext>
            </a:extLst>
          </p:cNvPr>
          <p:cNvSpPr/>
          <p:nvPr/>
        </p:nvSpPr>
        <p:spPr>
          <a:xfrm>
            <a:off x="952500" y="1790700"/>
            <a:ext cx="16692116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GB" sz="4650" b="1" kern="0" spc="-70" dirty="0">
                <a:solidFill>
                  <a:srgbClr val="20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</a:t>
            </a:r>
            <a:r>
              <a:rPr lang="en-GB" sz="4650" b="1" kern="0" spc="-70" dirty="0" err="1">
                <a:solidFill>
                  <a:srgbClr val="20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</a:t>
            </a:r>
            <a:r>
              <a:rPr lang="en-GB" sz="4650" b="1" kern="0" spc="-70" dirty="0">
                <a:solidFill>
                  <a:srgbClr val="20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Wins?</a:t>
            </a:r>
          </a:p>
          <a:p>
            <a:pPr marL="0" indent="0" algn="l">
              <a:buNone/>
            </a:pPr>
            <a:endParaRPr lang="en-US" sz="4650" dirty="0"/>
          </a:p>
        </p:txBody>
      </p:sp>
      <p:sp>
        <p:nvSpPr>
          <p:cNvPr id="40" name="Shape 3">
            <a:extLst>
              <a:ext uri="{FF2B5EF4-FFF2-40B4-BE49-F238E27FC236}">
                <a16:creationId xmlns:a16="http://schemas.microsoft.com/office/drawing/2014/main" id="{5AE732B3-86BC-E8A9-0458-6A8A1D0FD35A}"/>
              </a:ext>
            </a:extLst>
          </p:cNvPr>
          <p:cNvSpPr/>
          <p:nvPr/>
        </p:nvSpPr>
        <p:spPr>
          <a:xfrm>
            <a:off x="952500" y="2638425"/>
            <a:ext cx="16692116" cy="7532517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>
            <a:normAutofit/>
          </a:bodyPr>
          <a:lstStyle/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PoS</a:t>
            </a: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does not demand useless computation.</a:t>
            </a:r>
          </a:p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 </a:t>
            </a:r>
            <a:r>
              <a:rPr lang="en-GB" sz="4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PoS</a:t>
            </a: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consensus, nodes do not race with each other. The computation power does not increase chances to win.</a:t>
            </a:r>
          </a:p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Environmental cost is significantly lower.</a:t>
            </a:r>
          </a:p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wealth itself is at stake, not computation power.</a:t>
            </a:r>
          </a:p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It is in the interest of Stakeholders to ensure fair play.</a:t>
            </a:r>
          </a:p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 some cases, validators can lend coins to each other to make up for unavoidable mistakes like network latency and hardware failure.</a:t>
            </a:r>
          </a:p>
        </p:txBody>
      </p:sp>
    </p:spTree>
    <p:extLst>
      <p:ext uri="{BB962C8B-B14F-4D97-AF65-F5344CB8AC3E}">
        <p14:creationId xmlns:p14="http://schemas.microsoft.com/office/powerpoint/2010/main" val="2324059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1B67A3-206F-47D6-3854-251CEDCFE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2E5E15F-AAF0-53EF-5A8D-8EC9204296E8}"/>
              </a:ext>
            </a:extLst>
          </p:cNvPr>
          <p:cNvSpPr/>
          <p:nvPr/>
        </p:nvSpPr>
        <p:spPr>
          <a:xfrm>
            <a:off x="952500" y="838200"/>
            <a:ext cx="44660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252" dirty="0">
                <a:solidFill>
                  <a:srgbClr val="6A1B32"/>
                </a:solidFill>
                <a:latin typeface="Courier New" pitchFamily="34" charset="0"/>
                <a:cs typeface="Courier New" pitchFamily="34" charset="-120"/>
              </a:rPr>
              <a:t>Blockchain &amp; DeFi – Day 3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0459FBD-198A-C797-4C70-0F10ECD4ABE7}"/>
              </a:ext>
            </a:extLst>
          </p:cNvPr>
          <p:cNvSpPr/>
          <p:nvPr/>
        </p:nvSpPr>
        <p:spPr>
          <a:xfrm>
            <a:off x="952500" y="1352550"/>
            <a:ext cx="16383000" cy="19050"/>
          </a:xfrm>
          <a:prstGeom prst="rect">
            <a:avLst/>
          </a:prstGeom>
          <a:solidFill>
            <a:srgbClr val="DCD2C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9DD347B-D784-969F-C5F1-EB8664CF83FA}"/>
              </a:ext>
            </a:extLst>
          </p:cNvPr>
          <p:cNvSpPr/>
          <p:nvPr/>
        </p:nvSpPr>
        <p:spPr>
          <a:xfrm>
            <a:off x="952500" y="1790700"/>
            <a:ext cx="16692116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GB" sz="4650" b="1" kern="0" spc="-70" dirty="0">
                <a:solidFill>
                  <a:srgbClr val="20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Ethereum Nodes</a:t>
            </a:r>
          </a:p>
        </p:txBody>
      </p:sp>
      <p:sp>
        <p:nvSpPr>
          <p:cNvPr id="40" name="Shape 3">
            <a:extLst>
              <a:ext uri="{FF2B5EF4-FFF2-40B4-BE49-F238E27FC236}">
                <a16:creationId xmlns:a16="http://schemas.microsoft.com/office/drawing/2014/main" id="{FAE73110-6D0F-5E63-C718-BAF425C6B27E}"/>
              </a:ext>
            </a:extLst>
          </p:cNvPr>
          <p:cNvSpPr/>
          <p:nvPr/>
        </p:nvSpPr>
        <p:spPr>
          <a:xfrm>
            <a:off x="952500" y="2638425"/>
            <a:ext cx="8191500" cy="7532517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>
            <a:normAutofit fontScale="85000" lnSpcReduction="10000"/>
          </a:bodyPr>
          <a:lstStyle/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Full Node: stores entire blockchain from the genesis block but prunes old, unnecessary state data. (approx. 2TB)</a:t>
            </a:r>
          </a:p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Snapshot: optimization of full nodes that uses periodic snapshots of the blockchain state for faster syncing. (200 – 300GB)</a:t>
            </a:r>
          </a:p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Archive: keeps every block, every transaction, and every intermediate state since genesis block. (15TB)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C315B3-8E76-145E-E691-5350636569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6400" y="2807987"/>
            <a:ext cx="8651266" cy="4840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633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FCE5B9-85AC-5ADE-869D-648E7CF64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1B8FCF4-F15D-96C3-0648-07BF25A69230}"/>
              </a:ext>
            </a:extLst>
          </p:cNvPr>
          <p:cNvSpPr/>
          <p:nvPr/>
        </p:nvSpPr>
        <p:spPr>
          <a:xfrm>
            <a:off x="952500" y="838200"/>
            <a:ext cx="44660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252" dirty="0">
                <a:solidFill>
                  <a:srgbClr val="6A1B32"/>
                </a:solidFill>
                <a:latin typeface="Courier New" pitchFamily="34" charset="0"/>
                <a:cs typeface="Courier New" pitchFamily="34" charset="-120"/>
              </a:rPr>
              <a:t>Blockchain &amp; DeFi – Day 3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FCDB7D7-6F13-0FB4-DB6C-CA3721C42339}"/>
              </a:ext>
            </a:extLst>
          </p:cNvPr>
          <p:cNvSpPr/>
          <p:nvPr/>
        </p:nvSpPr>
        <p:spPr>
          <a:xfrm>
            <a:off x="952500" y="1352550"/>
            <a:ext cx="16383000" cy="19050"/>
          </a:xfrm>
          <a:prstGeom prst="rect">
            <a:avLst/>
          </a:prstGeom>
          <a:solidFill>
            <a:srgbClr val="DCD2C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E138238-A57F-FB40-BC41-D30073EDA47A}"/>
              </a:ext>
            </a:extLst>
          </p:cNvPr>
          <p:cNvSpPr/>
          <p:nvPr/>
        </p:nvSpPr>
        <p:spPr>
          <a:xfrm>
            <a:off x="952500" y="1790700"/>
            <a:ext cx="16692116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GB" sz="4650" b="1" kern="0" spc="-70" dirty="0">
                <a:solidFill>
                  <a:srgbClr val="20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Ethereum Nodes</a:t>
            </a:r>
          </a:p>
        </p:txBody>
      </p:sp>
      <p:sp>
        <p:nvSpPr>
          <p:cNvPr id="40" name="Shape 3">
            <a:extLst>
              <a:ext uri="{FF2B5EF4-FFF2-40B4-BE49-F238E27FC236}">
                <a16:creationId xmlns:a16="http://schemas.microsoft.com/office/drawing/2014/main" id="{D65EDCFB-AF7C-261C-FE9E-92DBDE282816}"/>
              </a:ext>
            </a:extLst>
          </p:cNvPr>
          <p:cNvSpPr/>
          <p:nvPr/>
        </p:nvSpPr>
        <p:spPr>
          <a:xfrm>
            <a:off x="952500" y="2638425"/>
            <a:ext cx="16692116" cy="7532517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>
            <a:normAutofit/>
          </a:bodyPr>
          <a:lstStyle/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How one can host one:</a:t>
            </a:r>
          </a:p>
          <a:p>
            <a:pPr marL="1028700" lvl="1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Tools like </a:t>
            </a:r>
            <a:r>
              <a:rPr lang="en-GB" sz="4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Stereum</a:t>
            </a: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make it very easy to setup a Node.</a:t>
            </a:r>
          </a:p>
          <a:p>
            <a:pPr marL="1028700" lvl="1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Go-Ethereum (Geth): an Ethereum execution client that downloads, maintains, synchronizes Ethereum blockchain and provides API to interact with it.</a:t>
            </a:r>
          </a:p>
          <a:p>
            <a:pPr marL="1028700" lvl="1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Prysm: a consensus client is responsible for </a:t>
            </a:r>
            <a:r>
              <a:rPr lang="en-GB" sz="4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PoS.</a:t>
            </a: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It runs validators, propose blocks and attest them.</a:t>
            </a:r>
          </a:p>
        </p:txBody>
      </p:sp>
    </p:spTree>
    <p:extLst>
      <p:ext uri="{BB962C8B-B14F-4D97-AF65-F5344CB8AC3E}">
        <p14:creationId xmlns:p14="http://schemas.microsoft.com/office/powerpoint/2010/main" val="341488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F7E37F-5D75-2D08-0987-BCB60CBC9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9CA6D7E-7656-D5B6-18A7-5ABD988FCB94}"/>
              </a:ext>
            </a:extLst>
          </p:cNvPr>
          <p:cNvSpPr/>
          <p:nvPr/>
        </p:nvSpPr>
        <p:spPr>
          <a:xfrm>
            <a:off x="952500" y="838200"/>
            <a:ext cx="44660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252" dirty="0">
                <a:solidFill>
                  <a:srgbClr val="6A1B32"/>
                </a:solidFill>
                <a:latin typeface="Courier New" pitchFamily="34" charset="0"/>
                <a:cs typeface="Courier New" pitchFamily="34" charset="-120"/>
              </a:rPr>
              <a:t>Blockchain &amp; DeFi – Day 3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A59839D-9E3B-60B8-0423-0A590481C9F8}"/>
              </a:ext>
            </a:extLst>
          </p:cNvPr>
          <p:cNvSpPr/>
          <p:nvPr/>
        </p:nvSpPr>
        <p:spPr>
          <a:xfrm>
            <a:off x="952500" y="1352550"/>
            <a:ext cx="16383000" cy="19050"/>
          </a:xfrm>
          <a:prstGeom prst="rect">
            <a:avLst/>
          </a:prstGeom>
          <a:solidFill>
            <a:srgbClr val="DCD2C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B4F4291-01E4-E1CB-FCAA-381E57F4A40C}"/>
              </a:ext>
            </a:extLst>
          </p:cNvPr>
          <p:cNvSpPr/>
          <p:nvPr/>
        </p:nvSpPr>
        <p:spPr>
          <a:xfrm>
            <a:off x="952500" y="1790700"/>
            <a:ext cx="16692116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GB" sz="4650" b="1" kern="0" spc="-70" dirty="0">
                <a:solidFill>
                  <a:srgbClr val="20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Ethereum Nodes</a:t>
            </a:r>
          </a:p>
        </p:txBody>
      </p:sp>
      <p:sp>
        <p:nvSpPr>
          <p:cNvPr id="40" name="Shape 3">
            <a:extLst>
              <a:ext uri="{FF2B5EF4-FFF2-40B4-BE49-F238E27FC236}">
                <a16:creationId xmlns:a16="http://schemas.microsoft.com/office/drawing/2014/main" id="{330437F3-FFFF-DB20-1F6A-CC152E609F5B}"/>
              </a:ext>
            </a:extLst>
          </p:cNvPr>
          <p:cNvSpPr/>
          <p:nvPr/>
        </p:nvSpPr>
        <p:spPr>
          <a:xfrm>
            <a:off x="952500" y="2638425"/>
            <a:ext cx="16692116" cy="7532517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>
            <a:normAutofit/>
          </a:bodyPr>
          <a:lstStyle/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Should IBA host its own full node?</a:t>
            </a:r>
          </a:p>
          <a:p>
            <a:pPr marL="1028700" lvl="1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NO, if the objective is simply to teach Solidity or deploy a few smart contracts; public RPC providers may suffice.</a:t>
            </a:r>
          </a:p>
          <a:p>
            <a:pPr marL="1028700" lvl="1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YES, if the objective is to conduct sustained blockchain research, run institutional </a:t>
            </a:r>
            <a:r>
              <a:rPr lang="en-GB" sz="4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DApps</a:t>
            </a: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or teach blockchain infrastructure hands-on.</a:t>
            </a:r>
          </a:p>
          <a:p>
            <a:pPr marL="571500" indent="-5715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Hosting an Ethereum node does not require a GPU.</a:t>
            </a:r>
          </a:p>
        </p:txBody>
      </p:sp>
    </p:spTree>
    <p:extLst>
      <p:ext uri="{BB962C8B-B14F-4D97-AF65-F5344CB8AC3E}">
        <p14:creationId xmlns:p14="http://schemas.microsoft.com/office/powerpoint/2010/main" val="2536891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E71D2B-FFDC-0F77-E2D9-82D6A9555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E7C0807-C18B-D764-596B-032AF072FC0B}"/>
              </a:ext>
            </a:extLst>
          </p:cNvPr>
          <p:cNvSpPr/>
          <p:nvPr/>
        </p:nvSpPr>
        <p:spPr>
          <a:xfrm>
            <a:off x="952500" y="838200"/>
            <a:ext cx="44660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252" dirty="0">
                <a:solidFill>
                  <a:srgbClr val="6A1B32"/>
                </a:solidFill>
                <a:latin typeface="Courier New" pitchFamily="34" charset="0"/>
                <a:cs typeface="Courier New" pitchFamily="34" charset="-120"/>
              </a:rPr>
              <a:t>Blockchain &amp; DeFi – Day 3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099117F-0989-4A93-5D5A-9550A5D07086}"/>
              </a:ext>
            </a:extLst>
          </p:cNvPr>
          <p:cNvSpPr/>
          <p:nvPr/>
        </p:nvSpPr>
        <p:spPr>
          <a:xfrm>
            <a:off x="952500" y="1352550"/>
            <a:ext cx="16383000" cy="19050"/>
          </a:xfrm>
          <a:prstGeom prst="rect">
            <a:avLst/>
          </a:prstGeom>
          <a:solidFill>
            <a:srgbClr val="DCD2C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D1AD5CF-06C6-5553-0953-5F5EF9DB085F}"/>
              </a:ext>
            </a:extLst>
          </p:cNvPr>
          <p:cNvSpPr/>
          <p:nvPr/>
        </p:nvSpPr>
        <p:spPr>
          <a:xfrm>
            <a:off x="952500" y="1790700"/>
            <a:ext cx="16692116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kern="0" spc="-70" dirty="0">
                <a:solidFill>
                  <a:srgbClr val="20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Instructions</a:t>
            </a:r>
            <a:endParaRPr lang="en-US" sz="4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0" name="Shape 3">
            <a:extLst>
              <a:ext uri="{FF2B5EF4-FFF2-40B4-BE49-F238E27FC236}">
                <a16:creationId xmlns:a16="http://schemas.microsoft.com/office/drawing/2014/main" id="{EEE8C305-0C46-037F-15F5-F88C33920D0F}"/>
              </a:ext>
            </a:extLst>
          </p:cNvPr>
          <p:cNvSpPr/>
          <p:nvPr/>
        </p:nvSpPr>
        <p:spPr>
          <a:xfrm>
            <a:off x="952500" y="2638425"/>
            <a:ext cx="16692116" cy="7532517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>
            <a:normAutofit/>
          </a:bodyPr>
          <a:lstStyle/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Visit </a:t>
            </a: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  <a:hlinkClick r:id="rId3"/>
              </a:rPr>
              <a:t>https://iba-defi-workshop-2026-feedback.netlify.app</a:t>
            </a:r>
            <a:endParaRPr lang="en-GB" sz="4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This is a Decentralized App, deployed on </a:t>
            </a:r>
            <a:r>
              <a:rPr lang="en-GB" sz="4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Sepolia</a:t>
            </a: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test net.</a:t>
            </a: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Connect with your wallet.</a:t>
            </a: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Submit a feedback form. You will need a small amount of SETH to submit your form.</a:t>
            </a: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Smart contract address that was deployed is:</a:t>
            </a:r>
            <a:b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0xc260fF1A0B099F977Bb5f845Eef1c6CE4bba8288</a:t>
            </a: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endParaRPr lang="en-GB" sz="4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5781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47965F-0FBD-4755-B4F1-0BF63DB5D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187FF05-BA5D-1CB5-E1CF-3C887D5367F8}"/>
              </a:ext>
            </a:extLst>
          </p:cNvPr>
          <p:cNvSpPr/>
          <p:nvPr/>
        </p:nvSpPr>
        <p:spPr>
          <a:xfrm>
            <a:off x="952500" y="838200"/>
            <a:ext cx="44660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252" dirty="0">
                <a:solidFill>
                  <a:srgbClr val="6A1B32"/>
                </a:solidFill>
                <a:latin typeface="Courier New" pitchFamily="34" charset="0"/>
                <a:cs typeface="Courier New" pitchFamily="34" charset="-120"/>
              </a:rPr>
              <a:t>Practical Exercise/Demo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A5600AE-7275-C198-A48A-29FD8C38F249}"/>
              </a:ext>
            </a:extLst>
          </p:cNvPr>
          <p:cNvSpPr/>
          <p:nvPr/>
        </p:nvSpPr>
        <p:spPr>
          <a:xfrm>
            <a:off x="952500" y="1352550"/>
            <a:ext cx="16383000" cy="19050"/>
          </a:xfrm>
          <a:prstGeom prst="rect">
            <a:avLst/>
          </a:prstGeom>
          <a:solidFill>
            <a:srgbClr val="DCD2C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FEFBD1C-0470-5A7D-AC88-938C5A50D67B}"/>
              </a:ext>
            </a:extLst>
          </p:cNvPr>
          <p:cNvSpPr/>
          <p:nvPr/>
        </p:nvSpPr>
        <p:spPr>
          <a:xfrm>
            <a:off x="952500" y="1790700"/>
            <a:ext cx="16692116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kern="0" spc="-70" dirty="0">
                <a:solidFill>
                  <a:srgbClr val="201B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Week…</a:t>
            </a:r>
            <a:endParaRPr lang="en-US" sz="4650" dirty="0"/>
          </a:p>
        </p:txBody>
      </p:sp>
      <p:sp>
        <p:nvSpPr>
          <p:cNvPr id="40" name="Shape 3">
            <a:extLst>
              <a:ext uri="{FF2B5EF4-FFF2-40B4-BE49-F238E27FC236}">
                <a16:creationId xmlns:a16="http://schemas.microsoft.com/office/drawing/2014/main" id="{6BBCF4FE-3C7C-4592-E45B-B3C65DDDB7C6}"/>
              </a:ext>
            </a:extLst>
          </p:cNvPr>
          <p:cNvSpPr/>
          <p:nvPr/>
        </p:nvSpPr>
        <p:spPr>
          <a:xfrm>
            <a:off x="952500" y="2638425"/>
            <a:ext cx="16692116" cy="7296407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>
            <a:normAutofit/>
          </a:bodyPr>
          <a:lstStyle/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Ethereum blockchain and its structure.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Logs and Events.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Why Ethereum is the right platform to develop a Finance ecosystem.</a:t>
            </a:r>
          </a:p>
        </p:txBody>
      </p:sp>
    </p:spTree>
    <p:extLst>
      <p:ext uri="{BB962C8B-B14F-4D97-AF65-F5344CB8AC3E}">
        <p14:creationId xmlns:p14="http://schemas.microsoft.com/office/powerpoint/2010/main" val="3791392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2228</TotalTime>
  <Words>1503</Words>
  <Application>Microsoft Macintosh PowerPoint</Application>
  <PresentationFormat>Custom</PresentationFormat>
  <Paragraphs>172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Aptos</vt:lpstr>
      <vt:lpstr>Aptos Narrow</vt:lpstr>
      <vt:lpstr>Arial</vt:lpstr>
      <vt:lpstr>Cambria Math</vt:lpstr>
      <vt:lpstr>Courier New</vt:lpstr>
      <vt:lpstr>Dreaming Outloud Pro</vt:lpstr>
      <vt:lpstr>Georgia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Owais Ahmed</cp:lastModifiedBy>
  <cp:revision>87</cp:revision>
  <dcterms:created xsi:type="dcterms:W3CDTF">2026-08-06T04:34:38Z</dcterms:created>
  <dcterms:modified xsi:type="dcterms:W3CDTF">2026-10-02T05:00:42Z</dcterms:modified>
</cp:coreProperties>
</file>