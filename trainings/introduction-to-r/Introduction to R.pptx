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43"/>
  </p:notesMasterIdLst>
  <p:handoutMasterIdLst>
    <p:handoutMasterId r:id="rId44"/>
  </p:handoutMasterIdLst>
  <p:sldIdLst>
    <p:sldId id="261" r:id="rId3"/>
    <p:sldId id="257" r:id="rId4"/>
    <p:sldId id="262" r:id="rId5"/>
    <p:sldId id="272" r:id="rId6"/>
    <p:sldId id="273" r:id="rId7"/>
    <p:sldId id="274" r:id="rId8"/>
    <p:sldId id="263" r:id="rId9"/>
    <p:sldId id="275" r:id="rId10"/>
    <p:sldId id="277" r:id="rId11"/>
    <p:sldId id="279" r:id="rId12"/>
    <p:sldId id="280" r:id="rId13"/>
    <p:sldId id="282" r:id="rId14"/>
    <p:sldId id="283" r:id="rId15"/>
    <p:sldId id="284" r:id="rId16"/>
    <p:sldId id="285" r:id="rId17"/>
    <p:sldId id="286" r:id="rId18"/>
    <p:sldId id="281" r:id="rId19"/>
    <p:sldId id="288" r:id="rId20"/>
    <p:sldId id="264" r:id="rId21"/>
    <p:sldId id="287" r:id="rId22"/>
    <p:sldId id="289" r:id="rId23"/>
    <p:sldId id="268" r:id="rId24"/>
    <p:sldId id="296" r:id="rId25"/>
    <p:sldId id="290" r:id="rId26"/>
    <p:sldId id="297" r:id="rId27"/>
    <p:sldId id="302" r:id="rId28"/>
    <p:sldId id="303" r:id="rId29"/>
    <p:sldId id="332" r:id="rId30"/>
    <p:sldId id="307" r:id="rId31"/>
    <p:sldId id="312" r:id="rId32"/>
    <p:sldId id="313" r:id="rId33"/>
    <p:sldId id="316" r:id="rId34"/>
    <p:sldId id="318" r:id="rId35"/>
    <p:sldId id="321" r:id="rId36"/>
    <p:sldId id="326" r:id="rId37"/>
    <p:sldId id="327" r:id="rId38"/>
    <p:sldId id="328" r:id="rId39"/>
    <p:sldId id="329" r:id="rId40"/>
    <p:sldId id="278" r:id="rId41"/>
    <p:sldId id="33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3" autoAdjust="0"/>
    <p:restoredTop sz="94660"/>
  </p:normalViewPr>
  <p:slideViewPr>
    <p:cSldViewPr snapToGrid="0">
      <p:cViewPr varScale="1">
        <p:scale>
          <a:sx n="84" d="100"/>
          <a:sy n="84" d="100"/>
        </p:scale>
        <p:origin x="432" y="77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smtClean="0"/>
              <a:t>Meaning one command per line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6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6/27/2018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6/27/2018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6/27/2018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6/27/2018</a:t>
            </a:fld>
            <a:endParaRPr lang="en-US"/>
          </a:p>
        </p:txBody>
      </p: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F629-ECA2-4CF3-B790-9D9BDED98269}" type="datetime1">
              <a:rPr lang="en-US" smtClean="0"/>
              <a:t>6/27/2018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kaggle.com/c/titanic-gettingStarted/data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aggle.com/c/titanic-gettingStarted/data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ayo.edu/hsr/techrpt/61.pdf" TargetMode="Externa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mailto:tkp@mit.edu" TargetMode="External"/><Relationship Id="rId2" Type="http://schemas.openxmlformats.org/officeDocument/2006/relationships/hyperlink" Target="mailto:Wajnberg@sophia.inra.fr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trevorstephens.com/" TargetMode="External"/><Relationship Id="rId4" Type="http://schemas.openxmlformats.org/officeDocument/2006/relationships/hyperlink" Target="http://www.statisticalskier.com/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mailto:owaishussain@outlook.com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 Interactive Introduction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845" y="3387371"/>
            <a:ext cx="245745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Appetizer</a:t>
            </a:r>
          </a:p>
          <a:p>
            <a:r>
              <a:rPr lang="en-US" dirty="0" smtClean="0"/>
              <a:t>What? Why?</a:t>
            </a:r>
          </a:p>
          <a:p>
            <a:r>
              <a:rPr lang="en-US" dirty="0" smtClean="0"/>
              <a:t>Building Blocks</a:t>
            </a:r>
          </a:p>
          <a:p>
            <a:r>
              <a:rPr lang="en-US" dirty="0" smtClean="0"/>
              <a:t>Built-in Functions</a:t>
            </a:r>
          </a:p>
          <a:p>
            <a:r>
              <a:rPr lang="en-US" dirty="0" smtClean="0"/>
              <a:t>Packages</a:t>
            </a:r>
          </a:p>
          <a:p>
            <a:r>
              <a:rPr lang="en-US" dirty="0" smtClean="0"/>
              <a:t>Diving in deep – Titanic</a:t>
            </a:r>
          </a:p>
          <a:p>
            <a:r>
              <a:rPr lang="en-US" dirty="0" smtClean="0"/>
              <a:t>What’s more on the Menu?</a:t>
            </a:r>
          </a:p>
          <a:p>
            <a:r>
              <a:rPr lang="en-US" dirty="0" smtClean="0"/>
              <a:t>Q/A and Outro…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503854"/>
            <a:ext cx="9601200" cy="52343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Appetizer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298" y="1027290"/>
            <a:ext cx="6773404" cy="5084568"/>
          </a:xfrm>
        </p:spPr>
      </p:pic>
    </p:spTree>
    <p:extLst>
      <p:ext uri="{BB962C8B-B14F-4D97-AF65-F5344CB8AC3E}">
        <p14:creationId xmlns:p14="http://schemas.microsoft.com/office/powerpoint/2010/main" val="147601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97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29267" b="13993"/>
          <a:stretch/>
        </p:blipFill>
        <p:spPr>
          <a:xfrm>
            <a:off x="128789" y="2556055"/>
            <a:ext cx="6117464" cy="3522639"/>
          </a:xfrm>
          <a:prstGeom prst="rect">
            <a:avLst/>
          </a:prstGeom>
        </p:spPr>
      </p:pic>
      <p:pic>
        <p:nvPicPr>
          <p:cNvPr id="4" name="Picture 3" descr="http://smartstorming.com/wp-content/uploads/2009/03/obama-inaugural-word-cloud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405" y="2556055"/>
            <a:ext cx="5731510" cy="352263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</p:spPr>
        <p:txBody>
          <a:bodyPr>
            <a:normAutofit/>
          </a:bodyPr>
          <a:lstStyle/>
          <a:p>
            <a:r>
              <a:rPr lang="en-US" dirty="0" smtClean="0"/>
              <a:t>How many lines of code you need to transform raw tweets to a tag cloud? Make a guess…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007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</p:spPr>
        <p:txBody>
          <a:bodyPr/>
          <a:lstStyle/>
          <a:p>
            <a:r>
              <a:rPr lang="en-US" dirty="0" smtClean="0"/>
              <a:t>Everything you need. Almost..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5400" y="1764406"/>
            <a:ext cx="9601200" cy="4417453"/>
          </a:xfrm>
        </p:spPr>
        <p:txBody>
          <a:bodyPr>
            <a:normAutofit/>
          </a:bodyPr>
          <a:lstStyle/>
          <a:p>
            <a:r>
              <a:rPr lang="en-US" dirty="0" smtClean="0"/>
              <a:t>Open-source</a:t>
            </a:r>
          </a:p>
          <a:p>
            <a:r>
              <a:rPr lang="en-US" dirty="0" smtClean="0"/>
              <a:t>Design of Scientists, by the Scientists, for the Scientists</a:t>
            </a:r>
          </a:p>
          <a:p>
            <a:r>
              <a:rPr lang="en-US" dirty="0" smtClean="0"/>
              <a:t>Platform independent</a:t>
            </a:r>
          </a:p>
          <a:p>
            <a:r>
              <a:rPr lang="en-US" dirty="0" smtClean="0"/>
              <a:t>Integration with </a:t>
            </a:r>
            <a:r>
              <a:rPr lang="en-US" dirty="0" err="1" smtClean="0"/>
              <a:t>Weka</a:t>
            </a:r>
            <a:r>
              <a:rPr lang="en-US" dirty="0" smtClean="0"/>
              <a:t>, Eclipse, you name it</a:t>
            </a:r>
          </a:p>
          <a:p>
            <a:r>
              <a:rPr lang="en-US" dirty="0" smtClean="0"/>
              <a:t>IDEs: R IDE, </a:t>
            </a:r>
            <a:r>
              <a:rPr lang="en-US" dirty="0" err="1" smtClean="0"/>
              <a:t>RStudio</a:t>
            </a:r>
            <a:r>
              <a:rPr lang="en-US" dirty="0" smtClean="0"/>
              <a:t>, Revolution Analytics, …</a:t>
            </a:r>
          </a:p>
          <a:p>
            <a:r>
              <a:rPr lang="en-US" dirty="0"/>
              <a:t>Built-in datasets. </a:t>
            </a:r>
            <a:r>
              <a:rPr lang="en-US" b="1" u="sng" dirty="0"/>
              <a:t>100+</a:t>
            </a:r>
          </a:p>
          <a:p>
            <a:r>
              <a:rPr lang="en-US" dirty="0" smtClean="0"/>
              <a:t>Number </a:t>
            </a:r>
            <a:r>
              <a:rPr lang="en-US" dirty="0"/>
              <a:t>of </a:t>
            </a:r>
            <a:r>
              <a:rPr lang="en-US" dirty="0" smtClean="0"/>
              <a:t>package. </a:t>
            </a:r>
            <a:r>
              <a:rPr lang="en-US" b="1" u="sng" dirty="0" smtClean="0"/>
              <a:t>10,000+</a:t>
            </a:r>
            <a:r>
              <a:rPr lang="en-US" dirty="0" smtClean="0"/>
              <a:t> (190 per month)</a:t>
            </a:r>
            <a:endParaRPr lang="en-US" dirty="0"/>
          </a:p>
          <a:p>
            <a:r>
              <a:rPr lang="en-US" dirty="0" smtClean="0"/>
              <a:t>Questions tagged ‘R’ on Stackoverflow.com. </a:t>
            </a:r>
            <a:r>
              <a:rPr lang="en-GB" b="1" u="sng" dirty="0" smtClean="0"/>
              <a:t>206094</a:t>
            </a:r>
          </a:p>
          <a:p>
            <a:r>
              <a:rPr lang="en-US" dirty="0" smtClean="0"/>
              <a:t>SPSS, KNIME, </a:t>
            </a:r>
            <a:r>
              <a:rPr lang="en-US" dirty="0" err="1" smtClean="0"/>
              <a:t>RapidMiner</a:t>
            </a:r>
            <a:r>
              <a:rPr lang="en-US" dirty="0" smtClean="0"/>
              <a:t>, Weka, … make a subset altogether</a:t>
            </a:r>
          </a:p>
        </p:txBody>
      </p:sp>
    </p:spTree>
    <p:extLst>
      <p:ext uri="{BB962C8B-B14F-4D97-AF65-F5344CB8AC3E}">
        <p14:creationId xmlns:p14="http://schemas.microsoft.com/office/powerpoint/2010/main" val="200671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9601200" cy="3810001"/>
          </a:xfrm>
        </p:spPr>
        <p:txBody>
          <a:bodyPr/>
          <a:lstStyle/>
          <a:p>
            <a:r>
              <a:rPr lang="en-US" dirty="0" smtClean="0"/>
              <a:t>Inspired by ‘S’ language by Bell labs in 1976</a:t>
            </a:r>
          </a:p>
          <a:p>
            <a:r>
              <a:rPr lang="en-US" dirty="0" smtClean="0"/>
              <a:t>Initially written in 90’</a:t>
            </a:r>
          </a:p>
          <a:p>
            <a:r>
              <a:rPr lang="en-US" dirty="0" smtClean="0"/>
              <a:t>C/C++ as the backbone</a:t>
            </a:r>
          </a:p>
          <a:p>
            <a:r>
              <a:rPr lang="en-US" dirty="0" smtClean="0"/>
              <a:t>Interpreter-</a:t>
            </a:r>
            <a:r>
              <a:rPr lang="en-US" dirty="0" err="1" smtClean="0"/>
              <a:t>ish</a:t>
            </a:r>
            <a:r>
              <a:rPr lang="en-US" dirty="0" smtClean="0"/>
              <a:t> language</a:t>
            </a:r>
          </a:p>
          <a:p>
            <a:r>
              <a:rPr lang="en-US" dirty="0" smtClean="0"/>
              <a:t>Compatible with every GNU system</a:t>
            </a:r>
          </a:p>
          <a:p>
            <a:r>
              <a:rPr lang="en-US" dirty="0" smtClean="0"/>
              <a:t>Interactive + a system of OOP</a:t>
            </a:r>
          </a:p>
          <a:p>
            <a:r>
              <a:rPr lang="en-US" dirty="0"/>
              <a:t>Dynamic in nature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7509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Why? (Advantages)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9601200" cy="3810001"/>
          </a:xfrm>
        </p:spPr>
        <p:txBody>
          <a:bodyPr>
            <a:normAutofit/>
          </a:bodyPr>
          <a:lstStyle/>
          <a:p>
            <a:r>
              <a:rPr lang="en-US" dirty="0" smtClean="0"/>
              <a:t>Fast</a:t>
            </a:r>
          </a:p>
          <a:p>
            <a:r>
              <a:rPr lang="en-US" dirty="0" smtClean="0"/>
              <a:t>State of the art Algorithms</a:t>
            </a:r>
          </a:p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on Graphics libraries after </a:t>
            </a:r>
            <a:r>
              <a:rPr lang="en-US" dirty="0" err="1" smtClean="0"/>
              <a:t>Matlab</a:t>
            </a:r>
            <a:endParaRPr lang="en-US" dirty="0" smtClean="0"/>
          </a:p>
          <a:p>
            <a:r>
              <a:rPr lang="en-US" dirty="0" smtClean="0"/>
              <a:t>Connections with APIs, Databases, Web services</a:t>
            </a:r>
          </a:p>
          <a:p>
            <a:r>
              <a:rPr lang="en-US" dirty="0"/>
              <a:t>Multi-threading </a:t>
            </a:r>
            <a:r>
              <a:rPr lang="en-US" dirty="0" smtClean="0"/>
              <a:t>ready</a:t>
            </a:r>
          </a:p>
          <a:p>
            <a:r>
              <a:rPr lang="en-US" dirty="0" smtClean="0"/>
              <a:t>Big Data-ready</a:t>
            </a:r>
          </a:p>
          <a:p>
            <a:r>
              <a:rPr lang="en-US" dirty="0" smtClean="0"/>
              <a:t>Genetics: a particular strength. 200+ dedicated</a:t>
            </a:r>
            <a:r>
              <a:rPr lang="en-US" dirty="0"/>
              <a:t> </a:t>
            </a:r>
            <a:r>
              <a:rPr lang="en-US" dirty="0" smtClean="0"/>
              <a:t>packages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4503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not? (Disadvantages)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9601200" cy="3810001"/>
          </a:xfrm>
        </p:spPr>
        <p:txBody>
          <a:bodyPr/>
          <a:lstStyle/>
          <a:p>
            <a:r>
              <a:rPr lang="en-US" dirty="0" smtClean="0"/>
              <a:t>Steep learning curve with minimal GUI – hard to learn, easy to forget</a:t>
            </a:r>
          </a:p>
          <a:p>
            <a:r>
              <a:rPr lang="en-US" dirty="0" smtClean="0"/>
              <a:t>Requires some theoretical background</a:t>
            </a:r>
          </a:p>
          <a:p>
            <a:r>
              <a:rPr lang="en-US" dirty="0" smtClean="0"/>
              <a:t>Debugging takes hit ‘n trial. Unless you go for commercial Revolution Analytics</a:t>
            </a:r>
          </a:p>
          <a:p>
            <a:r>
              <a:rPr lang="en-US" dirty="0" smtClean="0"/>
              <a:t>Data preprocessing is messy</a:t>
            </a:r>
          </a:p>
          <a:p>
            <a:r>
              <a:rPr lang="en-US" dirty="0" smtClean="0"/>
              <a:t>Always needs a reference library + users’ support</a:t>
            </a:r>
          </a:p>
          <a:p>
            <a:r>
              <a:rPr lang="en-US" dirty="0" smtClean="0"/>
              <a:t>Does not obey Software Engineering practices</a:t>
            </a:r>
          </a:p>
          <a:p>
            <a:r>
              <a:rPr lang="en-US" dirty="0" smtClean="0"/>
              <a:t>More addictive than Sugar (8 times more addictive than Nicotine)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1382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blocks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814732"/>
            <a:ext cx="9601200" cy="4341369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Objects</a:t>
            </a:r>
          </a:p>
          <a:p>
            <a:pPr lvl="1"/>
            <a:r>
              <a:rPr lang="en-US" dirty="0" smtClean="0"/>
              <a:t>Mode: R data type – character, numeric, logical, factor, list &amp; function</a:t>
            </a:r>
          </a:p>
          <a:p>
            <a:pPr lvl="1"/>
            <a:r>
              <a:rPr lang="en-US" dirty="0" smtClean="0"/>
              <a:t>Class: how R stores the objects – vector, matrix, </a:t>
            </a:r>
            <a:r>
              <a:rPr lang="en-US" dirty="0" err="1" smtClean="0"/>
              <a:t>data.frame</a:t>
            </a:r>
            <a:r>
              <a:rPr lang="en-US" dirty="0"/>
              <a:t> </a:t>
            </a:r>
            <a:r>
              <a:rPr lang="en-US" dirty="0" smtClean="0"/>
              <a:t>&amp; custom cases</a:t>
            </a:r>
          </a:p>
          <a:p>
            <a:r>
              <a:rPr lang="en-US" dirty="0" smtClean="0"/>
              <a:t>Vector</a:t>
            </a:r>
          </a:p>
          <a:p>
            <a:pPr lvl="1"/>
            <a:r>
              <a:rPr lang="en-US" dirty="0" smtClean="0"/>
              <a:t>Matrix</a:t>
            </a:r>
          </a:p>
          <a:p>
            <a:pPr lvl="1"/>
            <a:r>
              <a:rPr lang="en-US" dirty="0" smtClean="0"/>
              <a:t>Array</a:t>
            </a:r>
          </a:p>
          <a:p>
            <a:r>
              <a:rPr lang="en-US" dirty="0" smtClean="0"/>
              <a:t>List</a:t>
            </a:r>
          </a:p>
          <a:p>
            <a:r>
              <a:rPr lang="en-US" dirty="0" smtClean="0"/>
              <a:t>Data Frame</a:t>
            </a:r>
          </a:p>
          <a:p>
            <a:r>
              <a:rPr lang="en-US" dirty="0" smtClean="0"/>
              <a:t>Custom-class Objects</a:t>
            </a:r>
          </a:p>
          <a:p>
            <a:r>
              <a:rPr lang="en-US" dirty="0" smtClean="0"/>
              <a:t>Workspace </a:t>
            </a:r>
            <a:r>
              <a:rPr lang="en-US" dirty="0"/>
              <a:t>&amp; </a:t>
            </a:r>
            <a:r>
              <a:rPr lang="en-US" dirty="0" smtClean="0"/>
              <a:t>I/O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93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blocks – Basics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295401" y="1643981"/>
            <a:ext cx="9601199" cy="38595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2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altLang="en-US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2 + 2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z &lt;- 1:50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x + y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1 3 5 7 9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x * y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 0  2  6 12 20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x * z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[1]   0   2   6  12  20   0   7  16  27  40   0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[12]  12  26  42  60   0  17  36  57  80   0  22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[23]  46  72 100   0  27  56  87 120   0  32  66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[34] 102 140   0  37  76 117 160   0  42  86 132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[45] 180   0  47  96 147 200</a:t>
            </a:r>
            <a:endParaRPr lang="en-US" altLang="en-US" dirty="0" smtClean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17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blocks – </a:t>
            </a:r>
            <a:r>
              <a:rPr lang="en-US" dirty="0" smtClean="0"/>
              <a:t>Vector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46239"/>
            <a:ext cx="4770549" cy="4144962"/>
          </a:xfrm>
        </p:spPr>
        <p:txBody>
          <a:bodyPr/>
          <a:lstStyle/>
          <a:p>
            <a:r>
              <a:rPr lang="en-US" dirty="0" smtClean="0"/>
              <a:t>A sequence of data elements of one type</a:t>
            </a:r>
          </a:p>
          <a:p>
            <a:r>
              <a:rPr lang="en-US" dirty="0" smtClean="0"/>
              <a:t>Individual items are accessed via index, starting from 1</a:t>
            </a:r>
          </a:p>
          <a:p>
            <a:r>
              <a:rPr lang="en-US" dirty="0" smtClean="0"/>
              <a:t>Can be initiated by:</a:t>
            </a:r>
          </a:p>
          <a:p>
            <a:pPr lvl="1"/>
            <a:r>
              <a:rPr lang="en-US" dirty="0" smtClean="0"/>
              <a:t>c()</a:t>
            </a:r>
          </a:p>
          <a:p>
            <a:pPr lvl="1"/>
            <a:r>
              <a:rPr lang="en-US" dirty="0" err="1" smtClean="0"/>
              <a:t>seq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rep()</a:t>
            </a:r>
          </a:p>
          <a:p>
            <a:pPr lvl="1"/>
            <a:r>
              <a:rPr lang="en-US" dirty="0" smtClean="0"/>
              <a:t>n:m</a:t>
            </a:r>
          </a:p>
          <a:p>
            <a:r>
              <a:rPr lang="en-US" dirty="0" smtClean="0"/>
              <a:t>Values can have names too</a:t>
            </a:r>
          </a:p>
          <a:p>
            <a:endParaRPr lang="en-GB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259131" y="1646238"/>
            <a:ext cx="5293217" cy="45098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x &lt;- c(0,1,2,3,4)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0 1 2 3 4</a:t>
            </a: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x &lt;- </a:t>
            </a:r>
            <a:r>
              <a:rPr lang="en-U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(5)</a:t>
            </a:r>
            <a:endParaRPr lang="en-US" alt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1 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2 3 4 5</a:t>
            </a: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&lt;- </a:t>
            </a:r>
            <a:r>
              <a:rPr lang="en-U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(5)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1 2 3 4 5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x &lt;- </a:t>
            </a:r>
            <a:r>
              <a:rPr lang="en-U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(1,5,by=0.5)</a:t>
            </a:r>
            <a:endParaRPr lang="en-US" alt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1.0, 1.5, 2.0, 2.5, 3.0, 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3.5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x &lt;- 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1:3</a:t>
            </a:r>
            <a:endParaRPr lang="en-US" alt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1 2 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x &lt;- 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rep(1,times=5)</a:t>
            </a:r>
            <a:endParaRPr lang="en-US" alt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1 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1 1 1 1</a:t>
            </a: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x &lt;- 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rep(c(1,2),times=5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1 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2 1 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1 2 1 2 1 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&gt;names(x)&lt;-c(‘</a:t>
            </a:r>
            <a:r>
              <a:rPr lang="en-U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one’,’two’,’three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altLang="en-US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two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altLang="en-US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three</a:t>
            </a:r>
            <a:endParaRPr lang="es-ES" altLang="en-US" dirty="0" smtClean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		2	3</a:t>
            </a: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48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blocks – </a:t>
            </a:r>
            <a:r>
              <a:rPr lang="en-US" dirty="0" smtClean="0"/>
              <a:t>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46239"/>
            <a:ext cx="4770549" cy="4509862"/>
          </a:xfrm>
        </p:spPr>
        <p:txBody>
          <a:bodyPr>
            <a:normAutofit/>
          </a:bodyPr>
          <a:lstStyle/>
          <a:p>
            <a:r>
              <a:rPr lang="en-US" dirty="0" smtClean="0"/>
              <a:t>Matrix is a 2 x 2 vector exclusively</a:t>
            </a:r>
          </a:p>
          <a:p>
            <a:r>
              <a:rPr lang="en-US" dirty="0" smtClean="0"/>
              <a:t>Has a dim attribute</a:t>
            </a:r>
          </a:p>
          <a:p>
            <a:r>
              <a:rPr lang="en-US" dirty="0" smtClean="0"/>
              <a:t>Created by:</a:t>
            </a:r>
          </a:p>
          <a:p>
            <a:pPr lvl="1"/>
            <a:r>
              <a:rPr lang="en-US" dirty="0" smtClean="0"/>
              <a:t>matrix(values, rows, columns)</a:t>
            </a:r>
          </a:p>
          <a:p>
            <a:pPr lvl="1"/>
            <a:r>
              <a:rPr lang="en-US" dirty="0" err="1" smtClean="0"/>
              <a:t>cbind</a:t>
            </a:r>
            <a:r>
              <a:rPr lang="en-US" dirty="0" smtClean="0"/>
              <a:t>(vector1, vector2)</a:t>
            </a:r>
          </a:p>
          <a:p>
            <a:pPr lvl="1"/>
            <a:r>
              <a:rPr lang="en-US" dirty="0" err="1" smtClean="0"/>
              <a:t>rbind</a:t>
            </a:r>
            <a:r>
              <a:rPr lang="en-US" dirty="0" smtClean="0"/>
              <a:t>(vector1, vector2)</a:t>
            </a:r>
          </a:p>
          <a:p>
            <a:r>
              <a:rPr lang="en-US" dirty="0" smtClean="0"/>
              <a:t>Accessing specific rows &amp; columns</a:t>
            </a:r>
          </a:p>
          <a:p>
            <a:pPr lvl="1"/>
            <a:r>
              <a:rPr lang="en-US" dirty="0" smtClean="0"/>
              <a:t>matrix[row, ]</a:t>
            </a:r>
          </a:p>
          <a:p>
            <a:pPr lvl="1"/>
            <a:r>
              <a:rPr lang="en-US" dirty="0" smtClean="0"/>
              <a:t>matrix[, col]</a:t>
            </a:r>
          </a:p>
          <a:p>
            <a:pPr lvl="1"/>
            <a:r>
              <a:rPr lang="en-US" dirty="0" smtClean="0"/>
              <a:t>matrix[rows, columns]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259131" y="1646238"/>
            <a:ext cx="5293217" cy="45098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9144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m&lt;-matrix(1,nrow=3,ncol=3)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[,1]	[,2]	[,3]</a:t>
            </a: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[1,]	1	1	1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[2,]	1	1	1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[3,]	1	1	1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m&lt;-matrix(1:9,nrow=3,ncol=3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[,1]	[,2]	[,3]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[1,]	1	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[2,]	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5	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[3,]	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x&lt;-1:3; y&lt;4:6; m&lt;-</a:t>
            </a:r>
            <a:r>
              <a:rPr lang="en-U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rbind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[,1]	[,2]	[,3]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1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4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5	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m[1:2,1:2]</a:t>
            </a:r>
            <a:endParaRPr lang="en-US" alt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[,1]	[,2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		1	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4	5</a:t>
            </a:r>
          </a:p>
        </p:txBody>
      </p:sp>
    </p:spTree>
    <p:extLst>
      <p:ext uri="{BB962C8B-B14F-4D97-AF65-F5344CB8AC3E}">
        <p14:creationId xmlns:p14="http://schemas.microsoft.com/office/powerpoint/2010/main" val="538441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blocks – </a:t>
            </a:r>
            <a:r>
              <a:rPr lang="en-US" dirty="0" smtClean="0"/>
              <a:t>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46239"/>
            <a:ext cx="4770549" cy="4509862"/>
          </a:xfrm>
        </p:spPr>
        <p:txBody>
          <a:bodyPr>
            <a:normAutofit/>
          </a:bodyPr>
          <a:lstStyle/>
          <a:p>
            <a:r>
              <a:rPr lang="en-US" dirty="0" smtClean="0"/>
              <a:t>Vectors of ‘n’ dimensions</a:t>
            </a:r>
          </a:p>
          <a:p>
            <a:r>
              <a:rPr lang="en-US" dirty="0" smtClean="0"/>
              <a:t>array(data, dimensions, names);</a:t>
            </a:r>
          </a:p>
          <a:p>
            <a:r>
              <a:rPr lang="en-US" dirty="0" smtClean="0"/>
              <a:t>2^31 (2147483647) elements allowed in any dimensions</a:t>
            </a:r>
          </a:p>
          <a:p>
            <a:r>
              <a:rPr lang="en-US" dirty="0" smtClean="0"/>
              <a:t>dim(array) fetches dimensions</a:t>
            </a:r>
          </a:p>
          <a:p>
            <a:r>
              <a:rPr lang="it-IT" dirty="0" smtClean="0"/>
              <a:t>array(data </a:t>
            </a:r>
            <a:r>
              <a:rPr lang="it-IT" dirty="0"/>
              <a:t>= 1:64, dim = c(4,4,4</a:t>
            </a:r>
            <a:r>
              <a:rPr lang="it-IT" dirty="0" smtClean="0"/>
              <a:t>)) will build 4x4x4 array and set numbers from 1:64</a:t>
            </a:r>
            <a:endParaRPr lang="en-US" dirty="0" smtClean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259131" y="1646238"/>
            <a:ext cx="5293217" cy="45098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9144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array(0,dim=c(2,3,4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alt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=c("</a:t>
            </a:r>
            <a:r>
              <a:rPr lang="en-US" alt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x","y","z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"))</a:t>
            </a:r>
            <a:endParaRPr lang="en-US" altLang="en-US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1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[,1] [,2] [,3]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[1,]    0    0    0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[2,]    0    0    0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, 2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[,1] [,2] [,3]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[1,]    0    0    0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[2,]    0    0    0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, 3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[,1] [,2] [,3]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[1,]    0    0    0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[2,]    0    0    0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, 4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[,1] [,2] [,3]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[1,]    0    0    0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[2,]    0    0    0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29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blocks – </a:t>
            </a:r>
            <a:r>
              <a:rPr lang="en-US" dirty="0" smtClean="0"/>
              <a:t>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46239"/>
            <a:ext cx="4770549" cy="4509862"/>
          </a:xfrm>
        </p:spPr>
        <p:txBody>
          <a:bodyPr>
            <a:normAutofit/>
          </a:bodyPr>
          <a:lstStyle/>
          <a:p>
            <a:r>
              <a:rPr lang="en-US" dirty="0" smtClean="0"/>
              <a:t>Store more than one type of data</a:t>
            </a:r>
          </a:p>
          <a:p>
            <a:r>
              <a:rPr lang="en-US" dirty="0" smtClean="0"/>
              <a:t>Values can be vectors</a:t>
            </a:r>
          </a:p>
          <a:p>
            <a:r>
              <a:rPr lang="en-US" dirty="0" smtClean="0"/>
              <a:t>Mode (type) is dynamic (</a:t>
            </a:r>
            <a:r>
              <a:rPr lang="en-US" dirty="0" err="1" smtClean="0"/>
              <a:t>autocasting</a:t>
            </a:r>
            <a:r>
              <a:rPr lang="en-US" dirty="0" smtClean="0"/>
              <a:t>)</a:t>
            </a:r>
          </a:p>
          <a:p>
            <a:r>
              <a:rPr lang="en-US" dirty="0" smtClean="0"/>
              <a:t>Accessing data is tricky:</a:t>
            </a:r>
          </a:p>
          <a:p>
            <a:pPr lvl="1"/>
            <a:r>
              <a:rPr lang="en-US" dirty="0" err="1" smtClean="0"/>
              <a:t>ls</a:t>
            </a:r>
            <a:r>
              <a:rPr lang="en-US" dirty="0" smtClean="0"/>
              <a:t>[dimension] gives dimension and vector or values</a:t>
            </a:r>
          </a:p>
          <a:p>
            <a:pPr lvl="1"/>
            <a:r>
              <a:rPr lang="en-US" dirty="0" err="1" smtClean="0"/>
              <a:t>ls</a:t>
            </a:r>
            <a:r>
              <a:rPr lang="en-US" dirty="0" smtClean="0"/>
              <a:t>[[dimension]] gives vector of values</a:t>
            </a:r>
          </a:p>
          <a:p>
            <a:pPr lvl="1"/>
            <a:endParaRPr lang="en-US" dirty="0" smtClean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259131" y="1646238"/>
            <a:ext cx="5293217" cy="45098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list(c(1,2,3), c(log(1),</a:t>
            </a:r>
            <a:r>
              <a:rPr lang="en-US" alt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(2),</a:t>
            </a:r>
            <a:r>
              <a:rPr lang="en-US" alt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cosh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(9)), c("log","</a:t>
            </a:r>
            <a:r>
              <a:rPr lang="en-US" alt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","</a:t>
            </a:r>
            <a:r>
              <a:rPr lang="en-US" alt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cosh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")) </a:t>
            </a:r>
            <a:endParaRPr lang="en-US" altLang="en-US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[[1]]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1 2 3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[[2]]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   0.0    1.4 4051.5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[[3]]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"log"  "</a:t>
            </a: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acos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07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blocks – </a:t>
            </a:r>
            <a:r>
              <a:rPr lang="en-US" dirty="0" err="1" smtClean="0"/>
              <a:t>Data.frame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46239"/>
            <a:ext cx="4770549" cy="2371969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Data frames are lists of vectors of equal length</a:t>
            </a:r>
          </a:p>
          <a:p>
            <a:r>
              <a:rPr lang="en-US" dirty="0" smtClean="0"/>
              <a:t>Rows have names, so do columns</a:t>
            </a:r>
          </a:p>
          <a:p>
            <a:r>
              <a:rPr lang="en-US" dirty="0" smtClean="0"/>
              <a:t>Can be converted into matrix using by </a:t>
            </a:r>
            <a:r>
              <a:rPr lang="en-US" dirty="0" err="1" smtClean="0"/>
              <a:t>data.matrix</a:t>
            </a:r>
            <a:r>
              <a:rPr lang="en-US" dirty="0" smtClean="0"/>
              <a:t>()</a:t>
            </a:r>
          </a:p>
          <a:p>
            <a:r>
              <a:rPr lang="en-US" dirty="0" smtClean="0"/>
              <a:t>Access columns with </a:t>
            </a:r>
            <a:r>
              <a:rPr lang="en-US" dirty="0" err="1" smtClean="0"/>
              <a:t>dataframe$column</a:t>
            </a:r>
            <a:endParaRPr lang="en-US" dirty="0" smtClean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31065" y="4018208"/>
            <a:ext cx="10921283" cy="21378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9144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head(</a:t>
            </a:r>
            <a:r>
              <a:rPr lang="en-U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mtcars</a:t>
            </a:r>
            <a:r>
              <a:rPr lang="en-U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mpg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cyl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hp </a:t>
            </a: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drat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qsec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vs am </a:t>
            </a: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gear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carb</a:t>
            </a: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Mazda RX4          21   6  160 110  3.9 2.6   16  0  1    4    4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Mazda RX4 </a:t>
            </a: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Wag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21   6  160 110  3.9 2.9   17  0  1    4    4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Datsun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710         23   4  108  93  3.8 2.3   19  1  1    4    1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Hornet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4 Drive     21   6  258 110  3.1 3.2   19  1  0    3    1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Hornet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Sportabout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19   8  360 175  3.1 3.4   17  0  0    3    2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altLang="en-US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Valiant</a:t>
            </a: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18   6  225 105  2.8 3.5   20  1  0    3    1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s-ES" alt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65949" y="1646238"/>
            <a:ext cx="4770549" cy="23719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Try </a:t>
            </a:r>
            <a:r>
              <a:rPr lang="en-US" dirty="0" err="1"/>
              <a:t>mtcars</a:t>
            </a:r>
            <a:r>
              <a:rPr lang="en-US" dirty="0"/>
              <a:t> (built-in database)</a:t>
            </a:r>
          </a:p>
          <a:p>
            <a:r>
              <a:rPr lang="en-US" dirty="0" smtClean="0"/>
              <a:t>Querying:</a:t>
            </a:r>
          </a:p>
          <a:p>
            <a:pPr lvl="1"/>
            <a:r>
              <a:rPr lang="en-US" dirty="0" err="1" smtClean="0"/>
              <a:t>mtcars</a:t>
            </a:r>
            <a:r>
              <a:rPr lang="en-US" dirty="0" smtClean="0"/>
              <a:t>[</a:t>
            </a:r>
            <a:r>
              <a:rPr lang="en-US" dirty="0" err="1" smtClean="0"/>
              <a:t>rows,columns</a:t>
            </a:r>
            <a:r>
              <a:rPr lang="en-US" dirty="0" smtClean="0"/>
              <a:t>]</a:t>
            </a:r>
          </a:p>
          <a:p>
            <a:pPr lvl="1"/>
            <a:r>
              <a:rPr lang="en-US" dirty="0" err="1" smtClean="0"/>
              <a:t>mtcars</a:t>
            </a:r>
            <a:r>
              <a:rPr lang="en-US" dirty="0" smtClean="0"/>
              <a:t>[,columns]</a:t>
            </a:r>
          </a:p>
          <a:p>
            <a:pPr lvl="1"/>
            <a:r>
              <a:rPr lang="en-US" dirty="0" err="1" smtClean="0"/>
              <a:t>mtcars</a:t>
            </a:r>
            <a:r>
              <a:rPr lang="en-US" dirty="0" smtClean="0"/>
              <a:t>[“Valiant”,]</a:t>
            </a:r>
          </a:p>
          <a:p>
            <a:pPr lvl="1"/>
            <a:r>
              <a:rPr lang="en-US" u="sng" dirty="0" err="1"/>
              <a:t>mtcars</a:t>
            </a:r>
            <a:r>
              <a:rPr lang="en-US" u="sng" dirty="0"/>
              <a:t>[</a:t>
            </a:r>
            <a:r>
              <a:rPr lang="en-US" u="sng" dirty="0" err="1"/>
              <a:t>mtcars$gear</a:t>
            </a:r>
            <a:r>
              <a:rPr lang="en-US" u="sng" dirty="0"/>
              <a:t> == 4,]</a:t>
            </a:r>
            <a:endParaRPr lang="en-US" u="sng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1377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blocks – Workspace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295401" y="1643981"/>
            <a:ext cx="9601199" cy="38595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	#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Lists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objects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memory</a:t>
            </a:r>
            <a:endParaRPr lang="es-ES" altLang="en-US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 </a:t>
            </a:r>
            <a:r>
              <a:rPr lang="es-ES" altLang="en-US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x	y	m	data	</a:t>
            </a:r>
            <a:r>
              <a:rPr lang="es-ES" altLang="en-US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endParaRPr lang="es-ES" altLang="en-US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s-E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#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objects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memory</a:t>
            </a:r>
            <a:endParaRPr lang="es-ES" alt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(x, file=“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Mydata.Rdata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	#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objects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file</a:t>
            </a:r>
            <a:endParaRPr lang="es-ES" alt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getwd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	#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working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directory</a:t>
            </a:r>
            <a:endParaRPr lang="es-ES" altLang="en-US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 “C:/R64”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setwd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(“C:\\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Learning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R”)</a:t>
            </a:r>
            <a:endParaRPr lang="es-ES" alt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savehistory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(file=“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MyData.Rhistory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  <a:endParaRPr lang="es-ES" alt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loadhistory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(file</a:t>
            </a:r>
            <a:r>
              <a:rPr lang="es-E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</a:t>
            </a:r>
            <a:r>
              <a:rPr lang="es-ES" alt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MyData.Rhistory</a:t>
            </a:r>
            <a:r>
              <a:rPr lang="es-E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history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	#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previous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commands</a:t>
            </a:r>
            <a:endParaRPr lang="es-ES" alt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ES" altLang="en-US" dirty="0" smtClean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82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blocks – I/O (painfully easy)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295401" y="1643981"/>
            <a:ext cx="9601199" cy="38595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data &lt;- read.csv(“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	#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Reads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file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es-ES" altLang="en-US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s-E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&lt;- </a:t>
            </a:r>
            <a:r>
              <a:rPr lang="en-US" alt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read.table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(file="", header=FALSE, </a:t>
            </a:r>
            <a:r>
              <a:rPr lang="en-US" alt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sep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=",", quote=TRUE, </a:t>
            </a:r>
            <a:r>
              <a:rPr lang="en-US" alt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stringsAsFactors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  <a:r>
              <a:rPr lang="es-E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# </a:t>
            </a:r>
            <a:r>
              <a:rPr lang="es-ES" alt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Reads</a:t>
            </a:r>
            <a:r>
              <a:rPr lang="es-E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custom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  <a:endParaRPr lang="es-ES" alt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ES" altLang="en-US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write.csv(data, “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s-E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	# </a:t>
            </a:r>
            <a:r>
              <a:rPr lang="es-ES" alt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Writes</a:t>
            </a:r>
            <a:r>
              <a:rPr lang="es-ES" alt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data to file</a:t>
            </a:r>
            <a:endParaRPr lang="es-ES" alt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ES" altLang="en-US" dirty="0" smtClean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s-ES" altLang="en-US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Btw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altLang="en-US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factors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are </a:t>
            </a:r>
            <a:r>
              <a:rPr lang="es-ES" altLang="en-US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enumerations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s-ES" altLang="en-US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Used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n-US" dirty="0" err="1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qualitative</a:t>
            </a:r>
            <a:r>
              <a:rPr lang="es-ES" altLang="en-US" dirty="0" smtClean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80568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Built-in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46239"/>
            <a:ext cx="4860701" cy="4144962"/>
          </a:xfrm>
        </p:spPr>
        <p:txBody>
          <a:bodyPr>
            <a:normAutofit/>
          </a:bodyPr>
          <a:lstStyle/>
          <a:p>
            <a:r>
              <a:rPr lang="en-US" dirty="0" smtClean="0"/>
              <a:t>Statistical functions:</a:t>
            </a:r>
          </a:p>
          <a:p>
            <a:pPr lvl="1"/>
            <a:r>
              <a:rPr lang="en-US" dirty="0" smtClean="0"/>
              <a:t>sum(), prod(), </a:t>
            </a:r>
            <a:r>
              <a:rPr lang="en-US" dirty="0" err="1" smtClean="0"/>
              <a:t>cumprod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min(), max()</a:t>
            </a:r>
          </a:p>
          <a:p>
            <a:pPr lvl="1"/>
            <a:r>
              <a:rPr lang="en-US" dirty="0" smtClean="0"/>
              <a:t>range()</a:t>
            </a:r>
            <a:endParaRPr lang="en-US" dirty="0"/>
          </a:p>
          <a:p>
            <a:pPr lvl="1"/>
            <a:r>
              <a:rPr lang="en-US" dirty="0" smtClean="0"/>
              <a:t>mean(), median(), mode()</a:t>
            </a:r>
          </a:p>
          <a:p>
            <a:pPr lvl="1"/>
            <a:r>
              <a:rPr lang="en-US" dirty="0" err="1" smtClean="0"/>
              <a:t>var</a:t>
            </a:r>
            <a:r>
              <a:rPr lang="en-US" dirty="0" smtClean="0"/>
              <a:t>(), </a:t>
            </a:r>
            <a:r>
              <a:rPr lang="en-US" dirty="0" err="1" smtClean="0"/>
              <a:t>sd</a:t>
            </a:r>
            <a:r>
              <a:rPr lang="en-US" dirty="0" smtClean="0"/>
              <a:t>()</a:t>
            </a:r>
          </a:p>
          <a:p>
            <a:pPr lvl="1"/>
            <a:r>
              <a:rPr lang="en-US" dirty="0" err="1" smtClean="0"/>
              <a:t>cor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summary()</a:t>
            </a:r>
          </a:p>
          <a:p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156101" y="1646238"/>
            <a:ext cx="4860701" cy="4144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Some more:</a:t>
            </a:r>
          </a:p>
          <a:p>
            <a:pPr lvl="1"/>
            <a:r>
              <a:rPr lang="en-US" dirty="0" smtClean="0"/>
              <a:t>sort()</a:t>
            </a:r>
          </a:p>
          <a:p>
            <a:pPr lvl="1"/>
            <a:r>
              <a:rPr lang="en-US" dirty="0" smtClean="0"/>
              <a:t>rank()</a:t>
            </a:r>
          </a:p>
          <a:p>
            <a:pPr lvl="1"/>
            <a:r>
              <a:rPr lang="en-US" dirty="0" smtClean="0"/>
              <a:t>length()</a:t>
            </a:r>
          </a:p>
          <a:p>
            <a:pPr lvl="1"/>
            <a:r>
              <a:rPr lang="en-US" dirty="0" err="1" smtClean="0"/>
              <a:t>nrow</a:t>
            </a:r>
            <a:r>
              <a:rPr lang="en-US" dirty="0" smtClean="0"/>
              <a:t>(), </a:t>
            </a:r>
            <a:r>
              <a:rPr lang="en-US" dirty="0" err="1" smtClean="0"/>
              <a:t>ncol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log()</a:t>
            </a:r>
          </a:p>
          <a:p>
            <a:pPr lvl="1"/>
            <a:r>
              <a:rPr lang="en-US" dirty="0" err="1" smtClean="0"/>
              <a:t>exp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print()</a:t>
            </a:r>
          </a:p>
          <a:p>
            <a:pPr lvl="1"/>
            <a:r>
              <a:rPr lang="en-US" dirty="0" smtClean="0"/>
              <a:t>scan()</a:t>
            </a:r>
          </a:p>
          <a:p>
            <a:pPr lvl="1"/>
            <a:r>
              <a:rPr lang="en-US" dirty="0" err="1" smtClean="0"/>
              <a:t>as.numeric</a:t>
            </a:r>
            <a:r>
              <a:rPr lang="en-US" dirty="0" smtClean="0"/>
              <a:t>(). </a:t>
            </a:r>
            <a:r>
              <a:rPr lang="en-US" dirty="0" err="1" smtClean="0"/>
              <a:t>as.factor</a:t>
            </a:r>
            <a:r>
              <a:rPr lang="en-US" dirty="0" smtClean="0"/>
              <a:t>()</a:t>
            </a:r>
          </a:p>
          <a:p>
            <a:pPr lvl="1"/>
            <a:endParaRPr lang="en-US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151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46239"/>
            <a:ext cx="4860701" cy="453562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datasets: built-in datasets</a:t>
            </a:r>
          </a:p>
          <a:p>
            <a:r>
              <a:rPr lang="en-US" dirty="0" smtClean="0"/>
              <a:t>stats: statistics</a:t>
            </a:r>
          </a:p>
          <a:p>
            <a:r>
              <a:rPr lang="en-US" dirty="0" err="1" smtClean="0"/>
              <a:t>igraph</a:t>
            </a:r>
            <a:r>
              <a:rPr lang="en-US" dirty="0" smtClean="0"/>
              <a:t>: graphs and networks</a:t>
            </a:r>
          </a:p>
          <a:p>
            <a:r>
              <a:rPr lang="en-US" dirty="0" smtClean="0"/>
              <a:t>cluster: clustering</a:t>
            </a:r>
          </a:p>
          <a:p>
            <a:r>
              <a:rPr lang="en-US" dirty="0" err="1" smtClean="0"/>
              <a:t>arules</a:t>
            </a:r>
            <a:r>
              <a:rPr lang="en-US" dirty="0" smtClean="0"/>
              <a:t>: association rule mining</a:t>
            </a:r>
          </a:p>
          <a:p>
            <a:r>
              <a:rPr lang="en-US" dirty="0" smtClean="0"/>
              <a:t>caret: classification and regression</a:t>
            </a:r>
          </a:p>
          <a:p>
            <a:r>
              <a:rPr lang="en-US" dirty="0" err="1" smtClean="0"/>
              <a:t>nnet</a:t>
            </a:r>
            <a:r>
              <a:rPr lang="en-US" dirty="0" smtClean="0"/>
              <a:t>: neural networks</a:t>
            </a:r>
          </a:p>
          <a:p>
            <a:r>
              <a:rPr lang="en-US" dirty="0" err="1" smtClean="0"/>
              <a:t>rjson</a:t>
            </a:r>
            <a:r>
              <a:rPr lang="en-US" dirty="0" smtClean="0"/>
              <a:t>: JSON for R</a:t>
            </a:r>
          </a:p>
          <a:p>
            <a:r>
              <a:rPr lang="en-US" dirty="0" smtClean="0"/>
              <a:t>tm: text mining</a:t>
            </a:r>
          </a:p>
          <a:p>
            <a:r>
              <a:rPr lang="en-US" dirty="0" err="1" smtClean="0"/>
              <a:t>sqldf</a:t>
            </a:r>
            <a:r>
              <a:rPr lang="en-US" dirty="0" smtClean="0"/>
              <a:t>: SQL on R data frames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156101" y="1646237"/>
            <a:ext cx="4860701" cy="4535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dirty="0" smtClean="0"/>
              <a:t>Install package: </a:t>
            </a:r>
            <a:r>
              <a:rPr lang="en-US" sz="1900" dirty="0" err="1" smtClean="0"/>
              <a:t>install.packages</a:t>
            </a:r>
            <a:r>
              <a:rPr lang="en-US" sz="1900" dirty="0" smtClean="0"/>
              <a:t>(“package”)</a:t>
            </a:r>
          </a:p>
          <a:p>
            <a:r>
              <a:rPr lang="en-US" sz="1900" dirty="0" smtClean="0"/>
              <a:t>Load package: library(package)</a:t>
            </a:r>
          </a:p>
          <a:p>
            <a:r>
              <a:rPr lang="en-GB" sz="1900" dirty="0" smtClean="0"/>
              <a:t>Unload package without restarting: detach</a:t>
            </a:r>
            <a:r>
              <a:rPr lang="en-GB" sz="1900" dirty="0"/>
              <a:t>("</a:t>
            </a:r>
            <a:r>
              <a:rPr lang="en-GB" sz="1900" dirty="0" err="1" smtClean="0"/>
              <a:t>package:name</a:t>
            </a:r>
            <a:r>
              <a:rPr lang="en-GB" sz="1900" dirty="0" smtClean="0"/>
              <a:t>", </a:t>
            </a:r>
            <a:r>
              <a:rPr lang="en-GB" sz="1900" dirty="0"/>
              <a:t>unload=TRUE)</a:t>
            </a:r>
          </a:p>
        </p:txBody>
      </p:sp>
    </p:spTree>
    <p:extLst>
      <p:ext uri="{BB962C8B-B14F-4D97-AF65-F5344CB8AC3E}">
        <p14:creationId xmlns:p14="http://schemas.microsoft.com/office/powerpoint/2010/main" val="266956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Diving in Deep – Titanic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130669" y="1813718"/>
            <a:ext cx="4572000" cy="3810001"/>
          </a:xfrm>
        </p:spPr>
        <p:txBody>
          <a:bodyPr/>
          <a:lstStyle/>
          <a:p>
            <a:r>
              <a:rPr lang="en-US" dirty="0" smtClean="0"/>
              <a:t>RMS Titanic sank on April 15</a:t>
            </a:r>
            <a:r>
              <a:rPr lang="en-US" baseline="30000" dirty="0" smtClean="0"/>
              <a:t>th</a:t>
            </a:r>
            <a:r>
              <a:rPr lang="en-US" dirty="0" smtClean="0"/>
              <a:t>, 1912 in its maiden voyage. Out of 2224 passengers on board, 1502 didn’t survive.</a:t>
            </a:r>
          </a:p>
          <a:p>
            <a:r>
              <a:rPr lang="en-US" dirty="0" smtClean="0"/>
              <a:t>Want to know who survived?</a:t>
            </a:r>
          </a:p>
          <a:p>
            <a:r>
              <a:rPr lang="en-US" dirty="0" smtClean="0"/>
              <a:t>If another event similar to Titanic happens, can you guess which passengers are likely to survive?</a:t>
            </a:r>
          </a:p>
          <a:p>
            <a:endParaRPr lang="en-GB" dirty="0"/>
          </a:p>
        </p:txBody>
      </p:sp>
      <p:pic>
        <p:nvPicPr>
          <p:cNvPr id="6" name="Picture 2" descr="http://www.titanicfacts.net/assets/the-titanic.pn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669" y="1646238"/>
            <a:ext cx="5193932" cy="414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00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/>
          <p:cNvSpPr txBox="1">
            <a:spLocks/>
          </p:cNvSpPr>
          <p:nvPr/>
        </p:nvSpPr>
        <p:spPr>
          <a:xfrm>
            <a:off x="579549" y="399245"/>
            <a:ext cx="10985680" cy="6104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Download </a:t>
            </a:r>
            <a:r>
              <a:rPr lang="en-US" dirty="0"/>
              <a:t>the dataset from: 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www.kaggle.com/c/titanic-gettingStarted/data</a:t>
            </a:r>
            <a:endParaRPr lang="en-US" dirty="0" smtClean="0"/>
          </a:p>
          <a:p>
            <a:r>
              <a:rPr lang="en-US" dirty="0" smtClean="0"/>
              <a:t>See how it looks like on MS Excel first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129" y="1295400"/>
            <a:ext cx="90678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0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/>
          <p:cNvSpPr txBox="1">
            <a:spLocks/>
          </p:cNvSpPr>
          <p:nvPr/>
        </p:nvSpPr>
        <p:spPr>
          <a:xfrm>
            <a:off x="579549" y="399245"/>
            <a:ext cx="10985680" cy="6104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Download </a:t>
            </a:r>
            <a:r>
              <a:rPr lang="en-US" dirty="0"/>
              <a:t>the dataset from: 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www.kaggle.com/c/titanic-gettingStarted/data</a:t>
            </a:r>
            <a:endParaRPr lang="en-US" dirty="0" smtClean="0"/>
          </a:p>
          <a:p>
            <a:r>
              <a:rPr lang="en-US" dirty="0" smtClean="0"/>
              <a:t>See how it looks like on MS Excel first</a:t>
            </a:r>
          </a:p>
          <a:p>
            <a:r>
              <a:rPr lang="en-US" dirty="0" smtClean="0"/>
              <a:t>Set current working directory: </a:t>
            </a:r>
            <a:r>
              <a:rPr lang="en-US" dirty="0" err="1" smtClean="0"/>
              <a:t>setwd</a:t>
            </a:r>
            <a:r>
              <a:rPr lang="en-US" dirty="0" smtClean="0"/>
              <a:t>(“your path”)</a:t>
            </a:r>
          </a:p>
          <a:p>
            <a:r>
              <a:rPr lang="en-US" dirty="0" smtClean="0"/>
              <a:t>Read the training dataset</a:t>
            </a:r>
            <a:r>
              <a:rPr lang="en-US" dirty="0"/>
              <a:t>: dataset &lt;- read.csv("train.csv</a:t>
            </a:r>
            <a:r>
              <a:rPr lang="en-US" dirty="0" smtClean="0"/>
              <a:t>")</a:t>
            </a:r>
          </a:p>
          <a:p>
            <a:r>
              <a:rPr lang="en-US" dirty="0" smtClean="0"/>
              <a:t>List </a:t>
            </a:r>
            <a:r>
              <a:rPr lang="en-US" dirty="0"/>
              <a:t>all variables: </a:t>
            </a:r>
            <a:r>
              <a:rPr lang="en-US" dirty="0" err="1"/>
              <a:t>colnames</a:t>
            </a:r>
            <a:r>
              <a:rPr lang="en-US" dirty="0"/>
              <a:t>(dataset</a:t>
            </a:r>
            <a:r>
              <a:rPr lang="en-US" dirty="0" smtClean="0"/>
              <a:t>)</a:t>
            </a:r>
          </a:p>
          <a:p>
            <a:r>
              <a:rPr lang="en-US" dirty="0" smtClean="0"/>
              <a:t>Check basic data </a:t>
            </a:r>
            <a:r>
              <a:rPr lang="en-US" dirty="0" err="1" smtClean="0"/>
              <a:t>statis</a:t>
            </a:r>
            <a:r>
              <a:rPr lang="en-US" dirty="0" smtClean="0"/>
              <a:t>: summary(dataset)</a:t>
            </a:r>
          </a:p>
          <a:p>
            <a:r>
              <a:rPr lang="en-US" dirty="0" smtClean="0"/>
              <a:t>“Women and children first” is a common rule in evacuation, check how data of survivors is distributed over these </a:t>
            </a:r>
            <a:r>
              <a:rPr lang="en-US" dirty="0"/>
              <a:t>two </a:t>
            </a:r>
            <a:r>
              <a:rPr lang="en-US" dirty="0" smtClean="0"/>
              <a:t>variables. Use table() function to make a frequency table</a:t>
            </a:r>
          </a:p>
          <a:p>
            <a:pPr lvl="1"/>
            <a:r>
              <a:rPr lang="en-US" dirty="0" err="1" smtClean="0"/>
              <a:t>dist</a:t>
            </a:r>
            <a:r>
              <a:rPr lang="en-US" dirty="0" smtClean="0"/>
              <a:t> </a:t>
            </a:r>
            <a:r>
              <a:rPr lang="en-US" dirty="0"/>
              <a:t>&lt;- table(</a:t>
            </a:r>
            <a:r>
              <a:rPr lang="en-US" dirty="0" err="1"/>
              <a:t>dataset$Survived</a:t>
            </a:r>
            <a:r>
              <a:rPr lang="en-US" dirty="0"/>
              <a:t>, </a:t>
            </a:r>
            <a:r>
              <a:rPr lang="en-US" dirty="0" err="1"/>
              <a:t>dataset$Sex</a:t>
            </a:r>
            <a:r>
              <a:rPr lang="en-US" dirty="0" smtClean="0"/>
              <a:t>); plot(</a:t>
            </a:r>
            <a:r>
              <a:rPr lang="en-US" dirty="0" err="1" smtClean="0"/>
              <a:t>dist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/>
              <a:t>dist</a:t>
            </a:r>
            <a:r>
              <a:rPr lang="en-US" dirty="0"/>
              <a:t> &lt;- table(</a:t>
            </a:r>
            <a:r>
              <a:rPr lang="en-US" dirty="0" err="1"/>
              <a:t>dataset$Survived</a:t>
            </a:r>
            <a:r>
              <a:rPr lang="en-US" dirty="0"/>
              <a:t>, </a:t>
            </a:r>
            <a:r>
              <a:rPr lang="en-US" dirty="0" err="1" smtClean="0"/>
              <a:t>dataset$Age</a:t>
            </a:r>
            <a:r>
              <a:rPr lang="en-US" dirty="0" smtClean="0"/>
              <a:t>); </a:t>
            </a:r>
            <a:r>
              <a:rPr lang="en-US" dirty="0"/>
              <a:t>plot(</a:t>
            </a:r>
            <a:r>
              <a:rPr lang="en-US" dirty="0" err="1"/>
              <a:t>dist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Oops! Messed up </a:t>
            </a:r>
            <a:r>
              <a:rPr lang="en-US" dirty="0" smtClean="0">
                <a:sym typeface="Wingdings" panose="05000000000000000000" pitchFamily="2" charset="2"/>
              </a:rPr>
              <a:t>. We’ll come to that</a:t>
            </a:r>
            <a:endParaRPr lang="en-US" dirty="0" smtClean="0"/>
          </a:p>
          <a:p>
            <a:pPr lvl="1"/>
            <a:r>
              <a:rPr lang="en-US" dirty="0" smtClean="0"/>
              <a:t>But how is Age itself distributed? </a:t>
            </a:r>
            <a:r>
              <a:rPr lang="en-US" dirty="0" err="1" smtClean="0"/>
              <a:t>barplot</a:t>
            </a:r>
            <a:r>
              <a:rPr lang="en-US" dirty="0" smtClean="0"/>
              <a:t>(table(</a:t>
            </a:r>
            <a:r>
              <a:rPr lang="en-US" dirty="0" err="1" smtClean="0"/>
              <a:t>dataset$Age</a:t>
            </a:r>
            <a:r>
              <a:rPr lang="en-US" dirty="0" smtClean="0"/>
              <a:t>)) # Normal?</a:t>
            </a:r>
          </a:p>
          <a:p>
            <a:r>
              <a:rPr lang="en-US" dirty="0" smtClean="0"/>
              <a:t>Befriend you data</a:t>
            </a:r>
          </a:p>
        </p:txBody>
      </p:sp>
    </p:spTree>
    <p:extLst>
      <p:ext uri="{BB962C8B-B14F-4D97-AF65-F5344CB8AC3E}">
        <p14:creationId xmlns:p14="http://schemas.microsoft.com/office/powerpoint/2010/main" val="2190467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/>
          <p:cNvSpPr txBox="1">
            <a:spLocks/>
          </p:cNvSpPr>
          <p:nvPr/>
        </p:nvSpPr>
        <p:spPr>
          <a:xfrm>
            <a:off x="579549" y="399245"/>
            <a:ext cx="10985680" cy="6104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You should have noticed a few things:</a:t>
            </a:r>
          </a:p>
          <a:p>
            <a:r>
              <a:rPr lang="en-US" sz="2800" dirty="0" smtClean="0"/>
              <a:t>Females survive mostly</a:t>
            </a:r>
          </a:p>
          <a:p>
            <a:r>
              <a:rPr lang="en-US" sz="2800" dirty="0" smtClean="0"/>
              <a:t>Age needs discretization</a:t>
            </a:r>
          </a:p>
          <a:p>
            <a:r>
              <a:rPr lang="en-US" sz="2800" dirty="0" smtClean="0"/>
              <a:t>Some attributes seem to be useless</a:t>
            </a:r>
          </a:p>
          <a:p>
            <a:r>
              <a:rPr lang="en-US" sz="2800" dirty="0" smtClean="0"/>
              <a:t>Some data is missing</a:t>
            </a:r>
          </a:p>
        </p:txBody>
      </p:sp>
    </p:spTree>
    <p:extLst>
      <p:ext uri="{BB962C8B-B14F-4D97-AF65-F5344CB8AC3E}">
        <p14:creationId xmlns:p14="http://schemas.microsoft.com/office/powerpoint/2010/main" val="205659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/>
          <p:cNvSpPr txBox="1">
            <a:spLocks/>
          </p:cNvSpPr>
          <p:nvPr/>
        </p:nvSpPr>
        <p:spPr>
          <a:xfrm>
            <a:off x="579549" y="399245"/>
            <a:ext cx="10985680" cy="6104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Here are our tasks:</a:t>
            </a:r>
          </a:p>
          <a:p>
            <a:pPr lvl="1"/>
            <a:r>
              <a:rPr lang="en-US" sz="2800" dirty="0" smtClean="0"/>
              <a:t>Preprocessing</a:t>
            </a:r>
          </a:p>
          <a:p>
            <a:pPr lvl="1"/>
            <a:r>
              <a:rPr lang="en-US" sz="2800" dirty="0" smtClean="0"/>
              <a:t>Applying model(s)</a:t>
            </a:r>
          </a:p>
          <a:p>
            <a:pPr lvl="1"/>
            <a:r>
              <a:rPr lang="en-US" sz="2800" dirty="0" smtClean="0"/>
              <a:t>Evaluate performance</a:t>
            </a:r>
          </a:p>
        </p:txBody>
      </p:sp>
    </p:spTree>
    <p:extLst>
      <p:ext uri="{BB962C8B-B14F-4D97-AF65-F5344CB8AC3E}">
        <p14:creationId xmlns:p14="http://schemas.microsoft.com/office/powerpoint/2010/main" val="58619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/>
          <p:cNvSpPr txBox="1">
            <a:spLocks/>
          </p:cNvSpPr>
          <p:nvPr/>
        </p:nvSpPr>
        <p:spPr>
          <a:xfrm>
            <a:off x="579549" y="399245"/>
            <a:ext cx="10985680" cy="6104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Preprocessing – Missing values</a:t>
            </a:r>
          </a:p>
          <a:p>
            <a:pPr lvl="1"/>
            <a:r>
              <a:rPr lang="en-US" sz="2400" dirty="0" smtClean="0"/>
              <a:t>Age: ideas?</a:t>
            </a:r>
          </a:p>
          <a:p>
            <a:pPr lvl="1"/>
            <a:r>
              <a:rPr lang="en-US" sz="2400" dirty="0" smtClean="0"/>
              <a:t>Let’s try the easiest way</a:t>
            </a:r>
          </a:p>
          <a:p>
            <a:pPr lvl="1"/>
            <a:r>
              <a:rPr lang="en-US" sz="2400" dirty="0"/>
              <a:t>missing &lt;- is.na(</a:t>
            </a:r>
            <a:r>
              <a:rPr lang="en-US" sz="2400" dirty="0" err="1"/>
              <a:t>dataset$Age</a:t>
            </a:r>
            <a:r>
              <a:rPr lang="en-US" sz="2400" dirty="0" smtClean="0"/>
              <a:t>)	# is.na() is like </a:t>
            </a:r>
            <a:r>
              <a:rPr lang="en-US" sz="2400" dirty="0" err="1" smtClean="0"/>
              <a:t>isnull</a:t>
            </a:r>
            <a:endParaRPr lang="en-US" sz="2400" dirty="0" smtClean="0"/>
          </a:p>
          <a:p>
            <a:pPr lvl="1"/>
            <a:r>
              <a:rPr lang="en-US" sz="2400" dirty="0" err="1"/>
              <a:t>mean.age</a:t>
            </a:r>
            <a:r>
              <a:rPr lang="en-US" sz="2400" dirty="0"/>
              <a:t> &lt;- mean(</a:t>
            </a:r>
            <a:r>
              <a:rPr lang="en-US" sz="2400" dirty="0" err="1"/>
              <a:t>dataset$Age</a:t>
            </a:r>
            <a:r>
              <a:rPr lang="en-US" sz="2400" dirty="0"/>
              <a:t>[!missing</a:t>
            </a:r>
            <a:r>
              <a:rPr lang="en-US" sz="2400" dirty="0" smtClean="0"/>
              <a:t>])	# Find out mean age</a:t>
            </a:r>
          </a:p>
          <a:p>
            <a:pPr lvl="1"/>
            <a:r>
              <a:rPr lang="en-US" sz="2400" dirty="0" err="1"/>
              <a:t>dataset$Age</a:t>
            </a:r>
            <a:r>
              <a:rPr lang="en-US" sz="2400" dirty="0"/>
              <a:t>[missing] &lt;- </a:t>
            </a:r>
            <a:r>
              <a:rPr lang="en-US" sz="2400" dirty="0" err="1" smtClean="0"/>
              <a:t>mean.age</a:t>
            </a:r>
            <a:r>
              <a:rPr lang="en-US" sz="2400" dirty="0" smtClean="0"/>
              <a:t>	# Fill missing values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 smtClean="0"/>
              <a:t>Embarked: quite easy</a:t>
            </a:r>
          </a:p>
          <a:p>
            <a:pPr lvl="1"/>
            <a:r>
              <a:rPr lang="en-US" sz="2400" dirty="0" smtClean="0"/>
              <a:t>Check missing records</a:t>
            </a:r>
            <a:r>
              <a:rPr lang="en-US" sz="2400" dirty="0"/>
              <a:t>: dataset[</a:t>
            </a:r>
            <a:r>
              <a:rPr lang="en-US" sz="2400" dirty="0" err="1"/>
              <a:t>dataset$Embarked</a:t>
            </a:r>
            <a:r>
              <a:rPr lang="en-US" sz="2400" dirty="0"/>
              <a:t> == </a:t>
            </a:r>
            <a:r>
              <a:rPr lang="en-US" sz="2400" dirty="0" smtClean="0"/>
              <a:t>'',]</a:t>
            </a:r>
          </a:p>
          <a:p>
            <a:pPr lvl="1"/>
            <a:r>
              <a:rPr lang="en-US" sz="2400" dirty="0"/>
              <a:t>Make distribution </a:t>
            </a:r>
            <a:r>
              <a:rPr lang="en-US" sz="2400" dirty="0" smtClean="0"/>
              <a:t>table: </a:t>
            </a:r>
            <a:r>
              <a:rPr lang="en-US" sz="2400" dirty="0"/>
              <a:t>table(</a:t>
            </a:r>
            <a:r>
              <a:rPr lang="en-US" sz="2400" dirty="0" err="1"/>
              <a:t>dataset$Embarked</a:t>
            </a:r>
            <a:r>
              <a:rPr lang="en-US" sz="2400" dirty="0" smtClean="0"/>
              <a:t>)</a:t>
            </a:r>
          </a:p>
          <a:p>
            <a:pPr lvl="1"/>
            <a:r>
              <a:rPr lang="en-US" sz="2400" dirty="0" smtClean="0"/>
              <a:t>Fill the missing</a:t>
            </a:r>
            <a:r>
              <a:rPr lang="en-US" sz="2400" dirty="0"/>
              <a:t>: </a:t>
            </a:r>
            <a:r>
              <a:rPr lang="en-US" sz="2400" dirty="0" err="1"/>
              <a:t>dataset$Embarked</a:t>
            </a:r>
            <a:r>
              <a:rPr lang="en-US" sz="2400" dirty="0"/>
              <a:t>[</a:t>
            </a:r>
            <a:r>
              <a:rPr lang="en-US" sz="2400" dirty="0" err="1"/>
              <a:t>dataset$Embarked</a:t>
            </a:r>
            <a:r>
              <a:rPr lang="en-US" sz="2400" dirty="0"/>
              <a:t> == ''] &lt;- 'S'</a:t>
            </a:r>
          </a:p>
          <a:p>
            <a:pPr lvl="1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1193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/>
          <p:cNvSpPr txBox="1">
            <a:spLocks/>
          </p:cNvSpPr>
          <p:nvPr/>
        </p:nvSpPr>
        <p:spPr>
          <a:xfrm>
            <a:off x="579549" y="399245"/>
            <a:ext cx="10985680" cy="6104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Preprocessing – Discretization</a:t>
            </a:r>
          </a:p>
          <a:p>
            <a:pPr lvl="1"/>
            <a:r>
              <a:rPr lang="en-US" sz="2400" dirty="0" smtClean="0"/>
              <a:t>Age and Fare can be Discretized</a:t>
            </a:r>
          </a:p>
          <a:p>
            <a:r>
              <a:rPr lang="en-US" sz="2600" dirty="0" smtClean="0"/>
              <a:t>But before that…</a:t>
            </a:r>
            <a:endParaRPr lang="en-US" sz="2400" dirty="0"/>
          </a:p>
          <a:p>
            <a:pPr lvl="1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03702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59436" y="3070466"/>
            <a:ext cx="97581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/>
              <a:t>Pause</a:t>
            </a:r>
            <a:r>
              <a:rPr lang="en-US" sz="4000" dirty="0"/>
              <a:t>! We missed something </a:t>
            </a:r>
            <a:r>
              <a:rPr lang="en-US" sz="4000" dirty="0" smtClean="0"/>
              <a:t>important…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8304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/>
          <p:cNvSpPr txBox="1">
            <a:spLocks/>
          </p:cNvSpPr>
          <p:nvPr/>
        </p:nvSpPr>
        <p:spPr>
          <a:xfrm>
            <a:off x="579549" y="399245"/>
            <a:ext cx="10985680" cy="6104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Apply</a:t>
            </a:r>
            <a:r>
              <a:rPr lang="en-US" sz="3200" dirty="0"/>
              <a:t>()</a:t>
            </a:r>
          </a:p>
          <a:p>
            <a:pPr lvl="1"/>
            <a:r>
              <a:rPr lang="en-US" sz="2400" dirty="0" smtClean="0"/>
              <a:t>These functions </a:t>
            </a:r>
            <a:r>
              <a:rPr lang="en-US" sz="2400" dirty="0"/>
              <a:t>are like loops that traverse and apply some function to each element in a vector/array/matrix</a:t>
            </a:r>
          </a:p>
          <a:p>
            <a:pPr lvl="1"/>
            <a:r>
              <a:rPr lang="en-US" sz="2400" dirty="0"/>
              <a:t>apply(): used when dealing with matrix or array</a:t>
            </a:r>
          </a:p>
          <a:p>
            <a:pPr lvl="1"/>
            <a:r>
              <a:rPr lang="en-US" sz="2400" dirty="0"/>
              <a:t>m &lt;- matrix(1:4, 2, 2)	# Create a 2x2 matrix with values ranging from 1-4</a:t>
            </a:r>
          </a:p>
          <a:p>
            <a:pPr lvl="1"/>
            <a:r>
              <a:rPr lang="en-US" sz="2400" dirty="0"/>
              <a:t>apply(m, 2, mean)	# Calculate means of dimension 2 (columns)</a:t>
            </a:r>
          </a:p>
          <a:p>
            <a:pPr lvl="1"/>
            <a:r>
              <a:rPr lang="en-US" sz="2400" dirty="0"/>
              <a:t>apply(m, 1, sum);	# Calculate sums of dimension 1 (rows)</a:t>
            </a:r>
          </a:p>
          <a:p>
            <a:pPr lvl="1"/>
            <a:r>
              <a:rPr lang="en-US" sz="2400" dirty="0"/>
              <a:t>What about our own function?</a:t>
            </a:r>
          </a:p>
          <a:p>
            <a:pPr lvl="1"/>
            <a:r>
              <a:rPr lang="en-US" sz="2400" dirty="0"/>
              <a:t>apply(m, 1, function(x) {x*x})	# Square each </a:t>
            </a:r>
            <a:r>
              <a:rPr lang="en-US" sz="2400" dirty="0" smtClean="0"/>
              <a:t>element</a:t>
            </a:r>
            <a:endParaRPr lang="en-US" sz="2400" dirty="0"/>
          </a:p>
          <a:p>
            <a:pPr lvl="2"/>
            <a:r>
              <a:rPr lang="en-US" sz="2200" dirty="0" smtClean="0"/>
              <a:t>Tip: change the dimension to 2 and try to figure out what’s happening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13411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/>
          <p:cNvSpPr txBox="1">
            <a:spLocks/>
          </p:cNvSpPr>
          <p:nvPr/>
        </p:nvSpPr>
        <p:spPr>
          <a:xfrm>
            <a:off x="579549" y="399245"/>
            <a:ext cx="10985680" cy="6104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More: </a:t>
            </a:r>
            <a:r>
              <a:rPr lang="en-US" sz="3200" dirty="0" err="1" smtClean="0"/>
              <a:t>lapply</a:t>
            </a:r>
            <a:r>
              <a:rPr lang="en-US" sz="3200" dirty="0" smtClean="0"/>
              <a:t>() and </a:t>
            </a:r>
            <a:r>
              <a:rPr lang="en-US" sz="3200" dirty="0" err="1" smtClean="0"/>
              <a:t>sapply</a:t>
            </a:r>
            <a:r>
              <a:rPr lang="en-US" sz="3200" dirty="0" smtClean="0"/>
              <a:t>()</a:t>
            </a:r>
          </a:p>
          <a:p>
            <a:pPr lvl="1"/>
            <a:r>
              <a:rPr lang="en-US" sz="2400" dirty="0" smtClean="0"/>
              <a:t>Both are designed to traverse on vectors and lists</a:t>
            </a:r>
          </a:p>
          <a:p>
            <a:pPr lvl="1"/>
            <a:r>
              <a:rPr lang="en-US" sz="2400" dirty="0" smtClean="0"/>
              <a:t>Difference! </a:t>
            </a:r>
            <a:r>
              <a:rPr lang="en-US" sz="2400" dirty="0" err="1" smtClean="0"/>
              <a:t>lapply</a:t>
            </a:r>
            <a:r>
              <a:rPr lang="en-US" sz="2400" dirty="0" smtClean="0"/>
              <a:t>() returns a list and </a:t>
            </a:r>
            <a:r>
              <a:rPr lang="en-US" sz="2400" dirty="0" err="1" smtClean="0"/>
              <a:t>sapply</a:t>
            </a:r>
            <a:r>
              <a:rPr lang="en-US" sz="2400" dirty="0" smtClean="0"/>
              <a:t>() gives a vector</a:t>
            </a:r>
          </a:p>
          <a:p>
            <a:pPr lvl="1"/>
            <a:r>
              <a:rPr lang="en-US" sz="2400" dirty="0" err="1" smtClean="0"/>
              <a:t>vec</a:t>
            </a:r>
            <a:r>
              <a:rPr lang="en-US" sz="2400" dirty="0" smtClean="0"/>
              <a:t> </a:t>
            </a:r>
            <a:r>
              <a:rPr lang="en-US" sz="2400" dirty="0"/>
              <a:t>&lt;- </a:t>
            </a:r>
            <a:r>
              <a:rPr lang="en-US" sz="2400" dirty="0" err="1"/>
              <a:t>seq</a:t>
            </a:r>
            <a:r>
              <a:rPr lang="en-US" sz="2400" dirty="0"/>
              <a:t>(from=0, </a:t>
            </a:r>
            <a:r>
              <a:rPr lang="en-US" sz="2400" dirty="0" smtClean="0"/>
              <a:t>to=180</a:t>
            </a:r>
            <a:r>
              <a:rPr lang="en-US" sz="2400" dirty="0"/>
              <a:t>, by=30)</a:t>
            </a:r>
            <a:endParaRPr lang="en-US" sz="2400" dirty="0" smtClean="0"/>
          </a:p>
          <a:p>
            <a:pPr lvl="1"/>
            <a:r>
              <a:rPr lang="en-US" sz="2400" dirty="0" err="1"/>
              <a:t>sapply</a:t>
            </a:r>
            <a:r>
              <a:rPr lang="en-US" sz="2400" dirty="0"/>
              <a:t>(</a:t>
            </a:r>
            <a:r>
              <a:rPr lang="en-US" sz="2400" dirty="0" err="1"/>
              <a:t>vec</a:t>
            </a:r>
            <a:r>
              <a:rPr lang="en-US" sz="2400" dirty="0"/>
              <a:t>, function(x) </a:t>
            </a:r>
            <a:r>
              <a:rPr lang="en-US" sz="2400" dirty="0" smtClean="0"/>
              <a:t>cos(x))		# Gives a vector of 7 values</a:t>
            </a:r>
          </a:p>
          <a:p>
            <a:pPr lvl="1"/>
            <a:r>
              <a:rPr lang="en-US" sz="2400" dirty="0" err="1" smtClean="0"/>
              <a:t>lapply</a:t>
            </a:r>
            <a:r>
              <a:rPr lang="en-US" sz="2400" dirty="0" smtClean="0"/>
              <a:t>(</a:t>
            </a:r>
            <a:r>
              <a:rPr lang="en-US" sz="2400" dirty="0" err="1" smtClean="0"/>
              <a:t>vec</a:t>
            </a:r>
            <a:r>
              <a:rPr lang="en-US" sz="2400" dirty="0"/>
              <a:t>, function(x) cos(x</a:t>
            </a:r>
            <a:r>
              <a:rPr lang="en-US" sz="2400" dirty="0" smtClean="0"/>
              <a:t>))		# Gives 7 lists of 1 value each</a:t>
            </a:r>
          </a:p>
          <a:p>
            <a:pPr lvl="1"/>
            <a:r>
              <a:rPr lang="en-US" sz="2400" dirty="0" smtClean="0"/>
              <a:t>You can forget that </a:t>
            </a:r>
            <a:r>
              <a:rPr lang="en-US" sz="2400" dirty="0" err="1" smtClean="0"/>
              <a:t>sapply</a:t>
            </a:r>
            <a:r>
              <a:rPr lang="en-US" sz="2400" dirty="0" smtClean="0"/>
              <a:t>() even exists if you use </a:t>
            </a:r>
            <a:r>
              <a:rPr lang="en-US" sz="2400" dirty="0" err="1" smtClean="0"/>
              <a:t>unlist</a:t>
            </a:r>
            <a:r>
              <a:rPr lang="en-US" sz="2400" dirty="0" smtClean="0"/>
              <a:t>(</a:t>
            </a:r>
            <a:r>
              <a:rPr lang="en-US" sz="2400" dirty="0" err="1" smtClean="0"/>
              <a:t>lapply</a:t>
            </a:r>
            <a:r>
              <a:rPr lang="en-US" sz="2400" dirty="0" smtClean="0"/>
              <a:t>()), which will turn the list into a vector</a:t>
            </a:r>
          </a:p>
          <a:p>
            <a:pPr marL="274320" lvl="1" indent="0">
              <a:buNone/>
            </a:pPr>
            <a:endParaRPr lang="en-US" sz="2400" dirty="0" smtClean="0"/>
          </a:p>
          <a:p>
            <a:pPr lvl="1"/>
            <a:r>
              <a:rPr lang="en-US" sz="2400" dirty="0" smtClean="0"/>
              <a:t>Now guess what the lines below would do?</a:t>
            </a:r>
          </a:p>
          <a:p>
            <a:pPr lvl="1"/>
            <a:r>
              <a:rPr lang="en-US" sz="2400" dirty="0" smtClean="0"/>
              <a:t>ages &lt;- </a:t>
            </a:r>
            <a:r>
              <a:rPr lang="en-US" sz="2400" dirty="0" err="1" smtClean="0"/>
              <a:t>dataset$Age</a:t>
            </a:r>
            <a:endParaRPr lang="en-US" sz="2400" dirty="0" smtClean="0"/>
          </a:p>
          <a:p>
            <a:pPr lvl="1"/>
            <a:r>
              <a:rPr lang="en-US" sz="2400" dirty="0" err="1" smtClean="0"/>
              <a:t>sapply</a:t>
            </a:r>
            <a:r>
              <a:rPr lang="en-US" sz="2400" dirty="0" smtClean="0"/>
              <a:t>(ages, </a:t>
            </a:r>
            <a:r>
              <a:rPr lang="en-US" sz="2400" dirty="0"/>
              <a:t>function(x) { if(x &lt;= 10) 'C' else if(x &gt; 40) 'O' else 'Y' </a:t>
            </a:r>
            <a:r>
              <a:rPr lang="en-US" sz="2400" dirty="0" smtClean="0"/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391717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/>
          <p:cNvSpPr txBox="1">
            <a:spLocks/>
          </p:cNvSpPr>
          <p:nvPr/>
        </p:nvSpPr>
        <p:spPr>
          <a:xfrm>
            <a:off x="579549" y="399245"/>
            <a:ext cx="10985680" cy="6104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More: </a:t>
            </a:r>
            <a:r>
              <a:rPr lang="en-US" sz="3200" dirty="0" err="1" smtClean="0"/>
              <a:t>lapply</a:t>
            </a:r>
            <a:r>
              <a:rPr lang="en-US" sz="3200" dirty="0" smtClean="0"/>
              <a:t>() and </a:t>
            </a:r>
            <a:r>
              <a:rPr lang="en-US" sz="3200" dirty="0" err="1" smtClean="0"/>
              <a:t>sapply</a:t>
            </a:r>
            <a:r>
              <a:rPr lang="en-US" sz="3200" dirty="0" smtClean="0"/>
              <a:t>()</a:t>
            </a:r>
          </a:p>
          <a:p>
            <a:r>
              <a:rPr lang="en-US" sz="2800" dirty="0" smtClean="0"/>
              <a:t>Why apply() when we have loops?</a:t>
            </a:r>
          </a:p>
          <a:p>
            <a:pPr lvl="1"/>
            <a:r>
              <a:rPr lang="en-US" sz="2400" dirty="0" smtClean="0"/>
              <a:t>Save lines of code</a:t>
            </a:r>
          </a:p>
          <a:p>
            <a:pPr lvl="1"/>
            <a:r>
              <a:rPr lang="en-US" sz="2400" dirty="0" smtClean="0"/>
              <a:t>Lambda functions (Lambda expressions in Java &amp; C#)</a:t>
            </a:r>
          </a:p>
          <a:p>
            <a:pPr lvl="1"/>
            <a:r>
              <a:rPr lang="en-US" sz="2400" dirty="0" smtClean="0"/>
              <a:t>Parallel vs Serial Processing</a:t>
            </a:r>
          </a:p>
          <a:p>
            <a:pPr lvl="1"/>
            <a:r>
              <a:rPr lang="en-US" sz="2400" dirty="0" smtClean="0"/>
              <a:t>Finally! Aren’t they cool?</a:t>
            </a:r>
          </a:p>
          <a:p>
            <a:r>
              <a:rPr lang="en-US" sz="2600" dirty="0" smtClean="0"/>
              <a:t>There are even more:</a:t>
            </a:r>
          </a:p>
          <a:p>
            <a:pPr lvl="1"/>
            <a:r>
              <a:rPr lang="en-US" sz="2400" dirty="0" err="1" smtClean="0"/>
              <a:t>vapply</a:t>
            </a:r>
            <a:r>
              <a:rPr lang="en-US" sz="2400" dirty="0" smtClean="0"/>
              <a:t>() is especially for vectors and is faster</a:t>
            </a:r>
          </a:p>
          <a:p>
            <a:pPr lvl="1"/>
            <a:r>
              <a:rPr lang="en-US" sz="2400" dirty="0" err="1" smtClean="0"/>
              <a:t>mapply</a:t>
            </a:r>
            <a:r>
              <a:rPr lang="en-US" sz="2400" dirty="0" smtClean="0"/>
              <a:t>() </a:t>
            </a:r>
            <a:r>
              <a:rPr lang="en-US" sz="2400" dirty="0" err="1" smtClean="0"/>
              <a:t>multivariative</a:t>
            </a:r>
            <a:r>
              <a:rPr lang="en-US" sz="2400" dirty="0" smtClean="0"/>
              <a:t>, i.e. when the function accepts multiple </a:t>
            </a:r>
            <a:r>
              <a:rPr lang="en-US" sz="2400" dirty="0" err="1" smtClean="0"/>
              <a:t>arguemnts</a:t>
            </a:r>
            <a:endParaRPr lang="en-US" sz="2400" dirty="0" smtClean="0"/>
          </a:p>
          <a:p>
            <a:pPr lvl="1"/>
            <a:r>
              <a:rPr lang="en-US" sz="2400" dirty="0" err="1" smtClean="0"/>
              <a:t>rapply</a:t>
            </a:r>
            <a:r>
              <a:rPr lang="en-US" sz="2400" dirty="0" smtClean="0"/>
              <a:t>() runs recursively on nested lists/vectors</a:t>
            </a:r>
          </a:p>
          <a:p>
            <a:pPr lvl="1"/>
            <a:r>
              <a:rPr lang="en-US" sz="2400" dirty="0" err="1" smtClean="0"/>
              <a:t>tapply</a:t>
            </a:r>
            <a:r>
              <a:rPr lang="en-US" sz="2400" dirty="0" smtClean="0"/>
              <a:t>() to apply a function to subsets of a vector that are defined by some other vector</a:t>
            </a:r>
            <a:endParaRPr lang="en-US" sz="2400" dirty="0"/>
          </a:p>
          <a:p>
            <a:pPr lvl="1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7767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/>
          <p:cNvSpPr txBox="1">
            <a:spLocks/>
          </p:cNvSpPr>
          <p:nvPr/>
        </p:nvSpPr>
        <p:spPr>
          <a:xfrm>
            <a:off x="579549" y="399245"/>
            <a:ext cx="10985680" cy="6104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Resume! Preprocessing – Discretization</a:t>
            </a:r>
          </a:p>
          <a:p>
            <a:r>
              <a:rPr lang="en-US" sz="2600" dirty="0" smtClean="0"/>
              <a:t>Age and Fare can be Discretized</a:t>
            </a:r>
            <a:endParaRPr lang="en-US" sz="2600" dirty="0"/>
          </a:p>
          <a:p>
            <a:r>
              <a:rPr lang="en-US" sz="2600" dirty="0" smtClean="0"/>
              <a:t>Discretizing Age using </a:t>
            </a:r>
            <a:r>
              <a:rPr lang="en-US" sz="2600" dirty="0" err="1" smtClean="0"/>
              <a:t>sapply</a:t>
            </a:r>
            <a:r>
              <a:rPr lang="en-US" sz="2600" dirty="0" smtClean="0"/>
              <a:t>()</a:t>
            </a:r>
          </a:p>
          <a:p>
            <a:pPr lvl="1"/>
            <a:r>
              <a:rPr lang="en-US" sz="2400" dirty="0" smtClean="0"/>
              <a:t>Let’s say &lt; 13 are children, &gt; 40 are old and the rest are young</a:t>
            </a:r>
          </a:p>
          <a:p>
            <a:pPr lvl="1"/>
            <a:r>
              <a:rPr lang="en-US" sz="2200" dirty="0" err="1" smtClean="0"/>
              <a:t>ages.disc</a:t>
            </a:r>
            <a:r>
              <a:rPr lang="en-US" sz="2200" dirty="0" smtClean="0"/>
              <a:t> &lt;- </a:t>
            </a:r>
            <a:r>
              <a:rPr lang="en-US" sz="2200" dirty="0" err="1" smtClean="0"/>
              <a:t>sapply</a:t>
            </a:r>
            <a:r>
              <a:rPr lang="en-US" sz="2200" dirty="0" smtClean="0"/>
              <a:t>(</a:t>
            </a:r>
            <a:r>
              <a:rPr lang="en-US" sz="2200" dirty="0" err="1" smtClean="0"/>
              <a:t>dataset$Age</a:t>
            </a:r>
            <a:r>
              <a:rPr lang="en-US" sz="2200" dirty="0" smtClean="0"/>
              <a:t>, </a:t>
            </a:r>
            <a:r>
              <a:rPr lang="en-US" sz="2200" dirty="0"/>
              <a:t>function(x) </a:t>
            </a:r>
            <a:r>
              <a:rPr lang="en-US" sz="2200" dirty="0" smtClean="0"/>
              <a:t>{if(x&lt;13) </a:t>
            </a:r>
            <a:r>
              <a:rPr lang="en-US" sz="2200" dirty="0"/>
              <a:t>'C' else </a:t>
            </a:r>
            <a:r>
              <a:rPr lang="en-US" sz="2200" dirty="0" smtClean="0"/>
              <a:t>if(x&gt;40</a:t>
            </a:r>
            <a:r>
              <a:rPr lang="en-US" sz="2200" dirty="0"/>
              <a:t>) 'O' else 'Y</a:t>
            </a:r>
            <a:r>
              <a:rPr lang="en-US" sz="2200" dirty="0" smtClean="0"/>
              <a:t>'})</a:t>
            </a:r>
            <a:endParaRPr lang="en-US" sz="2200" dirty="0"/>
          </a:p>
          <a:p>
            <a:pPr lvl="1"/>
            <a:r>
              <a:rPr lang="en-US" sz="2400" dirty="0" err="1" smtClean="0"/>
              <a:t>dataset$Age</a:t>
            </a:r>
            <a:r>
              <a:rPr lang="en-US" sz="2400" dirty="0" smtClean="0"/>
              <a:t> </a:t>
            </a:r>
            <a:r>
              <a:rPr lang="en-US" sz="2400" dirty="0"/>
              <a:t>&lt;- ages</a:t>
            </a:r>
          </a:p>
          <a:p>
            <a:r>
              <a:rPr lang="en-US" sz="2600" dirty="0" smtClean="0"/>
              <a:t>Fare:</a:t>
            </a:r>
            <a:r>
              <a:rPr lang="en-US" sz="2400" dirty="0"/>
              <a:t> </a:t>
            </a:r>
            <a:r>
              <a:rPr lang="en-US" sz="2400" dirty="0" smtClean="0"/>
              <a:t>I leave it to you with a hint – summary()</a:t>
            </a:r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99481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/>
          <p:cNvSpPr txBox="1">
            <a:spLocks/>
          </p:cNvSpPr>
          <p:nvPr/>
        </p:nvSpPr>
        <p:spPr>
          <a:xfrm>
            <a:off x="579549" y="399245"/>
            <a:ext cx="10985680" cy="6104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Applying Model(s) – Decision Tree</a:t>
            </a:r>
          </a:p>
          <a:p>
            <a:pPr lvl="1"/>
            <a:r>
              <a:rPr lang="en-US" sz="2400" dirty="0" smtClean="0"/>
              <a:t>Recursive Partitioning: </a:t>
            </a:r>
            <a:r>
              <a:rPr lang="en-US" sz="2400" dirty="0" err="1" smtClean="0"/>
              <a:t>rpart</a:t>
            </a:r>
            <a:r>
              <a:rPr lang="en-US" sz="2400" dirty="0"/>
              <a:t> (</a:t>
            </a:r>
            <a:r>
              <a:rPr lang="en-US" sz="2400" dirty="0">
                <a:hlinkClick r:id="rId2"/>
              </a:rPr>
              <a:t>http://</a:t>
            </a:r>
            <a:r>
              <a:rPr lang="en-US" sz="2400" dirty="0" smtClean="0">
                <a:hlinkClick r:id="rId2"/>
              </a:rPr>
              <a:t>www.mayo.edu/hsr/techrpt/61.pdf</a:t>
            </a:r>
            <a:r>
              <a:rPr lang="en-US" sz="2400" dirty="0" smtClean="0"/>
              <a:t>)</a:t>
            </a:r>
            <a:endParaRPr lang="en-US" sz="2400" dirty="0"/>
          </a:p>
          <a:p>
            <a:pPr lvl="1"/>
            <a:r>
              <a:rPr lang="en-US" sz="2400" dirty="0" smtClean="0"/>
              <a:t>Load the package: library(</a:t>
            </a:r>
            <a:r>
              <a:rPr lang="en-US" sz="2400" dirty="0" err="1" smtClean="0"/>
              <a:t>rpart</a:t>
            </a:r>
            <a:r>
              <a:rPr lang="en-US" sz="2400" dirty="0" smtClean="0"/>
              <a:t>)</a:t>
            </a:r>
          </a:p>
          <a:p>
            <a:pPr lvl="1"/>
            <a:r>
              <a:rPr lang="en-US" sz="2400" dirty="0" smtClean="0"/>
              <a:t>Find the best fit</a:t>
            </a:r>
          </a:p>
          <a:p>
            <a:pPr lvl="1"/>
            <a:r>
              <a:rPr lang="en-US" sz="2400" dirty="0" err="1"/>
              <a:t>rp_fit</a:t>
            </a:r>
            <a:r>
              <a:rPr lang="en-US" sz="2400" dirty="0"/>
              <a:t> &lt;- </a:t>
            </a:r>
            <a:r>
              <a:rPr lang="en-US" sz="2400" dirty="0" err="1"/>
              <a:t>rpart</a:t>
            </a:r>
            <a:r>
              <a:rPr lang="en-US" sz="2400" dirty="0"/>
              <a:t>(Survived ~ </a:t>
            </a:r>
            <a:r>
              <a:rPr lang="en-US" sz="2400" dirty="0" err="1"/>
              <a:t>Pclass</a:t>
            </a:r>
            <a:r>
              <a:rPr lang="en-US" sz="2400" dirty="0"/>
              <a:t> + Sex + Age + Fare + Embarked + </a:t>
            </a:r>
            <a:r>
              <a:rPr lang="en-US" sz="2400" dirty="0" err="1"/>
              <a:t>SibSp</a:t>
            </a:r>
            <a:r>
              <a:rPr lang="en-US" sz="2400" dirty="0"/>
              <a:t> + Parch, data=dataset, method="class</a:t>
            </a:r>
            <a:r>
              <a:rPr lang="en-US" sz="2400" dirty="0" smtClean="0"/>
              <a:t>")</a:t>
            </a:r>
          </a:p>
          <a:p>
            <a:pPr lvl="1"/>
            <a:r>
              <a:rPr lang="en-US" sz="2400" dirty="0" smtClean="0"/>
              <a:t>To visualize the tree, we will use </a:t>
            </a:r>
            <a:r>
              <a:rPr lang="en-US" sz="2400" dirty="0" err="1" smtClean="0"/>
              <a:t>fancyRPlot</a:t>
            </a:r>
            <a:r>
              <a:rPr lang="en-US" sz="2400" dirty="0" smtClean="0"/>
              <a:t> package</a:t>
            </a:r>
          </a:p>
          <a:p>
            <a:pPr lvl="2"/>
            <a:r>
              <a:rPr lang="en-US" sz="2200" dirty="0" smtClean="0"/>
              <a:t>library(</a:t>
            </a:r>
            <a:r>
              <a:rPr lang="en-US" sz="2200" dirty="0" err="1" smtClean="0"/>
              <a:t>rpart.plot</a:t>
            </a:r>
            <a:r>
              <a:rPr lang="en-US" sz="2200" dirty="0"/>
              <a:t>)</a:t>
            </a:r>
          </a:p>
          <a:p>
            <a:pPr lvl="2"/>
            <a:r>
              <a:rPr lang="en-US" sz="2200" dirty="0"/>
              <a:t>library(rattle)</a:t>
            </a:r>
          </a:p>
          <a:p>
            <a:pPr lvl="2"/>
            <a:r>
              <a:rPr lang="en-US" sz="2200" dirty="0"/>
              <a:t>library(</a:t>
            </a:r>
            <a:r>
              <a:rPr lang="en-US" sz="2200" dirty="0" err="1"/>
              <a:t>RColorBrewer</a:t>
            </a:r>
            <a:r>
              <a:rPr lang="en-US" sz="2200" dirty="0"/>
              <a:t>)</a:t>
            </a:r>
          </a:p>
          <a:p>
            <a:pPr lvl="2"/>
            <a:r>
              <a:rPr lang="en-US" sz="2200" dirty="0" err="1"/>
              <a:t>fancyRpartPlot</a:t>
            </a:r>
            <a:r>
              <a:rPr lang="en-US" sz="2200" dirty="0"/>
              <a:t>(</a:t>
            </a:r>
            <a:r>
              <a:rPr lang="en-US" sz="2200" dirty="0" err="1"/>
              <a:t>rp_fit</a:t>
            </a:r>
            <a:r>
              <a:rPr lang="en-US" sz="2200" dirty="0"/>
              <a:t>)</a:t>
            </a:r>
          </a:p>
          <a:p>
            <a:pPr lvl="1"/>
            <a:endParaRPr lang="en-US" sz="2400" dirty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28656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/>
          <p:cNvSpPr txBox="1">
            <a:spLocks/>
          </p:cNvSpPr>
          <p:nvPr/>
        </p:nvSpPr>
        <p:spPr>
          <a:xfrm>
            <a:off x="579549" y="399245"/>
            <a:ext cx="10985680" cy="6104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Applying Model(s) – Decision Tree</a:t>
            </a:r>
          </a:p>
          <a:p>
            <a:pPr lvl="1"/>
            <a:r>
              <a:rPr lang="en-US" sz="2600" dirty="0" smtClean="0"/>
              <a:t>Validating the model</a:t>
            </a:r>
          </a:p>
          <a:p>
            <a:pPr lvl="2"/>
            <a:r>
              <a:rPr lang="en-US" sz="2200" dirty="0" smtClean="0"/>
              <a:t>Split validation</a:t>
            </a:r>
          </a:p>
          <a:p>
            <a:pPr lvl="2"/>
            <a:r>
              <a:rPr lang="en-US" sz="2200" dirty="0" smtClean="0"/>
              <a:t>Bootstrapping</a:t>
            </a:r>
          </a:p>
          <a:p>
            <a:pPr lvl="2"/>
            <a:r>
              <a:rPr lang="en-US" sz="2200" dirty="0"/>
              <a:t>K-fold validation</a:t>
            </a:r>
          </a:p>
          <a:p>
            <a:pPr lvl="2"/>
            <a:r>
              <a:rPr lang="en-US" sz="2200" dirty="0" smtClean="0"/>
              <a:t>Cross validation</a:t>
            </a:r>
          </a:p>
          <a:p>
            <a:pPr lvl="1"/>
            <a:r>
              <a:rPr lang="en-US" sz="2600" dirty="0" smtClean="0"/>
              <a:t>We’ll use split validation here</a:t>
            </a:r>
          </a:p>
          <a:p>
            <a:pPr lvl="2"/>
            <a:r>
              <a:rPr lang="en-US" sz="2200" dirty="0" smtClean="0"/>
              <a:t>Say, we break the training set into 80-20 partitions</a:t>
            </a:r>
          </a:p>
          <a:p>
            <a:pPr lvl="2"/>
            <a:r>
              <a:rPr lang="en-US" sz="2200" dirty="0" smtClean="0"/>
              <a:t>Pick 20% rows at random from dataset: </a:t>
            </a:r>
            <a:r>
              <a:rPr lang="en-US" sz="2200" dirty="0" err="1" smtClean="0"/>
              <a:t>random.rows</a:t>
            </a:r>
            <a:r>
              <a:rPr lang="en-US" sz="2200" dirty="0" smtClean="0"/>
              <a:t> </a:t>
            </a:r>
            <a:r>
              <a:rPr lang="en-US" sz="2200" dirty="0"/>
              <a:t>&lt;- sample(1:nrow(dataset), round(</a:t>
            </a:r>
            <a:r>
              <a:rPr lang="en-US" sz="2200" dirty="0" err="1"/>
              <a:t>nrow</a:t>
            </a:r>
            <a:r>
              <a:rPr lang="en-US" sz="2200" dirty="0"/>
              <a:t>(dataset)/80), replace=FALSE</a:t>
            </a:r>
            <a:r>
              <a:rPr lang="en-US" sz="2200" dirty="0" smtClean="0"/>
              <a:t>)</a:t>
            </a:r>
          </a:p>
          <a:p>
            <a:pPr lvl="2"/>
            <a:r>
              <a:rPr lang="en-US" sz="2200" dirty="0" err="1"/>
              <a:t>testset</a:t>
            </a:r>
            <a:r>
              <a:rPr lang="en-US" sz="2200" dirty="0"/>
              <a:t> &lt;- dataset[</a:t>
            </a:r>
            <a:r>
              <a:rPr lang="en-US" sz="2200" dirty="0" err="1"/>
              <a:t>random.rows</a:t>
            </a:r>
            <a:r>
              <a:rPr lang="en-US" sz="2200" dirty="0"/>
              <a:t>,]</a:t>
            </a:r>
            <a:endParaRPr lang="en-US" sz="2200" dirty="0" smtClean="0"/>
          </a:p>
          <a:p>
            <a:pPr lvl="1"/>
            <a:r>
              <a:rPr lang="en-US" sz="2400" dirty="0" smtClean="0"/>
              <a:t>Now remove these test records from original dataset</a:t>
            </a:r>
          </a:p>
          <a:p>
            <a:pPr lvl="2"/>
            <a:r>
              <a:rPr lang="nb-NO" sz="2200" dirty="0"/>
              <a:t>dataset &lt;- subset(dataset, !(dataset$PassengerId %in% testset$PassengerId</a:t>
            </a:r>
            <a:r>
              <a:rPr lang="nb-NO" sz="2200" dirty="0" smtClean="0"/>
              <a:t>))</a:t>
            </a:r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55217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/>
          <p:cNvSpPr txBox="1">
            <a:spLocks/>
          </p:cNvSpPr>
          <p:nvPr/>
        </p:nvSpPr>
        <p:spPr>
          <a:xfrm>
            <a:off x="579549" y="399245"/>
            <a:ext cx="10985680" cy="6104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Applying Model(s) – Decision Tree</a:t>
            </a:r>
          </a:p>
          <a:p>
            <a:pPr lvl="1"/>
            <a:r>
              <a:rPr lang="en-US" sz="2400" dirty="0" smtClean="0"/>
              <a:t>Retrain the model on dataset</a:t>
            </a:r>
          </a:p>
          <a:p>
            <a:pPr lvl="1"/>
            <a:r>
              <a:rPr lang="en-US" sz="2400" dirty="0" smtClean="0"/>
              <a:t>Add a new column to test set, </a:t>
            </a:r>
            <a:r>
              <a:rPr lang="en-US" sz="2400" dirty="0" err="1" smtClean="0"/>
              <a:t>PredSurvived</a:t>
            </a:r>
            <a:endParaRPr lang="en-US" sz="2400" dirty="0"/>
          </a:p>
          <a:p>
            <a:pPr lvl="1"/>
            <a:r>
              <a:rPr lang="en-US" sz="2200" dirty="0" err="1"/>
              <a:t>testset$PredSurvived</a:t>
            </a:r>
            <a:r>
              <a:rPr lang="en-US" sz="2200" dirty="0"/>
              <a:t> &lt;- </a:t>
            </a:r>
            <a:r>
              <a:rPr lang="en-US" sz="2200" dirty="0" smtClean="0"/>
              <a:t>NULL</a:t>
            </a:r>
          </a:p>
          <a:p>
            <a:pPr lvl="1"/>
            <a:r>
              <a:rPr lang="en-US" sz="2200" dirty="0" smtClean="0"/>
              <a:t>Apply prediction model learnt to test dataset</a:t>
            </a:r>
          </a:p>
          <a:p>
            <a:pPr lvl="1"/>
            <a:r>
              <a:rPr lang="en-US" sz="2200" dirty="0" err="1"/>
              <a:t>testset$PredSurvived</a:t>
            </a:r>
            <a:r>
              <a:rPr lang="en-US" sz="2200" dirty="0"/>
              <a:t> &lt;- predict(</a:t>
            </a:r>
            <a:r>
              <a:rPr lang="en-US" sz="2200" dirty="0" err="1"/>
              <a:t>rp_fit</a:t>
            </a:r>
            <a:r>
              <a:rPr lang="en-US" sz="2200" dirty="0"/>
              <a:t>, </a:t>
            </a:r>
            <a:r>
              <a:rPr lang="en-US" sz="2200" dirty="0" err="1"/>
              <a:t>testset</a:t>
            </a:r>
            <a:r>
              <a:rPr lang="en-US" sz="2200" dirty="0"/>
              <a:t>, type="class")</a:t>
            </a:r>
          </a:p>
          <a:p>
            <a:pPr lvl="1"/>
            <a:r>
              <a:rPr lang="en-US" sz="2400" dirty="0" smtClean="0"/>
              <a:t>Match the Survived and </a:t>
            </a:r>
            <a:r>
              <a:rPr lang="en-US" sz="2400" dirty="0" err="1" smtClean="0"/>
              <a:t>PredSurvived</a:t>
            </a:r>
            <a:endParaRPr lang="en-US" sz="2400" dirty="0"/>
          </a:p>
          <a:p>
            <a:pPr lvl="1"/>
            <a:r>
              <a:rPr lang="en-US" sz="2400" dirty="0"/>
              <a:t>correct &lt;- </a:t>
            </a:r>
            <a:r>
              <a:rPr lang="en-US" sz="2400" dirty="0" err="1"/>
              <a:t>testset$PassengerId</a:t>
            </a:r>
            <a:r>
              <a:rPr lang="en-US" sz="2400" dirty="0"/>
              <a:t>[</a:t>
            </a:r>
            <a:r>
              <a:rPr lang="en-US" sz="2400" dirty="0" err="1"/>
              <a:t>testset$PredSurvived</a:t>
            </a:r>
            <a:r>
              <a:rPr lang="en-US" sz="2400" dirty="0"/>
              <a:t> == </a:t>
            </a:r>
            <a:r>
              <a:rPr lang="en-US" sz="2400" dirty="0" err="1"/>
              <a:t>testset$Survived</a:t>
            </a:r>
            <a:r>
              <a:rPr lang="en-US" sz="2400" dirty="0"/>
              <a:t>]</a:t>
            </a:r>
          </a:p>
          <a:p>
            <a:pPr lvl="1"/>
            <a:r>
              <a:rPr lang="en-US" sz="2400" dirty="0" smtClean="0"/>
              <a:t>What’s the accuracy of the model?</a:t>
            </a:r>
          </a:p>
          <a:p>
            <a:pPr lvl="1"/>
            <a:r>
              <a:rPr lang="en-US" sz="2400" dirty="0"/>
              <a:t>a</a:t>
            </a:r>
            <a:r>
              <a:rPr lang="en-US" sz="2400" dirty="0" smtClean="0"/>
              <a:t>ccuracy &lt;- length(correct</a:t>
            </a:r>
            <a:r>
              <a:rPr lang="en-US" sz="2400" dirty="0"/>
              <a:t>) / </a:t>
            </a:r>
            <a:r>
              <a:rPr lang="en-US" sz="2400" dirty="0" err="1"/>
              <a:t>nrow</a:t>
            </a:r>
            <a:r>
              <a:rPr lang="en-US" sz="2400" dirty="0"/>
              <a:t>(</a:t>
            </a:r>
            <a:r>
              <a:rPr lang="en-US" sz="2400" dirty="0" err="1"/>
              <a:t>testset</a:t>
            </a:r>
            <a:r>
              <a:rPr lang="en-US" sz="2400" dirty="0" smtClean="0"/>
              <a:t>)</a:t>
            </a:r>
          </a:p>
          <a:p>
            <a:pPr lvl="1"/>
            <a:r>
              <a:rPr lang="en-US" sz="2400" dirty="0" smtClean="0"/>
              <a:t>Now apply this model on test.csv and submit to Kaggle.com</a:t>
            </a:r>
          </a:p>
          <a:p>
            <a:pPr lvl="1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52040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more on the menu?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95400" y="1646239"/>
            <a:ext cx="9601200" cy="4144962"/>
          </a:xfrm>
        </p:spPr>
        <p:txBody>
          <a:bodyPr/>
          <a:lstStyle/>
          <a:p>
            <a:pPr lvl="1"/>
            <a:r>
              <a:rPr lang="en-US" sz="2400" dirty="0" smtClean="0"/>
              <a:t>Bayesian </a:t>
            </a:r>
            <a:r>
              <a:rPr lang="en-US" sz="2400" dirty="0"/>
              <a:t>Networks</a:t>
            </a:r>
          </a:p>
          <a:p>
            <a:pPr lvl="1"/>
            <a:r>
              <a:rPr lang="en-US" sz="2400" dirty="0"/>
              <a:t>Naïve Bayes</a:t>
            </a:r>
          </a:p>
          <a:p>
            <a:pPr lvl="1"/>
            <a:r>
              <a:rPr lang="en-US" sz="2400" dirty="0"/>
              <a:t>Forests</a:t>
            </a:r>
          </a:p>
          <a:p>
            <a:pPr lvl="1"/>
            <a:r>
              <a:rPr lang="en-US" sz="2400" dirty="0" smtClean="0"/>
              <a:t>Regression</a:t>
            </a:r>
            <a:endParaRPr lang="en-US" sz="2400" dirty="0"/>
          </a:p>
          <a:p>
            <a:pPr lvl="1"/>
            <a:r>
              <a:rPr lang="en-US" sz="2400" dirty="0"/>
              <a:t>Support Vector Machines</a:t>
            </a:r>
          </a:p>
          <a:p>
            <a:pPr lvl="1"/>
            <a:r>
              <a:rPr lang="en-US" sz="2400" dirty="0" smtClean="0"/>
              <a:t>Association Rules</a:t>
            </a:r>
            <a:endParaRPr lang="en-US" dirty="0"/>
          </a:p>
          <a:p>
            <a:pPr lvl="1"/>
            <a:r>
              <a:rPr lang="en-US" sz="2400" smtClean="0"/>
              <a:t>Neural Networks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52216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more on the menu?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95400" y="1646239"/>
            <a:ext cx="9601200" cy="4144962"/>
          </a:xfrm>
        </p:spPr>
        <p:txBody>
          <a:bodyPr/>
          <a:lstStyle/>
          <a:p>
            <a:pPr lvl="1"/>
            <a:r>
              <a:rPr lang="en-US" sz="2400" dirty="0" smtClean="0"/>
              <a:t>K-means Clustering</a:t>
            </a:r>
          </a:p>
          <a:p>
            <a:pPr lvl="1"/>
            <a:r>
              <a:rPr lang="en-US" sz="2400" dirty="0" smtClean="0"/>
              <a:t>Feature Engineering: Making useful what you thought was not</a:t>
            </a:r>
            <a:endParaRPr lang="en-US" sz="2400" dirty="0"/>
          </a:p>
          <a:p>
            <a:pPr lvl="1"/>
            <a:r>
              <a:rPr lang="en-US" sz="2400" dirty="0" smtClean="0"/>
              <a:t>Classification for Missing values</a:t>
            </a:r>
          </a:p>
          <a:p>
            <a:pPr lvl="1"/>
            <a:r>
              <a:rPr lang="en-US" sz="2400" dirty="0" smtClean="0"/>
              <a:t>Bootstrapping</a:t>
            </a:r>
          </a:p>
          <a:p>
            <a:pPr lvl="1"/>
            <a:endParaRPr lang="en-US" sz="2400" dirty="0"/>
          </a:p>
          <a:p>
            <a:pPr lvl="1"/>
            <a:endParaRPr lang="en-US" sz="2400" dirty="0" smtClean="0"/>
          </a:p>
          <a:p>
            <a:pPr lvl="1"/>
            <a:endParaRPr lang="en-US" sz="2400" dirty="0"/>
          </a:p>
          <a:p>
            <a:endParaRPr lang="en-US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693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4400" dirty="0" smtClean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613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9601200" cy="4046113"/>
          </a:xfrm>
        </p:spPr>
        <p:txBody>
          <a:bodyPr>
            <a:normAutofit/>
          </a:bodyPr>
          <a:lstStyle/>
          <a:p>
            <a:r>
              <a:rPr lang="en-US" dirty="0" smtClean="0"/>
              <a:t>A very brief introduction to ‘R’ – Matthew Keller</a:t>
            </a:r>
          </a:p>
          <a:p>
            <a:r>
              <a:rPr lang="en-US" dirty="0" smtClean="0"/>
              <a:t>R tutorial - </a:t>
            </a:r>
            <a:r>
              <a:rPr lang="en-GB" dirty="0"/>
              <a:t>Eric </a:t>
            </a:r>
            <a:r>
              <a:rPr lang="en-GB" dirty="0" err="1"/>
              <a:t>Wajnberg</a:t>
            </a:r>
            <a:r>
              <a:rPr lang="en-GB" dirty="0"/>
              <a:t> (</a:t>
            </a:r>
            <a:r>
              <a:rPr lang="en-GB" dirty="0">
                <a:hlinkClick r:id="rId2"/>
              </a:rPr>
              <a:t>Wajnberg@sophia.inra.fr</a:t>
            </a:r>
            <a:r>
              <a:rPr lang="en-GB" dirty="0" smtClean="0"/>
              <a:t>)</a:t>
            </a:r>
          </a:p>
          <a:p>
            <a:r>
              <a:rPr lang="en-GB" dirty="0" smtClean="0"/>
              <a:t>R tutorial slides – Tyler K. </a:t>
            </a:r>
            <a:r>
              <a:rPr lang="en-GB" dirty="0" err="1" smtClean="0"/>
              <a:t>Perrachione</a:t>
            </a:r>
            <a:r>
              <a:rPr lang="en-GB" dirty="0" smtClean="0"/>
              <a:t>, (</a:t>
            </a:r>
            <a:r>
              <a:rPr lang="en-GB" dirty="0" smtClean="0">
                <a:hlinkClick r:id="rId3"/>
              </a:rPr>
              <a:t>tkp@mit.edu</a:t>
            </a:r>
            <a:r>
              <a:rPr lang="en-GB" dirty="0" smtClean="0"/>
              <a:t>)</a:t>
            </a:r>
          </a:p>
          <a:p>
            <a:r>
              <a:rPr lang="en-GB" dirty="0" smtClean="0"/>
              <a:t>R basics – Ahmed </a:t>
            </a:r>
            <a:r>
              <a:rPr lang="en-GB" dirty="0" err="1" smtClean="0"/>
              <a:t>Rebai</a:t>
            </a:r>
            <a:endParaRPr lang="en-GB" dirty="0"/>
          </a:p>
          <a:p>
            <a:r>
              <a:rPr lang="en-GB" dirty="0" err="1" smtClean="0"/>
              <a:t>Stackoverflow</a:t>
            </a:r>
            <a:r>
              <a:rPr lang="en-GB" dirty="0" smtClean="0"/>
              <a:t> – </a:t>
            </a:r>
            <a:r>
              <a:rPr lang="en-GB" dirty="0" err="1" smtClean="0"/>
              <a:t>Joran</a:t>
            </a:r>
            <a:r>
              <a:rPr lang="en-GB" dirty="0"/>
              <a:t> (</a:t>
            </a:r>
            <a:r>
              <a:rPr lang="en-GB" dirty="0">
                <a:hlinkClick r:id="rId4"/>
              </a:rPr>
              <a:t>http://</a:t>
            </a:r>
            <a:r>
              <a:rPr lang="en-GB" dirty="0" smtClean="0">
                <a:hlinkClick r:id="rId4"/>
              </a:rPr>
              <a:t>www.statisticalskier.com</a:t>
            </a:r>
            <a:r>
              <a:rPr lang="en-GB" dirty="0" smtClean="0"/>
              <a:t>)</a:t>
            </a:r>
          </a:p>
          <a:p>
            <a:r>
              <a:rPr lang="en-GB" dirty="0" smtClean="0"/>
              <a:t>Trevor </a:t>
            </a:r>
            <a:r>
              <a:rPr lang="en-GB" dirty="0" err="1" smtClean="0"/>
              <a:t>Stefans</a:t>
            </a:r>
            <a:r>
              <a:rPr lang="en-GB" dirty="0"/>
              <a:t> (</a:t>
            </a:r>
            <a:r>
              <a:rPr lang="en-GB" dirty="0">
                <a:hlinkClick r:id="rId5"/>
              </a:rPr>
              <a:t>http://</a:t>
            </a:r>
            <a:r>
              <a:rPr lang="en-GB" dirty="0" smtClean="0">
                <a:hlinkClick r:id="rId5"/>
              </a:rPr>
              <a:t>trevorstephens.com</a:t>
            </a:r>
            <a:r>
              <a:rPr lang="en-GB" dirty="0" smtClean="0"/>
              <a:t>)</a:t>
            </a:r>
          </a:p>
          <a:p>
            <a:r>
              <a:rPr lang="en-US" dirty="0" smtClean="0"/>
              <a:t>Kaggle.com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2899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200"/>
            <a:ext cx="9601200" cy="3015804"/>
          </a:xfrm>
        </p:spPr>
        <p:txBody>
          <a:bodyPr/>
          <a:lstStyle/>
          <a:p>
            <a:r>
              <a:rPr lang="en-US" dirty="0" smtClean="0"/>
              <a:t>For further queries: </a:t>
            </a:r>
            <a:r>
              <a:rPr lang="en-US" dirty="0" smtClean="0">
                <a:hlinkClick r:id="rId2"/>
              </a:rPr>
              <a:t>owaishussain@outlook.com</a:t>
            </a:r>
            <a:endParaRPr lang="en-US" dirty="0" smtClean="0"/>
          </a:p>
          <a:p>
            <a:r>
              <a:rPr lang="en-US" dirty="0" smtClean="0"/>
              <a:t>Do post your best </a:t>
            </a:r>
            <a:r>
              <a:rPr lang="en-US" dirty="0" err="1" smtClean="0"/>
              <a:t>Kaggle</a:t>
            </a:r>
            <a:r>
              <a:rPr lang="en-US" dirty="0" smtClean="0"/>
              <a:t> score to me</a:t>
            </a:r>
          </a:p>
          <a:p>
            <a:r>
              <a:rPr lang="en-US" smtClean="0"/>
              <a:t>Send your feedback </a:t>
            </a:r>
            <a:r>
              <a:rPr lang="en-US" dirty="0" smtClean="0"/>
              <a:t>please…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8115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15_4109default" id="{E728D685-11FC-4812-BA85-57AC6F9C9F40}" vid="{BC4E008B-95FF-4815-904E-143A8EDFC1D4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7087C0F-7449-45C4-B248-63D02665BF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0</TotalTime>
  <Words>2036</Words>
  <Application>Microsoft Office PowerPoint</Application>
  <PresentationFormat>Widescreen</PresentationFormat>
  <Paragraphs>392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Courier New</vt:lpstr>
      <vt:lpstr>Wingdings</vt:lpstr>
      <vt:lpstr>Diamond Grid 16x9</vt:lpstr>
      <vt:lpstr>PowerPoint Presentation</vt:lpstr>
      <vt:lpstr>Outlines</vt:lpstr>
      <vt:lpstr>Appetizer</vt:lpstr>
      <vt:lpstr>PowerPoint Presentation</vt:lpstr>
      <vt:lpstr>How many lines of code you need to transform raw tweets to a tag cloud? Make a guess…</vt:lpstr>
      <vt:lpstr>Everything you need. Almost..</vt:lpstr>
      <vt:lpstr>What?</vt:lpstr>
      <vt:lpstr>Why? (Advantages)</vt:lpstr>
      <vt:lpstr>Why not? (Disadvantages)</vt:lpstr>
      <vt:lpstr>Building blocks</vt:lpstr>
      <vt:lpstr>Building blocks – Basics</vt:lpstr>
      <vt:lpstr>Building blocks – Vector</vt:lpstr>
      <vt:lpstr>Building blocks – Matrix</vt:lpstr>
      <vt:lpstr>Building blocks – Array</vt:lpstr>
      <vt:lpstr>Building blocks – List</vt:lpstr>
      <vt:lpstr>Building blocks – Data.frame</vt:lpstr>
      <vt:lpstr>Building blocks – Workspace</vt:lpstr>
      <vt:lpstr>Building blocks – I/O (painfully easy)</vt:lpstr>
      <vt:lpstr>Built-in Functions</vt:lpstr>
      <vt:lpstr>Packages</vt:lpstr>
      <vt:lpstr>Diving in Deep – Titanic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more on the menu?</vt:lpstr>
      <vt:lpstr>What more on the menu?</vt:lpstr>
      <vt:lpstr>?</vt:lpstr>
      <vt:lpstr>References</vt:lpstr>
      <vt:lpstr>THANK YOU…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2014-10-24T19:15:52Z</dcterms:created>
  <dcterms:modified xsi:type="dcterms:W3CDTF">2018-06-27T19:02:43Z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TC030310159991</vt:lpwstr>
  </property>
</Properties>
</file>