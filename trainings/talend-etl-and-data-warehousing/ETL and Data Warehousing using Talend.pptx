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17"/>
  </p:notesMasterIdLst>
  <p:sldIdLst>
    <p:sldId id="256" r:id="rId3"/>
    <p:sldId id="259" r:id="rId4"/>
    <p:sldId id="313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14" r:id="rId14"/>
    <p:sldId id="323" r:id="rId15"/>
    <p:sldId id="312" r:id="rId16"/>
  </p:sldIdLst>
  <p:sldSz cx="9144000" cy="6858000" type="screen4x3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42918" autoAdjust="0"/>
  </p:normalViewPr>
  <p:slideViewPr>
    <p:cSldViewPr snapToGrid="0">
      <p:cViewPr varScale="1">
        <p:scale>
          <a:sx n="88" d="100"/>
          <a:sy n="88" d="100"/>
        </p:scale>
        <p:origin x="133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B667B2-4638-4022-A24C-2AFD57DA0A36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67F39-7F7F-4E59-A11B-6250176BF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11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Time for Action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0" dirty="0" smtClean="0">
                <a:effectLst/>
                <a:latin typeface="Segoe UI"/>
                <a:ea typeface="Calibri"/>
                <a:cs typeface="Times New Roman"/>
              </a:rPr>
              <a:t>(Intermediate)</a:t>
            </a:r>
            <a:endParaRPr lang="en-US" sz="1200" b="0" dirty="0" smtClean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 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To reproduce the video effects on this slide, do the following: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Home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Slides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group, click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New Slide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, and then click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Video With Caption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On the slide, click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Movie Icon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to launch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Insert Video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dialog box.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tabLst>
                <a:tab pos="742950" algn="l"/>
              </a:tabLs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In the left pane of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Insert Video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dialog box, click the drive or library that contains the video. In the right pane of the dialog box, click the video that you want and then click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Insert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tabLst>
                <a:tab pos="742950" algn="l"/>
              </a:tabLs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Animations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Animation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group, select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Play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Also on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Animations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Timing 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group, click the arrow to the right of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Start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and select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With Previous.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45720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 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To reproduce the text effects on this slide, do the following: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Caption Text Box</a:t>
            </a:r>
            <a:r>
              <a:rPr lang="en-US" sz="1200" b="0" dirty="0" smtClean="0">
                <a:effectLst/>
                <a:latin typeface="Segoe UI"/>
                <a:ea typeface="Calibri"/>
                <a:cs typeface="Times New Roman"/>
              </a:rPr>
              <a:t>, type,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 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“Time for</a:t>
            </a:r>
            <a:r>
              <a:rPr lang="en-US" sz="1200" baseline="0" dirty="0" smtClean="0">
                <a:effectLst/>
                <a:latin typeface="Segoe UI"/>
                <a:ea typeface="Calibri"/>
                <a:cs typeface="Times New Roman"/>
              </a:rPr>
              <a:t> Action.”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45720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 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To reproduce the Master Layout text effects on this slide, do the following: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View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Master Views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group, select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Slide Master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Slide Master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Edit Master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group, select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Insert Layout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On inserted slide, select the preset text box at top. Under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Drawing Tools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, on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Format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Size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group, click the arrow at the bottom right launching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Format Shape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dialog box.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Format Shape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dialog box,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 select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Position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 in the left pane, under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Position on Slide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 in the right pane set the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Horizontal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 to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.5”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 and the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Vertical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 to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5.6”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Select the text box, on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Home 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tab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Font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group, select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Calibri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from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Font 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list, then select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36 </a:t>
            </a:r>
            <a:r>
              <a:rPr lang="en-US" sz="1200" b="1" dirty="0" err="1" smtClean="0">
                <a:effectLst/>
                <a:latin typeface="Segoe UI"/>
                <a:ea typeface="Calibri"/>
                <a:cs typeface="Times New Roman"/>
              </a:rPr>
              <a:t>pt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from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Font Size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list, and then click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Bold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icon.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45720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 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To reproduce the Master Layout video effects on this slide, do the following: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View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Master Views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group, select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Slide Master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Slide Master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Master layout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group, click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Insert Placeholder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and select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Media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, then on the side, drag to draw box.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Under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Drawing Tools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, on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Format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Size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group, click the arrow to the right of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Size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launching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Format Shape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dialog box.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kern="1200" dirty="0" smtClean="0">
                <a:effectLst/>
                <a:latin typeface="Segoe UI"/>
                <a:ea typeface="Times New Roman"/>
              </a:rPr>
              <a:t>In the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Format Shape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dialog box, select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Size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in the left pane, under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Size and Rotate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in the right pane set the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Height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to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5”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and the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Width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to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6.67”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.</a:t>
            </a:r>
            <a:endParaRPr lang="en-US" dirty="0" smtClean="0">
              <a:effectLst/>
            </a:endParaRP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smtClean="0">
                <a:effectLst/>
                <a:latin typeface="Segoe UI"/>
              </a:rPr>
              <a:t>Also in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the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Format Shape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dialog box, select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Position 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in the left pane, under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Position on Slide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in the right pane set the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Vertical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to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0.55”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.</a:t>
            </a:r>
            <a:endParaRPr lang="en-US" dirty="0" smtClean="0">
              <a:effectLst/>
            </a:endParaRP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smtClean="0">
                <a:effectLst/>
                <a:latin typeface="Segoe UI"/>
              </a:rPr>
              <a:t> Also in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the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Format Shape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dialog box, select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Line Color 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in the left pane, under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Line Color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in the right pane select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Solid Line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, and then click the arrow to the right of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Color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and under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Theme Colors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select,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Black, Text 1, Lighter 25%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(fourth row, second option from left).</a:t>
            </a:r>
            <a:endParaRPr lang="en-US" dirty="0" smtClean="0">
              <a:effectLst/>
            </a:endParaRP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smtClean="0">
                <a:effectLst/>
                <a:latin typeface="Segoe UI"/>
                <a:ea typeface="Times New Roman"/>
              </a:rPr>
              <a:t>Also in the </a:t>
            </a:r>
            <a:r>
              <a:rPr lang="en-US" b="1" dirty="0" smtClean="0">
                <a:effectLst/>
                <a:latin typeface="Segoe UI"/>
                <a:ea typeface="Times New Roman"/>
              </a:rPr>
              <a:t>Format Shape</a:t>
            </a:r>
            <a:r>
              <a:rPr lang="en-US" dirty="0" smtClean="0">
                <a:effectLst/>
                <a:latin typeface="Segoe UI"/>
                <a:ea typeface="Times New Roman"/>
              </a:rPr>
              <a:t> dialog box, select </a:t>
            </a:r>
            <a:r>
              <a:rPr lang="en-US" b="1" dirty="0" smtClean="0">
                <a:effectLst/>
                <a:latin typeface="Segoe UI"/>
                <a:ea typeface="Times New Roman"/>
              </a:rPr>
              <a:t>Line Style </a:t>
            </a:r>
            <a:r>
              <a:rPr lang="en-US" dirty="0" smtClean="0">
                <a:effectLst/>
                <a:latin typeface="Segoe UI"/>
                <a:ea typeface="Times New Roman"/>
              </a:rPr>
              <a:t>in the left pane, under </a:t>
            </a:r>
            <a:r>
              <a:rPr lang="en-US" b="1" dirty="0" smtClean="0">
                <a:effectLst/>
                <a:latin typeface="Segoe UI"/>
                <a:ea typeface="Times New Roman"/>
              </a:rPr>
              <a:t>Line Style</a:t>
            </a:r>
            <a:r>
              <a:rPr lang="en-US" dirty="0" smtClean="0">
                <a:effectLst/>
                <a:latin typeface="Segoe UI"/>
                <a:ea typeface="Times New Roman"/>
              </a:rPr>
              <a:t> in the right pane set the </a:t>
            </a:r>
            <a:r>
              <a:rPr lang="en-US" b="1" dirty="0" smtClean="0">
                <a:effectLst/>
                <a:latin typeface="Segoe UI"/>
                <a:ea typeface="Times New Roman"/>
              </a:rPr>
              <a:t>Width</a:t>
            </a:r>
            <a:r>
              <a:rPr lang="en-US" dirty="0" smtClean="0">
                <a:effectLst/>
                <a:latin typeface="Segoe UI"/>
                <a:ea typeface="Times New Roman"/>
              </a:rPr>
              <a:t> to </a:t>
            </a:r>
            <a:r>
              <a:rPr lang="en-US" b="1" dirty="0" smtClean="0">
                <a:effectLst/>
                <a:latin typeface="Segoe UI"/>
                <a:ea typeface="Times New Roman"/>
              </a:rPr>
              <a:t>15 pt</a:t>
            </a:r>
            <a:r>
              <a:rPr lang="en-US" dirty="0" smtClean="0">
                <a:effectLst/>
                <a:latin typeface="Segoe UI"/>
                <a:ea typeface="Times New Roman"/>
              </a:rPr>
              <a:t>.</a:t>
            </a:r>
            <a:endParaRPr lang="en-US" dirty="0" smtClean="0">
              <a:effectLst/>
            </a:endParaRP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smtClean="0">
                <a:effectLst/>
                <a:latin typeface="Segoe UI"/>
                <a:ea typeface="Times New Roman"/>
              </a:rPr>
              <a:t>Also in the </a:t>
            </a:r>
            <a:r>
              <a:rPr lang="en-US" b="1" dirty="0" smtClean="0">
                <a:effectLst/>
                <a:latin typeface="Segoe UI"/>
                <a:ea typeface="Times New Roman"/>
              </a:rPr>
              <a:t>Format Shape</a:t>
            </a:r>
            <a:r>
              <a:rPr lang="en-US" dirty="0" smtClean="0">
                <a:effectLst/>
                <a:latin typeface="Segoe UI"/>
                <a:ea typeface="Times New Roman"/>
              </a:rPr>
              <a:t> dialog box, select </a:t>
            </a:r>
            <a:r>
              <a:rPr lang="en-US" b="1" dirty="0" smtClean="0">
                <a:effectLst/>
                <a:latin typeface="Segoe UI"/>
                <a:ea typeface="Times New Roman"/>
              </a:rPr>
              <a:t>Shadow </a:t>
            </a:r>
            <a:r>
              <a:rPr lang="en-US" dirty="0" smtClean="0">
                <a:effectLst/>
                <a:latin typeface="Segoe UI"/>
                <a:ea typeface="Times New Roman"/>
              </a:rPr>
              <a:t>in the left pane, under </a:t>
            </a:r>
            <a:r>
              <a:rPr lang="en-US" b="1" dirty="0" smtClean="0">
                <a:effectLst/>
                <a:latin typeface="Segoe UI"/>
                <a:ea typeface="Times New Roman"/>
              </a:rPr>
              <a:t>Shadow</a:t>
            </a:r>
            <a:r>
              <a:rPr lang="en-US" dirty="0" smtClean="0">
                <a:effectLst/>
                <a:latin typeface="Segoe UI"/>
                <a:ea typeface="Times New Roman"/>
              </a:rPr>
              <a:t> in the right pane 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click the arrow to the right of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Color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and under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Theme Colors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select, </a:t>
            </a:r>
            <a:r>
              <a:rPr lang="en-US" b="1" kern="1200" dirty="0" smtClean="0">
                <a:effectLst/>
                <a:latin typeface="Segoe UI"/>
                <a:ea typeface="Times New Roman"/>
              </a:rPr>
              <a:t>Black, Text 1</a:t>
            </a:r>
            <a:r>
              <a:rPr lang="en-US" kern="1200" dirty="0" smtClean="0">
                <a:effectLst/>
                <a:latin typeface="Segoe UI"/>
                <a:ea typeface="Times New Roman"/>
              </a:rPr>
              <a:t> (first row, second option from left), and then do the following:</a:t>
            </a:r>
            <a:endParaRPr lang="en-US" dirty="0" smtClean="0">
              <a:effectLst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914400" algn="l"/>
              </a:tabLs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Transparency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60%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914400" algn="l"/>
              </a:tabLs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Size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100%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914400" algn="l"/>
              </a:tabLs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Blur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21 pt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914400" algn="l"/>
              </a:tabLs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Angle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40 degrees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914400" algn="l"/>
              </a:tabLs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Distance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19 pt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Also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Format Video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dialog box, select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3-D Format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in the left pane, under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Bevel 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in the right pane click the arrow to the right of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Top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and under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Bevel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, select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Relaxed Inset 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(first row, second option from left), and then do the following: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Symbol"/>
              <a:buChar char="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To the right of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Top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Width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6 pt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Symbol"/>
              <a:buChar char="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To the right of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Top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Height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16.5 pt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Close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Format Video 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dialog box.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Select the video frame, on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Home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Drawing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group, click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Arrange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, point to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Align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, and then do the following: 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800100" marR="0" lvl="1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Symbol"/>
              <a:buChar char="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Click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Align Center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91440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 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To reproduce the Master Layout background effects on this slide, do the following: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On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View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Master Views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group, select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Slide Master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Select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Master Slide 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(on top of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Master Layouts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). On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Slide Master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tab,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Background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group, click the arrow at the bottom right corner launching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Format Background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dialog box.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Format Background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dialog box, select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Fill 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in the left pane, under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Fill 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in the right pane select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Gradient fill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, in the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Angle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box, enter </a:t>
            </a:r>
            <a:r>
              <a:rPr lang="en-US" sz="1200" b="1" dirty="0" smtClean="0">
                <a:effectLst/>
                <a:latin typeface="Segoe UI"/>
                <a:ea typeface="Calibri"/>
                <a:cs typeface="Times New Roman"/>
              </a:rPr>
              <a:t>90 degrees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, and then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 under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Gradient stops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, click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Add gradient stop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 or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Remove gradient stop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 until eight stops appear on the slider. Customize the gradient stops as follows: 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the first stop on the slider, and then do the following: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0%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Theme Colors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White, Background 1, Darker 25%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(Fourth row, first option from left).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the second stop on the list, and then do the following: 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11%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Theme Colors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Black Text 1, Lighter 35%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(third row, second option from the left).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the third stop on the slider, and then do the following: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22%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Theme Colors,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Black Text 1, Lighter 35%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(third row, second option from the left).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the fourth stop on the list, and then do the following: 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63%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Theme Colors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White, Background 1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(first row, first option from the left).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the fifth stop on the list, and then do the following: 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81%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Theme Colors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White, Background 1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(first row, first option from the left).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the sixth stop on the slider, and then do the following: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89%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Theme Colors,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Black Text 1, Lighter 35%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(third row, second option from the left).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the seventh stop on the list, and then do the following: 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92%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Theme Colors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Black Text 1, Lighter 15%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(fifth row, second option from the left).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the eighth stop on the list, and then do the following: 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In the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Position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box, enter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100%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Click the button next to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Color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, and then under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Theme Colors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select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White, Background 1, Darker 5% 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(second row, first option from the left).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On the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Slide Master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 tab, in the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Close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 group, click </a:t>
            </a:r>
            <a:r>
              <a:rPr lang="en-US" sz="1200" b="1" kern="1200" dirty="0" smtClean="0">
                <a:effectLst/>
                <a:latin typeface="Segoe UI"/>
                <a:ea typeface="Times New Roman"/>
                <a:cs typeface="Times New Roman"/>
              </a:rPr>
              <a:t>Close Master Views</a:t>
            </a:r>
            <a:r>
              <a:rPr lang="en-US" sz="1200" kern="1200" dirty="0" smtClean="0">
                <a:effectLst/>
                <a:latin typeface="Segoe UI"/>
                <a:ea typeface="Times New Roman"/>
                <a:cs typeface="Times New Roman"/>
              </a:rPr>
              <a:t>.</a:t>
            </a:r>
            <a:r>
              <a:rPr lang="en-US" sz="1200" dirty="0" smtClean="0">
                <a:effectLst/>
                <a:latin typeface="Segoe UI"/>
                <a:ea typeface="Calibri"/>
                <a:cs typeface="Times New Roman"/>
              </a:rPr>
              <a:t> </a:t>
            </a:r>
            <a:endParaRPr lang="en-US" sz="1200" dirty="0" smtClean="0">
              <a:effectLst/>
              <a:latin typeface="+mn-lt"/>
              <a:ea typeface="Calibri"/>
              <a:cs typeface="Times New Roman"/>
            </a:endParaRPr>
          </a:p>
          <a:p>
            <a:pPr marL="685800" lvl="1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D67F39-7F7F-4E59-A11B-6250176BF4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35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7034" y="5119777"/>
            <a:ext cx="8609162" cy="566738"/>
          </a:xfrm>
        </p:spPr>
        <p:txBody>
          <a:bodyPr anchor="ctr">
            <a:noAutofit/>
          </a:bodyPr>
          <a:lstStyle>
            <a:lvl1pPr algn="ctr">
              <a:defRPr sz="3600" b="1"/>
            </a:lvl1pPr>
          </a:lstStyle>
          <a:p>
            <a:r>
              <a:rPr lang="en-US" dirty="0" smtClean="0"/>
              <a:t>Add caption here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8"/>
          <p:cNvSpPr>
            <a:spLocks noGrp="1"/>
          </p:cNvSpPr>
          <p:nvPr>
            <p:ph type="media" sz="quarter" idx="13" hasCustomPrompt="1"/>
          </p:nvPr>
        </p:nvSpPr>
        <p:spPr>
          <a:xfrm>
            <a:off x="1539875" y="370577"/>
            <a:ext cx="6064250" cy="4416425"/>
          </a:xfrm>
          <a:ln w="190500" cmpd="sng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>
            <a:outerShdw blurRad="266700" dist="241300" dir="24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prstMaterial="matte">
            <a:bevelT h="209550" prst="relaxedInset"/>
          </a:sp3d>
        </p:spPr>
        <p:txBody>
          <a:bodyPr/>
          <a:lstStyle>
            <a:lvl1pPr marL="0" indent="0" algn="ctr">
              <a:buNone/>
              <a:defRPr baseline="0">
                <a:solidFill>
                  <a:srgbClr val="FF0000"/>
                </a:solidFill>
              </a:defRPr>
            </a:lvl1pPr>
          </a:lstStyle>
          <a:p>
            <a:r>
              <a:rPr lang="en-US" dirty="0" smtClean="0"/>
              <a:t>Click to Insert Movie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8974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79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8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92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21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1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7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40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1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25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56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1A59-24C8-4A28-BDC8-3B4A73A8CD06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6546B-5BC0-47DA-A86A-9326C5B1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2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13000">
              <a:srgbClr val="5F5F5F"/>
            </a:gs>
            <a:gs pos="21001">
              <a:srgbClr val="5F5F5F"/>
            </a:gs>
            <a:gs pos="81000">
              <a:schemeClr val="bg1"/>
            </a:gs>
            <a:gs pos="63000">
              <a:srgbClr val="FFFFFF"/>
            </a:gs>
            <a:gs pos="89000">
              <a:srgbClr val="B2B2B2"/>
            </a:gs>
            <a:gs pos="92000">
              <a:srgbClr val="292929"/>
            </a:gs>
            <a:gs pos="95000">
              <a:srgbClr val="777777"/>
            </a:gs>
            <a:gs pos="100000">
              <a:srgbClr val="EAEAE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90581"/>
            <a:ext cx="2133600" cy="27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92F11A59-24C8-4A28-BDC8-3B4A73A8CD06}" type="datetimeFigureOut">
              <a:rPr lang="en-US" smtClean="0"/>
              <a:pPr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90581"/>
            <a:ext cx="2895600" cy="27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90581"/>
            <a:ext cx="2133600" cy="27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8E6546B-5BC0-47DA-A86A-9326C5B162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1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ETL &amp; Data warehousing using </a:t>
            </a:r>
            <a:r>
              <a:rPr lang="en-US" dirty="0" err="1" smtClean="0"/>
              <a:t>Talend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For KMITS-Dept. of Health, Philippines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291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/>
          <a:lstStyle/>
          <a:p>
            <a:r>
              <a:rPr lang="en-US" dirty="0" err="1" smtClean="0"/>
              <a:t>Talend</a:t>
            </a:r>
            <a:endParaRPr lang="en-US" dirty="0" smtClean="0"/>
          </a:p>
          <a:p>
            <a:r>
              <a:rPr lang="en-US" dirty="0" smtClean="0"/>
              <a:t>Design</a:t>
            </a:r>
            <a:endParaRPr lang="en-US" dirty="0" smtClean="0"/>
          </a:p>
          <a:p>
            <a:pPr lvl="1"/>
            <a:r>
              <a:rPr lang="en-US" dirty="0" smtClean="0"/>
              <a:t>Dimensions</a:t>
            </a:r>
          </a:p>
          <a:p>
            <a:pPr lvl="1"/>
            <a:r>
              <a:rPr lang="en-US" dirty="0" smtClean="0"/>
              <a:t>Facts</a:t>
            </a:r>
          </a:p>
          <a:p>
            <a:pPr lvl="1"/>
            <a:r>
              <a:rPr lang="en-US" dirty="0"/>
              <a:t>Metadata</a:t>
            </a:r>
            <a:endParaRPr lang="en-US" dirty="0" smtClean="0"/>
          </a:p>
          <a:p>
            <a:pPr lvl="1"/>
            <a:r>
              <a:rPr lang="en-US" dirty="0" smtClean="0"/>
              <a:t>Staging tables</a:t>
            </a:r>
          </a:p>
          <a:p>
            <a:r>
              <a:rPr lang="en-US" dirty="0"/>
              <a:t>Development process/protocols</a:t>
            </a:r>
            <a:endParaRPr lang="en-US" dirty="0" smtClean="0"/>
          </a:p>
          <a:p>
            <a:r>
              <a:rPr lang="en-US" dirty="0" smtClean="0"/>
              <a:t>How-</a:t>
            </a:r>
            <a:r>
              <a:rPr lang="en-US" dirty="0" err="1" smtClean="0"/>
              <a:t>to’s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032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Talend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>
            <a:normAutofit/>
          </a:bodyPr>
          <a:lstStyle/>
          <a:p>
            <a:r>
              <a:rPr lang="en-US" dirty="0" smtClean="0"/>
              <a:t>Data integration framework</a:t>
            </a:r>
          </a:p>
          <a:p>
            <a:r>
              <a:rPr lang="en-US" dirty="0" smtClean="0"/>
              <a:t>Free</a:t>
            </a:r>
          </a:p>
          <a:p>
            <a:r>
              <a:rPr lang="en-US" dirty="0" smtClean="0"/>
              <a:t>Open-source</a:t>
            </a:r>
          </a:p>
          <a:p>
            <a:r>
              <a:rPr lang="en-US" dirty="0" smtClean="0"/>
              <a:t>Java</a:t>
            </a:r>
          </a:p>
          <a:p>
            <a:r>
              <a:rPr lang="en-US" dirty="0" smtClean="0"/>
              <a:t>IDE (Eclipse)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59443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Design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>
            <a:normAutofit/>
          </a:bodyPr>
          <a:lstStyle/>
          <a:p>
            <a:r>
              <a:rPr lang="en-US" dirty="0" smtClean="0"/>
              <a:t>Sources (MySQL): </a:t>
            </a:r>
            <a:r>
              <a:rPr lang="en-US" dirty="0" err="1" smtClean="0"/>
              <a:t>itisdb</a:t>
            </a:r>
            <a:r>
              <a:rPr lang="en-US" dirty="0" smtClean="0"/>
              <a:t>, </a:t>
            </a:r>
            <a:r>
              <a:rPr lang="en-US" dirty="0" err="1" smtClean="0"/>
              <a:t>mandatory_notifications</a:t>
            </a:r>
            <a:r>
              <a:rPr lang="en-US" dirty="0" smtClean="0"/>
              <a:t> (</a:t>
            </a:r>
            <a:r>
              <a:rPr lang="en-US" dirty="0" smtClean="0"/>
              <a:t>ITIS </a:t>
            </a:r>
            <a:r>
              <a:rPr lang="en-US" dirty="0" smtClean="0"/>
              <a:t>Lite)</a:t>
            </a:r>
          </a:p>
          <a:p>
            <a:r>
              <a:rPr lang="en-US" dirty="0" smtClean="0"/>
              <a:t>Target (PostgreSQL): </a:t>
            </a:r>
            <a:r>
              <a:rPr lang="en-US" dirty="0" err="1" smtClean="0"/>
              <a:t>itisdw</a:t>
            </a:r>
            <a:endParaRPr lang="en-US" dirty="0" smtClean="0"/>
          </a:p>
          <a:p>
            <a:r>
              <a:rPr lang="en-US" dirty="0" smtClean="0"/>
              <a:t>Imported tables</a:t>
            </a:r>
            <a:endParaRPr lang="en-US" dirty="0" smtClean="0"/>
          </a:p>
          <a:p>
            <a:r>
              <a:rPr lang="en-US" dirty="0" smtClean="0"/>
              <a:t>Metadata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15097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Design - Dimensions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>
            <a:normAutofit/>
          </a:bodyPr>
          <a:lstStyle/>
          <a:p>
            <a:r>
              <a:rPr lang="en-US" dirty="0" smtClean="0"/>
              <a:t>Dimensions represent “entities” in the system</a:t>
            </a:r>
            <a:endParaRPr lang="en-US" dirty="0"/>
          </a:p>
          <a:p>
            <a:pPr lvl="1"/>
            <a:r>
              <a:rPr lang="en-US" dirty="0" smtClean="0"/>
              <a:t>Surrogate key, </a:t>
            </a:r>
            <a:r>
              <a:rPr lang="en-US" dirty="0"/>
              <a:t>source </a:t>
            </a:r>
            <a:r>
              <a:rPr lang="en-US" dirty="0" smtClean="0"/>
              <a:t>identifier, name field</a:t>
            </a:r>
          </a:p>
          <a:p>
            <a:pPr lvl="1"/>
            <a:r>
              <a:rPr lang="en-US" dirty="0" smtClean="0"/>
              <a:t>NULL and UNKNOWNs</a:t>
            </a:r>
          </a:p>
          <a:p>
            <a:r>
              <a:rPr lang="en-US" dirty="0" smtClean="0"/>
              <a:t>E.g. </a:t>
            </a:r>
            <a:r>
              <a:rPr lang="en-US" dirty="0" err="1" smtClean="0"/>
              <a:t>dim_date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Granularity: Day</a:t>
            </a:r>
          </a:p>
          <a:p>
            <a:pPr lvl="1"/>
            <a:r>
              <a:rPr lang="en-US" dirty="0" smtClean="0"/>
              <a:t>Update mode: Drop-create</a:t>
            </a:r>
            <a:endParaRPr lang="en-US" dirty="0"/>
          </a:p>
          <a:p>
            <a:pPr lvl="1"/>
            <a:r>
              <a:rPr lang="en-US" dirty="0" smtClean="0"/>
              <a:t>Surrogate key: None</a:t>
            </a:r>
          </a:p>
          <a:p>
            <a:pPr lvl="1"/>
            <a:r>
              <a:rPr lang="en-US" dirty="0" smtClean="0"/>
              <a:t>Source identifier: </a:t>
            </a:r>
            <a:r>
              <a:rPr lang="en-US" dirty="0" err="1" smtClean="0"/>
              <a:t>date_id</a:t>
            </a:r>
            <a:endParaRPr lang="en-US" dirty="0" smtClean="0"/>
          </a:p>
          <a:p>
            <a:pPr lvl="1"/>
            <a:r>
              <a:rPr lang="en-US" dirty="0" smtClean="0"/>
              <a:t>Name field: </a:t>
            </a:r>
            <a:r>
              <a:rPr lang="en-US" dirty="0" err="1" smtClean="0"/>
              <a:t>full_date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86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Design - Dimensions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>
            <a:normAutofit/>
          </a:bodyPr>
          <a:lstStyle/>
          <a:p>
            <a:r>
              <a:rPr lang="en-US" dirty="0" smtClean="0"/>
              <a:t>E.g. </a:t>
            </a:r>
            <a:r>
              <a:rPr lang="en-US" dirty="0" err="1" smtClean="0"/>
              <a:t>dim_facility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Granularity: health facility</a:t>
            </a:r>
          </a:p>
          <a:p>
            <a:pPr lvl="1"/>
            <a:r>
              <a:rPr lang="en-US" dirty="0" smtClean="0"/>
              <a:t>Update mode: Drop-create</a:t>
            </a:r>
            <a:endParaRPr lang="en-US" dirty="0"/>
          </a:p>
          <a:p>
            <a:pPr lvl="1"/>
            <a:r>
              <a:rPr lang="en-US" dirty="0" smtClean="0"/>
              <a:t>Surrogate key: </a:t>
            </a:r>
            <a:r>
              <a:rPr lang="en-US" dirty="0" err="1" smtClean="0"/>
              <a:t>surrogate_id</a:t>
            </a:r>
            <a:endParaRPr lang="en-US" dirty="0" smtClean="0"/>
          </a:p>
          <a:p>
            <a:pPr lvl="1"/>
            <a:r>
              <a:rPr lang="en-US" dirty="0" smtClean="0"/>
              <a:t>Source identifier: </a:t>
            </a:r>
            <a:r>
              <a:rPr lang="en-US" dirty="0" err="1" smtClean="0"/>
              <a:t>source_id</a:t>
            </a:r>
            <a:endParaRPr lang="en-US" dirty="0" smtClean="0"/>
          </a:p>
          <a:p>
            <a:pPr lvl="1"/>
            <a:r>
              <a:rPr lang="en-US" dirty="0"/>
              <a:t>Other natural ids</a:t>
            </a:r>
            <a:r>
              <a:rPr lang="en-US" dirty="0" smtClean="0"/>
              <a:t>:</a:t>
            </a:r>
          </a:p>
          <a:p>
            <a:pPr lvl="2"/>
            <a:r>
              <a:rPr lang="en-US" dirty="0" err="1" smtClean="0"/>
              <a:t>legacy_facility_id</a:t>
            </a:r>
            <a:r>
              <a:rPr lang="en-US" dirty="0" smtClean="0"/>
              <a:t>: legacy system unique id</a:t>
            </a:r>
          </a:p>
          <a:p>
            <a:pPr lvl="2"/>
            <a:r>
              <a:rPr lang="en-US" dirty="0" err="1" smtClean="0"/>
              <a:t>facility_psgc</a:t>
            </a:r>
            <a:r>
              <a:rPr lang="en-US" dirty="0" smtClean="0"/>
              <a:t>: </a:t>
            </a:r>
            <a:r>
              <a:rPr lang="en-GB" dirty="0" smtClean="0"/>
              <a:t>Philippine </a:t>
            </a:r>
            <a:r>
              <a:rPr lang="en-GB" dirty="0"/>
              <a:t>health facility </a:t>
            </a:r>
            <a:r>
              <a:rPr lang="en-GB" dirty="0" smtClean="0"/>
              <a:t>Geographic Code</a:t>
            </a:r>
            <a:endParaRPr lang="en-US" dirty="0" smtClean="0"/>
          </a:p>
          <a:p>
            <a:pPr lvl="2"/>
            <a:r>
              <a:rPr lang="en-US" dirty="0" err="1" smtClean="0"/>
              <a:t>ntp_facility_id</a:t>
            </a:r>
            <a:r>
              <a:rPr lang="en-US" dirty="0" smtClean="0"/>
              <a:t>: </a:t>
            </a:r>
            <a:r>
              <a:rPr lang="en-GB" dirty="0" smtClean="0"/>
              <a:t>NTP </a:t>
            </a:r>
            <a:r>
              <a:rPr lang="en-GB" dirty="0"/>
              <a:t>facility ID generated by </a:t>
            </a:r>
            <a:r>
              <a:rPr lang="en-GB" dirty="0" smtClean="0"/>
              <a:t>ITIS</a:t>
            </a:r>
            <a:endParaRPr lang="en-US" dirty="0" smtClean="0"/>
          </a:p>
          <a:p>
            <a:pPr lvl="1"/>
            <a:r>
              <a:rPr lang="en-US" dirty="0" smtClean="0"/>
              <a:t>Name field: </a:t>
            </a:r>
            <a:r>
              <a:rPr lang="en-US" dirty="0" err="1" smtClean="0"/>
              <a:t>facility_name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99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Design - </a:t>
            </a:r>
            <a:r>
              <a:rPr lang="en-US" dirty="0" smtClean="0"/>
              <a:t>Facts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>
            <a:normAutofit/>
          </a:bodyPr>
          <a:lstStyle/>
          <a:p>
            <a:r>
              <a:rPr lang="en-US" dirty="0" smtClean="0"/>
              <a:t>Facts </a:t>
            </a:r>
            <a:r>
              <a:rPr lang="en-US" dirty="0"/>
              <a:t>are </a:t>
            </a:r>
            <a:r>
              <a:rPr lang="en-GB" dirty="0"/>
              <a:t>quantitative information</a:t>
            </a:r>
            <a:r>
              <a:rPr lang="en-US" dirty="0" smtClean="0"/>
              <a:t> about entities required by business.</a:t>
            </a:r>
          </a:p>
          <a:p>
            <a:r>
              <a:rPr lang="en-US" dirty="0" smtClean="0"/>
              <a:t>Granularity: </a:t>
            </a:r>
            <a:r>
              <a:rPr lang="en-US" dirty="0" err="1" smtClean="0"/>
              <a:t>facility_key</a:t>
            </a:r>
            <a:r>
              <a:rPr lang="en-US" dirty="0" smtClean="0"/>
              <a:t> + </a:t>
            </a:r>
            <a:r>
              <a:rPr lang="en-US" dirty="0" err="1" smtClean="0"/>
              <a:t>registration_date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Read “for each facility in each day”</a:t>
            </a:r>
          </a:p>
          <a:p>
            <a:r>
              <a:rPr lang="en-US" dirty="0" smtClean="0"/>
              <a:t>Transactional fact: </a:t>
            </a:r>
            <a:r>
              <a:rPr lang="en-US" dirty="0" err="1" smtClean="0"/>
              <a:t>fact_case_management</a:t>
            </a:r>
            <a:endParaRPr lang="en-US" dirty="0" smtClean="0"/>
          </a:p>
          <a:p>
            <a:r>
              <a:rPr lang="en-US" dirty="0" smtClean="0"/>
              <a:t>Periodic fact: </a:t>
            </a:r>
            <a:r>
              <a:rPr lang="en-US" dirty="0" err="1" smtClean="0"/>
              <a:t>fact_tb_diagnosed</a:t>
            </a:r>
            <a:endParaRPr lang="en-US" dirty="0" smtClean="0"/>
          </a:p>
          <a:p>
            <a:r>
              <a:rPr lang="en-US" dirty="0" smtClean="0"/>
              <a:t>All facts are recreated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19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Design - </a:t>
            </a:r>
            <a:r>
              <a:rPr lang="en-US" dirty="0" smtClean="0"/>
              <a:t>Facts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>
            <a:normAutofit/>
          </a:bodyPr>
          <a:lstStyle/>
          <a:p>
            <a:r>
              <a:rPr lang="en-US" dirty="0" smtClean="0"/>
              <a:t>E.g. </a:t>
            </a:r>
            <a:r>
              <a:rPr lang="en-US" dirty="0" err="1" smtClean="0"/>
              <a:t>fact_case_management</a:t>
            </a:r>
            <a:endParaRPr lang="en-US" dirty="0" smtClean="0"/>
          </a:p>
          <a:p>
            <a:pPr lvl="1"/>
            <a:r>
              <a:rPr lang="en-US" dirty="0" smtClean="0"/>
              <a:t>Type: </a:t>
            </a:r>
            <a:r>
              <a:rPr lang="en-US" dirty="0" err="1" smtClean="0"/>
              <a:t>factless</a:t>
            </a:r>
            <a:r>
              <a:rPr lang="en-US" dirty="0" smtClean="0"/>
              <a:t> accumulating fact (progress with time)</a:t>
            </a:r>
          </a:p>
          <a:p>
            <a:pPr lvl="1"/>
            <a:r>
              <a:rPr lang="en-US" dirty="0" smtClean="0"/>
              <a:t>Update mode: Drop-create</a:t>
            </a:r>
          </a:p>
          <a:p>
            <a:pPr lvl="1"/>
            <a:r>
              <a:rPr lang="en-US" dirty="0" smtClean="0"/>
              <a:t>Composite key: </a:t>
            </a:r>
            <a:r>
              <a:rPr lang="en-US" dirty="0" err="1" smtClean="0"/>
              <a:t>tb_case_key</a:t>
            </a:r>
            <a:endParaRPr lang="en-US" dirty="0" smtClean="0"/>
          </a:p>
          <a:p>
            <a:pPr lvl="1"/>
            <a:r>
              <a:rPr lang="en-US" dirty="0" smtClean="0"/>
              <a:t>Contains a “timeline” of each case from screening to end of treatment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536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Design - </a:t>
            </a:r>
            <a:r>
              <a:rPr lang="en-US" dirty="0" smtClean="0"/>
              <a:t>Facts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>
            <a:normAutofit/>
          </a:bodyPr>
          <a:lstStyle/>
          <a:p>
            <a:r>
              <a:rPr lang="en-US" dirty="0" smtClean="0"/>
              <a:t>E.g. </a:t>
            </a:r>
            <a:r>
              <a:rPr lang="en-US" dirty="0" err="1" smtClean="0"/>
              <a:t>fact_tb_diagnosed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44" y="2057812"/>
            <a:ext cx="4993450" cy="383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755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Design </a:t>
            </a:r>
            <a:r>
              <a:rPr lang="en-US" dirty="0" smtClean="0"/>
              <a:t>– Staging tables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>
            <a:normAutofit/>
          </a:bodyPr>
          <a:lstStyle/>
          <a:p>
            <a:r>
              <a:rPr lang="en-US" dirty="0" smtClean="0"/>
              <a:t>Staging tables are </a:t>
            </a:r>
            <a:r>
              <a:rPr lang="en-US" dirty="0" err="1" smtClean="0"/>
              <a:t>denormalized</a:t>
            </a:r>
            <a:r>
              <a:rPr lang="en-US" dirty="0" smtClean="0"/>
              <a:t> tables created to speed-up the ETL process</a:t>
            </a:r>
          </a:p>
          <a:p>
            <a:pPr lvl="1"/>
            <a:r>
              <a:rPr lang="en-US" dirty="0" smtClean="0"/>
              <a:t>_barangay</a:t>
            </a:r>
          </a:p>
          <a:p>
            <a:pPr lvl="1"/>
            <a:r>
              <a:rPr lang="en-US" dirty="0" err="1" smtClean="0"/>
              <a:t>merged_test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151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Design </a:t>
            </a:r>
            <a:r>
              <a:rPr lang="en-US" dirty="0" smtClean="0"/>
              <a:t>– Metadata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>
            <a:normAutofit/>
          </a:bodyPr>
          <a:lstStyle/>
          <a:p>
            <a:r>
              <a:rPr lang="en-US" dirty="0" smtClean="0"/>
              <a:t>Dictionary table</a:t>
            </a:r>
          </a:p>
          <a:p>
            <a:r>
              <a:rPr lang="en-US" dirty="0" smtClean="0"/>
              <a:t>Meta type</a:t>
            </a:r>
          </a:p>
          <a:p>
            <a:r>
              <a:rPr lang="en-US" dirty="0" smtClean="0"/>
              <a:t>Definition type, reference and value</a:t>
            </a:r>
          </a:p>
        </p:txBody>
      </p:sp>
    </p:spTree>
    <p:extLst>
      <p:ext uri="{BB962C8B-B14F-4D97-AF65-F5344CB8AC3E}">
        <p14:creationId xmlns:p14="http://schemas.microsoft.com/office/powerpoint/2010/main" val="2623508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Development process/protocols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>
            <a:normAutofit/>
          </a:bodyPr>
          <a:lstStyle/>
          <a:p>
            <a:r>
              <a:rPr lang="en-US" dirty="0" smtClean="0"/>
              <a:t>SRS</a:t>
            </a:r>
          </a:p>
          <a:p>
            <a:r>
              <a:rPr lang="en-US" dirty="0" smtClean="0"/>
              <a:t>DW design document</a:t>
            </a:r>
          </a:p>
          <a:p>
            <a:r>
              <a:rPr lang="en-US" dirty="0" smtClean="0"/>
              <a:t>Development, Testing, Demo, Production</a:t>
            </a:r>
          </a:p>
          <a:p>
            <a:r>
              <a:rPr lang="en-US" dirty="0" smtClean="0"/>
              <a:t>DevOps</a:t>
            </a:r>
          </a:p>
        </p:txBody>
      </p:sp>
    </p:spTree>
    <p:extLst>
      <p:ext uri="{BB962C8B-B14F-4D97-AF65-F5344CB8AC3E}">
        <p14:creationId xmlns:p14="http://schemas.microsoft.com/office/powerpoint/2010/main" val="1624132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How </a:t>
            </a:r>
            <a:r>
              <a:rPr lang="en-US" dirty="0" err="1" smtClean="0"/>
              <a:t>to’s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57974"/>
          </a:xfrm>
        </p:spPr>
        <p:txBody>
          <a:bodyPr>
            <a:normAutofit/>
          </a:bodyPr>
          <a:lstStyle/>
          <a:p>
            <a:r>
              <a:rPr lang="en-US" dirty="0" smtClean="0"/>
              <a:t>Setting up </a:t>
            </a:r>
            <a:r>
              <a:rPr lang="en-US" dirty="0" err="1" smtClean="0"/>
              <a:t>Talend</a:t>
            </a:r>
            <a:r>
              <a:rPr lang="en-US" dirty="0" smtClean="0"/>
              <a:t> project</a:t>
            </a:r>
          </a:p>
          <a:p>
            <a:r>
              <a:rPr lang="en-US" dirty="0" smtClean="0"/>
              <a:t>Structure</a:t>
            </a:r>
          </a:p>
          <a:p>
            <a:r>
              <a:rPr lang="en-US" dirty="0" smtClean="0"/>
              <a:t>Components</a:t>
            </a:r>
          </a:p>
          <a:p>
            <a:r>
              <a:rPr lang="en-US" dirty="0" smtClean="0"/>
              <a:t>Maste</a:t>
            </a:r>
            <a:r>
              <a:rPr lang="en-US" dirty="0" smtClean="0"/>
              <a:t>r and sub-jobs</a:t>
            </a:r>
          </a:p>
          <a:p>
            <a:r>
              <a:rPr lang="en-US" dirty="0" smtClean="0"/>
              <a:t>Context handling</a:t>
            </a:r>
          </a:p>
          <a:p>
            <a:r>
              <a:rPr lang="en-US" dirty="0" smtClean="0"/>
              <a:t>Custom code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65783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BCBCB"/>
            </a:gs>
            <a:gs pos="3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" r="2381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owais.a.hussain@gmail.com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3887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36 - Master Layout - Video with Cap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EDC6562A-F677-469A-B98C-AF8185EA5B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Time for action (with video)</Template>
  <TotalTime>500</TotalTime>
  <Words>303</Words>
  <Application>Microsoft Office PowerPoint</Application>
  <PresentationFormat>On-screen Show (4:3)</PresentationFormat>
  <Paragraphs>155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Segoe UI</vt:lpstr>
      <vt:lpstr>Symbol</vt:lpstr>
      <vt:lpstr>Times New Roman</vt:lpstr>
      <vt:lpstr>36 - Master Layout - Video with Caption</vt:lpstr>
      <vt:lpstr>ETL &amp; Data warehousing using Talend</vt:lpstr>
      <vt:lpstr>Outline</vt:lpstr>
      <vt:lpstr>Talend</vt:lpstr>
      <vt:lpstr>Design</vt:lpstr>
      <vt:lpstr>Design - Dimensions</vt:lpstr>
      <vt:lpstr>Design - Dimensions</vt:lpstr>
      <vt:lpstr>Design - Facts</vt:lpstr>
      <vt:lpstr>Design - Facts</vt:lpstr>
      <vt:lpstr>Design - Facts</vt:lpstr>
      <vt:lpstr>Design – Staging tables</vt:lpstr>
      <vt:lpstr>Design – Metadata</vt:lpstr>
      <vt:lpstr>Development process/protocols</vt:lpstr>
      <vt:lpstr>How to’s</vt:lpstr>
      <vt:lpstr>owais.a.hussain@gmail.com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Siesta</dc:title>
  <dc:creator>Owais Ahmed</dc:creator>
  <cp:keywords/>
  <cp:lastModifiedBy>Owais Ahmed</cp:lastModifiedBy>
  <cp:revision>131</cp:revision>
  <dcterms:created xsi:type="dcterms:W3CDTF">2014-11-01T07:12:58Z</dcterms:created>
  <dcterms:modified xsi:type="dcterms:W3CDTF">2021-10-25T06:09:31Z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TC027416599991</vt:lpwstr>
  </property>
</Properties>
</file>