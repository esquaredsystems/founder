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59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6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E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1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4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064582-0F28-404A-84B5-4866EDF23F63}" type="datetimeFigureOut">
              <a:rPr lang="en-GB" smtClean="0"/>
              <a:t>15/07/2014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FB839-ADF6-4CE6-BE19-F6837757DD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6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7/15/2014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jpeg"/><Relationship Id="rId18" Type="http://schemas.openxmlformats.org/officeDocument/2006/relationships/image" Target="../media/image18.jpeg"/><Relationship Id="rId26" Type="http://schemas.openxmlformats.org/officeDocument/2006/relationships/image" Target="../media/image26.jpeg"/><Relationship Id="rId3" Type="http://schemas.openxmlformats.org/officeDocument/2006/relationships/image" Target="../media/image3.jpeg"/><Relationship Id="rId21" Type="http://schemas.openxmlformats.org/officeDocument/2006/relationships/image" Target="../media/image21.jpeg"/><Relationship Id="rId34" Type="http://schemas.openxmlformats.org/officeDocument/2006/relationships/image" Target="../media/image34.jpe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17" Type="http://schemas.openxmlformats.org/officeDocument/2006/relationships/image" Target="../media/image17.jpeg"/><Relationship Id="rId25" Type="http://schemas.openxmlformats.org/officeDocument/2006/relationships/image" Target="../media/image25.jpeg"/><Relationship Id="rId33" Type="http://schemas.openxmlformats.org/officeDocument/2006/relationships/image" Target="../media/image33.jpeg"/><Relationship Id="rId2" Type="http://schemas.openxmlformats.org/officeDocument/2006/relationships/image" Target="../media/image2.jpeg"/><Relationship Id="rId16" Type="http://schemas.openxmlformats.org/officeDocument/2006/relationships/image" Target="../media/image16.jpeg"/><Relationship Id="rId20" Type="http://schemas.openxmlformats.org/officeDocument/2006/relationships/image" Target="../media/image20.jpeg"/><Relationship Id="rId29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24" Type="http://schemas.openxmlformats.org/officeDocument/2006/relationships/image" Target="../media/image24.jpeg"/><Relationship Id="rId32" Type="http://schemas.openxmlformats.org/officeDocument/2006/relationships/image" Target="../media/image32.jpeg"/><Relationship Id="rId5" Type="http://schemas.openxmlformats.org/officeDocument/2006/relationships/image" Target="../media/image5.jpeg"/><Relationship Id="rId15" Type="http://schemas.openxmlformats.org/officeDocument/2006/relationships/image" Target="../media/image15.jpeg"/><Relationship Id="rId23" Type="http://schemas.openxmlformats.org/officeDocument/2006/relationships/image" Target="../media/image23.jpeg"/><Relationship Id="rId28" Type="http://schemas.openxmlformats.org/officeDocument/2006/relationships/image" Target="../media/image28.jpeg"/><Relationship Id="rId36" Type="http://schemas.openxmlformats.org/officeDocument/2006/relationships/image" Target="../media/image36.jpeg"/><Relationship Id="rId10" Type="http://schemas.openxmlformats.org/officeDocument/2006/relationships/image" Target="../media/image10.jpeg"/><Relationship Id="rId19" Type="http://schemas.openxmlformats.org/officeDocument/2006/relationships/image" Target="../media/image19.jpeg"/><Relationship Id="rId31" Type="http://schemas.openxmlformats.org/officeDocument/2006/relationships/image" Target="../media/image31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Relationship Id="rId14" Type="http://schemas.openxmlformats.org/officeDocument/2006/relationships/image" Target="../media/image14.jpeg"/><Relationship Id="rId22" Type="http://schemas.openxmlformats.org/officeDocument/2006/relationships/image" Target="../media/image22.jpeg"/><Relationship Id="rId27" Type="http://schemas.openxmlformats.org/officeDocument/2006/relationships/image" Target="../media/image27.jpeg"/><Relationship Id="rId30" Type="http://schemas.openxmlformats.org/officeDocument/2006/relationships/image" Target="../media/image30.jpeg"/><Relationship Id="rId35" Type="http://schemas.openxmlformats.org/officeDocument/2006/relationships/image" Target="../media/image35.jpeg"/><Relationship Id="rId8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336883"/>
            <a:ext cx="8574622" cy="2616199"/>
          </a:xfrm>
        </p:spPr>
        <p:txBody>
          <a:bodyPr>
            <a:normAutofit/>
          </a:bodyPr>
          <a:lstStyle/>
          <a:p>
            <a:r>
              <a:rPr lang="en-US" sz="7200" dirty="0" smtClean="0"/>
              <a:t>Cloud Computing</a:t>
            </a:r>
            <a:endParaRPr lang="en-GB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8513" y="3622775"/>
            <a:ext cx="7304510" cy="1554527"/>
          </a:xfrm>
        </p:spPr>
        <p:txBody>
          <a:bodyPr>
            <a:normAutofit/>
          </a:bodyPr>
          <a:lstStyle/>
          <a:p>
            <a:r>
              <a:rPr lang="en-US" dirty="0" smtClean="0"/>
              <a:t>OWAIS A. HUSSAIN</a:t>
            </a:r>
          </a:p>
          <a:p>
            <a:r>
              <a:rPr lang="en-US" dirty="0" smtClean="0"/>
              <a:t>PhD (candid), PAF-KIET</a:t>
            </a:r>
          </a:p>
          <a:p>
            <a:r>
              <a:rPr lang="en-US" dirty="0" smtClean="0"/>
              <a:t>Sr. Software Engineer &amp; Team Lead, Interactive Health Solutions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0680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Outlines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700011"/>
            <a:ext cx="10018713" cy="4091189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4000" dirty="0" smtClean="0"/>
              <a:t>Introduction</a:t>
            </a:r>
          </a:p>
          <a:p>
            <a:r>
              <a:rPr lang="en-US" sz="4000" dirty="0" smtClean="0"/>
              <a:t>What’s New</a:t>
            </a:r>
          </a:p>
          <a:p>
            <a:r>
              <a:rPr lang="en-US" sz="4000" dirty="0" smtClean="0"/>
              <a:t>Why Cloud?</a:t>
            </a:r>
          </a:p>
          <a:p>
            <a:r>
              <a:rPr lang="en-US" sz="4000" dirty="0" smtClean="0"/>
              <a:t>Cloud Era</a:t>
            </a:r>
          </a:p>
          <a:p>
            <a:r>
              <a:rPr lang="en-US" sz="4000" dirty="0" smtClean="0"/>
              <a:t>DIY</a:t>
            </a:r>
          </a:p>
          <a:p>
            <a:r>
              <a:rPr lang="en-US" sz="4000" dirty="0" smtClean="0"/>
              <a:t>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716005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What’s new?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700011"/>
            <a:ext cx="10018713" cy="4091189"/>
          </a:xfrm>
        </p:spPr>
        <p:txBody>
          <a:bodyPr anchor="t">
            <a:normAutofit/>
          </a:bodyPr>
          <a:lstStyle/>
          <a:p>
            <a:r>
              <a:rPr lang="en-US" sz="2800" dirty="0" smtClean="0"/>
              <a:t>Distributed Computing</a:t>
            </a:r>
          </a:p>
          <a:p>
            <a:pPr lvl="1"/>
            <a:r>
              <a:rPr lang="en-US" dirty="0" smtClean="0"/>
              <a:t>Networked </a:t>
            </a:r>
            <a:r>
              <a:rPr lang="en-US" dirty="0"/>
              <a:t>computers </a:t>
            </a:r>
            <a:r>
              <a:rPr lang="en-US" dirty="0" smtClean="0"/>
              <a:t>communicating their </a:t>
            </a:r>
            <a:r>
              <a:rPr lang="en-US" dirty="0"/>
              <a:t>actions by passing </a:t>
            </a:r>
            <a:r>
              <a:rPr lang="en-US" dirty="0" smtClean="0"/>
              <a:t>messages</a:t>
            </a:r>
          </a:p>
          <a:p>
            <a:r>
              <a:rPr lang="en-US" sz="2800" dirty="0" smtClean="0"/>
              <a:t>Grid Computing</a:t>
            </a:r>
          </a:p>
          <a:p>
            <a:pPr lvl="1"/>
            <a:r>
              <a:rPr lang="en-US" dirty="0" smtClean="0"/>
              <a:t>A collection </a:t>
            </a:r>
            <a:r>
              <a:rPr lang="en-US" dirty="0"/>
              <a:t>of </a:t>
            </a:r>
            <a:r>
              <a:rPr lang="en-US" dirty="0" smtClean="0"/>
              <a:t>computers from </a:t>
            </a:r>
            <a:r>
              <a:rPr lang="en-US" dirty="0"/>
              <a:t>multiple locations to reach a common </a:t>
            </a:r>
            <a:r>
              <a:rPr lang="en-US" dirty="0" smtClean="0"/>
              <a:t>goal; a </a:t>
            </a:r>
            <a:r>
              <a:rPr lang="en-US" dirty="0"/>
              <a:t>distributed system with non-interactive </a:t>
            </a:r>
            <a:r>
              <a:rPr lang="en-US" dirty="0" smtClean="0"/>
              <a:t>workloads</a:t>
            </a:r>
          </a:p>
          <a:p>
            <a:r>
              <a:rPr lang="en-US" dirty="0" smtClean="0"/>
              <a:t>Cloud Computing</a:t>
            </a:r>
          </a:p>
          <a:p>
            <a:pPr lvl="1"/>
            <a:r>
              <a:rPr lang="en-US" dirty="0" smtClean="0"/>
              <a:t>A </a:t>
            </a:r>
            <a:r>
              <a:rPr lang="en-US" strike="sngStrike" dirty="0" smtClean="0"/>
              <a:t>buzz word</a:t>
            </a:r>
            <a:r>
              <a:rPr lang="en-US" dirty="0" smtClean="0"/>
              <a:t> collection of buzz words</a:t>
            </a:r>
          </a:p>
          <a:p>
            <a:pPr lvl="1"/>
            <a:r>
              <a:rPr lang="en-US" dirty="0" smtClean="0"/>
              <a:t>SaaS, </a:t>
            </a:r>
            <a:r>
              <a:rPr lang="en-US" dirty="0" err="1" smtClean="0"/>
              <a:t>PaaS</a:t>
            </a:r>
            <a:r>
              <a:rPr lang="en-US" dirty="0" smtClean="0"/>
              <a:t>, </a:t>
            </a:r>
            <a:r>
              <a:rPr lang="en-US" dirty="0" err="1" smtClean="0"/>
              <a:t>IaaS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784680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SaaS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584" y="1700011"/>
            <a:ext cx="10018713" cy="4597758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3200" dirty="0" smtClean="0"/>
              <a:t>Software as a Service</a:t>
            </a:r>
          </a:p>
          <a:p>
            <a:pPr lvl="1"/>
            <a:r>
              <a:rPr lang="en-US" sz="2400" dirty="0" smtClean="0"/>
              <a:t>Applications </a:t>
            </a:r>
            <a:r>
              <a:rPr lang="en-US" sz="2400" dirty="0"/>
              <a:t>are hosted by </a:t>
            </a:r>
            <a:r>
              <a:rPr lang="en-US" sz="2400" dirty="0" smtClean="0"/>
              <a:t>vendor </a:t>
            </a:r>
            <a:r>
              <a:rPr lang="en-US" sz="2400" dirty="0"/>
              <a:t>or service </a:t>
            </a:r>
            <a:r>
              <a:rPr lang="en-US" sz="2400" dirty="0" smtClean="0"/>
              <a:t>provider</a:t>
            </a:r>
          </a:p>
          <a:p>
            <a:pPr lvl="1"/>
            <a:r>
              <a:rPr lang="en-US" sz="2400" dirty="0" smtClean="0"/>
              <a:t>Made available to customers, </a:t>
            </a:r>
            <a:r>
              <a:rPr lang="en-US" sz="2400" dirty="0"/>
              <a:t>typically </a:t>
            </a:r>
            <a:r>
              <a:rPr lang="en-US" sz="2400" dirty="0" smtClean="0"/>
              <a:t>the Internet</a:t>
            </a:r>
          </a:p>
          <a:p>
            <a:pPr lvl="1"/>
            <a:r>
              <a:rPr lang="en-US" sz="2400" dirty="0" smtClean="0"/>
              <a:t>Safe, Crash free, Multi-platform</a:t>
            </a:r>
          </a:p>
          <a:p>
            <a:r>
              <a:rPr lang="en-US" sz="2800" dirty="0" smtClean="0"/>
              <a:t>Examples:</a:t>
            </a:r>
          </a:p>
          <a:p>
            <a:pPr lvl="1"/>
            <a:r>
              <a:rPr lang="en-US" dirty="0" smtClean="0"/>
              <a:t>Productivity: Office 365, Google Docs, Picasa Web</a:t>
            </a:r>
          </a:p>
          <a:p>
            <a:pPr lvl="1"/>
            <a:r>
              <a:rPr lang="en-US" dirty="0" smtClean="0"/>
              <a:t>Email: Gmail, Outlook</a:t>
            </a:r>
          </a:p>
          <a:p>
            <a:pPr lvl="1"/>
            <a:r>
              <a:rPr lang="en-US" dirty="0" smtClean="0"/>
              <a:t>Communication: Skype, </a:t>
            </a:r>
            <a:r>
              <a:rPr lang="en-US" dirty="0" err="1" smtClean="0"/>
              <a:t>GotoMeeting</a:t>
            </a:r>
            <a:endParaRPr lang="en-US" dirty="0" smtClean="0"/>
          </a:p>
          <a:p>
            <a:pPr lvl="1"/>
            <a:r>
              <a:rPr lang="en-US" dirty="0" smtClean="0"/>
              <a:t>ERP: SAP, Microsoft Dynamics</a:t>
            </a:r>
          </a:p>
          <a:p>
            <a:pPr lvl="1"/>
            <a:r>
              <a:rPr lang="en-US" dirty="0" smtClean="0"/>
              <a:t>Financial: Quicken, </a:t>
            </a:r>
            <a:r>
              <a:rPr lang="en-US" dirty="0" err="1" smtClean="0"/>
              <a:t>Turbotax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sz="2400" dirty="0" smtClean="0"/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421390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err="1" smtClean="0"/>
              <a:t>PaaS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584" y="1700010"/>
            <a:ext cx="10018713" cy="4378817"/>
          </a:xfrm>
        </p:spPr>
        <p:txBody>
          <a:bodyPr anchor="t">
            <a:normAutofit lnSpcReduction="10000"/>
          </a:bodyPr>
          <a:lstStyle/>
          <a:p>
            <a:r>
              <a:rPr lang="en-US" sz="3200" dirty="0" smtClean="0"/>
              <a:t>Platform as a Service</a:t>
            </a:r>
          </a:p>
          <a:p>
            <a:pPr lvl="1"/>
            <a:r>
              <a:rPr lang="en-US" sz="2400" dirty="0" smtClean="0"/>
              <a:t>Provide a computer platform, including OS, Programming IDE, Execution </a:t>
            </a:r>
            <a:r>
              <a:rPr lang="en-US" sz="2400" dirty="0"/>
              <a:t>environment, </a:t>
            </a:r>
            <a:r>
              <a:rPr lang="en-US" sz="2400" dirty="0" smtClean="0"/>
              <a:t>Database </a:t>
            </a:r>
            <a:r>
              <a:rPr lang="en-US" sz="2400" dirty="0"/>
              <a:t>and </a:t>
            </a:r>
            <a:r>
              <a:rPr lang="en-US" sz="2400" dirty="0" smtClean="0"/>
              <a:t>Web Server</a:t>
            </a:r>
          </a:p>
          <a:p>
            <a:pPr lvl="1"/>
            <a:r>
              <a:rPr lang="en-US" sz="2400" dirty="0" smtClean="0"/>
              <a:t>Real-time resource allocation</a:t>
            </a:r>
          </a:p>
          <a:p>
            <a:r>
              <a:rPr lang="en-US" sz="2800" dirty="0" smtClean="0"/>
              <a:t>Examples:</a:t>
            </a:r>
          </a:p>
          <a:p>
            <a:pPr lvl="1"/>
            <a:r>
              <a:rPr lang="en-US" dirty="0" smtClean="0"/>
              <a:t>Amazon: AWS (Amazon Web Services)</a:t>
            </a:r>
          </a:p>
          <a:p>
            <a:pPr lvl="1"/>
            <a:r>
              <a:rPr lang="en-US" dirty="0" smtClean="0"/>
              <a:t>Microsoft Azure</a:t>
            </a:r>
          </a:p>
          <a:p>
            <a:pPr lvl="1"/>
            <a:r>
              <a:rPr lang="en-US" dirty="0" smtClean="0"/>
              <a:t>Google: App Engine</a:t>
            </a:r>
          </a:p>
          <a:p>
            <a:pPr lvl="1"/>
            <a:r>
              <a:rPr lang="en-US" dirty="0" smtClean="0"/>
              <a:t>VMWare: Cloud </a:t>
            </a:r>
            <a:r>
              <a:rPr lang="en-US" dirty="0" err="1" smtClean="0"/>
              <a:t>Foundary</a:t>
            </a:r>
            <a:endParaRPr lang="en-US" dirty="0" smtClean="0"/>
          </a:p>
          <a:p>
            <a:pPr lvl="1"/>
            <a:endParaRPr lang="en-US" sz="2400" dirty="0" smtClean="0"/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672739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err="1"/>
              <a:t>I</a:t>
            </a:r>
            <a:r>
              <a:rPr lang="en-US" sz="4400" dirty="0" err="1" smtClean="0"/>
              <a:t>aaS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584" y="1700010"/>
            <a:ext cx="10018713" cy="4636396"/>
          </a:xfrm>
        </p:spPr>
        <p:txBody>
          <a:bodyPr anchor="t">
            <a:normAutofit/>
          </a:bodyPr>
          <a:lstStyle/>
          <a:p>
            <a:r>
              <a:rPr lang="en-US" sz="3200" dirty="0" smtClean="0"/>
              <a:t>Infrastructure as a Service</a:t>
            </a:r>
          </a:p>
          <a:p>
            <a:pPr lvl="1"/>
            <a:r>
              <a:rPr lang="en-US" sz="2400" dirty="0" smtClean="0"/>
              <a:t>Physical or Virtual Machines provided to customer</a:t>
            </a:r>
          </a:p>
          <a:p>
            <a:pPr lvl="1"/>
            <a:r>
              <a:rPr lang="en-US" sz="2400" dirty="0" smtClean="0"/>
              <a:t>Saves maintenance, security cost</a:t>
            </a:r>
          </a:p>
          <a:p>
            <a:r>
              <a:rPr lang="en-US" sz="2800" dirty="0" smtClean="0"/>
              <a:t>Examples:</a:t>
            </a:r>
          </a:p>
          <a:p>
            <a:pPr lvl="1"/>
            <a:r>
              <a:rPr lang="en-US" dirty="0" smtClean="0"/>
              <a:t>Amazon’s EC2 (Elastic Compute Cloud)</a:t>
            </a:r>
          </a:p>
          <a:p>
            <a:pPr lvl="1"/>
            <a:r>
              <a:rPr lang="en-US" dirty="0" smtClean="0"/>
              <a:t>Virtual Machines</a:t>
            </a:r>
          </a:p>
          <a:p>
            <a:pPr lvl="1"/>
            <a:r>
              <a:rPr lang="en-US" dirty="0" smtClean="0"/>
              <a:t>Firewalls</a:t>
            </a:r>
          </a:p>
          <a:p>
            <a:pPr lvl="1"/>
            <a:r>
              <a:rPr lang="en-US" dirty="0" smtClean="0"/>
              <a:t>Web Servers</a:t>
            </a:r>
          </a:p>
          <a:p>
            <a:pPr lvl="1"/>
            <a:r>
              <a:rPr lang="en-US" dirty="0" smtClean="0"/>
              <a:t>VLANs</a:t>
            </a:r>
            <a:endParaRPr lang="en-US" sz="2400" dirty="0" smtClean="0"/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761535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Why Cloud?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584" y="1700010"/>
            <a:ext cx="10018713" cy="4520486"/>
          </a:xfrm>
        </p:spPr>
        <p:txBody>
          <a:bodyPr anchor="t">
            <a:normAutofit/>
          </a:bodyPr>
          <a:lstStyle/>
          <a:p>
            <a:r>
              <a:rPr lang="en-US" sz="3200" dirty="0" smtClean="0"/>
              <a:t>Who uses Cloud?</a:t>
            </a:r>
          </a:p>
          <a:p>
            <a:r>
              <a:rPr lang="en-US" sz="3200" dirty="0" smtClean="0"/>
              <a:t>Customer – you</a:t>
            </a:r>
          </a:p>
          <a:p>
            <a:r>
              <a:rPr lang="en-US" sz="3200" dirty="0" smtClean="0"/>
              <a:t>Security</a:t>
            </a:r>
          </a:p>
          <a:p>
            <a:r>
              <a:rPr lang="en-US" sz="3200" dirty="0" smtClean="0"/>
              <a:t>Cost</a:t>
            </a:r>
          </a:p>
          <a:p>
            <a:r>
              <a:rPr lang="en-US" sz="3200" dirty="0" smtClean="0"/>
              <a:t>Reliability</a:t>
            </a:r>
          </a:p>
          <a:p>
            <a:r>
              <a:rPr lang="en-US" sz="3200" dirty="0" smtClean="0"/>
              <a:t>Platform Independency</a:t>
            </a:r>
          </a:p>
          <a:p>
            <a:endParaRPr lang="en-US" sz="2400" dirty="0" smtClean="0"/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903127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Who uses Cloud?</a:t>
            </a:r>
            <a:endParaRPr lang="en-GB" sz="4400" dirty="0"/>
          </a:p>
        </p:txBody>
      </p:sp>
      <p:pic>
        <p:nvPicPr>
          <p:cNvPr id="5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446" y="5582563"/>
            <a:ext cx="990600" cy="9906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20" y="5638156"/>
            <a:ext cx="1074737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690" y="4498331"/>
            <a:ext cx="1674813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377" y="5684838"/>
            <a:ext cx="102235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 descr="https://ssl.gstatic.com/accounts/services/drive/drive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140" y="3743326"/>
            <a:ext cx="1587500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 descr="http://ts3.mm.bing.net/th?id=H.4835786127312046&amp;pid=1.7&amp;w=147&amp;h=149&amp;c=7&amp;rs=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628" y="1529633"/>
            <a:ext cx="9906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8" descr="http://ts2.mm.bing.net/th?id=H.4937671293534957&amp;pid=15.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321" y="1639888"/>
            <a:ext cx="98107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0" descr="http://ts3.mm.bing.net/th?id=H.4931452190262246&amp;pid=15.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925" y="4680515"/>
            <a:ext cx="9461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4" descr="http://ts4.mm.bing.net/th?id=H.4987703377660239&amp;pid=15.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8840" y="1639888"/>
            <a:ext cx="1412875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8" descr="http://ts4.mm.bing.net/th?id=H.4719538559454383&amp;pid=15.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830" y="3729083"/>
            <a:ext cx="105568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0" descr="http://ts4.mm.bing.net/th?id=H.4595963742390019&amp;pid=15.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6890" y="1731963"/>
            <a:ext cx="842963" cy="87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2" descr="http://ts2.mm.bing.net/th?id=H.4770837636712173&amp;pid=15.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640" y="1747838"/>
            <a:ext cx="887413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4" descr="http://ts1.mm.bing.net/th?id=H.4550630397445168&amp;pid=15.1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25" y="4945150"/>
            <a:ext cx="8890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0" descr="http://ts4.mm.bing.net/th?id=H.4975192176918539&amp;pid=15.1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301" y="4791075"/>
            <a:ext cx="104775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32" descr="http://ts1.mm.bing.net/th?id=H.4818138106430376&amp;pid=15.1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401" y="4834580"/>
            <a:ext cx="788987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34" descr="http://ts1.mm.bing.net/th?id=H.4984220139522772&amp;pid=15.1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55" y="5932184"/>
            <a:ext cx="271145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36" descr="http://ts4.mm.bing.net/th?id=H.4852815636662611&amp;pid=15.1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050" y="3384553"/>
            <a:ext cx="1200150" cy="98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8" descr="http://ts4.mm.bing.net/th?id=H.4928883809519027&amp;pid=15.1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314" y="2685770"/>
            <a:ext cx="860425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40" descr="http://ts3.mm.bing.net/th?id=H.4959927832218142&amp;pid=15.1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628" y="2714625"/>
            <a:ext cx="1019175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44" descr="http://ts3.mm.bing.net/th?id=H.4636568371529830&amp;pid=15.1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840" y="1747838"/>
            <a:ext cx="842963" cy="84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48" descr="http://ts2.mm.bing.net/th?id=H.4817154546533997&amp;pid=15.1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2710" y="2847976"/>
            <a:ext cx="877888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50" descr="http://ts1.mm.bing.net/th?id=H.4668956688516112&amp;pid=15.1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2427" y="4605782"/>
            <a:ext cx="1296988" cy="96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54" descr="http://ts1.mm.bing.net/th?id=H.4765516138218672&amp;pid=15.1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265" y="2569560"/>
            <a:ext cx="1144588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56" descr="http://ts4.mm.bing.net/th?id=H.4698776666964355&amp;pid=15.1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815" y="5676256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58" descr="http://ts1.mm.bing.net/th?id=I.4603209355561872&amp;pid=15.1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3788" y="3764364"/>
            <a:ext cx="1027112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60" descr="http://ts4.mm.bing.net/th?id=H.5040419787112943&amp;pid=15.1"/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683" y="2757488"/>
            <a:ext cx="823912" cy="118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62" descr="http://ts3.mm.bing.net/th?id=H.4802766445347662&amp;pid=15.1"/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257" y="5079569"/>
            <a:ext cx="11842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64" descr="http://ts1.mm.bing.net/th?id=H.4623825215621104&amp;pid=15.1"/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2466" y="3979863"/>
            <a:ext cx="1360487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68" descr="http://ts1.mm.bing.net/th?id=H.4582279988708676&amp;pid=15.1"/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402" y="2659063"/>
            <a:ext cx="882650" cy="88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70" descr="http://ts2.mm.bing.net/th?id=H.4974410465411649&amp;pid=15.1"/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865" y="2714625"/>
            <a:ext cx="1025525" cy="82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72" descr="http://ts1.mm.bing.net/th?id=H.4910935159014544&amp;pid=15.1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478" y="1666875"/>
            <a:ext cx="979487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74" descr="http://ts1.mm.bing.net/th?id=H.4976484921968724&amp;pid=15.1"/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715" y="3721742"/>
            <a:ext cx="1112837" cy="111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16" descr="http://ts4.mm.bing.net/th?id=H.4682494440637407&amp;pid=15.1"/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527" y="2589890"/>
            <a:ext cx="90805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26" descr="http://ts4.mm.bing.net/th?id=H.4669042632425963&amp;pid=15.1"/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883" y="1452561"/>
            <a:ext cx="892175" cy="89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12" descr="http://ts4.mm.bing.net/th?id=H.4833784686641755&amp;pid=15.1"/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993" y="1631078"/>
            <a:ext cx="876300" cy="87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7344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Why Cloud?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584" y="1700010"/>
            <a:ext cx="10018713" cy="4520486"/>
          </a:xfrm>
        </p:spPr>
        <p:txBody>
          <a:bodyPr anchor="t">
            <a:normAutofit/>
          </a:bodyPr>
          <a:lstStyle/>
          <a:p>
            <a:r>
              <a:rPr lang="en-US" sz="3200" dirty="0" smtClean="0"/>
              <a:t>Security</a:t>
            </a:r>
          </a:p>
          <a:p>
            <a:pPr lvl="1"/>
            <a:r>
              <a:rPr lang="en-US" sz="2800" dirty="0" smtClean="0"/>
              <a:t>Crash free</a:t>
            </a:r>
          </a:p>
          <a:p>
            <a:pPr lvl="1"/>
            <a:r>
              <a:rPr lang="en-US" sz="2800" dirty="0" smtClean="0"/>
              <a:t>Physical Security</a:t>
            </a:r>
          </a:p>
          <a:p>
            <a:pPr lvl="1"/>
            <a:r>
              <a:rPr lang="en-US" sz="2800" dirty="0" smtClean="0"/>
              <a:t>Virus Protection</a:t>
            </a:r>
          </a:p>
          <a:p>
            <a:pPr lvl="1"/>
            <a:r>
              <a:rPr lang="en-US" sz="2800" dirty="0" smtClean="0"/>
              <a:t>Immune to Absolute Destruction</a:t>
            </a:r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990314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Why Cloud?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584" y="1687131"/>
            <a:ext cx="10018713" cy="4520486"/>
          </a:xfrm>
        </p:spPr>
        <p:txBody>
          <a:bodyPr anchor="t">
            <a:normAutofit/>
          </a:bodyPr>
          <a:lstStyle/>
          <a:p>
            <a:r>
              <a:rPr lang="en-US" sz="3200" dirty="0" smtClean="0"/>
              <a:t>Reliability</a:t>
            </a:r>
          </a:p>
          <a:p>
            <a:pPr lvl="1"/>
            <a:r>
              <a:rPr lang="en-US" sz="2800" dirty="0" smtClean="0"/>
              <a:t>No Single POF</a:t>
            </a:r>
            <a:endParaRPr lang="en-US" sz="2800" dirty="0"/>
          </a:p>
          <a:p>
            <a:pPr lvl="1"/>
            <a:r>
              <a:rPr lang="en-US" sz="2800" dirty="0" smtClean="0"/>
              <a:t>High Replication</a:t>
            </a:r>
          </a:p>
          <a:p>
            <a:pPr lvl="1"/>
            <a:r>
              <a:rPr lang="en-US" sz="2800" dirty="0" smtClean="0"/>
              <a:t>Tried, Tested &amp; Trusted Hardware</a:t>
            </a:r>
          </a:p>
          <a:p>
            <a:pPr lvl="1"/>
            <a:r>
              <a:rPr lang="en-US" sz="2800" dirty="0" smtClean="0"/>
              <a:t>Multiple Physical Locations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539689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Why Cloud?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584" y="1687131"/>
            <a:ext cx="10018713" cy="4520486"/>
          </a:xfrm>
        </p:spPr>
        <p:txBody>
          <a:bodyPr anchor="t">
            <a:normAutofit/>
          </a:bodyPr>
          <a:lstStyle/>
          <a:p>
            <a:r>
              <a:rPr lang="en-US" sz="3200" dirty="0" smtClean="0"/>
              <a:t>Platform Independency</a:t>
            </a:r>
          </a:p>
          <a:p>
            <a:pPr lvl="1"/>
            <a:r>
              <a:rPr lang="en-US" sz="2800" dirty="0" smtClean="0"/>
              <a:t>Mostly for SaaS</a:t>
            </a:r>
            <a:endParaRPr lang="en-US" sz="2800" dirty="0"/>
          </a:p>
          <a:p>
            <a:pPr lvl="1"/>
            <a:r>
              <a:rPr lang="en-US" sz="2800" dirty="0" smtClean="0"/>
              <a:t>Browser as Client Software</a:t>
            </a:r>
          </a:p>
          <a:p>
            <a:pPr lvl="1"/>
            <a:r>
              <a:rPr lang="en-US" sz="2800" dirty="0" smtClean="0"/>
              <a:t>But not entirely true</a:t>
            </a:r>
          </a:p>
          <a:p>
            <a:pPr lvl="2"/>
            <a:r>
              <a:rPr lang="en-US" sz="2600" dirty="0" smtClean="0"/>
              <a:t>Mobile Apps</a:t>
            </a:r>
          </a:p>
          <a:p>
            <a:pPr lvl="2"/>
            <a:r>
              <a:rPr lang="en-US" sz="2600" dirty="0" smtClean="0"/>
              <a:t>Browser Incompatibilities</a:t>
            </a:r>
          </a:p>
          <a:p>
            <a:pPr lvl="2"/>
            <a:r>
              <a:rPr lang="en-US" sz="2600" dirty="0" smtClean="0"/>
              <a:t>Runtime Dependencies (JRE, .NET, Flash)</a:t>
            </a:r>
          </a:p>
        </p:txBody>
      </p:sp>
    </p:spTree>
    <p:extLst>
      <p:ext uri="{BB962C8B-B14F-4D97-AF65-F5344CB8AC3E}">
        <p14:creationId xmlns:p14="http://schemas.microsoft.com/office/powerpoint/2010/main" val="1625448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Cloud Era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584" y="1687131"/>
            <a:ext cx="10018713" cy="4520486"/>
          </a:xfrm>
        </p:spPr>
        <p:txBody>
          <a:bodyPr anchor="t">
            <a:normAutofit/>
          </a:bodyPr>
          <a:lstStyle/>
          <a:p>
            <a:r>
              <a:rPr lang="en-US" sz="3200" dirty="0" smtClean="0"/>
              <a:t>Other Applications</a:t>
            </a:r>
          </a:p>
          <a:p>
            <a:r>
              <a:rPr lang="en-US" sz="3200" dirty="0" smtClean="0"/>
              <a:t>Big Data</a:t>
            </a:r>
          </a:p>
          <a:p>
            <a:r>
              <a:rPr lang="en-US" sz="3200" dirty="0" smtClean="0"/>
              <a:t>Facebook</a:t>
            </a:r>
          </a:p>
          <a:p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472420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2732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3287" y="0"/>
            <a:ext cx="10018713" cy="795270"/>
          </a:xfrm>
        </p:spPr>
        <p:txBody>
          <a:bodyPr>
            <a:normAutofit/>
          </a:bodyPr>
          <a:lstStyle/>
          <a:p>
            <a:pPr algn="r"/>
            <a:r>
              <a:rPr lang="en-US" sz="4400" dirty="0" smtClean="0"/>
              <a:t>Applications – Network Analysis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686060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167" y="0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Applications – Genome Sequencing</a:t>
            </a:r>
            <a:endParaRPr lang="en-GB" sz="4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524" y="795270"/>
            <a:ext cx="9144000" cy="606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29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364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167" y="0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Applications – Video Rendering</a:t>
            </a:r>
            <a:endParaRPr lang="en-GB" sz="4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653" y="2948114"/>
            <a:ext cx="1684181" cy="97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56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167" y="0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Applications – Particle Science</a:t>
            </a:r>
            <a:endParaRPr lang="en-GB" sz="4400" dirty="0"/>
          </a:p>
        </p:txBody>
      </p:sp>
      <p:pic>
        <p:nvPicPr>
          <p:cNvPr id="6" name="Picture 2" descr="lhc2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83" y="795270"/>
            <a:ext cx="10907880" cy="6062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3764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167" y="0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Applications – Web Crawling</a:t>
            </a:r>
            <a:endParaRPr lang="en-GB" sz="4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192" y="795270"/>
            <a:ext cx="8932662" cy="606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72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167" y="0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Applications – Gaming</a:t>
            </a:r>
            <a:endParaRPr lang="en-GB" sz="4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56" y="734876"/>
            <a:ext cx="10556534" cy="612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686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167" y="0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Applications – Traffic Congestion Control</a:t>
            </a:r>
            <a:endParaRPr lang="en-GB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13" y="795270"/>
            <a:ext cx="11235947" cy="606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0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Applications – more..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584" y="1687131"/>
            <a:ext cx="10018713" cy="4520486"/>
          </a:xfrm>
        </p:spPr>
        <p:txBody>
          <a:bodyPr anchor="t">
            <a:normAutofit/>
          </a:bodyPr>
          <a:lstStyle/>
          <a:p>
            <a:r>
              <a:rPr lang="en-US" sz="3200" dirty="0" smtClean="0"/>
              <a:t>Flight Simulations – Microsoft Flight Simulator</a:t>
            </a:r>
          </a:p>
          <a:p>
            <a:r>
              <a:rPr lang="en-US" sz="3200" dirty="0" smtClean="0"/>
              <a:t>Augmented Reality – Google Glass</a:t>
            </a:r>
          </a:p>
          <a:p>
            <a:r>
              <a:rPr lang="en-US" sz="3200" dirty="0" smtClean="0"/>
              <a:t>Telecommunications – AT&amp;T et. al</a:t>
            </a:r>
          </a:p>
          <a:p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108092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Big Data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584" y="1687131"/>
            <a:ext cx="10018713" cy="4520486"/>
          </a:xfrm>
        </p:spPr>
        <p:txBody>
          <a:bodyPr anchor="t">
            <a:normAutofit/>
          </a:bodyPr>
          <a:lstStyle/>
          <a:p>
            <a:r>
              <a:rPr lang="en-US" sz="3200" dirty="0" smtClean="0"/>
              <a:t>Big with a Capital </a:t>
            </a:r>
            <a:r>
              <a:rPr lang="en-US" sz="23900" dirty="0" smtClean="0"/>
              <a:t>‘B’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919619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Calibri" panose="020F0502020204030204" pitchFamily="34" charset="0"/>
              </a:rPr>
              <a:t>Big Data – Facebook (2012)</a:t>
            </a:r>
            <a:endParaRPr lang="en-GB" sz="4400" dirty="0"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584" y="1687131"/>
            <a:ext cx="10018713" cy="4520486"/>
          </a:xfrm>
        </p:spPr>
        <p:txBody>
          <a:bodyPr anchor="t">
            <a:normAutofit/>
          </a:bodyPr>
          <a:lstStyle/>
          <a:p>
            <a:r>
              <a:rPr lang="en-US" sz="3200" dirty="0" smtClean="0">
                <a:latin typeface="Calibri" panose="020F0502020204030204" pitchFamily="34" charset="0"/>
              </a:rPr>
              <a:t>2.5B </a:t>
            </a:r>
            <a:r>
              <a:rPr lang="en-US" sz="3200" dirty="0">
                <a:latin typeface="Calibri" panose="020F0502020204030204" pitchFamily="34" charset="0"/>
              </a:rPr>
              <a:t>- content items shared</a:t>
            </a:r>
          </a:p>
          <a:p>
            <a:r>
              <a:rPr lang="en-US" sz="3200" dirty="0">
                <a:latin typeface="Calibri" panose="020F0502020204030204" pitchFamily="34" charset="0"/>
              </a:rPr>
              <a:t>2.7B - ‘Likes’</a:t>
            </a:r>
          </a:p>
          <a:p>
            <a:r>
              <a:rPr lang="en-US" sz="3200" dirty="0">
                <a:latin typeface="Calibri" panose="020F0502020204030204" pitchFamily="34" charset="0"/>
              </a:rPr>
              <a:t>300M - photos uploaded</a:t>
            </a:r>
          </a:p>
          <a:p>
            <a:r>
              <a:rPr lang="en-US" sz="3200" dirty="0">
                <a:latin typeface="Calibri" panose="020F0502020204030204" pitchFamily="34" charset="0"/>
              </a:rPr>
              <a:t>100+ PB - disk space in a single HDFS cluster</a:t>
            </a:r>
          </a:p>
          <a:p>
            <a:r>
              <a:rPr lang="en-US" sz="3200" dirty="0">
                <a:latin typeface="Calibri" panose="020F0502020204030204" pitchFamily="34" charset="0"/>
              </a:rPr>
              <a:t>105TB - data scanned via Hive (30min)</a:t>
            </a:r>
          </a:p>
          <a:p>
            <a:r>
              <a:rPr lang="en-US" sz="3200" dirty="0" smtClean="0">
                <a:latin typeface="Calibri" panose="020F0502020204030204" pitchFamily="34" charset="0"/>
              </a:rPr>
              <a:t>500</a:t>
            </a:r>
            <a:r>
              <a:rPr lang="en-US" sz="3200" dirty="0">
                <a:latin typeface="Calibri" panose="020F0502020204030204" pitchFamily="34" charset="0"/>
              </a:rPr>
              <a:t>+ TB - new data </a:t>
            </a:r>
            <a:r>
              <a:rPr lang="en-US" sz="3200" dirty="0" smtClean="0">
                <a:latin typeface="Calibri" panose="020F0502020204030204" pitchFamily="34" charset="0"/>
              </a:rPr>
              <a:t>ingested</a:t>
            </a:r>
            <a:endParaRPr lang="en-US" sz="3200" dirty="0">
              <a:latin typeface="Calibri" panose="020F0502020204030204" pitchFamily="34" charset="0"/>
            </a:endParaRPr>
          </a:p>
          <a:p>
            <a:endParaRPr lang="en-US" sz="3200" dirty="0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975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Calibri" panose="020F0502020204030204" pitchFamily="34" charset="0"/>
              </a:rPr>
              <a:t>Big Data – Google</a:t>
            </a:r>
            <a:endParaRPr lang="en-GB" sz="4400" dirty="0"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584" y="1687131"/>
            <a:ext cx="10018713" cy="4520486"/>
          </a:xfrm>
        </p:spPr>
        <p:txBody>
          <a:bodyPr anchor="t">
            <a:normAutofit/>
          </a:bodyPr>
          <a:lstStyle/>
          <a:p>
            <a:r>
              <a:rPr lang="en-US" sz="3200" dirty="0" smtClean="0">
                <a:latin typeface="Calibri" panose="020F0502020204030204" pitchFamily="34" charset="0"/>
              </a:rPr>
              <a:t>Owns 900,000+ servers (2014)</a:t>
            </a:r>
          </a:p>
          <a:p>
            <a:r>
              <a:rPr lang="en-US" sz="3200" dirty="0" smtClean="0">
                <a:latin typeface="Calibri" panose="020F0502020204030204" pitchFamily="34" charset="0"/>
              </a:rPr>
              <a:t>20PB - processed ever day (2008)</a:t>
            </a:r>
          </a:p>
          <a:p>
            <a:r>
              <a:rPr lang="en-US" sz="3200" dirty="0" smtClean="0">
                <a:latin typeface="Calibri" panose="020F0502020204030204" pitchFamily="34" charset="0"/>
              </a:rPr>
              <a:t>850TB - crawler data (2006)</a:t>
            </a:r>
          </a:p>
          <a:p>
            <a:r>
              <a:rPr lang="en-US" sz="3200" dirty="0" smtClean="0">
                <a:latin typeface="Calibri" panose="020F0502020204030204" pitchFamily="34" charset="0"/>
              </a:rPr>
              <a:t>220TB - 2 tables of Google Analytics</a:t>
            </a:r>
          </a:p>
          <a:p>
            <a:r>
              <a:rPr lang="en-US" sz="3200" dirty="0" smtClean="0">
                <a:latin typeface="Calibri" panose="020F0502020204030204" pitchFamily="34" charset="0"/>
              </a:rPr>
              <a:t>10EB - total capacity estimated by XKCD</a:t>
            </a:r>
          </a:p>
          <a:p>
            <a:r>
              <a:rPr lang="en-US" sz="3200" dirty="0" smtClean="0">
                <a:latin typeface="Calibri" panose="020F0502020204030204" pitchFamily="34" charset="0"/>
              </a:rPr>
              <a:t>Btw, 5EB can store every word spoken by mankind</a:t>
            </a:r>
          </a:p>
          <a:p>
            <a:endParaRPr lang="en-US" sz="3200" dirty="0">
              <a:latin typeface="Calibri" panose="020F0502020204030204" pitchFamily="34" charset="0"/>
            </a:endParaRPr>
          </a:p>
          <a:p>
            <a:endParaRPr lang="en-US" sz="3200" dirty="0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471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Calibri" panose="020F0502020204030204" pitchFamily="34" charset="0"/>
              </a:rPr>
              <a:t>DIY</a:t>
            </a:r>
            <a:endParaRPr lang="en-GB" sz="4400" dirty="0"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584" y="1687131"/>
            <a:ext cx="10018713" cy="4520486"/>
          </a:xfrm>
        </p:spPr>
        <p:txBody>
          <a:bodyPr anchor="t">
            <a:normAutofit/>
          </a:bodyPr>
          <a:lstStyle/>
          <a:p>
            <a:r>
              <a:rPr lang="en-US" sz="3200" dirty="0" smtClean="0">
                <a:latin typeface="Calibri" panose="020F0502020204030204" pitchFamily="34" charset="0"/>
              </a:rPr>
              <a:t>Hadoop</a:t>
            </a:r>
          </a:p>
          <a:p>
            <a:r>
              <a:rPr lang="en-US" sz="3200" dirty="0" smtClean="0">
                <a:latin typeface="Calibri" panose="020F0502020204030204" pitchFamily="34" charset="0"/>
              </a:rPr>
              <a:t>HIVE</a:t>
            </a:r>
          </a:p>
          <a:p>
            <a:r>
              <a:rPr lang="en-US" sz="3200" dirty="0" err="1" smtClean="0">
                <a:latin typeface="Calibri" panose="020F0502020204030204" pitchFamily="34" charset="0"/>
              </a:rPr>
              <a:t>HBase</a:t>
            </a:r>
            <a:endParaRPr lang="en-US" sz="3200" dirty="0" smtClean="0">
              <a:latin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</a:rPr>
              <a:t>Pig</a:t>
            </a:r>
            <a:endParaRPr lang="en-US" sz="3200" dirty="0" smtClean="0">
              <a:latin typeface="Calibri" panose="020F0502020204030204" pitchFamily="34" charset="0"/>
            </a:endParaRPr>
          </a:p>
          <a:p>
            <a:r>
              <a:rPr lang="en-US" sz="3200" smtClean="0">
                <a:latin typeface="Calibri" panose="020F0502020204030204" pitchFamily="34" charset="0"/>
              </a:rPr>
              <a:t>Get started…</a:t>
            </a:r>
            <a:endParaRPr lang="en-US" sz="3200" dirty="0" smtClean="0">
              <a:latin typeface="Calibri" panose="020F0502020204030204" pitchFamily="34" charset="0"/>
            </a:endParaRPr>
          </a:p>
          <a:p>
            <a:endParaRPr lang="en-US" sz="3200" dirty="0">
              <a:latin typeface="Calibri" panose="020F0502020204030204" pitchFamily="34" charset="0"/>
            </a:endParaRPr>
          </a:p>
          <a:p>
            <a:endParaRPr lang="en-US" sz="3200" dirty="0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104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584" y="1687131"/>
            <a:ext cx="10018713" cy="4520486"/>
          </a:xfrm>
        </p:spPr>
        <p:txBody>
          <a:bodyPr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4400" dirty="0" smtClean="0">
                <a:latin typeface="Calibri" panose="020F0502020204030204" pitchFamily="34" charset="0"/>
              </a:rPr>
              <a:t>?</a:t>
            </a:r>
            <a:endParaRPr lang="en-US" sz="3200" dirty="0">
              <a:latin typeface="Calibri" panose="020F0502020204030204" pitchFamily="34" charset="0"/>
            </a:endParaRPr>
          </a:p>
          <a:p>
            <a:endParaRPr lang="en-US" sz="3200" dirty="0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123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584" y="1687131"/>
            <a:ext cx="10018713" cy="4520486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sz="15400" dirty="0" smtClean="0">
                <a:latin typeface="Calibri" panose="020F0502020204030204" pitchFamily="34" charset="0"/>
              </a:rPr>
              <a:t>Thank you</a:t>
            </a:r>
            <a:endParaRPr lang="en-US" sz="2000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800" smtClean="0">
                <a:latin typeface="Calibri" panose="020F0502020204030204" pitchFamily="34" charset="0"/>
              </a:rPr>
              <a:t>For more queries</a:t>
            </a:r>
            <a:r>
              <a:rPr lang="en-US" sz="2800" dirty="0" smtClean="0">
                <a:latin typeface="Calibri" panose="020F0502020204030204" pitchFamily="34" charset="0"/>
              </a:rPr>
              <a:t>: </a:t>
            </a:r>
            <a:r>
              <a:rPr lang="en-US" sz="2800" b="1" dirty="0" smtClean="0">
                <a:latin typeface="Calibri" panose="020F0502020204030204" pitchFamily="34" charset="0"/>
              </a:rPr>
              <a:t>owaishussain@outlook.com</a:t>
            </a:r>
          </a:p>
        </p:txBody>
      </p:sp>
    </p:spTree>
    <p:extLst>
      <p:ext uri="{BB962C8B-B14F-4D97-AF65-F5344CB8AC3E}">
        <p14:creationId xmlns:p14="http://schemas.microsoft.com/office/powerpoint/2010/main" val="24415315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TC103457496[[fn=Parallax]]</Template>
  <TotalTime>466</TotalTime>
  <Words>479</Words>
  <Application>Microsoft Office PowerPoint</Application>
  <PresentationFormat>Widescreen</PresentationFormat>
  <Paragraphs>119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Corbel</vt:lpstr>
      <vt:lpstr>Parallax</vt:lpstr>
      <vt:lpstr>Cloud Computing</vt:lpstr>
      <vt:lpstr>Outlines</vt:lpstr>
      <vt:lpstr>What’s new?</vt:lpstr>
      <vt:lpstr>SaaS</vt:lpstr>
      <vt:lpstr>PaaS</vt:lpstr>
      <vt:lpstr>IaaS</vt:lpstr>
      <vt:lpstr>Why Cloud?</vt:lpstr>
      <vt:lpstr>Who uses Cloud?</vt:lpstr>
      <vt:lpstr>Why Cloud?</vt:lpstr>
      <vt:lpstr>Why Cloud?</vt:lpstr>
      <vt:lpstr>Why Cloud?</vt:lpstr>
      <vt:lpstr>Cloud Era</vt:lpstr>
      <vt:lpstr>Applications – Network Analysis</vt:lpstr>
      <vt:lpstr>Applications – Genome Sequencing</vt:lpstr>
      <vt:lpstr>Applications – Video Rendering</vt:lpstr>
      <vt:lpstr>Applications – Particle Science</vt:lpstr>
      <vt:lpstr>Applications – Web Crawling</vt:lpstr>
      <vt:lpstr>Applications – Gaming</vt:lpstr>
      <vt:lpstr>Applications – Traffic Congestion Control</vt:lpstr>
      <vt:lpstr>Applications – more..</vt:lpstr>
      <vt:lpstr>Big Data</vt:lpstr>
      <vt:lpstr>Big Data – Facebook (2012)</vt:lpstr>
      <vt:lpstr>Big Data – Google</vt:lpstr>
      <vt:lpstr>DIY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</dc:title>
  <dc:creator>Owais Ahmed</dc:creator>
  <cp:lastModifiedBy>Owais Ahmed</cp:lastModifiedBy>
  <cp:revision>50</cp:revision>
  <dcterms:created xsi:type="dcterms:W3CDTF">2014-05-20T14:55:26Z</dcterms:created>
  <dcterms:modified xsi:type="dcterms:W3CDTF">2014-07-15T14:11:41Z</dcterms:modified>
</cp:coreProperties>
</file>