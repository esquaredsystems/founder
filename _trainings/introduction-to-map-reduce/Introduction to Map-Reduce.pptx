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25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628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5189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04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4/25/2018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993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4/25/2018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94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4/25/2018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26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4/25/2018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79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1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07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4/25/2018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15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Vf3kJi" TargetMode="External"/><Relationship Id="rId2" Type="http://schemas.openxmlformats.org/officeDocument/2006/relationships/hyperlink" Target="https://goo.gl/ndo3H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o.gl/uNQVfM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Introduction to Map-Reduce</a:t>
            </a:r>
            <a:endParaRPr lang="en-GB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Owais A. Hussain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409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30"/>
            <a:ext cx="10058400" cy="4023360"/>
          </a:xfrm>
        </p:spPr>
        <p:txBody>
          <a:bodyPr>
            <a:normAutofit/>
          </a:bodyPr>
          <a:lstStyle/>
          <a:p>
            <a:pPr lvl="1"/>
            <a:r>
              <a:rPr lang="en-US" sz="2800" dirty="0" smtClean="0"/>
              <a:t>Divide </a:t>
            </a:r>
            <a:r>
              <a:rPr lang="en-US" sz="2800" dirty="0"/>
              <a:t>and </a:t>
            </a:r>
            <a:r>
              <a:rPr lang="en-US" sz="2800" dirty="0" smtClean="0"/>
              <a:t>conquer methodology</a:t>
            </a:r>
          </a:p>
          <a:p>
            <a:pPr lvl="1"/>
            <a:r>
              <a:rPr lang="en-US" sz="2800" dirty="0"/>
              <a:t>Parallel Processing</a:t>
            </a:r>
          </a:p>
          <a:p>
            <a:pPr lvl="1"/>
            <a:r>
              <a:rPr lang="en-US" sz="2800" dirty="0" smtClean="0"/>
              <a:t>Scalability Problem</a:t>
            </a:r>
          </a:p>
          <a:p>
            <a:pPr lvl="1"/>
            <a:r>
              <a:rPr lang="en-US" sz="2800" dirty="0" smtClean="0"/>
              <a:t>3V’s of Big Data</a:t>
            </a:r>
            <a:endParaRPr lang="en-US" sz="2800" dirty="0"/>
          </a:p>
          <a:p>
            <a:pPr lvl="2"/>
            <a:r>
              <a:rPr lang="en-US" sz="2400" dirty="0"/>
              <a:t>Velocity</a:t>
            </a:r>
          </a:p>
          <a:p>
            <a:pPr lvl="2"/>
            <a:r>
              <a:rPr lang="en-US" sz="2400" dirty="0"/>
              <a:t>Volume</a:t>
            </a:r>
          </a:p>
          <a:p>
            <a:pPr lvl="2"/>
            <a:r>
              <a:rPr lang="en-US" sz="2400" dirty="0" smtClean="0"/>
              <a:t>Variety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4081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Hadoop and Map-Reduce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11230"/>
            <a:ext cx="10058400" cy="4533586"/>
          </a:xfrm>
        </p:spPr>
        <p:txBody>
          <a:bodyPr>
            <a:normAutofit/>
          </a:bodyPr>
          <a:lstStyle/>
          <a:p>
            <a:pPr lvl="1"/>
            <a:r>
              <a:rPr lang="en-US" sz="2800" dirty="0" smtClean="0"/>
              <a:t>Apache Hadoop</a:t>
            </a:r>
          </a:p>
          <a:p>
            <a:pPr lvl="2"/>
            <a:r>
              <a:rPr lang="en-US" sz="2400" dirty="0" smtClean="0"/>
              <a:t>Parallel Processing</a:t>
            </a:r>
          </a:p>
          <a:p>
            <a:pPr lvl="2"/>
            <a:r>
              <a:rPr lang="en-US" sz="2400" dirty="0" smtClean="0"/>
              <a:t>Parallel Storage</a:t>
            </a:r>
          </a:p>
          <a:p>
            <a:pPr lvl="2"/>
            <a:r>
              <a:rPr lang="en-US" sz="2400" dirty="0" smtClean="0"/>
              <a:t>Fail-safe Operation</a:t>
            </a:r>
          </a:p>
          <a:p>
            <a:pPr lvl="1"/>
            <a:r>
              <a:rPr lang="en-US" sz="2800" dirty="0" smtClean="0"/>
              <a:t>Map-Reduce – programming model for large-scale </a:t>
            </a:r>
            <a:r>
              <a:rPr lang="en-US" sz="2800" dirty="0"/>
              <a:t>parallel </a:t>
            </a:r>
            <a:r>
              <a:rPr lang="en-US" sz="2800" dirty="0" smtClean="0"/>
              <a:t>data processing </a:t>
            </a:r>
          </a:p>
          <a:p>
            <a:pPr lvl="2"/>
            <a:r>
              <a:rPr lang="en-US" sz="2400" dirty="0" smtClean="0"/>
              <a:t>Old Idea </a:t>
            </a:r>
            <a:r>
              <a:rPr lang="en-US" sz="2400" smtClean="0"/>
              <a:t>on Scale</a:t>
            </a:r>
            <a:endParaRPr lang="en-US" sz="2400" dirty="0" smtClean="0"/>
          </a:p>
          <a:p>
            <a:pPr lvl="2"/>
            <a:r>
              <a:rPr lang="en-US" sz="2400" dirty="0" smtClean="0"/>
              <a:t>Key-value Pairs</a:t>
            </a:r>
          </a:p>
          <a:p>
            <a:pPr lvl="2"/>
            <a:r>
              <a:rPr lang="en-US" sz="2400" dirty="0" smtClean="0"/>
              <a:t>Map Function: tokenizer</a:t>
            </a:r>
          </a:p>
          <a:p>
            <a:pPr lvl="2"/>
            <a:r>
              <a:rPr lang="en-US" sz="2400" dirty="0" smtClean="0"/>
              <a:t>Reduce Function: joiner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4062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the most common Greek word…</a:t>
            </a:r>
            <a:endParaRPr lang="en-GB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158" y="1863597"/>
            <a:ext cx="8524644" cy="4341339"/>
          </a:xfrm>
        </p:spPr>
      </p:pic>
    </p:spTree>
    <p:extLst>
      <p:ext uri="{BB962C8B-B14F-4D97-AF65-F5344CB8AC3E}">
        <p14:creationId xmlns:p14="http://schemas.microsoft.com/office/powerpoint/2010/main" val="3691499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Execution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05906" y="1801899"/>
                <a:ext cx="10058400" cy="4524256"/>
              </a:xfrm>
            </p:spPr>
            <p:txBody>
              <a:bodyPr>
                <a:normAutofit fontScale="92500" lnSpcReduction="20000"/>
              </a:bodyPr>
              <a:lstStyle/>
              <a:p>
                <a:pPr lvl="1"/>
                <a:r>
                  <a:rPr lang="en-US" sz="2800" dirty="0" smtClean="0"/>
                  <a:t>Document set: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={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800" dirty="0" smtClean="0"/>
              </a:p>
              <a:p>
                <a:pPr lvl="1"/>
                <a:r>
                  <a:rPr lang="en-US" sz="2800" dirty="0" smtClean="0"/>
                  <a:t>Network of computers: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800" dirty="0" smtClean="0"/>
              </a:p>
              <a:p>
                <a:pPr lvl="1"/>
                <a:r>
                  <a:rPr lang="en-US" sz="2800" dirty="0" smtClean="0"/>
                  <a:t>Map:</a:t>
                </a:r>
              </a:p>
              <a:p>
                <a:pPr lvl="2"/>
                <a:r>
                  <a:rPr lang="en-US" sz="2400" dirty="0" smtClean="0"/>
                  <a:t>Create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tasks and tokenize the problem into small tuples: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𝑁𝑈𝐿𝐿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𝑁𝑈𝐿𝐿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𝑁𝑈𝐿𝐿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sz="2400" dirty="0" smtClean="0"/>
              </a:p>
              <a:p>
                <a:pPr lvl="2"/>
                <a:r>
                  <a:rPr lang="en-US" sz="2400" dirty="0"/>
                  <a:t>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𝑎𝑙𝑝h𝑎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𝑏𝑒𝑡𝑎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𝑎𝑙𝑝h𝑎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sz="2400" dirty="0" smtClean="0"/>
              </a:p>
              <a:p>
                <a:pPr lvl="1"/>
                <a:r>
                  <a:rPr lang="en-US" sz="2800" dirty="0" smtClean="0"/>
                  <a:t>Shuffle/Sort (optional):</a:t>
                </a:r>
              </a:p>
              <a:p>
                <a:pPr lvl="2"/>
                <a:r>
                  <a:rPr lang="en-US" sz="2400" dirty="0" smtClean="0"/>
                  <a:t>Create S tasks to sort the group the documents by words</a:t>
                </a:r>
              </a:p>
              <a:p>
                <a:pPr lvl="2"/>
                <a:r>
                  <a:rPr lang="en-US" sz="2400" dirty="0"/>
                  <a:t>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𝑎𝑙𝑝h𝑎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𝑎𝑙𝑝h𝑎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𝑏𝑒𝑡𝑎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sz="2400" dirty="0" smtClean="0"/>
              </a:p>
              <a:p>
                <a:pPr lvl="1"/>
                <a:r>
                  <a:rPr lang="en-US" sz="2800" dirty="0" smtClean="0"/>
                  <a:t>Reduce:</a:t>
                </a:r>
              </a:p>
              <a:p>
                <a:pPr lvl="2"/>
                <a:r>
                  <a:rPr lang="en-US" sz="2400" dirty="0" smtClean="0"/>
                  <a:t>Create R tasks to aggregate the output from each group of tuples: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𝑎𝑙𝑝h𝑎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𝑎𝑙𝑝h𝑎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𝑏𝑒𝑡𝑎</m:t>
                            </m:r>
                          </m:e>
                        </m:d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sz="2000" dirty="0" smtClean="0"/>
              </a:p>
              <a:p>
                <a:pPr lvl="2"/>
                <a:r>
                  <a:rPr lang="en-US" sz="2000" dirty="0" smtClean="0"/>
                  <a:t>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𝑎𝑙𝑝h𝑎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,2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𝑏𝑒𝑡𝑎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sz="2000" dirty="0" smtClean="0"/>
              </a:p>
              <a:p>
                <a:pPr lvl="2"/>
                <a:endParaRPr lang="en-US" sz="2400" dirty="0" smtClean="0"/>
              </a:p>
              <a:p>
                <a:pPr lvl="2"/>
                <a:endParaRPr lang="en-US" sz="24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5906" y="1801899"/>
                <a:ext cx="10058400" cy="4524256"/>
              </a:xfrm>
              <a:blipFill rotWithShape="0">
                <a:blip r:embed="rId2"/>
                <a:stretch>
                  <a:fillRect t="-36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428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Interactive Example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05906" y="1801899"/>
                <a:ext cx="10058400" cy="4524256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sz="2800" dirty="0" smtClean="0"/>
                  <a:t>Computing Factorial of a number</a:t>
                </a:r>
              </a:p>
              <a:p>
                <a:pPr lvl="1"/>
                <a:r>
                  <a:rPr lang="en-US" sz="2800" dirty="0" smtClean="0"/>
                  <a:t>Formula: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!=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×…×2×1</m:t>
                    </m:r>
                  </m:oMath>
                </a14:m>
                <a:endParaRPr lang="en-US" sz="2800" dirty="0" smtClean="0"/>
              </a:p>
              <a:p>
                <a:pPr lvl="1"/>
                <a:r>
                  <a:rPr lang="en-US" sz="2800" dirty="0" smtClean="0"/>
                  <a:t>Complexity?</a:t>
                </a:r>
              </a:p>
              <a:p>
                <a:pPr lvl="1"/>
                <a:r>
                  <a:rPr lang="en-US" sz="2800" dirty="0"/>
                  <a:t>How would you do it usually?</a:t>
                </a:r>
              </a:p>
              <a:p>
                <a:pPr lvl="1"/>
                <a:r>
                  <a:rPr lang="en-US" sz="2800" dirty="0" smtClean="0"/>
                  <a:t>Is the problem worth solving using Map-reduce?</a:t>
                </a:r>
              </a:p>
              <a:p>
                <a:pPr lvl="1"/>
                <a:r>
                  <a:rPr lang="en-US" sz="2800" dirty="0" smtClean="0"/>
                  <a:t>Map function</a:t>
                </a:r>
              </a:p>
              <a:p>
                <a:pPr lvl="1"/>
                <a:r>
                  <a:rPr lang="en-US" sz="2800" dirty="0" smtClean="0"/>
                  <a:t>Reduce function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5906" y="1801899"/>
                <a:ext cx="10058400" cy="4524256"/>
              </a:xfrm>
              <a:blipFill rotWithShape="0">
                <a:blip r:embed="rId2"/>
                <a:stretch>
                  <a:fillRect l="-182" t="-24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70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5906" y="1801899"/>
            <a:ext cx="10058400" cy="4524256"/>
          </a:xfrm>
        </p:spPr>
        <p:txBody>
          <a:bodyPr>
            <a:normAutofit/>
          </a:bodyPr>
          <a:lstStyle/>
          <a:p>
            <a:pPr lvl="1"/>
            <a:r>
              <a:rPr lang="en-US" sz="2800" dirty="0" smtClean="0"/>
              <a:t>Setting up Hadoop on Virtual machine:</a:t>
            </a:r>
          </a:p>
          <a:p>
            <a:pPr lvl="2"/>
            <a:r>
              <a:rPr lang="en-US" sz="2400" dirty="0"/>
              <a:t>Single-node: </a:t>
            </a:r>
            <a:r>
              <a:rPr lang="en-US" sz="2400" dirty="0" smtClean="0">
                <a:hlinkClick r:id="rId2"/>
              </a:rPr>
              <a:t>https</a:t>
            </a:r>
            <a:r>
              <a:rPr lang="en-US" sz="2400" dirty="0">
                <a:hlinkClick r:id="rId2"/>
              </a:rPr>
              <a:t>://</a:t>
            </a:r>
            <a:r>
              <a:rPr lang="en-US" sz="2400" dirty="0" smtClean="0">
                <a:hlinkClick r:id="rId2"/>
              </a:rPr>
              <a:t>goo.gl/ndo3HA</a:t>
            </a:r>
            <a:endParaRPr lang="en-US" sz="2400" dirty="0" smtClean="0"/>
          </a:p>
          <a:p>
            <a:pPr lvl="2"/>
            <a:r>
              <a:rPr lang="en-US" sz="2400" dirty="0" smtClean="0"/>
              <a:t>Multi-node</a:t>
            </a:r>
            <a:r>
              <a:rPr lang="en-US" sz="2400" dirty="0"/>
              <a:t>: </a:t>
            </a:r>
            <a:r>
              <a:rPr lang="en-US" sz="2400" dirty="0">
                <a:hlinkClick r:id="rId3"/>
              </a:rPr>
              <a:t>https://</a:t>
            </a:r>
            <a:r>
              <a:rPr lang="en-US" sz="2400" dirty="0" smtClean="0">
                <a:hlinkClick r:id="rId3"/>
              </a:rPr>
              <a:t>goo.gl/Vf3kJi</a:t>
            </a:r>
            <a:endParaRPr lang="en-US" sz="2400" dirty="0" smtClean="0"/>
          </a:p>
          <a:p>
            <a:pPr lvl="1"/>
            <a:r>
              <a:rPr lang="en-US" sz="2800" dirty="0" smtClean="0"/>
              <a:t>Writing your own Map-reduce </a:t>
            </a:r>
            <a:r>
              <a:rPr lang="en-US" sz="2800" dirty="0"/>
              <a:t>programs: </a:t>
            </a:r>
            <a:r>
              <a:rPr lang="en-US" sz="2800" dirty="0">
                <a:hlinkClick r:id="rId4"/>
              </a:rPr>
              <a:t>https://</a:t>
            </a:r>
            <a:r>
              <a:rPr lang="en-US" sz="2800" dirty="0" smtClean="0">
                <a:hlinkClick r:id="rId4"/>
              </a:rPr>
              <a:t>goo.gl/uNQVfM</a:t>
            </a:r>
            <a:endParaRPr lang="en-US" sz="2800" dirty="0" smtClean="0"/>
          </a:p>
          <a:p>
            <a:pPr lvl="1"/>
            <a:endParaRPr lang="en-US" sz="2800" dirty="0" smtClean="0"/>
          </a:p>
          <a:p>
            <a:pPr marL="201168" lvl="1" indent="0">
              <a:buNone/>
            </a:pPr>
            <a:endParaRPr lang="en-US" sz="2800" dirty="0"/>
          </a:p>
          <a:p>
            <a:pPr lvl="1"/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266627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63050" y="1471518"/>
            <a:ext cx="1367682" cy="3154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900" dirty="0" smtClean="0"/>
              <a:t>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243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91530" y="2030318"/>
            <a:ext cx="8945206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800" dirty="0" smtClean="0"/>
              <a:t>Thank you…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181811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376</TotalTime>
  <Words>116</Words>
  <Application>Microsoft Office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Cambria Math</vt:lpstr>
      <vt:lpstr>Retrospect</vt:lpstr>
      <vt:lpstr>Introduction to Map-Reduce</vt:lpstr>
      <vt:lpstr>History</vt:lpstr>
      <vt:lpstr>Hadoop and Map-Reduce</vt:lpstr>
      <vt:lpstr>Find the most common Greek word…</vt:lpstr>
      <vt:lpstr>Execution</vt:lpstr>
      <vt:lpstr>Interactive Example</vt:lpstr>
      <vt:lpstr>DIY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Map-Reduce</dc:title>
  <dc:creator>Owais Ahmed</dc:creator>
  <cp:lastModifiedBy>Owais Ahmed</cp:lastModifiedBy>
  <cp:revision>41</cp:revision>
  <dcterms:created xsi:type="dcterms:W3CDTF">2018-04-25T13:42:40Z</dcterms:created>
  <dcterms:modified xsi:type="dcterms:W3CDTF">2018-04-25T19:58:47Z</dcterms:modified>
</cp:coreProperties>
</file>