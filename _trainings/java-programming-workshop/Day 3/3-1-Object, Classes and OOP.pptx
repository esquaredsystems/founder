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1453" autoAdjust="0"/>
  </p:normalViewPr>
  <p:slideViewPr>
    <p:cSldViewPr>
      <p:cViewPr>
        <p:scale>
          <a:sx n="100" d="100"/>
          <a:sy n="100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12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10</a:t>
            </a:r>
          </a:p>
          <a:p>
            <a:r>
              <a:rPr lang="en-US" baseline="0" dirty="0" smtClean="0"/>
              <a:t>- Image from Slide 12 of “1 Getting Started.pdf”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50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Method parameters: formal parameters are passed, actual parameters are in the class. Their types must be convertible</a:t>
            </a:r>
          </a:p>
          <a:p>
            <a:pPr marL="171450" indent="-171450">
              <a:buFontTx/>
              <a:buChar char="-"/>
            </a:pPr>
            <a:r>
              <a:rPr lang="en-US" baseline="0" dirty="0" smtClean="0"/>
              <a:t>A class should do 1 thing and do </a:t>
            </a:r>
            <a:r>
              <a:rPr lang="en-US" baseline="0" smtClean="0"/>
              <a:t>it well</a:t>
            </a:r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15</a:t>
            </a:r>
          </a:p>
          <a:p>
            <a:pPr marL="171450" indent="-171450">
              <a:buFontTx/>
              <a:buChar char="-"/>
            </a:pPr>
            <a:r>
              <a:rPr lang="en-US" baseline="0" dirty="0" err="1" smtClean="0"/>
              <a:t>Javascript</a:t>
            </a:r>
            <a:r>
              <a:rPr lang="en-US" baseline="0" dirty="0" smtClean="0"/>
              <a:t> is Object-based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30</a:t>
            </a:r>
          </a:p>
          <a:p>
            <a:pPr marL="171450" indent="-171450">
              <a:buFontTx/>
              <a:buChar char="-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greatest challenge in OOP is: choosing the right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abstractions</a:t>
            </a:r>
          </a:p>
          <a:p>
            <a:pPr marL="171450" indent="-171450">
              <a:buFontTx/>
              <a:buChar char="-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Abstraction focuses on the visible </a:t>
            </a:r>
            <a:r>
              <a:rPr lang="en-US" sz="1200" b="0" i="0" u="none" strike="noStrike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behaviour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an object, </a:t>
            </a:r>
            <a:r>
              <a:rPr lang="en-US" sz="1200" b="0" i="0" u="none" strike="noStrike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while Encapsulation </a:t>
            </a: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focuses on hiding the implementation that offers this behavior</a:t>
            </a:r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30</a:t>
            </a:r>
          </a:p>
          <a:p>
            <a:pPr marL="171450" indent="-171450">
              <a:buFontTx/>
              <a:buChar char="-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More in detail on Inheritance ahead</a:t>
            </a:r>
          </a:p>
          <a:p>
            <a:pPr marL="171450" indent="-171450">
              <a:buFontTx/>
              <a:buChar char="-"/>
            </a:pPr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10</a:t>
            </a:r>
          </a:p>
          <a:p>
            <a:pPr marL="171450" indent="-171450">
              <a:buFontTx/>
              <a:buChar char="-"/>
            </a:pPr>
            <a:r>
              <a:rPr lang="en-US" sz="120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string consists of a finite sequence of characters</a:t>
            </a:r>
            <a:endParaRPr lang="en-US" i="0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Estimated Time:</a:t>
            </a:r>
            <a:r>
              <a:rPr lang="en-US" baseline="0" dirty="0" smtClean="0"/>
              <a:t> 3h 20m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12/27/2013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Course Outlines – Day 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5105400"/>
          </a:xfrm>
        </p:spPr>
        <p:txBody>
          <a:bodyPr>
            <a:normAutofit lnSpcReduction="10000"/>
          </a:bodyPr>
          <a:lstStyle/>
          <a:p>
            <a:r>
              <a:rPr lang="en-US" sz="3200" dirty="0" smtClean="0"/>
              <a:t>Objects and Classes</a:t>
            </a:r>
          </a:p>
          <a:p>
            <a:r>
              <a:rPr lang="en-US" sz="3200" dirty="0" smtClean="0"/>
              <a:t>Object Based vs Object Oriented</a:t>
            </a:r>
          </a:p>
          <a:p>
            <a:r>
              <a:rPr lang="en-US" sz="3200" dirty="0" smtClean="0"/>
              <a:t>Pillars of OOP</a:t>
            </a:r>
          </a:p>
          <a:p>
            <a:pPr lvl="1"/>
            <a:r>
              <a:rPr lang="en-US" sz="3000" dirty="0" smtClean="0"/>
              <a:t>Abstraction</a:t>
            </a:r>
          </a:p>
          <a:p>
            <a:pPr lvl="1"/>
            <a:r>
              <a:rPr lang="en-US" sz="3000" dirty="0" smtClean="0"/>
              <a:t>Encapsulation</a:t>
            </a:r>
          </a:p>
          <a:p>
            <a:pPr lvl="1"/>
            <a:r>
              <a:rPr lang="en-US" sz="3000" dirty="0" smtClean="0"/>
              <a:t>Polymorphism</a:t>
            </a:r>
          </a:p>
          <a:p>
            <a:pPr lvl="1"/>
            <a:r>
              <a:rPr lang="en-US" sz="3000" dirty="0" smtClean="0"/>
              <a:t>Inheritance</a:t>
            </a:r>
          </a:p>
          <a:p>
            <a:r>
              <a:rPr lang="en-US" sz="3200" dirty="0" smtClean="0"/>
              <a:t>String Class</a:t>
            </a:r>
          </a:p>
          <a:p>
            <a:r>
              <a:rPr lang="en-US" sz="3200"/>
              <a:t>Object </a:t>
            </a:r>
            <a:r>
              <a:rPr lang="en-US" sz="3200" smtClean="0"/>
              <a:t>Communications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Objects and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Objects and Classes</a:t>
            </a:r>
          </a:p>
          <a:p>
            <a:pPr lvl="1"/>
            <a:r>
              <a:rPr lang="en-US" sz="3000" dirty="0" smtClean="0"/>
              <a:t>Object: Instance of a Class</a:t>
            </a:r>
          </a:p>
          <a:p>
            <a:pPr lvl="1"/>
            <a:r>
              <a:rPr lang="en-US" sz="3000" dirty="0" smtClean="0"/>
              <a:t>Class: Blueprint of an Object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429000"/>
            <a:ext cx="6734175" cy="2952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65220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Objects and Classes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200" dirty="0"/>
              <a:t>Class </a:t>
            </a:r>
            <a:r>
              <a:rPr lang="en-US" sz="3200" dirty="0" smtClean="0"/>
              <a:t>Declaration</a:t>
            </a:r>
          </a:p>
          <a:p>
            <a:pPr lvl="1"/>
            <a:r>
              <a:rPr lang="en-US" sz="3000" dirty="0" smtClean="0"/>
              <a:t>Name Denotes Category of Objects</a:t>
            </a:r>
          </a:p>
          <a:p>
            <a:pPr lvl="1"/>
            <a:r>
              <a:rPr lang="en-US" sz="3000" dirty="0" smtClean="0"/>
              <a:t>Instance Methods/</a:t>
            </a:r>
            <a:r>
              <a:rPr lang="en-US" sz="3000" dirty="0" err="1" smtClean="0"/>
              <a:t>Behaviour</a:t>
            </a:r>
            <a:r>
              <a:rPr lang="en-US" sz="3000" dirty="0" smtClean="0"/>
              <a:t>/Operations</a:t>
            </a:r>
            <a:endParaRPr lang="en-US" sz="3000" dirty="0"/>
          </a:p>
          <a:p>
            <a:pPr lvl="1"/>
            <a:r>
              <a:rPr lang="en-US" sz="3000" dirty="0" smtClean="0"/>
              <a:t>Instance Members/Attributes/Fields</a:t>
            </a:r>
            <a:endParaRPr lang="en-US" sz="3000" dirty="0"/>
          </a:p>
          <a:p>
            <a:pPr lvl="1"/>
            <a:r>
              <a:rPr lang="en-US" sz="3000" dirty="0" smtClean="0"/>
              <a:t>Class Methods/</a:t>
            </a:r>
            <a:r>
              <a:rPr lang="en-US" sz="3000" dirty="0" err="1" smtClean="0"/>
              <a:t>Behaviour</a:t>
            </a:r>
            <a:r>
              <a:rPr lang="en-US" sz="3000" dirty="0" smtClean="0"/>
              <a:t>/Operations</a:t>
            </a:r>
            <a:endParaRPr lang="en-US" sz="3000" dirty="0"/>
          </a:p>
          <a:p>
            <a:pPr lvl="1"/>
            <a:r>
              <a:rPr lang="en-US" sz="3000" dirty="0" smtClean="0"/>
              <a:t>Class Members/Attributes/Fields</a:t>
            </a:r>
            <a:endParaRPr lang="en-US" sz="3000" dirty="0"/>
          </a:p>
          <a:p>
            <a:pPr lvl="1"/>
            <a:r>
              <a:rPr lang="en-US" sz="3000" dirty="0"/>
              <a:t>Constructors and Destructors</a:t>
            </a:r>
          </a:p>
          <a:p>
            <a:pPr lvl="1"/>
            <a:r>
              <a:rPr lang="en-US" sz="3000" dirty="0" smtClean="0"/>
              <a:t>Access Modifiers</a:t>
            </a:r>
          </a:p>
          <a:p>
            <a:pPr lvl="1"/>
            <a:r>
              <a:rPr lang="en-US" sz="3000" dirty="0" smtClean="0"/>
              <a:t>Scope</a:t>
            </a:r>
          </a:p>
          <a:p>
            <a:pPr lvl="1"/>
            <a:r>
              <a:rPr lang="en-US" sz="3000" dirty="0" smtClean="0"/>
              <a:t>Object Creation and Referencing</a:t>
            </a:r>
          </a:p>
          <a:p>
            <a:pPr lvl="1"/>
            <a:r>
              <a:rPr lang="en-US" sz="3000" dirty="0" smtClean="0"/>
              <a:t>Method Parameters</a:t>
            </a:r>
          </a:p>
          <a:p>
            <a:pPr lvl="1"/>
            <a:r>
              <a:rPr lang="en-US" sz="3000" dirty="0" smtClean="0"/>
              <a:t>Reference “this”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632539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/>
              <a:t>Object Based </a:t>
            </a:r>
            <a:r>
              <a:rPr lang="en-US" sz="4400" dirty="0" smtClean="0"/>
              <a:t>vs </a:t>
            </a:r>
            <a:r>
              <a:rPr lang="en-US" sz="4400" dirty="0"/>
              <a:t>Object </a:t>
            </a:r>
            <a:r>
              <a:rPr lang="en-US" sz="4400" dirty="0" smtClean="0"/>
              <a:t>Oriented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Object Based Programming</a:t>
            </a:r>
          </a:p>
          <a:p>
            <a:pPr lvl="1"/>
            <a:r>
              <a:rPr lang="en-US" sz="3000" dirty="0" smtClean="0"/>
              <a:t>Prototype Objects</a:t>
            </a:r>
          </a:p>
          <a:p>
            <a:pPr lvl="1"/>
            <a:r>
              <a:rPr lang="en-US" sz="3000" dirty="0" smtClean="0"/>
              <a:t>No Inheritance</a:t>
            </a:r>
          </a:p>
          <a:p>
            <a:pPr lvl="1"/>
            <a:r>
              <a:rPr lang="en-US" sz="3000" dirty="0" smtClean="0"/>
              <a:t>No Polymorphism</a:t>
            </a:r>
          </a:p>
          <a:p>
            <a:r>
              <a:rPr lang="en-US" sz="3200" dirty="0" smtClean="0"/>
              <a:t>Object Oriented Programming</a:t>
            </a:r>
          </a:p>
          <a:p>
            <a:pPr lvl="1"/>
            <a:r>
              <a:rPr lang="en-US" sz="3000" dirty="0" smtClean="0"/>
              <a:t>Entry Point Must be in a Class</a:t>
            </a:r>
          </a:p>
          <a:p>
            <a:pPr lvl="1"/>
            <a:r>
              <a:rPr lang="en-US" sz="3000" dirty="0" smtClean="0"/>
              <a:t>No Prototype Objects</a:t>
            </a:r>
          </a:p>
          <a:p>
            <a:pPr lvl="1"/>
            <a:r>
              <a:rPr lang="en-US" sz="3000" dirty="0" smtClean="0"/>
              <a:t>Polymorphism and Inheritance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27781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Pillars of OOP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Abstraction</a:t>
            </a:r>
          </a:p>
          <a:p>
            <a:pPr lvl="1"/>
            <a:r>
              <a:rPr lang="en-US" sz="3000" dirty="0" smtClean="0"/>
              <a:t>Biggest Challenge in OOP</a:t>
            </a:r>
          </a:p>
          <a:p>
            <a:pPr lvl="1"/>
            <a:r>
              <a:rPr lang="en-US" sz="3000" dirty="0" smtClean="0"/>
              <a:t>Relevant Attributes and </a:t>
            </a:r>
            <a:r>
              <a:rPr lang="en-US" sz="3000" dirty="0" err="1" smtClean="0"/>
              <a:t>Behaviour</a:t>
            </a:r>
            <a:endParaRPr lang="en-US" sz="3000" dirty="0" smtClean="0"/>
          </a:p>
          <a:p>
            <a:pPr lvl="1"/>
            <a:r>
              <a:rPr lang="en-US" sz="3000" dirty="0" smtClean="0"/>
              <a:t>Abstract and Concrete Classes</a:t>
            </a:r>
          </a:p>
          <a:p>
            <a:r>
              <a:rPr lang="en-US" sz="3200" dirty="0" smtClean="0"/>
              <a:t>Encapsulation</a:t>
            </a:r>
          </a:p>
          <a:p>
            <a:pPr lvl="1"/>
            <a:r>
              <a:rPr lang="en-US" sz="3000" dirty="0" smtClean="0"/>
              <a:t>Hiding Data</a:t>
            </a:r>
          </a:p>
          <a:p>
            <a:pPr lvl="1"/>
            <a:r>
              <a:rPr lang="en-US" sz="3000" dirty="0" smtClean="0"/>
              <a:t>Hiding Implementation</a:t>
            </a:r>
          </a:p>
          <a:p>
            <a:pPr lvl="1"/>
            <a:r>
              <a:rPr lang="en-US" sz="3000" dirty="0" smtClean="0"/>
              <a:t>Access/Mutate (simply, get/set)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1553418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Pillars of OOP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Polymorphism</a:t>
            </a:r>
          </a:p>
          <a:p>
            <a:pPr lvl="1"/>
            <a:r>
              <a:rPr lang="en-US" sz="3000" dirty="0" smtClean="0"/>
              <a:t>Method Overloading</a:t>
            </a:r>
          </a:p>
          <a:p>
            <a:pPr lvl="1"/>
            <a:r>
              <a:rPr lang="en-US" sz="3000" dirty="0" smtClean="0"/>
              <a:t>Method Overriding</a:t>
            </a:r>
          </a:p>
          <a:p>
            <a:r>
              <a:rPr lang="en-US" sz="3200" dirty="0" smtClean="0"/>
              <a:t>Inheritance</a:t>
            </a:r>
          </a:p>
          <a:p>
            <a:pPr lvl="1"/>
            <a:r>
              <a:rPr lang="en-US" sz="3000" dirty="0" smtClean="0"/>
              <a:t>Generalization</a:t>
            </a:r>
          </a:p>
          <a:p>
            <a:pPr lvl="1"/>
            <a:r>
              <a:rPr lang="en-US" sz="3000" dirty="0" smtClean="0"/>
              <a:t>Specialization</a:t>
            </a:r>
          </a:p>
        </p:txBody>
      </p:sp>
    </p:spTree>
    <p:extLst>
      <p:ext uri="{BB962C8B-B14F-4D97-AF65-F5344CB8AC3E}">
        <p14:creationId xmlns:p14="http://schemas.microsoft.com/office/powerpoint/2010/main" val="164219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String Class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620000" cy="2133600"/>
          </a:xfrm>
        </p:spPr>
        <p:txBody>
          <a:bodyPr>
            <a:normAutofit fontScale="85000" lnSpcReduction="10000"/>
          </a:bodyPr>
          <a:lstStyle/>
          <a:p>
            <a:r>
              <a:rPr lang="en-US" sz="3200" dirty="0" smtClean="0"/>
              <a:t>String (in Java): A finite sequence of 16-bit Unicode characters</a:t>
            </a:r>
          </a:p>
          <a:p>
            <a:r>
              <a:rPr lang="en-US" sz="3000" dirty="0" smtClean="0"/>
              <a:t>A </a:t>
            </a:r>
            <a:r>
              <a:rPr lang="en-US" sz="3000" i="1" dirty="0" smtClean="0"/>
              <a:t>character literal</a:t>
            </a:r>
            <a:r>
              <a:rPr lang="en-US" sz="3000" dirty="0" smtClean="0"/>
              <a:t> is a Character enclosed in single quotes</a:t>
            </a:r>
          </a:p>
          <a:p>
            <a:r>
              <a:rPr lang="en-US" sz="3000" dirty="0"/>
              <a:t>A </a:t>
            </a:r>
            <a:r>
              <a:rPr lang="en-US" sz="3000" i="1" dirty="0" smtClean="0"/>
              <a:t>string literal</a:t>
            </a:r>
            <a:r>
              <a:rPr lang="en-US" sz="3000" dirty="0" smtClean="0"/>
              <a:t> </a:t>
            </a:r>
            <a:r>
              <a:rPr lang="en-US" sz="3000" dirty="0"/>
              <a:t>is a </a:t>
            </a:r>
            <a:r>
              <a:rPr lang="en-US" sz="3000" dirty="0" smtClean="0"/>
              <a:t>String enclosed </a:t>
            </a:r>
            <a:r>
              <a:rPr lang="en-US" sz="3000" dirty="0"/>
              <a:t>in </a:t>
            </a:r>
            <a:r>
              <a:rPr lang="en-US" sz="3000" dirty="0" smtClean="0"/>
              <a:t>double </a:t>
            </a:r>
            <a:r>
              <a:rPr lang="en-US" sz="3000" dirty="0"/>
              <a:t>quotes</a:t>
            </a:r>
            <a:endParaRPr lang="en-US" sz="3000" dirty="0" smtClean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505200"/>
            <a:ext cx="6619875" cy="3267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435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String Class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620000" cy="47244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Declaration: String </a:t>
            </a:r>
            <a:r>
              <a:rPr lang="en-US" sz="3200" dirty="0" err="1" smtClean="0"/>
              <a:t>str</a:t>
            </a:r>
            <a:r>
              <a:rPr lang="en-US" sz="3200" dirty="0" smtClean="0"/>
              <a:t> creates a reference</a:t>
            </a:r>
          </a:p>
          <a:p>
            <a:r>
              <a:rPr lang="en-US" sz="3200" dirty="0" smtClean="0"/>
              <a:t>Creation: </a:t>
            </a:r>
            <a:r>
              <a:rPr lang="en-US" sz="3200" dirty="0" err="1" smtClean="0"/>
              <a:t>str</a:t>
            </a:r>
            <a:r>
              <a:rPr lang="en-US" sz="3200" dirty="0" smtClean="0"/>
              <a:t> = new String() creates the object and provides a value to the reference</a:t>
            </a:r>
          </a:p>
          <a:p>
            <a:r>
              <a:rPr lang="en-US" sz="3200" dirty="0" smtClean="0"/>
              <a:t>Initialization: </a:t>
            </a:r>
            <a:r>
              <a:rPr lang="en-US" sz="3200" dirty="0" err="1" smtClean="0"/>
              <a:t>str</a:t>
            </a:r>
            <a:r>
              <a:rPr lang="en-US" sz="3200" dirty="0" smtClean="0"/>
              <a:t> = “Welcome to Java…” assigns value to the instance members</a:t>
            </a:r>
          </a:p>
        </p:txBody>
      </p:sp>
    </p:spTree>
    <p:extLst>
      <p:ext uri="{BB962C8B-B14F-4D97-AF65-F5344CB8AC3E}">
        <p14:creationId xmlns:p14="http://schemas.microsoft.com/office/powerpoint/2010/main" val="65802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 smtClean="0"/>
              <a:t>String Class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76200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sz="3200" dirty="0" smtClean="0"/>
              <a:t>Frequently used Methods</a:t>
            </a:r>
          </a:p>
          <a:p>
            <a:pPr lvl="1"/>
            <a:r>
              <a:rPr lang="en-US" sz="2800" dirty="0" err="1" smtClean="0"/>
              <a:t>charAt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smtClean="0"/>
              <a:t>length()</a:t>
            </a:r>
          </a:p>
          <a:p>
            <a:pPr lvl="1"/>
            <a:r>
              <a:rPr lang="en-US" sz="2800" dirty="0" smtClean="0"/>
              <a:t>equals() and </a:t>
            </a:r>
            <a:r>
              <a:rPr lang="en-US" sz="2800" dirty="0" err="1" smtClean="0"/>
              <a:t>equalsIgnoreCase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err="1" smtClean="0"/>
              <a:t>compareTo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err="1" smtClean="0"/>
              <a:t>concat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err="1" smtClean="0"/>
              <a:t>indexOf</a:t>
            </a:r>
            <a:r>
              <a:rPr lang="en-US" sz="2800" dirty="0" smtClean="0"/>
              <a:t>() and </a:t>
            </a:r>
            <a:r>
              <a:rPr lang="en-US" sz="2800" dirty="0" err="1" smtClean="0"/>
              <a:t>lastIndexOf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smtClean="0"/>
              <a:t>matches()</a:t>
            </a:r>
          </a:p>
          <a:p>
            <a:pPr lvl="1"/>
            <a:r>
              <a:rPr lang="en-US" sz="2800" dirty="0"/>
              <a:t>replace</a:t>
            </a:r>
            <a:r>
              <a:rPr lang="en-US" sz="2800" dirty="0" smtClean="0"/>
              <a:t>()</a:t>
            </a:r>
          </a:p>
          <a:p>
            <a:pPr lvl="1"/>
            <a:r>
              <a:rPr lang="en-US" sz="2800" dirty="0" smtClean="0"/>
              <a:t>split()</a:t>
            </a:r>
          </a:p>
          <a:p>
            <a:pPr lvl="1"/>
            <a:r>
              <a:rPr lang="en-US" sz="2800" dirty="0" smtClean="0"/>
              <a:t>substring()</a:t>
            </a:r>
            <a:endParaRPr lang="en-US" sz="2800" dirty="0"/>
          </a:p>
          <a:p>
            <a:pPr lvl="1"/>
            <a:r>
              <a:rPr lang="en-US" sz="2800" dirty="0" err="1" smtClean="0"/>
              <a:t>String.valueOf</a:t>
            </a:r>
            <a:r>
              <a:rPr lang="en-US" sz="2800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37565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1041</TotalTime>
  <Words>381</Words>
  <Application>Microsoft Office PowerPoint</Application>
  <PresentationFormat>On-screen Show (4:3)</PresentationFormat>
  <Paragraphs>99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Adjacency</vt:lpstr>
      <vt:lpstr>Course Outlines – Day 3</vt:lpstr>
      <vt:lpstr>Objects and Classes</vt:lpstr>
      <vt:lpstr>Objects and Classes</vt:lpstr>
      <vt:lpstr>Object Based vs Object Oriented</vt:lpstr>
      <vt:lpstr>Pillars of OOP</vt:lpstr>
      <vt:lpstr>Pillars of OOP</vt:lpstr>
      <vt:lpstr>String Class</vt:lpstr>
      <vt:lpstr>String Class</vt:lpstr>
      <vt:lpstr>String Class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</cp:lastModifiedBy>
  <cp:revision>272</cp:revision>
  <dcterms:created xsi:type="dcterms:W3CDTF">2013-12-19T10:50:36Z</dcterms:created>
  <dcterms:modified xsi:type="dcterms:W3CDTF">2013-12-27T07:33:32Z</dcterms:modified>
</cp:coreProperties>
</file>