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0" r:id="rId1"/>
  </p:sldMasterIdLst>
  <p:notesMasterIdLst>
    <p:notesMasterId r:id="rId18"/>
  </p:notesMasterIdLst>
  <p:sldIdLst>
    <p:sldId id="256" r:id="rId2"/>
    <p:sldId id="257" r:id="rId3"/>
    <p:sldId id="274" r:id="rId4"/>
    <p:sldId id="275" r:id="rId5"/>
    <p:sldId id="276" r:id="rId6"/>
    <p:sldId id="277" r:id="rId7"/>
    <p:sldId id="278" r:id="rId8"/>
    <p:sldId id="279" r:id="rId9"/>
    <p:sldId id="280" r:id="rId10"/>
    <p:sldId id="281" r:id="rId11"/>
    <p:sldId id="283" r:id="rId12"/>
    <p:sldId id="282" r:id="rId13"/>
    <p:sldId id="284" r:id="rId14"/>
    <p:sldId id="285" r:id="rId15"/>
    <p:sldId id="286" r:id="rId16"/>
    <p:sldId id="28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7D9DBD-ED56-2145-9D01-4ED39F180540}" v="8068" dt="2025-02-12T16:49:30.1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287" autoAdjust="0"/>
  </p:normalViewPr>
  <p:slideViewPr>
    <p:cSldViewPr snapToGrid="0">
      <p:cViewPr varScale="1">
        <p:scale>
          <a:sx n="104" d="100"/>
          <a:sy n="104" d="100"/>
        </p:scale>
        <p:origin x="870" y="108"/>
      </p:cViewPr>
      <p:guideLst/>
    </p:cSldViewPr>
  </p:slideViewPr>
  <p:outlineViewPr>
    <p:cViewPr>
      <p:scale>
        <a:sx n="33" d="100"/>
        <a:sy n="33" d="100"/>
      </p:scale>
      <p:origin x="0" y="-9654"/>
    </p:cViewPr>
  </p:outlineViewPr>
  <p:notesTextViewPr>
    <p:cViewPr>
      <p:scale>
        <a:sx n="1" d="1"/>
        <a:sy n="1" d="1"/>
      </p:scale>
      <p:origin x="0" y="0"/>
    </p:cViewPr>
  </p:notesTextViewPr>
  <p:sorterViewPr>
    <p:cViewPr>
      <p:scale>
        <a:sx n="100" d="100"/>
        <a:sy n="100" d="100"/>
      </p:scale>
      <p:origin x="0" y="-662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5462E5-25C5-C74E-9AF1-FE46D0424AE3}"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23982E-9872-AD40-9CB5-1850AAB28989}" type="slidenum">
              <a:rPr lang="en-US" smtClean="0"/>
              <a:t>‹#›</a:t>
            </a:fld>
            <a:endParaRPr lang="en-US"/>
          </a:p>
        </p:txBody>
      </p:sp>
    </p:spTree>
    <p:extLst>
      <p:ext uri="{BB962C8B-B14F-4D97-AF65-F5344CB8AC3E}">
        <p14:creationId xmlns:p14="http://schemas.microsoft.com/office/powerpoint/2010/main" val="5223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computers have exponential growth</a:t>
            </a:r>
          </a:p>
        </p:txBody>
      </p:sp>
      <p:sp>
        <p:nvSpPr>
          <p:cNvPr id="4" name="Slide Number Placeholder 3"/>
          <p:cNvSpPr>
            <a:spLocks noGrp="1"/>
          </p:cNvSpPr>
          <p:nvPr>
            <p:ph type="sldNum" sz="quarter" idx="5"/>
          </p:nvPr>
        </p:nvSpPr>
        <p:spPr/>
        <p:txBody>
          <a:bodyPr/>
          <a:lstStyle/>
          <a:p>
            <a:fld id="{E623982E-9872-AD40-9CB5-1850AAB28989}" type="slidenum">
              <a:rPr lang="en-US" smtClean="0"/>
              <a:t>5</a:t>
            </a:fld>
            <a:endParaRPr lang="en-US"/>
          </a:p>
        </p:txBody>
      </p:sp>
    </p:spTree>
    <p:extLst>
      <p:ext uri="{BB962C8B-B14F-4D97-AF65-F5344CB8AC3E}">
        <p14:creationId xmlns:p14="http://schemas.microsoft.com/office/powerpoint/2010/main" val="3334299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A6B85-94EC-1657-25D9-196900E4B9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EBEE7-2A3B-21B2-5E0B-D5B01A23B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D72D6-88CB-DDFD-15B5-7F9A21B063B1}"/>
              </a:ext>
            </a:extLst>
          </p:cNvPr>
          <p:cNvSpPr>
            <a:spLocks noGrp="1"/>
          </p:cNvSpPr>
          <p:nvPr>
            <p:ph type="body" idx="1"/>
          </p:nvPr>
        </p:nvSpPr>
        <p:spPr/>
        <p:txBody>
          <a:bodyPr/>
          <a:lstStyle/>
          <a:p>
            <a:r>
              <a:rPr lang="en-US" dirty="0"/>
              <a:t>Powerful nations are dumping encrypted data daily. One day, they will have built a QC strong enough to crack 256-bit encryption.</a:t>
            </a:r>
          </a:p>
        </p:txBody>
      </p:sp>
      <p:sp>
        <p:nvSpPr>
          <p:cNvPr id="4" name="Slide Number Placeholder 3">
            <a:extLst>
              <a:ext uri="{FF2B5EF4-FFF2-40B4-BE49-F238E27FC236}">
                <a16:creationId xmlns:a16="http://schemas.microsoft.com/office/drawing/2014/main" id="{CE6BCFA1-C187-7E85-8F34-766C0FC62546}"/>
              </a:ext>
            </a:extLst>
          </p:cNvPr>
          <p:cNvSpPr>
            <a:spLocks noGrp="1"/>
          </p:cNvSpPr>
          <p:nvPr>
            <p:ph type="sldNum" sz="quarter" idx="5"/>
          </p:nvPr>
        </p:nvSpPr>
        <p:spPr/>
        <p:txBody>
          <a:bodyPr/>
          <a:lstStyle/>
          <a:p>
            <a:fld id="{E623982E-9872-AD40-9CB5-1850AAB28989}" type="slidenum">
              <a:rPr lang="en-US" smtClean="0"/>
              <a:t>6</a:t>
            </a:fld>
            <a:endParaRPr lang="en-US"/>
          </a:p>
        </p:txBody>
      </p:sp>
    </p:spTree>
    <p:extLst>
      <p:ext uri="{BB962C8B-B14F-4D97-AF65-F5344CB8AC3E}">
        <p14:creationId xmlns:p14="http://schemas.microsoft.com/office/powerpoint/2010/main" val="3304524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C48AB-D87C-116A-EFAB-4297F497B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88324C-9EDA-39C7-EA43-79AC6A4FA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C46AA-4A68-6436-F806-C12FF09F77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984B31-793B-C2DE-16E4-0970AE916B1B}"/>
              </a:ext>
            </a:extLst>
          </p:cNvPr>
          <p:cNvSpPr>
            <a:spLocks noGrp="1"/>
          </p:cNvSpPr>
          <p:nvPr>
            <p:ph type="sldNum" sz="quarter" idx="5"/>
          </p:nvPr>
        </p:nvSpPr>
        <p:spPr/>
        <p:txBody>
          <a:bodyPr/>
          <a:lstStyle/>
          <a:p>
            <a:fld id="{E623982E-9872-AD40-9CB5-1850AAB28989}" type="slidenum">
              <a:rPr lang="en-US" smtClean="0"/>
              <a:t>7</a:t>
            </a:fld>
            <a:endParaRPr lang="en-US"/>
          </a:p>
        </p:txBody>
      </p:sp>
    </p:spTree>
    <p:extLst>
      <p:ext uri="{BB962C8B-B14F-4D97-AF65-F5344CB8AC3E}">
        <p14:creationId xmlns:p14="http://schemas.microsoft.com/office/powerpoint/2010/main" val="1489429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51395-5F35-D9A9-7F32-42EA720F3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0D150-2320-3674-DCE0-610C270E0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B369B7-2506-FA54-D0CB-3DA9EC0B2B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B5412D-7ABA-6DAC-BAEB-DBD571C633CB}"/>
              </a:ext>
            </a:extLst>
          </p:cNvPr>
          <p:cNvSpPr>
            <a:spLocks noGrp="1"/>
          </p:cNvSpPr>
          <p:nvPr>
            <p:ph type="sldNum" sz="quarter" idx="5"/>
          </p:nvPr>
        </p:nvSpPr>
        <p:spPr/>
        <p:txBody>
          <a:bodyPr/>
          <a:lstStyle/>
          <a:p>
            <a:fld id="{E623982E-9872-AD40-9CB5-1850AAB28989}" type="slidenum">
              <a:rPr lang="en-US" smtClean="0"/>
              <a:t>8</a:t>
            </a:fld>
            <a:endParaRPr lang="en-US"/>
          </a:p>
        </p:txBody>
      </p:sp>
    </p:spTree>
    <p:extLst>
      <p:ext uri="{BB962C8B-B14F-4D97-AF65-F5344CB8AC3E}">
        <p14:creationId xmlns:p14="http://schemas.microsoft.com/office/powerpoint/2010/main" val="1278567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958F-5455-FEE4-B671-4D69A7D96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18A50-51D0-4F02-BE1D-A62289B5C0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CA2CE-D241-DFDA-157F-9E50D8DF5F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3979D-6BD9-60EC-809D-35900216888C}"/>
              </a:ext>
            </a:extLst>
          </p:cNvPr>
          <p:cNvSpPr>
            <a:spLocks noGrp="1"/>
          </p:cNvSpPr>
          <p:nvPr>
            <p:ph type="sldNum" sz="quarter" idx="5"/>
          </p:nvPr>
        </p:nvSpPr>
        <p:spPr/>
        <p:txBody>
          <a:bodyPr/>
          <a:lstStyle/>
          <a:p>
            <a:fld id="{E623982E-9872-AD40-9CB5-1850AAB28989}" type="slidenum">
              <a:rPr lang="en-US" smtClean="0"/>
              <a:t>9</a:t>
            </a:fld>
            <a:endParaRPr lang="en-US"/>
          </a:p>
        </p:txBody>
      </p:sp>
    </p:spTree>
    <p:extLst>
      <p:ext uri="{BB962C8B-B14F-4D97-AF65-F5344CB8AC3E}">
        <p14:creationId xmlns:p14="http://schemas.microsoft.com/office/powerpoint/2010/main" val="3822296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05731-1515-4C0E-96BB-AF9BD7FC8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CD4C9-FACC-3793-5A7C-54565437D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B5FAC-2509-0FCD-B9D0-092D1D38EB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391BB3-9FBA-DEB0-C103-326B89A4821C}"/>
              </a:ext>
            </a:extLst>
          </p:cNvPr>
          <p:cNvSpPr>
            <a:spLocks noGrp="1"/>
          </p:cNvSpPr>
          <p:nvPr>
            <p:ph type="sldNum" sz="quarter" idx="5"/>
          </p:nvPr>
        </p:nvSpPr>
        <p:spPr/>
        <p:txBody>
          <a:bodyPr/>
          <a:lstStyle/>
          <a:p>
            <a:fld id="{E623982E-9872-AD40-9CB5-1850AAB28989}" type="slidenum">
              <a:rPr lang="en-US" smtClean="0"/>
              <a:t>10</a:t>
            </a:fld>
            <a:endParaRPr lang="en-US"/>
          </a:p>
        </p:txBody>
      </p:sp>
    </p:spTree>
    <p:extLst>
      <p:ext uri="{BB962C8B-B14F-4D97-AF65-F5344CB8AC3E}">
        <p14:creationId xmlns:p14="http://schemas.microsoft.com/office/powerpoint/2010/main" val="996170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8DF56-C877-B304-B496-0B3DDADC7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45A32-8014-7D02-2D07-5FF1DF6AFC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40C9B6-1084-0C06-1EDE-F0FF2451CE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15EEB0-5984-653C-F4C4-E4B57496DBDE}"/>
              </a:ext>
            </a:extLst>
          </p:cNvPr>
          <p:cNvSpPr>
            <a:spLocks noGrp="1"/>
          </p:cNvSpPr>
          <p:nvPr>
            <p:ph type="sldNum" sz="quarter" idx="5"/>
          </p:nvPr>
        </p:nvSpPr>
        <p:spPr/>
        <p:txBody>
          <a:bodyPr/>
          <a:lstStyle/>
          <a:p>
            <a:fld id="{E623982E-9872-AD40-9CB5-1850AAB28989}" type="slidenum">
              <a:rPr lang="en-US" smtClean="0"/>
              <a:t>11</a:t>
            </a:fld>
            <a:endParaRPr lang="en-US"/>
          </a:p>
        </p:txBody>
      </p:sp>
    </p:spTree>
    <p:extLst>
      <p:ext uri="{BB962C8B-B14F-4D97-AF65-F5344CB8AC3E}">
        <p14:creationId xmlns:p14="http://schemas.microsoft.com/office/powerpoint/2010/main" val="2218596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B9703-D3E1-4EDD-0A6E-A2856DBED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B7D26-1F9B-7EAB-3A1D-728EB1651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1CEDDF-879D-1ACD-E6CA-9BBE0B3AC7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FC178C-4714-8202-23FF-21FD3047210B}"/>
              </a:ext>
            </a:extLst>
          </p:cNvPr>
          <p:cNvSpPr>
            <a:spLocks noGrp="1"/>
          </p:cNvSpPr>
          <p:nvPr>
            <p:ph type="sldNum" sz="quarter" idx="5"/>
          </p:nvPr>
        </p:nvSpPr>
        <p:spPr/>
        <p:txBody>
          <a:bodyPr/>
          <a:lstStyle/>
          <a:p>
            <a:fld id="{E623982E-9872-AD40-9CB5-1850AAB28989}" type="slidenum">
              <a:rPr lang="en-US" smtClean="0"/>
              <a:t>12</a:t>
            </a:fld>
            <a:endParaRPr lang="en-US"/>
          </a:p>
        </p:txBody>
      </p:sp>
    </p:spTree>
    <p:extLst>
      <p:ext uri="{BB962C8B-B14F-4D97-AF65-F5344CB8AC3E}">
        <p14:creationId xmlns:p14="http://schemas.microsoft.com/office/powerpoint/2010/main" val="739500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554DF-BF20-03B3-79DE-481FA5C1B8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333CA-B27F-50D1-0D34-22018D12B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70BFF-E6C5-679E-CA4F-13DFA5EE96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0E6D9E-3D9C-3376-B710-E4713E912351}"/>
              </a:ext>
            </a:extLst>
          </p:cNvPr>
          <p:cNvSpPr>
            <a:spLocks noGrp="1"/>
          </p:cNvSpPr>
          <p:nvPr>
            <p:ph type="sldNum" sz="quarter" idx="5"/>
          </p:nvPr>
        </p:nvSpPr>
        <p:spPr/>
        <p:txBody>
          <a:bodyPr/>
          <a:lstStyle/>
          <a:p>
            <a:fld id="{E623982E-9872-AD40-9CB5-1850AAB28989}" type="slidenum">
              <a:rPr lang="en-US" smtClean="0"/>
              <a:t>13</a:t>
            </a:fld>
            <a:endParaRPr lang="en-US"/>
          </a:p>
        </p:txBody>
      </p:sp>
    </p:spTree>
    <p:extLst>
      <p:ext uri="{BB962C8B-B14F-4D97-AF65-F5344CB8AC3E}">
        <p14:creationId xmlns:p14="http://schemas.microsoft.com/office/powerpoint/2010/main" val="467154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D4336-D8D6-9B66-ADD7-67E021F29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B379E-E1F7-633C-DD43-8019E81857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3C8854-C22F-6952-C07D-37AAA8FCB0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EF25B9-F564-EB06-9782-3514FD302E4D}"/>
              </a:ext>
            </a:extLst>
          </p:cNvPr>
          <p:cNvSpPr>
            <a:spLocks noGrp="1"/>
          </p:cNvSpPr>
          <p:nvPr>
            <p:ph type="sldNum" sz="quarter" idx="5"/>
          </p:nvPr>
        </p:nvSpPr>
        <p:spPr/>
        <p:txBody>
          <a:bodyPr/>
          <a:lstStyle/>
          <a:p>
            <a:fld id="{E623982E-9872-AD40-9CB5-1850AAB28989}" type="slidenum">
              <a:rPr lang="en-US" smtClean="0"/>
              <a:t>14</a:t>
            </a:fld>
            <a:endParaRPr lang="en-US"/>
          </a:p>
        </p:txBody>
      </p:sp>
    </p:spTree>
    <p:extLst>
      <p:ext uri="{BB962C8B-B14F-4D97-AF65-F5344CB8AC3E}">
        <p14:creationId xmlns:p14="http://schemas.microsoft.com/office/powerpoint/2010/main" val="752628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35A56-038B-E25B-E450-1AD7B8D29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92637-4043-3677-D067-A3441D0CE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2657A-F0D1-0D20-85E9-BB2BD837F5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C93C0B-A2A6-77D4-DC74-3150D24513EE}"/>
              </a:ext>
            </a:extLst>
          </p:cNvPr>
          <p:cNvSpPr>
            <a:spLocks noGrp="1"/>
          </p:cNvSpPr>
          <p:nvPr>
            <p:ph type="sldNum" sz="quarter" idx="5"/>
          </p:nvPr>
        </p:nvSpPr>
        <p:spPr/>
        <p:txBody>
          <a:bodyPr/>
          <a:lstStyle/>
          <a:p>
            <a:fld id="{E623982E-9872-AD40-9CB5-1850AAB28989}" type="slidenum">
              <a:rPr lang="en-US" smtClean="0"/>
              <a:t>16</a:t>
            </a:fld>
            <a:endParaRPr lang="en-US"/>
          </a:p>
        </p:txBody>
      </p:sp>
    </p:spTree>
    <p:extLst>
      <p:ext uri="{BB962C8B-B14F-4D97-AF65-F5344CB8AC3E}">
        <p14:creationId xmlns:p14="http://schemas.microsoft.com/office/powerpoint/2010/main" val="3753828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58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0A7B3-6521-4DCA-87E5-044747A908C1}"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970288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258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134690-1557-4C89-A502-4959FE7FAD70}" type="datetimeFigureOut">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947349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t>8/25/2026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60238150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8/25/2026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780816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278504F-A551-4DE0-9316-4DCD1D8CC752}" type="datetimeFigureOut">
              <a:rPr lang="en-US" smtClean="0"/>
              <a:t>8/25/2026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614359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1BE4249-C0D0-4B06-8692-E8BB871AF643}" type="datetimeFigureOut">
              <a:rPr lang="en-US" smtClean="0"/>
              <a:t>8/25/2026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A7A6979-0714-4377-B894-6BE4C2D6E202}" type="slidenum">
              <a:rPr lang="en-US" smtClean="0"/>
              <a:t>‹#›</a:t>
            </a:fld>
            <a:endParaRPr lang="en-US" dirty="0"/>
          </a:p>
        </p:txBody>
      </p:sp>
    </p:spTree>
    <p:extLst>
      <p:ext uri="{BB962C8B-B14F-4D97-AF65-F5344CB8AC3E}">
        <p14:creationId xmlns:p14="http://schemas.microsoft.com/office/powerpoint/2010/main" val="2732657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8/25/2026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86476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339174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8/25/2026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44517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160EA64-D806-43AC-9DF2-F8C432F32B4C}" type="datetimeFigureOut">
              <a:rPr lang="en-US" smtClean="0"/>
              <a:t>8/25/2026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A7A6979-0714-4377-B894-6BE4C2D6E202}"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885969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Quantum-safe Encryption</a:t>
            </a:r>
          </a:p>
        </p:txBody>
      </p:sp>
      <p:sp>
        <p:nvSpPr>
          <p:cNvPr id="3" name="Subtitle 2"/>
          <p:cNvSpPr>
            <a:spLocks noGrp="1"/>
          </p:cNvSpPr>
          <p:nvPr>
            <p:ph type="subTitle" idx="1"/>
          </p:nvPr>
        </p:nvSpPr>
        <p:spPr/>
        <p:txBody>
          <a:bodyPr/>
          <a:lstStyle/>
          <a:p>
            <a:r>
              <a:rPr lang="en-US" dirty="0"/>
              <a:t>Credit to NIST and Legion of Bouncy Castle</a:t>
            </a:r>
          </a:p>
        </p:txBody>
      </p:sp>
    </p:spTree>
    <p:extLst>
      <p:ext uri="{BB962C8B-B14F-4D97-AF65-F5344CB8AC3E}">
        <p14:creationId xmlns:p14="http://schemas.microsoft.com/office/powerpoint/2010/main" val="1035841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Outlines</a:t>
            </a:r>
          </a:p>
        </p:txBody>
      </p:sp>
      <p:sp>
        <p:nvSpPr>
          <p:cNvPr id="5" name="Content Placeholder 4"/>
          <p:cNvSpPr>
            <a:spLocks noGrp="1"/>
          </p:cNvSpPr>
          <p:nvPr>
            <p:ph idx="1"/>
          </p:nvPr>
        </p:nvSpPr>
        <p:spPr>
          <a:xfrm>
            <a:off x="1097280" y="1845734"/>
            <a:ext cx="10058400" cy="4444230"/>
          </a:xfrm>
        </p:spPr>
        <p:txBody>
          <a:bodyPr>
            <a:normAutofit/>
          </a:bodyPr>
          <a:lstStyle/>
          <a:p>
            <a:pPr marL="457200" indent="-457200">
              <a:buFont typeface="+mj-lt"/>
              <a:buAutoNum type="arabicPeriod"/>
            </a:pPr>
            <a:r>
              <a:rPr lang="en-US" sz="2800" dirty="0"/>
              <a:t>What’s Quantum computing?</a:t>
            </a:r>
          </a:p>
          <a:p>
            <a:pPr marL="457200" indent="-457200">
              <a:buFont typeface="+mj-lt"/>
              <a:buAutoNum type="arabicPeriod"/>
            </a:pPr>
            <a:r>
              <a:rPr lang="en-US" sz="2800" dirty="0"/>
              <a:t>Quantum computers vs Turing machines</a:t>
            </a:r>
          </a:p>
          <a:p>
            <a:pPr marL="457200" indent="-457200">
              <a:buFont typeface="+mj-lt"/>
              <a:buAutoNum type="arabicPeriod"/>
            </a:pPr>
            <a:r>
              <a:rPr lang="en-US" sz="2800" dirty="0"/>
              <a:t>The threat</a:t>
            </a:r>
          </a:p>
          <a:p>
            <a:pPr marL="457200" indent="-457200">
              <a:buFont typeface="+mj-lt"/>
              <a:buAutoNum type="arabicPeriod"/>
            </a:pPr>
            <a:r>
              <a:rPr lang="en-US" sz="2800" dirty="0"/>
              <a:t>Quantum safe encryption</a:t>
            </a:r>
          </a:p>
          <a:p>
            <a:pPr marL="457200" indent="-457200">
              <a:buFont typeface="+mj-lt"/>
              <a:buAutoNum type="arabicPeriod"/>
            </a:pPr>
            <a:r>
              <a:rPr lang="en-US" sz="2800" dirty="0"/>
              <a:t>NIST and CRYSTALS-</a:t>
            </a:r>
            <a:r>
              <a:rPr lang="en-US" sz="2800" dirty="0" err="1"/>
              <a:t>Kyber</a:t>
            </a:r>
            <a:r>
              <a:rPr lang="en-US" sz="2800" dirty="0"/>
              <a:t> algorithm</a:t>
            </a:r>
          </a:p>
          <a:p>
            <a:pPr marL="457200" indent="-457200">
              <a:buFont typeface="+mj-lt"/>
              <a:buAutoNum type="arabicPeriod"/>
            </a:pPr>
            <a:r>
              <a:rPr lang="en-US" sz="2800" dirty="0"/>
              <a:t>Legion of Bouncy Castle</a:t>
            </a:r>
          </a:p>
          <a:p>
            <a:pPr marL="457200" indent="-457200">
              <a:buFont typeface="+mj-lt"/>
              <a:buAutoNum type="arabicPeriod"/>
            </a:pPr>
            <a:r>
              <a:rPr lang="en-US" sz="2800" dirty="0"/>
              <a:t>Java implementation (</a:t>
            </a:r>
            <a:r>
              <a:rPr lang="en-US" sz="2800" dirty="0" err="1"/>
              <a:t>NextGPU</a:t>
            </a:r>
            <a:r>
              <a:rPr lang="en-US" sz="2800" dirty="0"/>
              <a:t>)</a:t>
            </a:r>
          </a:p>
        </p:txBody>
      </p:sp>
    </p:spTree>
    <p:extLst>
      <p:ext uri="{BB962C8B-B14F-4D97-AF65-F5344CB8AC3E}">
        <p14:creationId xmlns:p14="http://schemas.microsoft.com/office/powerpoint/2010/main" val="193533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51D05-7E80-E474-4B9E-902D47F54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A35A5-F35B-20A4-7863-A334C70353C2}"/>
              </a:ext>
            </a:extLst>
          </p:cNvPr>
          <p:cNvSpPr>
            <a:spLocks noGrp="1"/>
          </p:cNvSpPr>
          <p:nvPr>
            <p:ph type="title"/>
          </p:nvPr>
        </p:nvSpPr>
        <p:spPr/>
        <p:txBody>
          <a:bodyPr/>
          <a:lstStyle/>
          <a:p>
            <a:r>
              <a:rPr lang="en-US" dirty="0"/>
              <a:t>What is Quantum computing?</a:t>
            </a:r>
          </a:p>
        </p:txBody>
      </p:sp>
      <p:sp>
        <p:nvSpPr>
          <p:cNvPr id="5" name="Content Placeholder 4">
            <a:extLst>
              <a:ext uri="{FF2B5EF4-FFF2-40B4-BE49-F238E27FC236}">
                <a16:creationId xmlns:a16="http://schemas.microsoft.com/office/drawing/2014/main" id="{23C67445-8486-9D73-4DDA-2C314968F9CF}"/>
              </a:ext>
            </a:extLst>
          </p:cNvPr>
          <p:cNvSpPr>
            <a:spLocks noGrp="1"/>
          </p:cNvSpPr>
          <p:nvPr>
            <p:ph idx="1"/>
          </p:nvPr>
        </p:nvSpPr>
        <p:spPr>
          <a:xfrm>
            <a:off x="1097280" y="1845734"/>
            <a:ext cx="4998720" cy="4444230"/>
          </a:xfrm>
        </p:spPr>
        <p:txBody>
          <a:bodyPr>
            <a:normAutofit/>
          </a:bodyPr>
          <a:lstStyle/>
          <a:p>
            <a:pPr>
              <a:buFont typeface="Wingdings" pitchFamily="2" charset="2"/>
              <a:buChar char="v"/>
            </a:pPr>
            <a:r>
              <a:rPr lang="en-US" sz="2800" dirty="0"/>
              <a:t>Quantum 101. Tiny particles that do weird things.</a:t>
            </a:r>
          </a:p>
          <a:p>
            <a:pPr>
              <a:buFont typeface="Wingdings" pitchFamily="2" charset="2"/>
              <a:buChar char="v"/>
            </a:pPr>
            <a:r>
              <a:rPr lang="en-US" sz="2800" dirty="0"/>
              <a:t>Quantum exists in multiple states 0 and 1 until observed.</a:t>
            </a:r>
          </a:p>
          <a:p>
            <a:pPr>
              <a:buFont typeface="Wingdings" pitchFamily="2" charset="2"/>
              <a:buChar char="v"/>
            </a:pPr>
            <a:r>
              <a:rPr lang="en-US" sz="2800" dirty="0"/>
              <a:t>In Quantum physics “I have no idea” is a valid answer.</a:t>
            </a:r>
          </a:p>
        </p:txBody>
      </p:sp>
      <p:pic>
        <p:nvPicPr>
          <p:cNvPr id="1026" name="Picture 2" descr="Quantum Computers in a nutshell - Imgflip">
            <a:extLst>
              <a:ext uri="{FF2B5EF4-FFF2-40B4-BE49-F238E27FC236}">
                <a16:creationId xmlns:a16="http://schemas.microsoft.com/office/drawing/2014/main" id="{6EB75ECE-0466-69D0-10B0-EF10E2AA01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0170" y="1996750"/>
            <a:ext cx="5040932" cy="3564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230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4CB9B6-0970-B489-DE16-7338D0E72BAB}"/>
            </a:ext>
          </a:extLst>
        </p:cNvPr>
        <p:cNvGrpSpPr/>
        <p:nvPr/>
      </p:nvGrpSpPr>
      <p:grpSpPr>
        <a:xfrm>
          <a:off x="0" y="0"/>
          <a:ext cx="0" cy="0"/>
          <a:chOff x="0" y="0"/>
          <a:chExt cx="0" cy="0"/>
        </a:xfrm>
      </p:grpSpPr>
      <p:sp useBgFill="1">
        <p:nvSpPr>
          <p:cNvPr id="3097" name="Rectangle 3096">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1A5BB5-11DC-B56B-DBBF-6F399619C275}"/>
              </a:ext>
            </a:extLst>
          </p:cNvPr>
          <p:cNvSpPr>
            <a:spLocks noGrp="1"/>
          </p:cNvSpPr>
          <p:nvPr>
            <p:ph type="title"/>
          </p:nvPr>
        </p:nvSpPr>
        <p:spPr>
          <a:xfrm>
            <a:off x="477078" y="516835"/>
            <a:ext cx="3582672" cy="2103875"/>
          </a:xfrm>
        </p:spPr>
        <p:txBody>
          <a:bodyPr>
            <a:normAutofit/>
          </a:bodyPr>
          <a:lstStyle/>
          <a:p>
            <a:r>
              <a:rPr lang="en-US" sz="3600" dirty="0"/>
              <a:t>What is Quantum computing?</a:t>
            </a:r>
          </a:p>
        </p:txBody>
      </p:sp>
      <p:cxnSp>
        <p:nvCxnSpPr>
          <p:cNvPr id="3098" name="Straight Connector 3097">
            <a:extLst>
              <a:ext uri="{FF2B5EF4-FFF2-40B4-BE49-F238E27FC236}">
                <a16:creationId xmlns:a16="http://schemas.microsoft.com/office/drawing/2014/main" id="{5A0A5CF6-407C-4691-8122-49DF69D002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0927" y="2633962"/>
            <a:ext cx="274320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5A537873-827B-E2B5-2526-539C84F51DA7}"/>
              </a:ext>
            </a:extLst>
          </p:cNvPr>
          <p:cNvSpPr>
            <a:spLocks noGrp="1"/>
          </p:cNvSpPr>
          <p:nvPr>
            <p:ph idx="1"/>
          </p:nvPr>
        </p:nvSpPr>
        <p:spPr>
          <a:xfrm>
            <a:off x="492371" y="2736574"/>
            <a:ext cx="3582672" cy="3366047"/>
          </a:xfrm>
        </p:spPr>
        <p:txBody>
          <a:bodyPr>
            <a:noAutofit/>
          </a:bodyPr>
          <a:lstStyle/>
          <a:p>
            <a:pPr>
              <a:buFont typeface="Wingdings" pitchFamily="2" charset="2"/>
              <a:buChar char="v"/>
            </a:pPr>
            <a:r>
              <a:rPr lang="en-US" sz="1800" dirty="0"/>
              <a:t>Schrödinger's cat experiment</a:t>
            </a:r>
          </a:p>
          <a:p>
            <a:pPr>
              <a:buFont typeface="Wingdings" pitchFamily="2" charset="2"/>
              <a:buChar char="v"/>
            </a:pPr>
            <a:r>
              <a:rPr lang="en-US" sz="1800" dirty="0"/>
              <a:t>In a box, there’s a cat; a flask of poison; a radioactive source</a:t>
            </a:r>
          </a:p>
          <a:p>
            <a:pPr>
              <a:buFont typeface="Wingdings" pitchFamily="2" charset="2"/>
              <a:buChar char="v"/>
            </a:pPr>
            <a:r>
              <a:rPr lang="en-US" sz="1800" dirty="0"/>
              <a:t>Is it alive, dying, dead, decayed?</a:t>
            </a:r>
          </a:p>
          <a:p>
            <a:pPr>
              <a:buFont typeface="Wingdings" pitchFamily="2" charset="2"/>
              <a:buChar char="v"/>
            </a:pPr>
            <a:r>
              <a:rPr lang="en-US" sz="1800" dirty="0"/>
              <a:t>All answers are valid till you observe</a:t>
            </a:r>
          </a:p>
          <a:p>
            <a:pPr>
              <a:buFont typeface="Wingdings" pitchFamily="2" charset="2"/>
              <a:buChar char="v"/>
            </a:pPr>
            <a:r>
              <a:rPr lang="en-US" sz="1800" dirty="0"/>
              <a:t>Quantum particles work similarly</a:t>
            </a:r>
          </a:p>
          <a:p>
            <a:pPr>
              <a:buFont typeface="Wingdings" pitchFamily="2" charset="2"/>
              <a:buChar char="v"/>
            </a:pPr>
            <a:r>
              <a:rPr lang="en-US" sz="1800" dirty="0"/>
              <a:t>Qubit is the simplest example Quantum particle</a:t>
            </a:r>
          </a:p>
          <a:p>
            <a:pPr>
              <a:buFont typeface="Wingdings" pitchFamily="2" charset="2"/>
              <a:buChar char="v"/>
            </a:pPr>
            <a:r>
              <a:rPr lang="en-US" sz="1800" dirty="0"/>
              <a:t>Superpositions</a:t>
            </a:r>
          </a:p>
        </p:txBody>
      </p:sp>
      <p:pic>
        <p:nvPicPr>
          <p:cNvPr id="3074" name="Picture 2" descr="SCHRÖDINGER'S CAT EXPLAINED ~ THEOARMI">
            <a:extLst>
              <a:ext uri="{FF2B5EF4-FFF2-40B4-BE49-F238E27FC236}">
                <a16:creationId xmlns:a16="http://schemas.microsoft.com/office/drawing/2014/main" id="{8A1ECAA0-0050-C0E6-FA5B-744AC6D8BD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88" r="14262" b="-1"/>
          <a:stretch/>
        </p:blipFill>
        <p:spPr bwMode="auto">
          <a:xfrm>
            <a:off x="4075043" y="10"/>
            <a:ext cx="811127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826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D426E-FBC2-7185-C99D-33BB7C759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9C8CB-4972-CAD9-1246-9DA6E4B7CE87}"/>
              </a:ext>
            </a:extLst>
          </p:cNvPr>
          <p:cNvSpPr>
            <a:spLocks noGrp="1"/>
          </p:cNvSpPr>
          <p:nvPr>
            <p:ph type="title"/>
          </p:nvPr>
        </p:nvSpPr>
        <p:spPr/>
        <p:txBody>
          <a:bodyPr/>
          <a:lstStyle/>
          <a:p>
            <a:r>
              <a:rPr lang="en-US" dirty="0"/>
              <a:t>Quantum Computers vs Turing Machines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A40CFB5-6BF0-5FB6-6867-94FC110786F9}"/>
                  </a:ext>
                </a:extLst>
              </p:cNvPr>
              <p:cNvSpPr>
                <a:spLocks noGrp="1"/>
              </p:cNvSpPr>
              <p:nvPr>
                <p:ph idx="1"/>
              </p:nvPr>
            </p:nvSpPr>
            <p:spPr>
              <a:xfrm>
                <a:off x="1097280" y="1845734"/>
                <a:ext cx="10058400" cy="4444230"/>
              </a:xfrm>
            </p:spPr>
            <p:txBody>
              <a:bodyPr>
                <a:normAutofit fontScale="85000" lnSpcReduction="20000"/>
              </a:bodyPr>
              <a:lstStyle/>
              <a:p>
                <a:pPr>
                  <a:buFont typeface="Wingdings" pitchFamily="2" charset="2"/>
                  <a:buChar char="v"/>
                </a:pPr>
                <a:r>
                  <a:rPr lang="en-US" sz="2800" dirty="0"/>
                  <a:t>A Turing machine (Computer) has 2 states in a bit.</a:t>
                </a:r>
              </a:p>
              <a:p>
                <a:pPr>
                  <a:buFont typeface="Wingdings" pitchFamily="2" charset="2"/>
                  <a:buChar char="v"/>
                </a:pPr>
                <a:r>
                  <a:rPr lang="en-US" sz="2800" dirty="0"/>
                  <a:t>1-bit = 2 states; 2-bits = 4 states; 3-bits = 8 states; nibble = 16 states; n-bits =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𝑛</m:t>
                        </m:r>
                      </m:sup>
                    </m:sSup>
                  </m:oMath>
                </a14:m>
                <a:r>
                  <a:rPr lang="en-US" sz="2800" dirty="0"/>
                  <a:t> states.</a:t>
                </a:r>
              </a:p>
              <a:p>
                <a:pPr>
                  <a:buFont typeface="Wingdings" pitchFamily="2" charset="2"/>
                  <a:buChar char="v"/>
                </a:pPr>
                <a:r>
                  <a:rPr lang="en-US" sz="2800" dirty="0"/>
                  <a:t>In a Quantum computer each qubit is in both states.</a:t>
                </a:r>
              </a:p>
              <a:p>
                <a:pPr>
                  <a:buFont typeface="Wingdings" pitchFamily="2" charset="2"/>
                  <a:buChar char="v"/>
                </a:pPr>
                <a:r>
                  <a:rPr lang="en-US" sz="2800" dirty="0"/>
                  <a:t>A 2-qubit QC has states: </a:t>
                </a:r>
                <a14:m>
                  <m:oMath xmlns:m="http://schemas.openxmlformats.org/officeDocument/2006/math">
                    <m:r>
                      <m:rPr>
                        <m:sty m:val="p"/>
                      </m:rPr>
                      <a:rPr lang="en-US" sz="2800" b="0" i="0" dirty="0" smtClean="0">
                        <a:latin typeface="Cambria Math" panose="02040503050406030204" pitchFamily="18" charset="0"/>
                      </a:rPr>
                      <m:t>a</m:t>
                    </m:r>
                    <m:r>
                      <a:rPr lang="en-US" sz="2800" b="0" i="0" dirty="0" smtClean="0">
                        <a:latin typeface="Cambria Math" panose="02040503050406030204" pitchFamily="18" charset="0"/>
                      </a:rPr>
                      <m:t>=</m:t>
                    </m:r>
                    <m:d>
                      <m:dPr>
                        <m:begChr m:val="["/>
                        <m:endChr m:val="]"/>
                        <m:ctrlPr>
                          <a:rPr lang="en-US" sz="2800" i="1" dirty="0" smtClean="0">
                            <a:latin typeface="Cambria Math" panose="02040503050406030204" pitchFamily="18" charset="0"/>
                          </a:rPr>
                        </m:ctrlPr>
                      </m:dPr>
                      <m:e>
                        <m:r>
                          <a:rPr lang="en-US" sz="2800" i="1" dirty="0" smtClean="0">
                            <a:latin typeface="Cambria Math" panose="02040503050406030204" pitchFamily="18" charset="0"/>
                          </a:rPr>
                          <m:t>00</m:t>
                        </m:r>
                      </m:e>
                    </m:d>
                    <m:r>
                      <a:rPr lang="en-US" sz="2800" b="0" i="1" dirty="0" smtClean="0">
                        <a:latin typeface="Cambria Math" panose="02040503050406030204" pitchFamily="18" charset="0"/>
                      </a:rPr>
                      <m:t>;</m:t>
                    </m:r>
                    <m:r>
                      <a:rPr lang="en-US" sz="2800" b="0" i="1" dirty="0" smtClean="0">
                        <a:latin typeface="Cambria Math" panose="02040503050406030204" pitchFamily="18" charset="0"/>
                      </a:rPr>
                      <m:t>𝑏</m:t>
                    </m:r>
                    <m:r>
                      <a:rPr lang="en-US" sz="2800" b="0" i="1" dirty="0" smtClean="0">
                        <a:latin typeface="Cambria Math" panose="02040503050406030204" pitchFamily="18" charset="0"/>
                      </a:rPr>
                      <m:t>=</m:t>
                    </m:r>
                    <m:d>
                      <m:dPr>
                        <m:begChr m:val="["/>
                        <m:endChr m:val="]"/>
                        <m:ctrlPr>
                          <a:rPr lang="en-US" sz="2800" b="0" i="1" dirty="0" smtClean="0">
                            <a:latin typeface="Cambria Math" panose="02040503050406030204" pitchFamily="18" charset="0"/>
                          </a:rPr>
                        </m:ctrlPr>
                      </m:dPr>
                      <m:e>
                        <m:r>
                          <a:rPr lang="en-US" sz="2800" b="0" i="1" dirty="0" smtClean="0">
                            <a:latin typeface="Cambria Math" panose="02040503050406030204" pitchFamily="18" charset="0"/>
                          </a:rPr>
                          <m:t>01</m:t>
                        </m:r>
                      </m:e>
                    </m:d>
                    <m:r>
                      <a:rPr lang="en-US" sz="2800" b="0" i="1" dirty="0" smtClean="0">
                        <a:latin typeface="Cambria Math" panose="02040503050406030204" pitchFamily="18" charset="0"/>
                      </a:rPr>
                      <m:t>;</m:t>
                    </m:r>
                    <m:r>
                      <a:rPr lang="en-US" sz="2800" b="0" i="1" dirty="0" smtClean="0">
                        <a:latin typeface="Cambria Math" panose="02040503050406030204" pitchFamily="18" charset="0"/>
                      </a:rPr>
                      <m:t>𝑐</m:t>
                    </m:r>
                    <m:r>
                      <a:rPr lang="en-US" sz="2800" b="0" i="1" dirty="0" smtClean="0">
                        <a:latin typeface="Cambria Math" panose="02040503050406030204" pitchFamily="18" charset="0"/>
                      </a:rPr>
                      <m:t>=</m:t>
                    </m:r>
                    <m:d>
                      <m:dPr>
                        <m:begChr m:val="["/>
                        <m:endChr m:val="]"/>
                        <m:ctrlPr>
                          <a:rPr lang="en-US" sz="2800" b="0" i="1" dirty="0" smtClean="0">
                            <a:latin typeface="Cambria Math" panose="02040503050406030204" pitchFamily="18" charset="0"/>
                          </a:rPr>
                        </m:ctrlPr>
                      </m:dPr>
                      <m:e>
                        <m:r>
                          <a:rPr lang="en-US" sz="2800" b="0" i="1" dirty="0" smtClean="0">
                            <a:latin typeface="Cambria Math" panose="02040503050406030204" pitchFamily="18" charset="0"/>
                          </a:rPr>
                          <m:t>10</m:t>
                        </m:r>
                      </m:e>
                    </m:d>
                    <m:r>
                      <a:rPr lang="en-US" sz="2800" b="0" i="1" dirty="0" smtClean="0">
                        <a:latin typeface="Cambria Math" panose="02040503050406030204" pitchFamily="18" charset="0"/>
                      </a:rPr>
                      <m:t>;</m:t>
                    </m:r>
                    <m:r>
                      <a:rPr lang="en-US" sz="2800" b="0" i="1" dirty="0" smtClean="0">
                        <a:latin typeface="Cambria Math" panose="02040503050406030204" pitchFamily="18" charset="0"/>
                      </a:rPr>
                      <m:t>𝑑</m:t>
                    </m:r>
                    <m:r>
                      <a:rPr lang="en-US" sz="2800" b="0" i="1" dirty="0" smtClean="0">
                        <a:latin typeface="Cambria Math" panose="02040503050406030204" pitchFamily="18" charset="0"/>
                      </a:rPr>
                      <m:t>=[11]</m:t>
                    </m:r>
                  </m:oMath>
                </a14:m>
                <a:endParaRPr lang="en-US" sz="2800" dirty="0"/>
              </a:p>
              <a:p>
                <a:pPr>
                  <a:buFont typeface="Wingdings" pitchFamily="2" charset="2"/>
                  <a:buChar char="v"/>
                </a:pPr>
                <a:r>
                  <a:rPr lang="en-US" sz="2800" dirty="0"/>
                  <a:t>Meaning that the information that requires 4 bits to represent in a Turing machine requires 2 qubits.</a:t>
                </a:r>
              </a:p>
              <a:p>
                <a:pPr>
                  <a:buFont typeface="Wingdings" pitchFamily="2" charset="2"/>
                  <a:buChar char="v"/>
                </a:pPr>
                <a:r>
                  <a:rPr lang="en-US" sz="2800" dirty="0"/>
                  <a:t>A 3-qubit QC has states: </a:t>
                </a:r>
                <a14:m>
                  <m:oMath xmlns:m="http://schemas.openxmlformats.org/officeDocument/2006/math">
                    <m:r>
                      <m:rPr>
                        <m:sty m:val="p"/>
                      </m:rPr>
                      <a:rPr lang="en-US" sz="2800" dirty="0">
                        <a:latin typeface="Cambria Math" panose="02040503050406030204" pitchFamily="18" charset="0"/>
                      </a:rPr>
                      <m:t>a</m:t>
                    </m:r>
                    <m:r>
                      <a:rPr lang="en-US" sz="2800" b="0" i="0" dirty="0" smtClean="0">
                        <a:latin typeface="Cambria Math" panose="02040503050406030204" pitchFamily="18" charset="0"/>
                      </a:rPr>
                      <m:t>=</m:t>
                    </m:r>
                    <m:d>
                      <m:dPr>
                        <m:begChr m:val="["/>
                        <m:endChr m:val="]"/>
                        <m:ctrlPr>
                          <a:rPr lang="en-US" sz="2800" b="0" i="0" dirty="0" smtClean="0">
                            <a:latin typeface="Cambria Math" panose="02040503050406030204" pitchFamily="18" charset="0"/>
                          </a:rPr>
                        </m:ctrlPr>
                      </m:dPr>
                      <m:e>
                        <m:r>
                          <a:rPr lang="en-US" sz="2800" b="0" i="0" dirty="0" smtClean="0">
                            <a:latin typeface="Cambria Math" panose="02040503050406030204" pitchFamily="18" charset="0"/>
                          </a:rPr>
                          <m:t>000</m:t>
                        </m:r>
                      </m:e>
                    </m:d>
                    <m:r>
                      <a:rPr lang="en-US" sz="2800" b="0" i="0" dirty="0" smtClean="0">
                        <a:latin typeface="Cambria Math" panose="02040503050406030204" pitchFamily="18" charset="0"/>
                      </a:rPr>
                      <m:t>;</m:t>
                    </m:r>
                    <m:r>
                      <m:rPr>
                        <m:sty m:val="p"/>
                      </m:rPr>
                      <a:rPr lang="en-US" sz="2800" b="0" i="0" dirty="0" smtClean="0">
                        <a:latin typeface="Cambria Math" panose="02040503050406030204" pitchFamily="18" charset="0"/>
                      </a:rPr>
                      <m:t>b</m:t>
                    </m:r>
                    <m:r>
                      <a:rPr lang="en-US" sz="2800" b="0" i="0" dirty="0" smtClean="0">
                        <a:latin typeface="Cambria Math" panose="02040503050406030204" pitchFamily="18" charset="0"/>
                      </a:rPr>
                      <m:t>=</m:t>
                    </m:r>
                    <m:d>
                      <m:dPr>
                        <m:begChr m:val="["/>
                        <m:endChr m:val="]"/>
                        <m:ctrlPr>
                          <a:rPr lang="en-US" sz="2800" b="0" i="0" dirty="0" smtClean="0">
                            <a:latin typeface="Cambria Math" panose="02040503050406030204" pitchFamily="18" charset="0"/>
                          </a:rPr>
                        </m:ctrlPr>
                      </m:dPr>
                      <m:e>
                        <m:r>
                          <a:rPr lang="en-US" sz="2800" b="0" i="0" dirty="0" smtClean="0">
                            <a:latin typeface="Cambria Math" panose="02040503050406030204" pitchFamily="18" charset="0"/>
                          </a:rPr>
                          <m:t>001</m:t>
                        </m:r>
                      </m:e>
                    </m:d>
                    <m:r>
                      <a:rPr lang="en-US" sz="2800" b="0" i="0" dirty="0" smtClean="0">
                        <a:latin typeface="Cambria Math" panose="02040503050406030204" pitchFamily="18" charset="0"/>
                      </a:rPr>
                      <m:t>;</m:t>
                    </m:r>
                    <m:r>
                      <m:rPr>
                        <m:sty m:val="p"/>
                      </m:rPr>
                      <a:rPr lang="en-US" sz="2800" b="0" i="0" dirty="0" smtClean="0">
                        <a:latin typeface="Cambria Math" panose="02040503050406030204" pitchFamily="18" charset="0"/>
                      </a:rPr>
                      <m:t>c</m:t>
                    </m:r>
                    <m:r>
                      <a:rPr lang="en-US" sz="2800" b="0" i="0" dirty="0" smtClean="0">
                        <a:latin typeface="Cambria Math" panose="02040503050406030204" pitchFamily="18" charset="0"/>
                      </a:rPr>
                      <m:t>=</m:t>
                    </m:r>
                    <m:d>
                      <m:dPr>
                        <m:begChr m:val="["/>
                        <m:endChr m:val="]"/>
                        <m:ctrlPr>
                          <a:rPr lang="en-US" sz="2800" b="0" i="0" dirty="0" smtClean="0">
                            <a:latin typeface="Cambria Math" panose="02040503050406030204" pitchFamily="18" charset="0"/>
                          </a:rPr>
                        </m:ctrlPr>
                      </m:dPr>
                      <m:e>
                        <m:r>
                          <a:rPr lang="en-US" sz="2800" b="0" i="0" dirty="0" smtClean="0">
                            <a:latin typeface="Cambria Math" panose="02040503050406030204" pitchFamily="18" charset="0"/>
                          </a:rPr>
                          <m:t>010</m:t>
                        </m:r>
                      </m:e>
                    </m:d>
                    <m:r>
                      <a:rPr lang="en-US" sz="2800" b="0" i="0" dirty="0" smtClean="0">
                        <a:latin typeface="Cambria Math" panose="02040503050406030204" pitchFamily="18" charset="0"/>
                      </a:rPr>
                      <m:t>;</m:t>
                    </m:r>
                    <m:r>
                      <m:rPr>
                        <m:sty m:val="p"/>
                      </m:rPr>
                      <a:rPr lang="en-US" sz="2800" b="0" i="0" dirty="0" smtClean="0">
                        <a:latin typeface="Cambria Math" panose="02040503050406030204" pitchFamily="18" charset="0"/>
                      </a:rPr>
                      <m:t>d</m:t>
                    </m:r>
                    <m:r>
                      <a:rPr lang="en-US" sz="2800" b="0" i="0" dirty="0" smtClean="0">
                        <a:latin typeface="Cambria Math" panose="02040503050406030204" pitchFamily="18" charset="0"/>
                      </a:rPr>
                      <m:t>=</m:t>
                    </m:r>
                    <m:d>
                      <m:dPr>
                        <m:begChr m:val="["/>
                        <m:endChr m:val="]"/>
                        <m:ctrlPr>
                          <a:rPr lang="en-US" sz="2800" b="0" i="0" dirty="0" smtClean="0">
                            <a:latin typeface="Cambria Math" panose="02040503050406030204" pitchFamily="18" charset="0"/>
                          </a:rPr>
                        </m:ctrlPr>
                      </m:dPr>
                      <m:e>
                        <m:r>
                          <a:rPr lang="en-US" sz="2800" b="0" i="0" dirty="0" smtClean="0">
                            <a:latin typeface="Cambria Math" panose="02040503050406030204" pitchFamily="18" charset="0"/>
                          </a:rPr>
                          <m:t>011</m:t>
                        </m:r>
                      </m:e>
                    </m:d>
                    <m:r>
                      <a:rPr lang="en-US" sz="2800" b="0" i="0" dirty="0" smtClean="0">
                        <a:latin typeface="Cambria Math" panose="02040503050406030204" pitchFamily="18" charset="0"/>
                      </a:rPr>
                      <m:t>;</m:t>
                    </m:r>
                    <m:r>
                      <m:rPr>
                        <m:sty m:val="p"/>
                      </m:rPr>
                      <a:rPr lang="en-US" sz="2800" b="0" i="0" dirty="0" smtClean="0">
                        <a:latin typeface="Cambria Math" panose="02040503050406030204" pitchFamily="18" charset="0"/>
                      </a:rPr>
                      <m:t>e</m:t>
                    </m:r>
                    <m:r>
                      <a:rPr lang="en-US" sz="2800" b="0" i="0" dirty="0" smtClean="0">
                        <a:latin typeface="Cambria Math" panose="02040503050406030204" pitchFamily="18" charset="0"/>
                      </a:rPr>
                      <m:t>=</m:t>
                    </m:r>
                    <m:d>
                      <m:dPr>
                        <m:begChr m:val="["/>
                        <m:endChr m:val="]"/>
                        <m:ctrlPr>
                          <a:rPr lang="en-US" sz="2800" b="0" i="0" dirty="0" smtClean="0">
                            <a:latin typeface="Cambria Math" panose="02040503050406030204" pitchFamily="18" charset="0"/>
                          </a:rPr>
                        </m:ctrlPr>
                      </m:dPr>
                      <m:e>
                        <m:r>
                          <a:rPr lang="en-US" sz="2800" b="0" i="0" dirty="0" smtClean="0">
                            <a:latin typeface="Cambria Math" panose="02040503050406030204" pitchFamily="18" charset="0"/>
                          </a:rPr>
                          <m:t>100</m:t>
                        </m:r>
                      </m:e>
                    </m:d>
                    <m:r>
                      <a:rPr lang="en-US" sz="2800" b="0" i="0" dirty="0" smtClean="0">
                        <a:latin typeface="Cambria Math" panose="02040503050406030204" pitchFamily="18" charset="0"/>
                      </a:rPr>
                      <m:t>;</m:t>
                    </m:r>
                    <m:r>
                      <m:rPr>
                        <m:sty m:val="p"/>
                      </m:rPr>
                      <a:rPr lang="en-US" sz="2800" b="0" i="0" dirty="0" smtClean="0">
                        <a:latin typeface="Cambria Math" panose="02040503050406030204" pitchFamily="18" charset="0"/>
                      </a:rPr>
                      <m:t>f</m:t>
                    </m:r>
                    <m:r>
                      <a:rPr lang="en-US" sz="2800" b="0" i="0" dirty="0" smtClean="0">
                        <a:latin typeface="Cambria Math" panose="02040503050406030204" pitchFamily="18" charset="0"/>
                      </a:rPr>
                      <m:t>=</m:t>
                    </m:r>
                    <m:d>
                      <m:dPr>
                        <m:begChr m:val="["/>
                        <m:endChr m:val="]"/>
                        <m:ctrlPr>
                          <a:rPr lang="en-US" sz="2800" b="0" i="0" dirty="0" smtClean="0">
                            <a:latin typeface="Cambria Math" panose="02040503050406030204" pitchFamily="18" charset="0"/>
                          </a:rPr>
                        </m:ctrlPr>
                      </m:dPr>
                      <m:e>
                        <m:r>
                          <a:rPr lang="en-US" sz="2800" b="0" i="0" dirty="0" smtClean="0">
                            <a:latin typeface="Cambria Math" panose="02040503050406030204" pitchFamily="18" charset="0"/>
                          </a:rPr>
                          <m:t>101</m:t>
                        </m:r>
                      </m:e>
                    </m:d>
                    <m:r>
                      <a:rPr lang="en-US" sz="2800" b="0" i="0" dirty="0" smtClean="0">
                        <a:latin typeface="Cambria Math" panose="02040503050406030204" pitchFamily="18" charset="0"/>
                      </a:rPr>
                      <m:t>;</m:t>
                    </m:r>
                    <m:r>
                      <m:rPr>
                        <m:sty m:val="p"/>
                      </m:rPr>
                      <a:rPr lang="en-US" sz="2800" b="0" i="0" dirty="0" smtClean="0">
                        <a:latin typeface="Cambria Math" panose="02040503050406030204" pitchFamily="18" charset="0"/>
                      </a:rPr>
                      <m:t>g</m:t>
                    </m:r>
                    <m:r>
                      <a:rPr lang="en-US" sz="2800" b="0" i="0" dirty="0" smtClean="0">
                        <a:latin typeface="Cambria Math" panose="02040503050406030204" pitchFamily="18" charset="0"/>
                      </a:rPr>
                      <m:t>=</m:t>
                    </m:r>
                    <m:d>
                      <m:dPr>
                        <m:begChr m:val="["/>
                        <m:endChr m:val="]"/>
                        <m:ctrlPr>
                          <a:rPr lang="en-US" sz="2800" b="0" i="0" dirty="0" smtClean="0">
                            <a:latin typeface="Cambria Math" panose="02040503050406030204" pitchFamily="18" charset="0"/>
                          </a:rPr>
                        </m:ctrlPr>
                      </m:dPr>
                      <m:e>
                        <m:r>
                          <a:rPr lang="en-US" sz="2800" b="0" i="0" dirty="0" smtClean="0">
                            <a:latin typeface="Cambria Math" panose="02040503050406030204" pitchFamily="18" charset="0"/>
                          </a:rPr>
                          <m:t>110</m:t>
                        </m:r>
                      </m:e>
                    </m:d>
                    <m:r>
                      <a:rPr lang="en-US" sz="2800" b="0" i="0" dirty="0" smtClean="0">
                        <a:latin typeface="Cambria Math" panose="02040503050406030204" pitchFamily="18" charset="0"/>
                      </a:rPr>
                      <m:t>;</m:t>
                    </m:r>
                    <m:r>
                      <m:rPr>
                        <m:sty m:val="p"/>
                      </m:rPr>
                      <a:rPr lang="en-US" sz="2800" b="0" i="0" dirty="0" smtClean="0">
                        <a:latin typeface="Cambria Math" panose="02040503050406030204" pitchFamily="18" charset="0"/>
                      </a:rPr>
                      <m:t>h</m:t>
                    </m:r>
                    <m:r>
                      <a:rPr lang="en-US" sz="2800" b="0" i="0" dirty="0" smtClean="0">
                        <a:latin typeface="Cambria Math" panose="02040503050406030204" pitchFamily="18" charset="0"/>
                      </a:rPr>
                      <m:t>=</m:t>
                    </m:r>
                    <m:d>
                      <m:dPr>
                        <m:begChr m:val="["/>
                        <m:endChr m:val="]"/>
                        <m:ctrlPr>
                          <a:rPr lang="en-US" sz="2800" b="0" i="0" dirty="0" smtClean="0">
                            <a:latin typeface="Cambria Math" panose="02040503050406030204" pitchFamily="18" charset="0"/>
                          </a:rPr>
                        </m:ctrlPr>
                      </m:dPr>
                      <m:e>
                        <m:r>
                          <a:rPr lang="en-US" sz="2800" b="0" i="0" dirty="0" smtClean="0">
                            <a:latin typeface="Cambria Math" panose="02040503050406030204" pitchFamily="18" charset="0"/>
                          </a:rPr>
                          <m:t>111</m:t>
                        </m:r>
                      </m:e>
                    </m:d>
                  </m:oMath>
                </a14:m>
                <a:endParaRPr lang="en-US" sz="2800" dirty="0"/>
              </a:p>
              <a:p>
                <a:pPr>
                  <a:buFont typeface="Wingdings" pitchFamily="2" charset="2"/>
                  <a:buChar char="v"/>
                </a:pPr>
                <a:r>
                  <a:rPr lang="en-US" sz="2800" dirty="0"/>
                  <a:t>Meaning that the information that requires 8 bits to represent in a Turing machine requires 3 qubits.</a:t>
                </a:r>
              </a:p>
              <a:p>
                <a:pPr>
                  <a:buFont typeface="Wingdings" pitchFamily="2" charset="2"/>
                  <a:buChar char="v"/>
                </a:pPr>
                <a:r>
                  <a:rPr lang="en-US" sz="2800" dirty="0"/>
                  <a:t>So, who many qubits are required to store information that requires 256 bits?</a:t>
                </a:r>
              </a:p>
            </p:txBody>
          </p:sp>
        </mc:Choice>
        <mc:Fallback xmlns="">
          <p:sp>
            <p:nvSpPr>
              <p:cNvPr id="5" name="Content Placeholder 4">
                <a:extLst>
                  <a:ext uri="{FF2B5EF4-FFF2-40B4-BE49-F238E27FC236}">
                    <a16:creationId xmlns:a16="http://schemas.microsoft.com/office/drawing/2014/main" id="{AA40CFB5-6BF0-5FB6-6867-94FC110786F9}"/>
                  </a:ext>
                </a:extLst>
              </p:cNvPr>
              <p:cNvSpPr>
                <a:spLocks noGrp="1" noRot="1" noChangeAspect="1" noMove="1" noResize="1" noEditPoints="1" noAdjustHandles="1" noChangeArrowheads="1" noChangeShapeType="1" noTextEdit="1"/>
              </p:cNvSpPr>
              <p:nvPr>
                <p:ph idx="1"/>
              </p:nvPr>
            </p:nvSpPr>
            <p:spPr>
              <a:xfrm>
                <a:off x="1097280" y="1845734"/>
                <a:ext cx="10058400" cy="4444230"/>
              </a:xfrm>
              <a:blipFill>
                <a:blip r:embed="rId3"/>
                <a:stretch>
                  <a:fillRect l="-1765" t="-3134" r="-252" b="-2564"/>
                </a:stretch>
              </a:blipFill>
            </p:spPr>
            <p:txBody>
              <a:bodyPr/>
              <a:lstStyle/>
              <a:p>
                <a:r>
                  <a:rPr lang="en-US">
                    <a:noFill/>
                  </a:rPr>
                  <a:t> </a:t>
                </a:r>
              </a:p>
            </p:txBody>
          </p:sp>
        </mc:Fallback>
      </mc:AlternateContent>
    </p:spTree>
    <p:extLst>
      <p:ext uri="{BB962C8B-B14F-4D97-AF65-F5344CB8AC3E}">
        <p14:creationId xmlns:p14="http://schemas.microsoft.com/office/powerpoint/2010/main" val="259883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FAE82D-9477-706B-A569-188B02888486}"/>
            </a:ext>
          </a:extLst>
        </p:cNvPr>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49F135-A70B-BED8-9E3F-F68ECD36E42F}"/>
              </a:ext>
            </a:extLst>
          </p:cNvPr>
          <p:cNvSpPr>
            <a:spLocks noGrp="1"/>
          </p:cNvSpPr>
          <p:nvPr>
            <p:ph type="title"/>
          </p:nvPr>
        </p:nvSpPr>
        <p:spPr>
          <a:xfrm>
            <a:off x="6096001" y="634946"/>
            <a:ext cx="5442856" cy="1450757"/>
          </a:xfrm>
        </p:spPr>
        <p:txBody>
          <a:bodyPr>
            <a:normAutofit/>
          </a:bodyPr>
          <a:lstStyle/>
          <a:p>
            <a:r>
              <a:rPr lang="en-US" dirty="0"/>
              <a:t>The Threat</a:t>
            </a:r>
          </a:p>
        </p:txBody>
      </p:sp>
      <p:pic>
        <p:nvPicPr>
          <p:cNvPr id="5122" name="Picture 2" descr="A humorous cartoon-style illustration of a person standing helplessly in front of their house, holding a small sign that says &quot;NO ENTRY&quot; directed at a massive, towering tornado. The tornado is huge, dark, and menacing, with swirling debris and strong winds, completely dwarfing the tiny figure. The person looks visibly panicked, sweating, or shaking, with their sign barely making an impact. The background shows trees and objects being lifted by the powerful winds, emphasizing the absurdity of the scene.">
            <a:extLst>
              <a:ext uri="{FF2B5EF4-FFF2-40B4-BE49-F238E27FC236}">
                <a16:creationId xmlns:a16="http://schemas.microsoft.com/office/drawing/2014/main" id="{8AECFD57-B0B2-89D9-3122-6038F26EBB3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5132" y="645106"/>
            <a:ext cx="5247747" cy="5247747"/>
          </a:xfrm>
          <a:prstGeom prst="rect">
            <a:avLst/>
          </a:prstGeom>
          <a:noFill/>
          <a:extLst>
            <a:ext uri="{909E8E84-426E-40DD-AFC4-6F175D3DCCD1}">
              <a14:hiddenFill xmlns:a14="http://schemas.microsoft.com/office/drawing/2010/main">
                <a:solidFill>
                  <a:srgbClr val="FFFFFF"/>
                </a:solidFill>
              </a14:hiddenFill>
            </a:ext>
          </a:extLst>
        </p:spPr>
      </p:pic>
      <p:cxnSp>
        <p:nvCxnSpPr>
          <p:cNvPr id="5129" name="Straight Connector 5128">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9BC375CC-CDD8-00D9-74C6-BCDED3DA9D49}"/>
              </a:ext>
            </a:extLst>
          </p:cNvPr>
          <p:cNvSpPr>
            <a:spLocks noGrp="1"/>
          </p:cNvSpPr>
          <p:nvPr>
            <p:ph idx="1"/>
          </p:nvPr>
        </p:nvSpPr>
        <p:spPr>
          <a:xfrm>
            <a:off x="6096000" y="2198914"/>
            <a:ext cx="5442856" cy="3670180"/>
          </a:xfrm>
        </p:spPr>
        <p:txBody>
          <a:bodyPr>
            <a:normAutofit/>
          </a:bodyPr>
          <a:lstStyle/>
          <a:p>
            <a:pPr>
              <a:buFont typeface="Wingdings" pitchFamily="2" charset="2"/>
              <a:buChar char="v"/>
            </a:pPr>
            <a:r>
              <a:rPr lang="en-US" sz="1800" dirty="0"/>
              <a:t>Imagine a thief who can pick </a:t>
            </a:r>
            <a:r>
              <a:rPr lang="en-US" sz="1800" b="1" i="1" dirty="0"/>
              <a:t>every</a:t>
            </a:r>
            <a:r>
              <a:rPr lang="en-US" sz="1800" dirty="0"/>
              <a:t> lock in the world. That’s Quantum computer for encryption.</a:t>
            </a:r>
          </a:p>
          <a:p>
            <a:pPr>
              <a:buFont typeface="Wingdings" pitchFamily="2" charset="2"/>
              <a:buChar char="v"/>
            </a:pPr>
            <a:r>
              <a:rPr lang="en-US" sz="1800" dirty="0"/>
              <a:t>For a Quantum computer, cracking password “abcdef123456” is no different than “$tav3k(d!Qu4”.</a:t>
            </a:r>
          </a:p>
          <a:p>
            <a:pPr>
              <a:buFont typeface="Wingdings" pitchFamily="2" charset="2"/>
              <a:buChar char="v"/>
            </a:pPr>
            <a:r>
              <a:rPr lang="en-US" sz="1800" dirty="0"/>
              <a:t>Classical computers solve a maze by walking every path sequentially.</a:t>
            </a:r>
          </a:p>
          <a:p>
            <a:pPr>
              <a:buFont typeface="Wingdings" pitchFamily="2" charset="2"/>
              <a:buChar char="v"/>
            </a:pPr>
            <a:r>
              <a:rPr lang="en-US" sz="1800" dirty="0"/>
              <a:t>Quantum computers solve the same maze by walking all paths at once.</a:t>
            </a:r>
          </a:p>
          <a:p>
            <a:pPr>
              <a:buFont typeface="Wingdings" pitchFamily="2" charset="2"/>
              <a:buChar char="v"/>
            </a:pPr>
            <a:r>
              <a:rPr lang="en-US" sz="1800" dirty="0"/>
              <a:t>256-bit encryption is safe. For now. Hopefully.</a:t>
            </a:r>
          </a:p>
          <a:p>
            <a:pPr>
              <a:buFont typeface="Wingdings" pitchFamily="2" charset="2"/>
              <a:buChar char="v"/>
            </a:pPr>
            <a:r>
              <a:rPr lang="en-US" sz="1800" dirty="0"/>
              <a:t>So why worry today?</a:t>
            </a:r>
          </a:p>
        </p:txBody>
      </p:sp>
      <p:sp>
        <p:nvSpPr>
          <p:cNvPr id="5131" name="Rectangle 5130">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133" name="Rectangle 5132">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60678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9648E-2D9F-DD67-A9E7-13C870278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DFABC-7C1F-E659-0726-BA447CAFD4B6}"/>
              </a:ext>
            </a:extLst>
          </p:cNvPr>
          <p:cNvSpPr>
            <a:spLocks noGrp="1"/>
          </p:cNvSpPr>
          <p:nvPr>
            <p:ph type="title"/>
          </p:nvPr>
        </p:nvSpPr>
        <p:spPr/>
        <p:txBody>
          <a:bodyPr/>
          <a:lstStyle/>
          <a:p>
            <a:r>
              <a:rPr lang="en-US" dirty="0"/>
              <a:t>Quantum Safe Encryption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C04FA29E-C74E-4A03-126A-455EA3BF2658}"/>
                  </a:ext>
                </a:extLst>
              </p:cNvPr>
              <p:cNvSpPr>
                <a:spLocks noGrp="1"/>
              </p:cNvSpPr>
              <p:nvPr>
                <p:ph idx="1"/>
              </p:nvPr>
            </p:nvSpPr>
            <p:spPr>
              <a:xfrm>
                <a:off x="1097280" y="1845734"/>
                <a:ext cx="10058400" cy="4444230"/>
              </a:xfrm>
            </p:spPr>
            <p:txBody>
              <a:bodyPr>
                <a:normAutofit/>
              </a:bodyPr>
              <a:lstStyle/>
              <a:p>
                <a:pPr>
                  <a:buFont typeface="Wingdings" pitchFamily="2" charset="2"/>
                  <a:buChar char="v"/>
                </a:pPr>
                <a:r>
                  <a:rPr lang="en-US" sz="2800" dirty="0"/>
                  <a:t>Encryption algorithms too strong even for Quantum computers.</a:t>
                </a:r>
              </a:p>
              <a:p>
                <a:pPr>
                  <a:buFont typeface="Wingdings" pitchFamily="2" charset="2"/>
                  <a:buChar char="v"/>
                </a:pPr>
                <a:r>
                  <a:rPr lang="en-US" sz="2800" dirty="0"/>
                  <a:t>Toss all linear functions into the bin.</a:t>
                </a:r>
              </a:p>
              <a:p>
                <a:pPr>
                  <a:buFont typeface="Wingdings" pitchFamily="2" charset="2"/>
                  <a:buChar char="v"/>
                </a:pPr>
                <a:r>
                  <a:rPr lang="en-US" sz="2800" dirty="0"/>
                  <a:t>Lattice-based Cryptography:</a:t>
                </a:r>
              </a:p>
              <a:p>
                <a:pPr lvl="1">
                  <a:buFont typeface="Wingdings" pitchFamily="2" charset="2"/>
                  <a:buChar char="v"/>
                </a:pPr>
                <a:r>
                  <a:rPr lang="en-US" sz="2600" dirty="0"/>
                  <a:t>Thinking in multiple dimensions</a:t>
                </a:r>
              </a:p>
              <a:p>
                <a:pPr lvl="1">
                  <a:buFont typeface="Wingdings" pitchFamily="2" charset="2"/>
                  <a:buChar char="v"/>
                </a:pPr>
                <a:r>
                  <a:rPr lang="en-US" sz="2600" dirty="0"/>
                  <a:t>It’s a easy to guess a number from 1 to 100</a:t>
                </a:r>
              </a:p>
              <a:p>
                <a:pPr lvl="1">
                  <a:buFont typeface="Wingdings" pitchFamily="2" charset="2"/>
                  <a:buChar char="v"/>
                </a:pPr>
                <a:r>
                  <a:rPr lang="en-US" sz="2600" dirty="0"/>
                  <a:t>It’s relatively difficult to guess a vector in a 2D space of </a:t>
                </a:r>
                <a14:m>
                  <m:oMath xmlns:m="http://schemas.openxmlformats.org/officeDocument/2006/math">
                    <m:d>
                      <m:dPr>
                        <m:begChr m:val="["/>
                        <m:endChr m:val="]"/>
                        <m:ctrlPr>
                          <a:rPr lang="en-US" sz="2600" i="1" dirty="0" smtClean="0">
                            <a:latin typeface="Cambria Math" panose="02040503050406030204" pitchFamily="18" charset="0"/>
                          </a:rPr>
                        </m:ctrlPr>
                      </m:dPr>
                      <m:e>
                        <m:r>
                          <a:rPr lang="en-US" sz="2600" i="1" dirty="0" smtClean="0">
                            <a:latin typeface="Cambria Math" panose="02040503050406030204" pitchFamily="18" charset="0"/>
                          </a:rPr>
                          <m:t>1</m:t>
                        </m:r>
                        <m:r>
                          <a:rPr lang="en-US" sz="2600" b="0" i="1" dirty="0" smtClean="0">
                            <a:latin typeface="Cambria Math" panose="02040503050406030204" pitchFamily="18" charset="0"/>
                          </a:rPr>
                          <m:t>  </m:t>
                        </m:r>
                        <m:r>
                          <a:rPr lang="en-US" sz="2600" i="1" dirty="0" smtClean="0">
                            <a:latin typeface="Cambria Math" panose="02040503050406030204" pitchFamily="18" charset="0"/>
                          </a:rPr>
                          <m:t>100</m:t>
                        </m:r>
                      </m:e>
                    </m:d>
                  </m:oMath>
                </a14:m>
                <a:endParaRPr lang="en-US" sz="2600" dirty="0"/>
              </a:p>
              <a:p>
                <a:pPr lvl="1">
                  <a:buFont typeface="Wingdings" pitchFamily="2" charset="2"/>
                  <a:buChar char="v"/>
                </a:pPr>
                <a:r>
                  <a:rPr lang="en-US" sz="2600" dirty="0"/>
                  <a:t>It’s supremely difficult to guess a vector between a 100D space of  </a:t>
                </a:r>
                <a14:m>
                  <m:oMath xmlns:m="http://schemas.openxmlformats.org/officeDocument/2006/math">
                    <m:d>
                      <m:dPr>
                        <m:begChr m:val="["/>
                        <m:endChr m:val="]"/>
                        <m:ctrlPr>
                          <a:rPr lang="en-US" sz="2600" i="1" smtClean="0">
                            <a:latin typeface="Cambria Math" panose="02040503050406030204" pitchFamily="18" charset="0"/>
                          </a:rPr>
                        </m:ctrlPr>
                      </m:dPr>
                      <m:e>
                        <m:m>
                          <m:mPr>
                            <m:mcs>
                              <m:mc>
                                <m:mcPr>
                                  <m:count m:val="3"/>
                                  <m:mcJc m:val="center"/>
                                </m:mcPr>
                              </m:mc>
                            </m:mcs>
                            <m:ctrlPr>
                              <a:rPr lang="en-US" sz="2600" i="1" smtClean="0">
                                <a:latin typeface="Cambria Math" panose="02040503050406030204" pitchFamily="18" charset="0"/>
                              </a:rPr>
                            </m:ctrlPr>
                          </m:mPr>
                          <m:mr>
                            <m:e>
                              <m:r>
                                <m:rPr>
                                  <m:brk m:alnAt="7"/>
                                </m:rPr>
                                <a:rPr lang="en-US" sz="2600" b="0" i="1" smtClean="0">
                                  <a:latin typeface="Cambria Math" panose="02040503050406030204" pitchFamily="18" charset="0"/>
                                </a:rPr>
                                <m:t>1</m:t>
                              </m:r>
                            </m:e>
                            <m:e>
                              <m:r>
                                <a:rPr lang="en-US" sz="2600" i="1" smtClean="0">
                                  <a:latin typeface="Cambria Math" panose="02040503050406030204" pitchFamily="18" charset="0"/>
                                </a:rPr>
                                <m:t>⋯</m:t>
                              </m:r>
                            </m:e>
                            <m:e>
                              <m:r>
                                <a:rPr lang="en-US" sz="2600" b="0" i="1" smtClean="0">
                                  <a:latin typeface="Cambria Math" panose="02040503050406030204" pitchFamily="18" charset="0"/>
                                </a:rPr>
                                <m:t>100</m:t>
                              </m:r>
                            </m:e>
                          </m:mr>
                          <m:mr>
                            <m:e>
                              <m:r>
                                <a:rPr lang="en-US" sz="2600" i="1" smtClean="0">
                                  <a:latin typeface="Cambria Math" panose="02040503050406030204" pitchFamily="18" charset="0"/>
                                </a:rPr>
                                <m:t>⋮</m:t>
                              </m:r>
                            </m:e>
                            <m:e>
                              <m:r>
                                <a:rPr lang="en-US" sz="2600" i="1" smtClean="0">
                                  <a:latin typeface="Cambria Math" panose="02040503050406030204" pitchFamily="18" charset="0"/>
                                </a:rPr>
                                <m:t>⋱</m:t>
                              </m:r>
                            </m:e>
                            <m:e>
                              <m:r>
                                <a:rPr lang="en-US" sz="2600" i="1" smtClean="0">
                                  <a:latin typeface="Cambria Math" panose="02040503050406030204" pitchFamily="18" charset="0"/>
                                </a:rPr>
                                <m:t>⋮</m:t>
                              </m:r>
                            </m:e>
                          </m:mr>
                          <m:mr>
                            <m:e>
                              <m:r>
                                <a:rPr lang="en-US" sz="2600" b="0" i="1" smtClean="0">
                                  <a:latin typeface="Cambria Math" panose="02040503050406030204" pitchFamily="18" charset="0"/>
                                </a:rPr>
                                <m:t>100</m:t>
                              </m:r>
                            </m:e>
                            <m:e>
                              <m:r>
                                <a:rPr lang="en-US" sz="2600" i="1" smtClean="0">
                                  <a:latin typeface="Cambria Math" panose="02040503050406030204" pitchFamily="18" charset="0"/>
                                </a:rPr>
                                <m:t>⋯</m:t>
                              </m:r>
                            </m:e>
                            <m:e>
                              <m:r>
                                <a:rPr lang="en-US" sz="2600" b="0" i="1" smtClean="0">
                                  <a:latin typeface="Cambria Math" panose="02040503050406030204" pitchFamily="18" charset="0"/>
                                </a:rPr>
                                <m:t>100</m:t>
                              </m:r>
                            </m:e>
                          </m:mr>
                        </m:m>
                      </m:e>
                    </m:d>
                  </m:oMath>
                </a14:m>
                <a:endParaRPr lang="en-US" sz="2600" dirty="0"/>
              </a:p>
            </p:txBody>
          </p:sp>
        </mc:Choice>
        <mc:Fallback xmlns="">
          <p:sp>
            <p:nvSpPr>
              <p:cNvPr id="5" name="Content Placeholder 4">
                <a:extLst>
                  <a:ext uri="{FF2B5EF4-FFF2-40B4-BE49-F238E27FC236}">
                    <a16:creationId xmlns:a16="http://schemas.microsoft.com/office/drawing/2014/main" id="{C04FA29E-C74E-4A03-126A-455EA3BF2658}"/>
                  </a:ext>
                </a:extLst>
              </p:cNvPr>
              <p:cNvSpPr>
                <a:spLocks noGrp="1" noRot="1" noChangeAspect="1" noMove="1" noResize="1" noEditPoints="1" noAdjustHandles="1" noChangeArrowheads="1" noChangeShapeType="1" noTextEdit="1"/>
              </p:cNvSpPr>
              <p:nvPr>
                <p:ph idx="1"/>
              </p:nvPr>
            </p:nvSpPr>
            <p:spPr>
              <a:xfrm>
                <a:off x="1097280" y="1845734"/>
                <a:ext cx="10058400" cy="4444230"/>
              </a:xfrm>
              <a:blipFill>
                <a:blip r:embed="rId3"/>
                <a:stretch>
                  <a:fillRect l="-2018" t="-2279"/>
                </a:stretch>
              </a:blipFill>
            </p:spPr>
            <p:txBody>
              <a:bodyPr/>
              <a:lstStyle/>
              <a:p>
                <a:r>
                  <a:rPr lang="en-US">
                    <a:noFill/>
                  </a:rPr>
                  <a:t> </a:t>
                </a:r>
              </a:p>
            </p:txBody>
          </p:sp>
        </mc:Fallback>
      </mc:AlternateContent>
    </p:spTree>
    <p:extLst>
      <p:ext uri="{BB962C8B-B14F-4D97-AF65-F5344CB8AC3E}">
        <p14:creationId xmlns:p14="http://schemas.microsoft.com/office/powerpoint/2010/main" val="30397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F2219-9BB1-1DC4-F6AF-5B21767A57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69877-BC1C-6811-20E0-871FB4172441}"/>
              </a:ext>
            </a:extLst>
          </p:cNvPr>
          <p:cNvSpPr>
            <a:spLocks noGrp="1"/>
          </p:cNvSpPr>
          <p:nvPr>
            <p:ph type="title"/>
          </p:nvPr>
        </p:nvSpPr>
        <p:spPr/>
        <p:txBody>
          <a:bodyPr/>
          <a:lstStyle/>
          <a:p>
            <a:r>
              <a:rPr lang="en-US" sz="4800" dirty="0"/>
              <a:t>NIST and CRYSTALS-</a:t>
            </a:r>
            <a:r>
              <a:rPr lang="en-US" sz="4800" dirty="0" err="1"/>
              <a:t>Kyber</a:t>
            </a:r>
            <a:r>
              <a:rPr lang="en-US" sz="4800" dirty="0"/>
              <a:t> algorithm</a:t>
            </a:r>
            <a:endParaRPr lang="en-US" dirty="0"/>
          </a:p>
        </p:txBody>
      </p:sp>
      <p:sp>
        <p:nvSpPr>
          <p:cNvPr id="5" name="Content Placeholder 4">
            <a:extLst>
              <a:ext uri="{FF2B5EF4-FFF2-40B4-BE49-F238E27FC236}">
                <a16:creationId xmlns:a16="http://schemas.microsoft.com/office/drawing/2014/main" id="{002EA1D5-1105-ED6B-953F-39DCA2974E67}"/>
              </a:ext>
            </a:extLst>
          </p:cNvPr>
          <p:cNvSpPr>
            <a:spLocks noGrp="1"/>
          </p:cNvSpPr>
          <p:nvPr>
            <p:ph idx="1"/>
          </p:nvPr>
        </p:nvSpPr>
        <p:spPr>
          <a:xfrm>
            <a:off x="1097280" y="1845734"/>
            <a:ext cx="4998720" cy="4444230"/>
          </a:xfrm>
        </p:spPr>
        <p:txBody>
          <a:bodyPr>
            <a:normAutofit fontScale="92500" lnSpcReduction="10000"/>
          </a:bodyPr>
          <a:lstStyle/>
          <a:p>
            <a:pPr>
              <a:buFont typeface="Wingdings" pitchFamily="2" charset="2"/>
              <a:buChar char="v"/>
            </a:pPr>
            <a:r>
              <a:rPr lang="en-US" sz="2800" dirty="0"/>
              <a:t>National Institute of Standards and Technology.</a:t>
            </a:r>
          </a:p>
          <a:p>
            <a:pPr>
              <a:buFont typeface="Wingdings" pitchFamily="2" charset="2"/>
              <a:buChar char="v"/>
            </a:pPr>
            <a:r>
              <a:rPr lang="en-US" sz="2800" dirty="0"/>
              <a:t>NIST judged 70 algorithms. Only 4 survived.</a:t>
            </a:r>
          </a:p>
          <a:p>
            <a:pPr>
              <a:buFont typeface="Wingdings" pitchFamily="2" charset="2"/>
              <a:buChar char="v"/>
            </a:pPr>
            <a:r>
              <a:rPr lang="en-US" sz="2800" dirty="0"/>
              <a:t>CRYSTALS-</a:t>
            </a:r>
            <a:r>
              <a:rPr lang="en-US" sz="2800" dirty="0" err="1"/>
              <a:t>Kyber</a:t>
            </a:r>
            <a:r>
              <a:rPr lang="en-US" sz="2800" dirty="0"/>
              <a:t> is the Usain Bolt of those 4.</a:t>
            </a:r>
          </a:p>
          <a:p>
            <a:pPr>
              <a:buFont typeface="Wingdings" pitchFamily="2" charset="2"/>
              <a:buChar char="v"/>
            </a:pPr>
            <a:r>
              <a:rPr lang="en-US" sz="2800" dirty="0"/>
              <a:t>CRYSTALS-</a:t>
            </a:r>
            <a:r>
              <a:rPr lang="en-US" sz="2800" dirty="0" err="1"/>
              <a:t>Kyber</a:t>
            </a:r>
            <a:r>
              <a:rPr lang="en-US" sz="2800" dirty="0"/>
              <a:t> was announced in 2022. Finalized in August 2024.</a:t>
            </a:r>
          </a:p>
          <a:p>
            <a:pPr>
              <a:buFont typeface="Wingdings" pitchFamily="2" charset="2"/>
              <a:buChar char="v"/>
            </a:pPr>
            <a:r>
              <a:rPr lang="en-US" sz="2800" dirty="0"/>
              <a:t>Lattice based cryptography.</a:t>
            </a:r>
          </a:p>
          <a:p>
            <a:pPr>
              <a:buFont typeface="Wingdings" pitchFamily="2" charset="2"/>
              <a:buChar char="v"/>
            </a:pPr>
            <a:r>
              <a:rPr lang="en-US" sz="2800" dirty="0"/>
              <a:t>Canvas made of dots in a pattern</a:t>
            </a:r>
          </a:p>
        </p:txBody>
      </p:sp>
      <p:pic>
        <p:nvPicPr>
          <p:cNvPr id="6146" name="Picture 2" descr="The eleven Archimedean lattices: square (4 4 ), honeycomb (6 3 ), CaVO ...">
            <a:extLst>
              <a:ext uri="{FF2B5EF4-FFF2-40B4-BE49-F238E27FC236}">
                <a16:creationId xmlns:a16="http://schemas.microsoft.com/office/drawing/2014/main" id="{9E74F1F3-A37B-2566-298B-59EC015E10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892" y="1845734"/>
            <a:ext cx="3642828" cy="4444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4613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F13F-B16F-212D-388C-88396CB74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36B02-C2EA-5A3F-4442-DDCEC8CA5722}"/>
              </a:ext>
            </a:extLst>
          </p:cNvPr>
          <p:cNvSpPr>
            <a:spLocks noGrp="1"/>
          </p:cNvSpPr>
          <p:nvPr>
            <p:ph type="title"/>
          </p:nvPr>
        </p:nvSpPr>
        <p:spPr/>
        <p:txBody>
          <a:bodyPr/>
          <a:lstStyle/>
          <a:p>
            <a:r>
              <a:rPr lang="en-US" sz="4800" dirty="0"/>
              <a:t>NIST and CRYSTALS-</a:t>
            </a:r>
            <a:r>
              <a:rPr lang="en-US" sz="4800" dirty="0" err="1"/>
              <a:t>Kyber</a:t>
            </a:r>
            <a:r>
              <a:rPr lang="en-US" sz="4800" dirty="0"/>
              <a:t> algorithm</a:t>
            </a:r>
            <a:endParaRPr lang="en-US" dirty="0"/>
          </a:p>
        </p:txBody>
      </p:sp>
      <p:sp>
        <p:nvSpPr>
          <p:cNvPr id="5" name="Content Placeholder 4">
            <a:extLst>
              <a:ext uri="{FF2B5EF4-FFF2-40B4-BE49-F238E27FC236}">
                <a16:creationId xmlns:a16="http://schemas.microsoft.com/office/drawing/2014/main" id="{8D065E8F-6307-B094-7EA1-E346930C7E3D}"/>
              </a:ext>
            </a:extLst>
          </p:cNvPr>
          <p:cNvSpPr>
            <a:spLocks noGrp="1"/>
          </p:cNvSpPr>
          <p:nvPr>
            <p:ph idx="1"/>
          </p:nvPr>
        </p:nvSpPr>
        <p:spPr>
          <a:xfrm>
            <a:off x="1097280" y="1845734"/>
            <a:ext cx="10058400" cy="4444230"/>
          </a:xfrm>
        </p:spPr>
        <p:txBody>
          <a:bodyPr>
            <a:normAutofit/>
          </a:bodyPr>
          <a:lstStyle/>
          <a:p>
            <a:pPr>
              <a:buFont typeface="Wingdings" pitchFamily="2" charset="2"/>
              <a:buChar char="v"/>
            </a:pPr>
            <a:r>
              <a:rPr lang="en-US" sz="2800" dirty="0"/>
              <a:t>The idea is like lock pattern on Android phones.</a:t>
            </a:r>
          </a:p>
          <a:p>
            <a:pPr>
              <a:buFont typeface="Wingdings" pitchFamily="2" charset="2"/>
              <a:buChar char="v"/>
            </a:pPr>
            <a:r>
              <a:rPr lang="en-US" sz="2800" dirty="0"/>
              <a:t>You start at origin, build a path by connecting vectors.</a:t>
            </a:r>
          </a:p>
          <a:p>
            <a:pPr>
              <a:buFont typeface="Wingdings" pitchFamily="2" charset="2"/>
              <a:buChar char="v"/>
            </a:pPr>
            <a:r>
              <a:rPr lang="en-US" sz="2800" dirty="0"/>
              <a:t>Lattice is the set of all points reachable by these vectors.</a:t>
            </a:r>
          </a:p>
          <a:p>
            <a:pPr>
              <a:buFont typeface="Wingdings" pitchFamily="2" charset="2"/>
              <a:buChar char="v"/>
            </a:pPr>
            <a:r>
              <a:rPr lang="en-US" sz="2800" dirty="0"/>
              <a:t>The attacker must solve the shortest vector problem to know the origin of lattice.</a:t>
            </a:r>
          </a:p>
          <a:p>
            <a:pPr>
              <a:buFont typeface="Wingdings" pitchFamily="2" charset="2"/>
              <a:buChar char="v"/>
            </a:pPr>
            <a:r>
              <a:rPr lang="en-US" sz="2800" dirty="0"/>
              <a:t>Using the public key (bad basis), it’s an extremely difficult problem to solve even for Quantum computers.</a:t>
            </a:r>
          </a:p>
          <a:p>
            <a:pPr>
              <a:buFont typeface="Wingdings" pitchFamily="2" charset="2"/>
              <a:buChar char="v"/>
            </a:pPr>
            <a:r>
              <a:rPr lang="en-US" sz="2800" dirty="0"/>
              <a:t>The receiver has a private key (good basis) which solves this problem relatively easily.</a:t>
            </a:r>
          </a:p>
        </p:txBody>
      </p:sp>
    </p:spTree>
    <p:extLst>
      <p:ext uri="{BB962C8B-B14F-4D97-AF65-F5344CB8AC3E}">
        <p14:creationId xmlns:p14="http://schemas.microsoft.com/office/powerpoint/2010/main" val="196595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C69E6-C233-E791-1DF9-D1C49810D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42F6B-5E48-0442-E73C-AE2A16BBA9D1}"/>
              </a:ext>
            </a:extLst>
          </p:cNvPr>
          <p:cNvSpPr>
            <a:spLocks noGrp="1"/>
          </p:cNvSpPr>
          <p:nvPr>
            <p:ph type="title"/>
          </p:nvPr>
        </p:nvSpPr>
        <p:spPr/>
        <p:txBody>
          <a:bodyPr/>
          <a:lstStyle/>
          <a:p>
            <a:r>
              <a:rPr lang="en-US" sz="4800" dirty="0"/>
              <a:t>NIST and CRYSTALS-</a:t>
            </a:r>
            <a:r>
              <a:rPr lang="en-US" sz="4800" dirty="0" err="1"/>
              <a:t>Kyber</a:t>
            </a:r>
            <a:r>
              <a:rPr lang="en-US" sz="4800" dirty="0"/>
              <a:t> algorithm</a:t>
            </a:r>
            <a:endParaRPr lang="en-US" dirty="0"/>
          </a:p>
        </p:txBody>
      </p:sp>
      <p:sp>
        <p:nvSpPr>
          <p:cNvPr id="5" name="Content Placeholder 4">
            <a:extLst>
              <a:ext uri="{FF2B5EF4-FFF2-40B4-BE49-F238E27FC236}">
                <a16:creationId xmlns:a16="http://schemas.microsoft.com/office/drawing/2014/main" id="{22CD6918-B2AD-4754-71C6-AF3DBD7EB477}"/>
              </a:ext>
            </a:extLst>
          </p:cNvPr>
          <p:cNvSpPr>
            <a:spLocks noGrp="1"/>
          </p:cNvSpPr>
          <p:nvPr>
            <p:ph idx="1"/>
          </p:nvPr>
        </p:nvSpPr>
        <p:spPr>
          <a:xfrm>
            <a:off x="1097280" y="1845734"/>
            <a:ext cx="4998720" cy="4444230"/>
          </a:xfrm>
        </p:spPr>
        <p:txBody>
          <a:bodyPr>
            <a:normAutofit/>
          </a:bodyPr>
          <a:lstStyle/>
          <a:p>
            <a:pPr>
              <a:buFont typeface="Wingdings" pitchFamily="2" charset="2"/>
              <a:buChar char="v"/>
            </a:pPr>
            <a:r>
              <a:rPr lang="en-US" sz="2800" dirty="0"/>
              <a:t>Good basis (green): vectors that can reach origin quickly.</a:t>
            </a:r>
          </a:p>
          <a:p>
            <a:pPr>
              <a:buFont typeface="Wingdings" pitchFamily="2" charset="2"/>
              <a:buChar char="v"/>
            </a:pPr>
            <a:r>
              <a:rPr lang="en-US" sz="2800" dirty="0"/>
              <a:t>Bad basis (red): require extensive number of additions to come close to origin.</a:t>
            </a:r>
          </a:p>
          <a:p>
            <a:pPr>
              <a:buFont typeface="Wingdings" pitchFamily="2" charset="2"/>
              <a:buChar char="v"/>
            </a:pPr>
            <a:r>
              <a:rPr lang="en-US" sz="2800" dirty="0"/>
              <a:t>Now, reimagine solving the problem for 3 dimensions.</a:t>
            </a:r>
          </a:p>
          <a:p>
            <a:pPr>
              <a:buFont typeface="Wingdings" pitchFamily="2" charset="2"/>
              <a:buChar char="v"/>
            </a:pPr>
            <a:r>
              <a:rPr lang="en-US" sz="2800" dirty="0"/>
              <a:t>And then for 100 dimensions.</a:t>
            </a:r>
          </a:p>
        </p:txBody>
      </p:sp>
      <p:pic>
        <p:nvPicPr>
          <p:cNvPr id="3" name="Picture 2">
            <a:extLst>
              <a:ext uri="{FF2B5EF4-FFF2-40B4-BE49-F238E27FC236}">
                <a16:creationId xmlns:a16="http://schemas.microsoft.com/office/drawing/2014/main" id="{6A0AB57C-7DDD-48E6-C957-1834598BD20B}"/>
              </a:ext>
            </a:extLst>
          </p:cNvPr>
          <p:cNvPicPr>
            <a:picLocks noChangeAspect="1"/>
          </p:cNvPicPr>
          <p:nvPr/>
        </p:nvPicPr>
        <p:blipFill>
          <a:blip r:embed="rId3"/>
          <a:stretch>
            <a:fillRect/>
          </a:stretch>
        </p:blipFill>
        <p:spPr>
          <a:xfrm>
            <a:off x="6096000" y="1742074"/>
            <a:ext cx="4541520" cy="4547890"/>
          </a:xfrm>
          <a:prstGeom prst="rect">
            <a:avLst/>
          </a:prstGeom>
        </p:spPr>
      </p:pic>
    </p:spTree>
    <p:extLst>
      <p:ext uri="{BB962C8B-B14F-4D97-AF65-F5344CB8AC3E}">
        <p14:creationId xmlns:p14="http://schemas.microsoft.com/office/powerpoint/2010/main" val="58444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FD1F6-DA5C-1B7E-A1AB-9C280113B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65D22-0055-EEB4-0BA9-D02AD5E03F06}"/>
              </a:ext>
            </a:extLst>
          </p:cNvPr>
          <p:cNvSpPr>
            <a:spLocks noGrp="1"/>
          </p:cNvSpPr>
          <p:nvPr>
            <p:ph type="title"/>
          </p:nvPr>
        </p:nvSpPr>
        <p:spPr/>
        <p:txBody>
          <a:bodyPr/>
          <a:lstStyle/>
          <a:p>
            <a:r>
              <a:rPr lang="en-US" sz="4800" dirty="0"/>
              <a:t>NIST and CRYSTALS-</a:t>
            </a:r>
            <a:r>
              <a:rPr lang="en-US" sz="4800" dirty="0" err="1"/>
              <a:t>Kyber</a:t>
            </a:r>
            <a:r>
              <a:rPr lang="en-US" sz="4800" dirty="0"/>
              <a:t> algorithm</a:t>
            </a:r>
            <a:endParaRPr lang="en-US" dirty="0"/>
          </a:p>
        </p:txBody>
      </p:sp>
      <p:sp>
        <p:nvSpPr>
          <p:cNvPr id="5" name="Content Placeholder 4">
            <a:extLst>
              <a:ext uri="{FF2B5EF4-FFF2-40B4-BE49-F238E27FC236}">
                <a16:creationId xmlns:a16="http://schemas.microsoft.com/office/drawing/2014/main" id="{69A16992-0882-A712-BCDB-3ECF7F3B19FC}"/>
              </a:ext>
            </a:extLst>
          </p:cNvPr>
          <p:cNvSpPr>
            <a:spLocks noGrp="1"/>
          </p:cNvSpPr>
          <p:nvPr>
            <p:ph idx="1"/>
          </p:nvPr>
        </p:nvSpPr>
        <p:spPr>
          <a:xfrm>
            <a:off x="1097280" y="1845734"/>
            <a:ext cx="10058400" cy="4444230"/>
          </a:xfrm>
        </p:spPr>
        <p:txBody>
          <a:bodyPr>
            <a:normAutofit/>
          </a:bodyPr>
          <a:lstStyle/>
          <a:p>
            <a:pPr>
              <a:buFont typeface="Wingdings" pitchFamily="2" charset="2"/>
              <a:buChar char="v"/>
            </a:pPr>
            <a:r>
              <a:rPr lang="en-US" sz="2800" dirty="0"/>
              <a:t>Seems like a strong defense against Quantum attacks?!</a:t>
            </a:r>
          </a:p>
          <a:p>
            <a:pPr>
              <a:buFont typeface="Wingdings" pitchFamily="2" charset="2"/>
              <a:buChar char="v"/>
            </a:pPr>
            <a:r>
              <a:rPr lang="en-US" sz="2800" dirty="0"/>
              <a:t>Everything is not hunky dory.</a:t>
            </a:r>
          </a:p>
          <a:p>
            <a:pPr>
              <a:buFont typeface="Wingdings" pitchFamily="2" charset="2"/>
              <a:buChar char="v"/>
            </a:pPr>
            <a:r>
              <a:rPr lang="en-US" sz="2800" dirty="0"/>
              <a:t>A Quantum computer, coupled with Artificial intelligence is bad news.</a:t>
            </a:r>
          </a:p>
          <a:p>
            <a:pPr>
              <a:buFont typeface="Wingdings" pitchFamily="2" charset="2"/>
              <a:buChar char="v"/>
            </a:pPr>
            <a:r>
              <a:rPr lang="en-US" sz="2800" dirty="0"/>
              <a:t>AI can learn patterns to rule out from bad basis vectors.</a:t>
            </a:r>
          </a:p>
          <a:p>
            <a:pPr>
              <a:buFont typeface="Wingdings" pitchFamily="2" charset="2"/>
              <a:buChar char="v"/>
            </a:pPr>
            <a:r>
              <a:rPr lang="en-US" sz="2800" dirty="0"/>
              <a:t>Answer?</a:t>
            </a:r>
          </a:p>
          <a:p>
            <a:pPr>
              <a:buFont typeface="Wingdings" pitchFamily="2" charset="2"/>
              <a:buChar char="v"/>
            </a:pPr>
            <a:r>
              <a:rPr lang="en-US" sz="2800" dirty="0" err="1"/>
              <a:t>Kyber</a:t>
            </a:r>
            <a:r>
              <a:rPr lang="en-US" sz="2800" dirty="0"/>
              <a:t> Encryption coupled with AES encryption.</a:t>
            </a:r>
          </a:p>
          <a:p>
            <a:pPr>
              <a:buFont typeface="Wingdings" pitchFamily="2" charset="2"/>
              <a:buChar char="v"/>
            </a:pPr>
            <a:endParaRPr lang="en-US" sz="2800" dirty="0"/>
          </a:p>
        </p:txBody>
      </p:sp>
    </p:spTree>
    <p:extLst>
      <p:ext uri="{BB962C8B-B14F-4D97-AF65-F5344CB8AC3E}">
        <p14:creationId xmlns:p14="http://schemas.microsoft.com/office/powerpoint/2010/main" val="324351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FE845-566B-C757-42B4-12D90174A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B3B18-583A-C171-A23E-B4797391A3BF}"/>
              </a:ext>
            </a:extLst>
          </p:cNvPr>
          <p:cNvSpPr>
            <a:spLocks noGrp="1"/>
          </p:cNvSpPr>
          <p:nvPr>
            <p:ph type="title"/>
          </p:nvPr>
        </p:nvSpPr>
        <p:spPr/>
        <p:txBody>
          <a:bodyPr/>
          <a:lstStyle/>
          <a:p>
            <a:r>
              <a:rPr lang="en-US" sz="4800" dirty="0"/>
              <a:t>NIST and CRYSTALS-</a:t>
            </a:r>
            <a:r>
              <a:rPr lang="en-US" sz="4800" dirty="0" err="1"/>
              <a:t>Kyber</a:t>
            </a:r>
            <a:r>
              <a:rPr lang="en-US" sz="4800" dirty="0"/>
              <a:t> algorithm</a:t>
            </a:r>
            <a:endParaRPr lang="en-US" dirty="0"/>
          </a:p>
        </p:txBody>
      </p:sp>
      <p:sp>
        <p:nvSpPr>
          <p:cNvPr id="5" name="Content Placeholder 4">
            <a:extLst>
              <a:ext uri="{FF2B5EF4-FFF2-40B4-BE49-F238E27FC236}">
                <a16:creationId xmlns:a16="http://schemas.microsoft.com/office/drawing/2014/main" id="{C03B571E-4226-D037-127C-FB43C3F2BB7C}"/>
              </a:ext>
            </a:extLst>
          </p:cNvPr>
          <p:cNvSpPr>
            <a:spLocks noGrp="1"/>
          </p:cNvSpPr>
          <p:nvPr>
            <p:ph idx="1"/>
          </p:nvPr>
        </p:nvSpPr>
        <p:spPr>
          <a:xfrm>
            <a:off x="1097280" y="1845734"/>
            <a:ext cx="10058400" cy="4444230"/>
          </a:xfrm>
        </p:spPr>
        <p:txBody>
          <a:bodyPr>
            <a:normAutofit fontScale="92500" lnSpcReduction="10000"/>
          </a:bodyPr>
          <a:lstStyle/>
          <a:p>
            <a:pPr>
              <a:buFont typeface="Wingdings" pitchFamily="2" charset="2"/>
              <a:buChar char="v"/>
            </a:pPr>
            <a:r>
              <a:rPr lang="en-US" sz="2800" dirty="0"/>
              <a:t>Let’s say Ayesha wants to say “Salam” to Faizan.</a:t>
            </a:r>
          </a:p>
          <a:p>
            <a:pPr>
              <a:buFont typeface="Wingdings" pitchFamily="2" charset="2"/>
              <a:buChar char="v"/>
            </a:pPr>
            <a:r>
              <a:rPr lang="en-US" sz="2800" dirty="0"/>
              <a:t>Faizan (receiver) will instantiate a 1024-bit </a:t>
            </a:r>
            <a:r>
              <a:rPr lang="en-US" sz="2800" dirty="0" err="1"/>
              <a:t>Kyber</a:t>
            </a:r>
            <a:r>
              <a:rPr lang="en-US" sz="2800" dirty="0"/>
              <a:t> keypair.</a:t>
            </a:r>
          </a:p>
          <a:p>
            <a:pPr>
              <a:buFont typeface="Wingdings" pitchFamily="2" charset="2"/>
              <a:buChar char="v"/>
            </a:pPr>
            <a:r>
              <a:rPr lang="en-US" sz="2800" dirty="0"/>
              <a:t>This keypair contains a public and a private key.</a:t>
            </a:r>
          </a:p>
          <a:p>
            <a:pPr>
              <a:buFont typeface="Wingdings" pitchFamily="2" charset="2"/>
              <a:buChar char="v"/>
            </a:pPr>
            <a:r>
              <a:rPr lang="en-US" sz="2800" dirty="0"/>
              <a:t>Faizan will send the </a:t>
            </a:r>
            <a:r>
              <a:rPr lang="en-US" sz="2800" i="1" dirty="0"/>
              <a:t>public</a:t>
            </a:r>
            <a:r>
              <a:rPr lang="en-US" sz="2800" dirty="0"/>
              <a:t> key to Ayesha, which will give a bad basis.</a:t>
            </a:r>
          </a:p>
          <a:p>
            <a:pPr>
              <a:buFont typeface="Wingdings" pitchFamily="2" charset="2"/>
              <a:buChar char="v"/>
            </a:pPr>
            <a:r>
              <a:rPr lang="en-US" sz="2800" dirty="0"/>
              <a:t>Ayesha will generate an AES encryption key using the public key.</a:t>
            </a:r>
          </a:p>
          <a:p>
            <a:pPr>
              <a:buFont typeface="Wingdings" pitchFamily="2" charset="2"/>
              <a:buChar char="v"/>
            </a:pPr>
            <a:r>
              <a:rPr lang="en-US" sz="2800" dirty="0"/>
              <a:t>Ayesha will then generate Sender’s Encapsulation Secret key from AES key and a random secret, encapsulated using </a:t>
            </a:r>
            <a:r>
              <a:rPr lang="en-US" sz="2800" dirty="0" err="1"/>
              <a:t>Kyber</a:t>
            </a:r>
            <a:r>
              <a:rPr lang="en-US" sz="2800" dirty="0"/>
              <a:t> Encapsulation Mechanism (KEM).</a:t>
            </a:r>
          </a:p>
          <a:p>
            <a:pPr>
              <a:buFont typeface="Wingdings" pitchFamily="2" charset="2"/>
              <a:buChar char="v"/>
            </a:pPr>
            <a:r>
              <a:rPr lang="en-US" sz="2800" dirty="0"/>
              <a:t>Ayesha now encrypts “Salam” using AES key and sends the Cypher to Faizan along with the encapsulation.</a:t>
            </a:r>
          </a:p>
          <a:p>
            <a:pPr>
              <a:buFont typeface="Wingdings" pitchFamily="2" charset="2"/>
              <a:buChar char="v"/>
            </a:pPr>
            <a:endParaRPr lang="en-US" sz="2800" dirty="0"/>
          </a:p>
        </p:txBody>
      </p:sp>
    </p:spTree>
    <p:extLst>
      <p:ext uri="{BB962C8B-B14F-4D97-AF65-F5344CB8AC3E}">
        <p14:creationId xmlns:p14="http://schemas.microsoft.com/office/powerpoint/2010/main" val="285252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76949-0593-7D1D-1920-80EE64BD5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0D578-17EF-2592-DD02-D7EF2A78A379}"/>
              </a:ext>
            </a:extLst>
          </p:cNvPr>
          <p:cNvSpPr>
            <a:spLocks noGrp="1"/>
          </p:cNvSpPr>
          <p:nvPr>
            <p:ph type="title"/>
          </p:nvPr>
        </p:nvSpPr>
        <p:spPr/>
        <p:txBody>
          <a:bodyPr/>
          <a:lstStyle/>
          <a:p>
            <a:r>
              <a:rPr lang="en-US" sz="4800" dirty="0"/>
              <a:t>NIST and CRYSTALS-</a:t>
            </a:r>
            <a:r>
              <a:rPr lang="en-US" sz="4800" dirty="0" err="1"/>
              <a:t>Kyber</a:t>
            </a:r>
            <a:r>
              <a:rPr lang="en-US" sz="4800" dirty="0"/>
              <a:t> algorithm</a:t>
            </a:r>
            <a:endParaRPr lang="en-US" dirty="0"/>
          </a:p>
        </p:txBody>
      </p:sp>
      <p:sp>
        <p:nvSpPr>
          <p:cNvPr id="5" name="Content Placeholder 4">
            <a:extLst>
              <a:ext uri="{FF2B5EF4-FFF2-40B4-BE49-F238E27FC236}">
                <a16:creationId xmlns:a16="http://schemas.microsoft.com/office/drawing/2014/main" id="{8AA5DF2E-43F3-D239-117E-C842FDC0F7F0}"/>
              </a:ext>
            </a:extLst>
          </p:cNvPr>
          <p:cNvSpPr>
            <a:spLocks noGrp="1"/>
          </p:cNvSpPr>
          <p:nvPr>
            <p:ph idx="1"/>
          </p:nvPr>
        </p:nvSpPr>
        <p:spPr>
          <a:xfrm>
            <a:off x="1097280" y="1845734"/>
            <a:ext cx="10058400" cy="4444230"/>
          </a:xfrm>
        </p:spPr>
        <p:txBody>
          <a:bodyPr>
            <a:normAutofit/>
          </a:bodyPr>
          <a:lstStyle/>
          <a:p>
            <a:pPr>
              <a:buFont typeface="Wingdings" pitchFamily="2" charset="2"/>
              <a:buChar char="v"/>
            </a:pPr>
            <a:r>
              <a:rPr lang="en-US" sz="2800" dirty="0"/>
              <a:t>Faizan (receiver) has cypher, but not the AES key.</a:t>
            </a:r>
          </a:p>
          <a:p>
            <a:pPr>
              <a:buFont typeface="Wingdings" pitchFamily="2" charset="2"/>
              <a:buChar char="v"/>
            </a:pPr>
            <a:r>
              <a:rPr lang="en-US" sz="2800" dirty="0"/>
              <a:t>Faizan has the </a:t>
            </a:r>
            <a:r>
              <a:rPr lang="en-US" sz="2800" i="1" dirty="0"/>
              <a:t>private</a:t>
            </a:r>
            <a:r>
              <a:rPr lang="en-US" sz="2800" dirty="0"/>
              <a:t> key, which is a good basis to solve shortest vector problem.</a:t>
            </a:r>
          </a:p>
          <a:p>
            <a:pPr>
              <a:buFont typeface="Wingdings" pitchFamily="2" charset="2"/>
              <a:buChar char="v"/>
            </a:pPr>
            <a:r>
              <a:rPr lang="en-US" sz="2800" dirty="0"/>
              <a:t>He also has the KEM-based encapsulation sent by Ayesha (this is renewed with each message).</a:t>
            </a:r>
          </a:p>
          <a:p>
            <a:pPr>
              <a:buFont typeface="Wingdings" pitchFamily="2" charset="2"/>
              <a:buChar char="v"/>
            </a:pPr>
            <a:r>
              <a:rPr lang="en-US" sz="2800" dirty="0"/>
              <a:t>Faizan generates a decryption key using private key and encapsulation.</a:t>
            </a:r>
          </a:p>
          <a:p>
            <a:pPr>
              <a:buFont typeface="Wingdings" pitchFamily="2" charset="2"/>
              <a:buChar char="v"/>
            </a:pPr>
            <a:r>
              <a:rPr lang="en-US" sz="2800" dirty="0"/>
              <a:t>The cypher is decrypted using the decryption key to extract “Salam”.</a:t>
            </a:r>
          </a:p>
        </p:txBody>
      </p:sp>
    </p:spTree>
    <p:extLst>
      <p:ext uri="{BB962C8B-B14F-4D97-AF65-F5344CB8AC3E}">
        <p14:creationId xmlns:p14="http://schemas.microsoft.com/office/powerpoint/2010/main" val="3589267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9B173-218A-4284-7C6B-DDE6FC0AA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371F6-2A52-A310-242A-E4C6734D0D39}"/>
              </a:ext>
            </a:extLst>
          </p:cNvPr>
          <p:cNvSpPr>
            <a:spLocks noGrp="1"/>
          </p:cNvSpPr>
          <p:nvPr>
            <p:ph type="title"/>
          </p:nvPr>
        </p:nvSpPr>
        <p:spPr/>
        <p:txBody>
          <a:bodyPr/>
          <a:lstStyle/>
          <a:p>
            <a:r>
              <a:rPr lang="en-US" sz="4800" dirty="0"/>
              <a:t>NIST and CRYSTALS-</a:t>
            </a:r>
            <a:r>
              <a:rPr lang="en-US" sz="4800" dirty="0" err="1"/>
              <a:t>Kyber</a:t>
            </a:r>
            <a:r>
              <a:rPr lang="en-US" sz="4800" dirty="0"/>
              <a:t> algorithm</a:t>
            </a:r>
            <a:endParaRPr lang="en-US" dirty="0"/>
          </a:p>
        </p:txBody>
      </p:sp>
      <p:sp>
        <p:nvSpPr>
          <p:cNvPr id="5" name="Content Placeholder 4">
            <a:extLst>
              <a:ext uri="{FF2B5EF4-FFF2-40B4-BE49-F238E27FC236}">
                <a16:creationId xmlns:a16="http://schemas.microsoft.com/office/drawing/2014/main" id="{22FDEA26-ECBF-05F9-EAE2-73381B11023A}"/>
              </a:ext>
            </a:extLst>
          </p:cNvPr>
          <p:cNvSpPr>
            <a:spLocks noGrp="1"/>
          </p:cNvSpPr>
          <p:nvPr>
            <p:ph idx="1"/>
          </p:nvPr>
        </p:nvSpPr>
        <p:spPr>
          <a:xfrm>
            <a:off x="1097280" y="1845734"/>
            <a:ext cx="10058400" cy="4444230"/>
          </a:xfrm>
        </p:spPr>
        <p:txBody>
          <a:bodyPr>
            <a:normAutofit/>
          </a:bodyPr>
          <a:lstStyle/>
          <a:p>
            <a:pPr>
              <a:buFont typeface="Wingdings" pitchFamily="2" charset="2"/>
              <a:buChar char="v"/>
            </a:pPr>
            <a:r>
              <a:rPr lang="en-US" sz="2800" dirty="0"/>
              <a:t>The encryption is not bidirectional</a:t>
            </a:r>
          </a:p>
          <a:p>
            <a:pPr>
              <a:buFont typeface="Wingdings" pitchFamily="2" charset="2"/>
              <a:buChar char="v"/>
            </a:pPr>
            <a:r>
              <a:rPr lang="en-US" sz="2800" dirty="0"/>
              <a:t>Ayesha will also generate a private-public keypair to receive messages back.</a:t>
            </a:r>
          </a:p>
          <a:p>
            <a:pPr>
              <a:buFont typeface="Wingdings" pitchFamily="2" charset="2"/>
              <a:buChar char="v"/>
            </a:pPr>
            <a:r>
              <a:rPr lang="en-US" sz="2800" dirty="0"/>
              <a:t>The sender’s key is called Ephemeral because it is renewed with each incoming message.</a:t>
            </a:r>
          </a:p>
          <a:p>
            <a:pPr>
              <a:buFont typeface="Wingdings" pitchFamily="2" charset="2"/>
              <a:buChar char="v"/>
            </a:pPr>
            <a:r>
              <a:rPr lang="en-US" sz="2800" dirty="0"/>
              <a:t>This ensures that even if one secret is compromised, the next message is encrypted with a different secret.</a:t>
            </a:r>
          </a:p>
        </p:txBody>
      </p:sp>
    </p:spTree>
    <p:extLst>
      <p:ext uri="{BB962C8B-B14F-4D97-AF65-F5344CB8AC3E}">
        <p14:creationId xmlns:p14="http://schemas.microsoft.com/office/powerpoint/2010/main" val="246218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0" name="Rectangle 19459">
            <a:extLst>
              <a:ext uri="{FF2B5EF4-FFF2-40B4-BE49-F238E27FC236}">
                <a16:creationId xmlns:a16="http://schemas.microsoft.com/office/drawing/2014/main" id="{7EE378F3-9642-471B-8215-AA3288422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9461" name="Rectangle 19460">
            <a:extLst>
              <a:ext uri="{FF2B5EF4-FFF2-40B4-BE49-F238E27FC236}">
                <a16:creationId xmlns:a16="http://schemas.microsoft.com/office/drawing/2014/main" id="{26405F82-F7FB-4124-AE2B-3D69A007C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754787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338B2CB-D833-F2DF-466F-DA6C0AEC7A48}"/>
              </a:ext>
            </a:extLst>
          </p:cNvPr>
          <p:cNvSpPr>
            <a:spLocks noGrp="1"/>
          </p:cNvSpPr>
          <p:nvPr>
            <p:ph type="title"/>
          </p:nvPr>
        </p:nvSpPr>
        <p:spPr>
          <a:xfrm>
            <a:off x="1097280" y="516835"/>
            <a:ext cx="5977937" cy="1666501"/>
          </a:xfrm>
        </p:spPr>
        <p:txBody>
          <a:bodyPr>
            <a:normAutofit/>
          </a:bodyPr>
          <a:lstStyle/>
          <a:p>
            <a:r>
              <a:rPr lang="en-US" sz="4000">
                <a:solidFill>
                  <a:srgbClr val="FFFFFF"/>
                </a:solidFill>
              </a:rPr>
              <a:t>Legion of Bouncy Castle</a:t>
            </a:r>
          </a:p>
        </p:txBody>
      </p:sp>
      <p:sp>
        <p:nvSpPr>
          <p:cNvPr id="3" name="Content Placeholder 2">
            <a:extLst>
              <a:ext uri="{FF2B5EF4-FFF2-40B4-BE49-F238E27FC236}">
                <a16:creationId xmlns:a16="http://schemas.microsoft.com/office/drawing/2014/main" id="{28A1DDFF-E403-6A21-6B5E-5375C3C8CC1A}"/>
              </a:ext>
            </a:extLst>
          </p:cNvPr>
          <p:cNvSpPr>
            <a:spLocks noGrp="1"/>
          </p:cNvSpPr>
          <p:nvPr>
            <p:ph idx="1"/>
          </p:nvPr>
        </p:nvSpPr>
        <p:spPr>
          <a:xfrm>
            <a:off x="1097279" y="2236304"/>
            <a:ext cx="5977938" cy="3652667"/>
          </a:xfrm>
        </p:spPr>
        <p:txBody>
          <a:bodyPr>
            <a:normAutofit/>
          </a:bodyPr>
          <a:lstStyle/>
          <a:p>
            <a:pPr>
              <a:buFont typeface="Wingdings" pitchFamily="2" charset="2"/>
              <a:buChar char="§"/>
            </a:pPr>
            <a:r>
              <a:rPr lang="en-US" sz="1800" dirty="0">
                <a:solidFill>
                  <a:srgbClr val="FFFFFF"/>
                </a:solidFill>
              </a:rPr>
              <a:t>Unsung heroes of the cryptography from Australia. Free, open-source</a:t>
            </a:r>
          </a:p>
          <a:p>
            <a:pPr>
              <a:buFont typeface="Wingdings" pitchFamily="2" charset="2"/>
              <a:buChar char="§"/>
            </a:pPr>
            <a:r>
              <a:rPr lang="en-US" sz="1800" dirty="0">
                <a:solidFill>
                  <a:srgbClr val="FFFFFF"/>
                </a:solidFill>
              </a:rPr>
              <a:t>They turn abstract math (lattices, mazes, etc.) into usable code.</a:t>
            </a:r>
          </a:p>
          <a:p>
            <a:pPr>
              <a:buFont typeface="Wingdings" pitchFamily="2" charset="2"/>
              <a:buChar char="§"/>
            </a:pPr>
            <a:r>
              <a:rPr lang="en-US" sz="1800" dirty="0">
                <a:solidFill>
                  <a:srgbClr val="FFFFFF"/>
                </a:solidFill>
              </a:rPr>
              <a:t>Without them, post-quantum migration would be like building a spaceship with a screwdriver.</a:t>
            </a:r>
          </a:p>
          <a:p>
            <a:pPr>
              <a:buFont typeface="Wingdings" pitchFamily="2" charset="2"/>
              <a:buChar char="§"/>
            </a:pPr>
            <a:r>
              <a:rPr lang="en-US" sz="1800" dirty="0">
                <a:solidFill>
                  <a:srgbClr val="FFFFFF"/>
                </a:solidFill>
              </a:rPr>
              <a:t>Major components:</a:t>
            </a:r>
          </a:p>
          <a:p>
            <a:pPr lvl="1">
              <a:buFont typeface="Wingdings" pitchFamily="2" charset="2"/>
              <a:buChar char="§"/>
            </a:pPr>
            <a:r>
              <a:rPr lang="en-US" sz="1600" dirty="0">
                <a:solidFill>
                  <a:srgbClr val="FFFFFF"/>
                </a:solidFill>
              </a:rPr>
              <a:t>Lightweight API</a:t>
            </a:r>
          </a:p>
          <a:p>
            <a:pPr lvl="1">
              <a:buFont typeface="Wingdings" pitchFamily="2" charset="2"/>
              <a:buChar char="§"/>
            </a:pPr>
            <a:r>
              <a:rPr lang="en-US" sz="1600" dirty="0">
                <a:solidFill>
                  <a:srgbClr val="FFFFFF"/>
                </a:solidFill>
              </a:rPr>
              <a:t>JCE (Java Cryptography Extension)</a:t>
            </a:r>
          </a:p>
          <a:p>
            <a:pPr lvl="1">
              <a:buFont typeface="Wingdings" pitchFamily="2" charset="2"/>
              <a:buChar char="§"/>
            </a:pPr>
            <a:r>
              <a:rPr lang="en-US" sz="1600" dirty="0">
                <a:solidFill>
                  <a:srgbClr val="FFFFFF"/>
                </a:solidFill>
              </a:rPr>
              <a:t>Spongy Castle, an offshoot for Android world</a:t>
            </a:r>
          </a:p>
        </p:txBody>
      </p:sp>
      <p:sp>
        <p:nvSpPr>
          <p:cNvPr id="19462" name="Rectangle 19461">
            <a:extLst>
              <a:ext uri="{FF2B5EF4-FFF2-40B4-BE49-F238E27FC236}">
                <a16:creationId xmlns:a16="http://schemas.microsoft.com/office/drawing/2014/main" id="{AAAE29FD-C3A6-46E4-BF94-132A4C4EE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789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9458" name="Picture 2" descr="bouncycastle.org">
            <a:extLst>
              <a:ext uri="{FF2B5EF4-FFF2-40B4-BE49-F238E27FC236}">
                <a16:creationId xmlns:a16="http://schemas.microsoft.com/office/drawing/2014/main" id="{FF091014-B42A-3F97-0774-8E62563F059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51982" y="2223323"/>
            <a:ext cx="3294253" cy="2389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3852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F6737-7922-89FB-5C58-15923F381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2D43D-08E1-2692-FCEF-CC69058E5206}"/>
              </a:ext>
            </a:extLst>
          </p:cNvPr>
          <p:cNvSpPr>
            <a:spLocks noGrp="1"/>
          </p:cNvSpPr>
          <p:nvPr>
            <p:ph type="title"/>
          </p:nvPr>
        </p:nvSpPr>
        <p:spPr/>
        <p:txBody>
          <a:bodyPr/>
          <a:lstStyle/>
          <a:p>
            <a:r>
              <a:rPr lang="en-US" sz="4800" dirty="0"/>
              <a:t>Java Implementation (</a:t>
            </a:r>
            <a:r>
              <a:rPr lang="en-US" sz="4800" dirty="0" err="1"/>
              <a:t>NextGPU</a:t>
            </a:r>
            <a:r>
              <a:rPr lang="en-US" sz="4800" dirty="0"/>
              <a:t>)</a:t>
            </a:r>
            <a:endParaRPr lang="en-US" dirty="0"/>
          </a:p>
        </p:txBody>
      </p:sp>
      <p:sp>
        <p:nvSpPr>
          <p:cNvPr id="5" name="Content Placeholder 4">
            <a:extLst>
              <a:ext uri="{FF2B5EF4-FFF2-40B4-BE49-F238E27FC236}">
                <a16:creationId xmlns:a16="http://schemas.microsoft.com/office/drawing/2014/main" id="{3010141D-51DF-411A-F8C1-4925DB9CD8F4}"/>
              </a:ext>
            </a:extLst>
          </p:cNvPr>
          <p:cNvSpPr>
            <a:spLocks noGrp="1"/>
          </p:cNvSpPr>
          <p:nvPr>
            <p:ph idx="1"/>
          </p:nvPr>
        </p:nvSpPr>
        <p:spPr>
          <a:xfrm>
            <a:off x="1097280" y="1845734"/>
            <a:ext cx="10058400" cy="4444230"/>
          </a:xfrm>
        </p:spPr>
        <p:txBody>
          <a:bodyPr>
            <a:normAutofit/>
          </a:bodyPr>
          <a:lstStyle/>
          <a:p>
            <a:pPr>
              <a:buFont typeface="Wingdings" pitchFamily="2" charset="2"/>
              <a:buChar char="v"/>
            </a:pPr>
            <a:r>
              <a:rPr lang="en-US" sz="2800" dirty="0"/>
              <a:t>CODE DEMO</a:t>
            </a:r>
          </a:p>
          <a:p>
            <a:pPr>
              <a:buFont typeface="Wingdings" pitchFamily="2" charset="2"/>
              <a:buChar char="v"/>
            </a:pPr>
            <a:r>
              <a:rPr lang="en-US" sz="2800"/>
              <a:t>Performance Testing</a:t>
            </a:r>
            <a:endParaRPr lang="en-US" sz="2800" dirty="0"/>
          </a:p>
        </p:txBody>
      </p:sp>
    </p:spTree>
    <p:extLst>
      <p:ext uri="{BB962C8B-B14F-4D97-AF65-F5344CB8AC3E}">
        <p14:creationId xmlns:p14="http://schemas.microsoft.com/office/powerpoint/2010/main" val="422854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2375</TotalTime>
  <Words>1033</Words>
  <Application>Microsoft Office PowerPoint</Application>
  <PresentationFormat>Widescreen</PresentationFormat>
  <Paragraphs>115</Paragraphs>
  <Slides>16</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Calibri</vt:lpstr>
      <vt:lpstr>Calibri Light</vt:lpstr>
      <vt:lpstr>Cambria Math</vt:lpstr>
      <vt:lpstr>Wingdings</vt:lpstr>
      <vt:lpstr>Retrospect</vt:lpstr>
      <vt:lpstr>Quantum-safe Encryption</vt:lpstr>
      <vt:lpstr>Outlines</vt:lpstr>
      <vt:lpstr>What is Quantum computing?</vt:lpstr>
      <vt:lpstr>What is Quantum computing?</vt:lpstr>
      <vt:lpstr>Quantum Computers vs Turing Machines</vt:lpstr>
      <vt:lpstr>The Threat</vt:lpstr>
      <vt:lpstr>Quantum Safe Encryption</vt:lpstr>
      <vt:lpstr>NIST and CRYSTALS-Kyber algorithm</vt:lpstr>
      <vt:lpstr>NIST and CRYSTALS-Kyber algorithm</vt:lpstr>
      <vt:lpstr>NIST and CRYSTALS-Kyber algorithm</vt:lpstr>
      <vt:lpstr>NIST and CRYSTALS-Kyber algorithm</vt:lpstr>
      <vt:lpstr>NIST and CRYSTALS-Kyber algorithm</vt:lpstr>
      <vt:lpstr>NIST and CRYSTALS-Kyber algorithm</vt:lpstr>
      <vt:lpstr>NIST and CRYSTALS-Kyber algorithm</vt:lpstr>
      <vt:lpstr>Legion of Bouncy Castle</vt:lpstr>
      <vt:lpstr>Java Implementation (NextGPU)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Integration / Continuous Delivery</dc:title>
  <dc:creator>Owais Ahmed</dc:creator>
  <cp:lastModifiedBy>Owais Ahmed</cp:lastModifiedBy>
  <cp:revision>209</cp:revision>
  <dcterms:created xsi:type="dcterms:W3CDTF">2018-05-22T08:02:04Z</dcterms:created>
  <dcterms:modified xsi:type="dcterms:W3CDTF">2026-08-25T07:43:37Z</dcterms:modified>
</cp:coreProperties>
</file>