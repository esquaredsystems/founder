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57" r:id="rId5"/>
    <p:sldId id="263" r:id="rId6"/>
    <p:sldId id="264" r:id="rId7"/>
    <p:sldId id="260" r:id="rId8"/>
    <p:sldId id="265" r:id="rId9"/>
    <p:sldId id="261" r:id="rId10"/>
    <p:sldId id="266" r:id="rId11"/>
    <p:sldId id="262" r:id="rId12"/>
    <p:sldId id="267" r:id="rId13"/>
    <p:sldId id="268" r:id="rId14"/>
    <p:sldId id="269" r:id="rId15"/>
    <p:sldId id="270" r:id="rId16"/>
    <p:sldId id="279" r:id="rId17"/>
    <p:sldId id="280" r:id="rId18"/>
    <p:sldId id="281" r:id="rId19"/>
    <p:sldId id="28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918E3-8191-4048-B51F-E50CCA016B85}" v="4" dt="2024-05-24T06:53:36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550" autoAdjust="0"/>
    <p:restoredTop sz="94719"/>
  </p:normalViewPr>
  <p:slideViewPr>
    <p:cSldViewPr>
      <p:cViewPr varScale="1">
        <p:scale>
          <a:sx n="123" d="100"/>
          <a:sy n="123" d="100"/>
        </p:scale>
        <p:origin x="192" y="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05A918E3-8191-4048-B51F-E50CCA016B85}"/>
    <pc:docChg chg="undo custSel modSld">
      <pc:chgData name="Owais Ahmed" userId="6abc7d4556b3b071" providerId="LiveId" clId="{05A918E3-8191-4048-B51F-E50CCA016B85}" dt="2024-05-24T07:08:22.308" v="55" actId="164"/>
      <pc:docMkLst>
        <pc:docMk/>
      </pc:docMkLst>
      <pc:sldChg chg="addSp delSp modSp mod">
        <pc:chgData name="Owais Ahmed" userId="6abc7d4556b3b071" providerId="LiveId" clId="{05A918E3-8191-4048-B51F-E50CCA016B85}" dt="2024-05-24T06:54:55.712" v="47" actId="20577"/>
        <pc:sldMkLst>
          <pc:docMk/>
          <pc:sldMk cId="1146540729" sldId="263"/>
        </pc:sldMkLst>
        <pc:spChg chg="mod">
          <ac:chgData name="Owais Ahmed" userId="6abc7d4556b3b071" providerId="LiveId" clId="{05A918E3-8191-4048-B51F-E50CCA016B85}" dt="2024-05-24T06:54:55.712" v="47" actId="20577"/>
          <ac:spMkLst>
            <pc:docMk/>
            <pc:sldMk cId="1146540729" sldId="263"/>
            <ac:spMk id="3" creationId="{00000000-0000-0000-0000-000000000000}"/>
          </ac:spMkLst>
        </pc:spChg>
        <pc:spChg chg="mod">
          <ac:chgData name="Owais Ahmed" userId="6abc7d4556b3b071" providerId="LiveId" clId="{05A918E3-8191-4048-B51F-E50CCA016B85}" dt="2024-05-24T06:54:46.723" v="46" actId="1076"/>
          <ac:spMkLst>
            <pc:docMk/>
            <pc:sldMk cId="1146540729" sldId="263"/>
            <ac:spMk id="6" creationId="{00000000-0000-0000-0000-000000000000}"/>
          </ac:spMkLst>
        </pc:spChg>
        <pc:spChg chg="mod">
          <ac:chgData name="Owais Ahmed" userId="6abc7d4556b3b071" providerId="LiveId" clId="{05A918E3-8191-4048-B51F-E50CCA016B85}" dt="2024-05-24T06:54:46.723" v="46" actId="1076"/>
          <ac:spMkLst>
            <pc:docMk/>
            <pc:sldMk cId="1146540729" sldId="263"/>
            <ac:spMk id="9" creationId="{00000000-0000-0000-0000-000000000000}"/>
          </ac:spMkLst>
        </pc:spChg>
        <pc:spChg chg="mod">
          <ac:chgData name="Owais Ahmed" userId="6abc7d4556b3b071" providerId="LiveId" clId="{05A918E3-8191-4048-B51F-E50CCA016B85}" dt="2024-05-24T06:53:47.861" v="35" actId="14100"/>
          <ac:spMkLst>
            <pc:docMk/>
            <pc:sldMk cId="1146540729" sldId="263"/>
            <ac:spMk id="12" creationId="{00000000-0000-0000-0000-000000000000}"/>
          </ac:spMkLst>
        </pc:spChg>
        <pc:spChg chg="mod">
          <ac:chgData name="Owais Ahmed" userId="6abc7d4556b3b071" providerId="LiveId" clId="{05A918E3-8191-4048-B51F-E50CCA016B85}" dt="2024-05-24T06:54:46.723" v="46" actId="1076"/>
          <ac:spMkLst>
            <pc:docMk/>
            <pc:sldMk cId="1146540729" sldId="263"/>
            <ac:spMk id="13" creationId="{00000000-0000-0000-0000-000000000000}"/>
          </ac:spMkLst>
        </pc:spChg>
        <pc:spChg chg="mod">
          <ac:chgData name="Owais Ahmed" userId="6abc7d4556b3b071" providerId="LiveId" clId="{05A918E3-8191-4048-B51F-E50CCA016B85}" dt="2024-05-24T06:54:46.723" v="46" actId="1076"/>
          <ac:spMkLst>
            <pc:docMk/>
            <pc:sldMk cId="1146540729" sldId="263"/>
            <ac:spMk id="16" creationId="{00000000-0000-0000-0000-000000000000}"/>
          </ac:spMkLst>
        </pc:spChg>
        <pc:spChg chg="mod">
          <ac:chgData name="Owais Ahmed" userId="6abc7d4556b3b071" providerId="LiveId" clId="{05A918E3-8191-4048-B51F-E50CCA016B85}" dt="2024-05-24T06:54:20.662" v="42" actId="1076"/>
          <ac:spMkLst>
            <pc:docMk/>
            <pc:sldMk cId="1146540729" sldId="263"/>
            <ac:spMk id="18" creationId="{00000000-0000-0000-0000-000000000000}"/>
          </ac:spMkLst>
        </pc:spChg>
        <pc:spChg chg="mod">
          <ac:chgData name="Owais Ahmed" userId="6abc7d4556b3b071" providerId="LiveId" clId="{05A918E3-8191-4048-B51F-E50CCA016B85}" dt="2024-05-24T06:54:37.012" v="45" actId="1076"/>
          <ac:spMkLst>
            <pc:docMk/>
            <pc:sldMk cId="1146540729" sldId="263"/>
            <ac:spMk id="22" creationId="{00000000-0000-0000-0000-000000000000}"/>
          </ac:spMkLst>
        </pc:spChg>
        <pc:cxnChg chg="add mod">
          <ac:chgData name="Owais Ahmed" userId="6abc7d4556b3b071" providerId="LiveId" clId="{05A918E3-8191-4048-B51F-E50CCA016B85}" dt="2024-05-24T06:52:45.122" v="15" actId="1076"/>
          <ac:cxnSpMkLst>
            <pc:docMk/>
            <pc:sldMk cId="1146540729" sldId="263"/>
            <ac:cxnSpMk id="4" creationId="{A0A8C3AA-6DD3-C073-73D1-853FD9A21D1E}"/>
          </ac:cxnSpMkLst>
        </pc:cxnChg>
        <pc:cxnChg chg="mod">
          <ac:chgData name="Owais Ahmed" userId="6abc7d4556b3b071" providerId="LiveId" clId="{05A918E3-8191-4048-B51F-E50CCA016B85}" dt="2024-05-24T06:54:46.723" v="46" actId="1076"/>
          <ac:cxnSpMkLst>
            <pc:docMk/>
            <pc:sldMk cId="1146540729" sldId="263"/>
            <ac:cxnSpMk id="7" creationId="{00000000-0000-0000-0000-000000000000}"/>
          </ac:cxnSpMkLst>
        </pc:cxnChg>
        <pc:cxnChg chg="add mod">
          <ac:chgData name="Owais Ahmed" userId="6abc7d4556b3b071" providerId="LiveId" clId="{05A918E3-8191-4048-B51F-E50CCA016B85}" dt="2024-05-24T06:54:37.012" v="45" actId="1076"/>
          <ac:cxnSpMkLst>
            <pc:docMk/>
            <pc:sldMk cId="1146540729" sldId="263"/>
            <ac:cxnSpMk id="10" creationId="{FBCA81A7-39A3-16E1-6055-DC26F9689D47}"/>
          </ac:cxnSpMkLst>
        </pc:cxnChg>
        <pc:cxnChg chg="del mod">
          <ac:chgData name="Owais Ahmed" userId="6abc7d4556b3b071" providerId="LiveId" clId="{05A918E3-8191-4048-B51F-E50CCA016B85}" dt="2024-05-24T06:53:34.696" v="30" actId="478"/>
          <ac:cxnSpMkLst>
            <pc:docMk/>
            <pc:sldMk cId="1146540729" sldId="263"/>
            <ac:cxnSpMk id="11" creationId="{00000000-0000-0000-0000-000000000000}"/>
          </ac:cxnSpMkLst>
        </pc:cxnChg>
        <pc:cxnChg chg="mod">
          <ac:chgData name="Owais Ahmed" userId="6abc7d4556b3b071" providerId="LiveId" clId="{05A918E3-8191-4048-B51F-E50CCA016B85}" dt="2024-05-24T06:54:46.723" v="46" actId="1076"/>
          <ac:cxnSpMkLst>
            <pc:docMk/>
            <pc:sldMk cId="1146540729" sldId="263"/>
            <ac:cxnSpMk id="15" creationId="{00000000-0000-0000-0000-000000000000}"/>
          </ac:cxnSpMkLst>
        </pc:cxnChg>
        <pc:cxnChg chg="add del mod">
          <ac:chgData name="Owais Ahmed" userId="6abc7d4556b3b071" providerId="LiveId" clId="{05A918E3-8191-4048-B51F-E50CCA016B85}" dt="2024-05-24T06:54:01.489" v="38" actId="1076"/>
          <ac:cxnSpMkLst>
            <pc:docMk/>
            <pc:sldMk cId="1146540729" sldId="263"/>
            <ac:cxnSpMk id="17" creationId="{00000000-0000-0000-0000-000000000000}"/>
          </ac:cxnSpMkLst>
        </pc:cxnChg>
        <pc:cxnChg chg="add mod">
          <ac:chgData name="Owais Ahmed" userId="6abc7d4556b3b071" providerId="LiveId" clId="{05A918E3-8191-4048-B51F-E50CCA016B85}" dt="2024-05-24T06:53:41.808" v="33" actId="1076"/>
          <ac:cxnSpMkLst>
            <pc:docMk/>
            <pc:sldMk cId="1146540729" sldId="263"/>
            <ac:cxnSpMk id="20" creationId="{BCA10377-67B9-974A-30A1-6E9E33E67823}"/>
          </ac:cxnSpMkLst>
        </pc:cxnChg>
        <pc:cxnChg chg="add del">
          <ac:chgData name="Owais Ahmed" userId="6abc7d4556b3b071" providerId="LiveId" clId="{05A918E3-8191-4048-B51F-E50CCA016B85}" dt="2024-05-24T06:52:53.729" v="19" actId="478"/>
          <ac:cxnSpMkLst>
            <pc:docMk/>
            <pc:sldMk cId="1146540729" sldId="263"/>
            <ac:cxnSpMk id="21" creationId="{00000000-0000-0000-0000-000000000000}"/>
          </ac:cxnSpMkLst>
        </pc:cxnChg>
      </pc:sldChg>
      <pc:sldChg chg="addSp modSp mod">
        <pc:chgData name="Owais Ahmed" userId="6abc7d4556b3b071" providerId="LiveId" clId="{05A918E3-8191-4048-B51F-E50CCA016B85}" dt="2024-05-24T07:08:22.308" v="55" actId="164"/>
        <pc:sldMkLst>
          <pc:docMk/>
          <pc:sldMk cId="2150922375" sldId="266"/>
        </pc:sldMkLst>
        <pc:spChg chg="mod">
          <ac:chgData name="Owais Ahmed" userId="6abc7d4556b3b071" providerId="LiveId" clId="{05A918E3-8191-4048-B51F-E50CCA016B85}" dt="2024-05-24T07:07:23.417" v="50" actId="20577"/>
          <ac:spMkLst>
            <pc:docMk/>
            <pc:sldMk cId="2150922375" sldId="266"/>
            <ac:spMk id="4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18.226" v="49" actId="1076"/>
          <ac:spMkLst>
            <pc:docMk/>
            <pc:sldMk cId="2150922375" sldId="266"/>
            <ac:spMk id="6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29.655" v="51" actId="1076"/>
          <ac:spMkLst>
            <pc:docMk/>
            <pc:sldMk cId="2150922375" sldId="266"/>
            <ac:spMk id="8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18.226" v="49" actId="1076"/>
          <ac:spMkLst>
            <pc:docMk/>
            <pc:sldMk cId="2150922375" sldId="266"/>
            <ac:spMk id="9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8:06.003" v="54" actId="1076"/>
          <ac:spMkLst>
            <pc:docMk/>
            <pc:sldMk cId="2150922375" sldId="266"/>
            <ac:spMk id="12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18.226" v="49" actId="1076"/>
          <ac:spMkLst>
            <pc:docMk/>
            <pc:sldMk cId="2150922375" sldId="266"/>
            <ac:spMk id="14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11.853" v="48" actId="1076"/>
          <ac:spMkLst>
            <pc:docMk/>
            <pc:sldMk cId="2150922375" sldId="266"/>
            <ac:spMk id="16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38.952" v="52" actId="1076"/>
          <ac:spMkLst>
            <pc:docMk/>
            <pc:sldMk cId="2150922375" sldId="266"/>
            <ac:spMk id="21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49.710" v="53" actId="1076"/>
          <ac:spMkLst>
            <pc:docMk/>
            <pc:sldMk cId="2150922375" sldId="266"/>
            <ac:spMk id="29" creationId="{00000000-0000-0000-0000-000000000000}"/>
          </ac:spMkLst>
        </pc:spChg>
        <pc:spChg chg="mod">
          <ac:chgData name="Owais Ahmed" userId="6abc7d4556b3b071" providerId="LiveId" clId="{05A918E3-8191-4048-B51F-E50CCA016B85}" dt="2024-05-24T07:07:18.226" v="49" actId="1076"/>
          <ac:spMkLst>
            <pc:docMk/>
            <pc:sldMk cId="2150922375" sldId="266"/>
            <ac:spMk id="36" creationId="{00000000-0000-0000-0000-000000000000}"/>
          </ac:spMkLst>
        </pc:spChg>
        <pc:grpChg chg="add">
          <ac:chgData name="Owais Ahmed" userId="6abc7d4556b3b071" providerId="LiveId" clId="{05A918E3-8191-4048-B51F-E50CCA016B85}" dt="2024-05-24T07:08:22.308" v="55" actId="164"/>
          <ac:grpSpMkLst>
            <pc:docMk/>
            <pc:sldMk cId="2150922375" sldId="266"/>
            <ac:grpSpMk id="3" creationId="{B2D92040-D8FF-AB77-2A34-91F15FBCA701}"/>
          </ac:grpSpMkLst>
        </pc:grpChg>
        <pc:cxnChg chg="mod">
          <ac:chgData name="Owais Ahmed" userId="6abc7d4556b3b071" providerId="LiveId" clId="{05A918E3-8191-4048-B51F-E50CCA016B85}" dt="2024-05-24T07:07:18.226" v="49" actId="1076"/>
          <ac:cxnSpMkLst>
            <pc:docMk/>
            <pc:sldMk cId="2150922375" sldId="266"/>
            <ac:cxnSpMk id="7" creationId="{00000000-0000-0000-0000-000000000000}"/>
          </ac:cxnSpMkLst>
        </pc:cxnChg>
        <pc:cxnChg chg="mod">
          <ac:chgData name="Owais Ahmed" userId="6abc7d4556b3b071" providerId="LiveId" clId="{05A918E3-8191-4048-B51F-E50CCA016B85}" dt="2024-05-24T07:07:11.853" v="48" actId="1076"/>
          <ac:cxnSpMkLst>
            <pc:docMk/>
            <pc:sldMk cId="2150922375" sldId="266"/>
            <ac:cxnSpMk id="15" creationId="{00000000-0000-0000-0000-000000000000}"/>
          </ac:cxnSpMkLst>
        </pc:cxnChg>
        <pc:cxnChg chg="mod">
          <ac:chgData name="Owais Ahmed" userId="6abc7d4556b3b071" providerId="LiveId" clId="{05A918E3-8191-4048-B51F-E50CCA016B85}" dt="2024-05-24T07:07:18.226" v="49" actId="1076"/>
          <ac:cxnSpMkLst>
            <pc:docMk/>
            <pc:sldMk cId="2150922375" sldId="266"/>
            <ac:cxnSpMk id="40" creationId="{00000000-0000-0000-0000-000000000000}"/>
          </ac:cxnSpMkLst>
        </pc:cxnChg>
        <pc:cxnChg chg="mod">
          <ac:chgData name="Owais Ahmed" userId="6abc7d4556b3b071" providerId="LiveId" clId="{05A918E3-8191-4048-B51F-E50CCA016B85}" dt="2024-05-24T07:07:18.226" v="49" actId="1076"/>
          <ac:cxnSpMkLst>
            <pc:docMk/>
            <pc:sldMk cId="2150922375" sldId="266"/>
            <ac:cxnSpMk id="44" creationId="{00000000-0000-0000-0000-000000000000}"/>
          </ac:cxnSpMkLst>
        </pc:cxnChg>
      </pc:sldChg>
    </pc:docChg>
  </pc:docChgLst>
  <pc:docChgLst>
    <pc:chgData name="Owais Ahmed" userId="6abc7d4556b3b071" providerId="LiveId" clId="{893D7C00-50FC-475D-BF77-E5370FFAA655}"/>
    <pc:docChg chg="undo custSel addSld delSld modSld">
      <pc:chgData name="Owais Ahmed" userId="6abc7d4556b3b071" providerId="LiveId" clId="{893D7C00-50FC-475D-BF77-E5370FFAA655}" dt="2024-05-07T07:08:57.961" v="2257" actId="20577"/>
      <pc:docMkLst>
        <pc:docMk/>
      </pc:docMkLst>
      <pc:sldChg chg="modSp mod">
        <pc:chgData name="Owais Ahmed" userId="6abc7d4556b3b071" providerId="LiveId" clId="{893D7C00-50FC-475D-BF77-E5370FFAA655}" dt="2024-05-07T06:44:53.687" v="84" actId="20577"/>
        <pc:sldMkLst>
          <pc:docMk/>
          <pc:sldMk cId="2998511266" sldId="280"/>
        </pc:sldMkLst>
        <pc:spChg chg="mod">
          <ac:chgData name="Owais Ahmed" userId="6abc7d4556b3b071" providerId="LiveId" clId="{893D7C00-50FC-475D-BF77-E5370FFAA655}" dt="2024-05-07T06:43:52.507" v="11" actId="20577"/>
          <ac:spMkLst>
            <pc:docMk/>
            <pc:sldMk cId="2998511266" sldId="280"/>
            <ac:spMk id="2" creationId="{00000000-0000-0000-0000-000000000000}"/>
          </ac:spMkLst>
        </pc:spChg>
        <pc:spChg chg="mod">
          <ac:chgData name="Owais Ahmed" userId="6abc7d4556b3b071" providerId="LiveId" clId="{893D7C00-50FC-475D-BF77-E5370FFAA655}" dt="2024-05-07T06:44:53.687" v="84" actId="20577"/>
          <ac:spMkLst>
            <pc:docMk/>
            <pc:sldMk cId="2998511266" sldId="280"/>
            <ac:spMk id="3" creationId="{00000000-0000-0000-0000-000000000000}"/>
          </ac:spMkLst>
        </pc:spChg>
      </pc:sldChg>
      <pc:sldChg chg="modSp add mod">
        <pc:chgData name="Owais Ahmed" userId="6abc7d4556b3b071" providerId="LiveId" clId="{893D7C00-50FC-475D-BF77-E5370FFAA655}" dt="2024-05-07T07:02:25.523" v="1567" actId="20577"/>
        <pc:sldMkLst>
          <pc:docMk/>
          <pc:sldMk cId="678127872" sldId="281"/>
        </pc:sldMkLst>
        <pc:spChg chg="mod">
          <ac:chgData name="Owais Ahmed" userId="6abc7d4556b3b071" providerId="LiveId" clId="{893D7C00-50FC-475D-BF77-E5370FFAA655}" dt="2024-05-07T07:02:25.523" v="1567" actId="20577"/>
          <ac:spMkLst>
            <pc:docMk/>
            <pc:sldMk cId="678127872" sldId="281"/>
            <ac:spMk id="3" creationId="{00000000-0000-0000-0000-000000000000}"/>
          </ac:spMkLst>
        </pc:spChg>
      </pc:sldChg>
      <pc:sldChg chg="new del">
        <pc:chgData name="Owais Ahmed" userId="6abc7d4556b3b071" providerId="LiveId" clId="{893D7C00-50FC-475D-BF77-E5370FFAA655}" dt="2024-05-07T06:45:57.340" v="216" actId="680"/>
        <pc:sldMkLst>
          <pc:docMk/>
          <pc:sldMk cId="127757337" sldId="282"/>
        </pc:sldMkLst>
      </pc:sldChg>
      <pc:sldChg chg="modSp add mod">
        <pc:chgData name="Owais Ahmed" userId="6abc7d4556b3b071" providerId="LiveId" clId="{893D7C00-50FC-475D-BF77-E5370FFAA655}" dt="2024-05-07T07:08:57.961" v="2257" actId="20577"/>
        <pc:sldMkLst>
          <pc:docMk/>
          <pc:sldMk cId="3876577284" sldId="282"/>
        </pc:sldMkLst>
        <pc:spChg chg="mod">
          <ac:chgData name="Owais Ahmed" userId="6abc7d4556b3b071" providerId="LiveId" clId="{893D7C00-50FC-475D-BF77-E5370FFAA655}" dt="2024-05-07T07:08:57.961" v="2257" actId="20577"/>
          <ac:spMkLst>
            <pc:docMk/>
            <pc:sldMk cId="3876577284" sldId="28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Quick Overview of GIT Workflows </a:t>
            </a:r>
          </a:p>
        </p:txBody>
      </p:sp>
    </p:spTree>
    <p:extLst>
      <p:ext uri="{BB962C8B-B14F-4D97-AF65-F5344CB8AC3E}">
        <p14:creationId xmlns:p14="http://schemas.microsoft.com/office/powerpoint/2010/main" val="3335829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workflow </a:t>
            </a:r>
            <a:r>
              <a:rPr lang="en-GB" dirty="0"/>
              <a:t>is a </a:t>
            </a:r>
            <a:r>
              <a:rPr lang="en-GB" dirty="0">
                <a:solidFill>
                  <a:srgbClr val="FF0000"/>
                </a:solidFill>
              </a:rPr>
              <a:t>process</a:t>
            </a:r>
            <a:r>
              <a:rPr lang="en-GB" dirty="0"/>
              <a:t> through which a software can be </a:t>
            </a:r>
            <a:r>
              <a:rPr lang="en-GB" dirty="0">
                <a:solidFill>
                  <a:srgbClr val="FF0000"/>
                </a:solidFill>
              </a:rPr>
              <a:t>developed, packaged, tested and released.</a:t>
            </a:r>
          </a:p>
          <a:p>
            <a:r>
              <a:rPr lang="en-GB" dirty="0"/>
              <a:t>A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workflow </a:t>
            </a:r>
            <a:r>
              <a:rPr lang="en-GB" dirty="0">
                <a:solidFill>
                  <a:srgbClr val="FF0000"/>
                </a:solidFill>
              </a:rPr>
              <a:t>defines</a:t>
            </a:r>
            <a:r>
              <a:rPr lang="en-GB" dirty="0"/>
              <a:t> different </a:t>
            </a:r>
            <a:r>
              <a:rPr lang="en-GB" dirty="0">
                <a:solidFill>
                  <a:srgbClr val="FF0000"/>
                </a:solidFill>
              </a:rPr>
              <a:t>stages</a:t>
            </a:r>
            <a:r>
              <a:rPr lang="en-GB" dirty="0"/>
              <a:t> through which a software passes </a:t>
            </a:r>
            <a:r>
              <a:rPr lang="en-GB" dirty="0">
                <a:solidFill>
                  <a:srgbClr val="FF0000"/>
                </a:solidFill>
              </a:rPr>
              <a:t>from the developer to the end user.</a:t>
            </a:r>
          </a:p>
        </p:txBody>
      </p:sp>
    </p:spTree>
    <p:extLst>
      <p:ext uri="{BB962C8B-B14F-4D97-AF65-F5344CB8AC3E}">
        <p14:creationId xmlns:p14="http://schemas.microsoft.com/office/powerpoint/2010/main" val="273110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Following factors would be considered to evaluate various existing workflows:</a:t>
            </a:r>
          </a:p>
          <a:p>
            <a:pPr marL="0" indent="0">
              <a:buNone/>
            </a:pPr>
            <a:r>
              <a:rPr lang="en-GB" sz="2700" dirty="0"/>
              <a:t>1. </a:t>
            </a:r>
            <a:r>
              <a:rPr lang="en-GB" sz="2700" dirty="0">
                <a:solidFill>
                  <a:srgbClr val="C00000"/>
                </a:solidFill>
              </a:rPr>
              <a:t>Should help people involved </a:t>
            </a:r>
            <a:r>
              <a:rPr lang="en-GB" sz="2700" dirty="0"/>
              <a:t>(developers, team leads, QA, managers and end users)</a:t>
            </a:r>
          </a:p>
          <a:p>
            <a:pPr marL="0" indent="0">
              <a:buNone/>
            </a:pPr>
            <a:r>
              <a:rPr lang="en-GB" sz="2700" dirty="0"/>
              <a:t>2. Suitable level of </a:t>
            </a:r>
            <a:r>
              <a:rPr lang="en-GB" sz="2700" dirty="0">
                <a:solidFill>
                  <a:srgbClr val="C00000"/>
                </a:solidFill>
              </a:rPr>
              <a:t>complexity</a:t>
            </a:r>
          </a:p>
          <a:p>
            <a:pPr marL="0" indent="0">
              <a:buNone/>
            </a:pPr>
            <a:r>
              <a:rPr lang="en-GB" sz="2700" dirty="0"/>
              <a:t>3. Supports </a:t>
            </a:r>
            <a:r>
              <a:rPr lang="en-GB" sz="2700" dirty="0">
                <a:solidFill>
                  <a:srgbClr val="C00000"/>
                </a:solidFill>
              </a:rPr>
              <a:t>Release lifecycle  </a:t>
            </a:r>
            <a:r>
              <a:rPr lang="en-GB" sz="2700" dirty="0"/>
              <a:t>(pre-alpha, alpha, beta, live)</a:t>
            </a:r>
          </a:p>
          <a:p>
            <a:pPr marL="0" indent="0">
              <a:buNone/>
            </a:pPr>
            <a:r>
              <a:rPr lang="en-GB" sz="2700" dirty="0"/>
              <a:t>4. Has </a:t>
            </a:r>
            <a:r>
              <a:rPr lang="en-GB" sz="2700" dirty="0">
                <a:solidFill>
                  <a:srgbClr val="C00000"/>
                </a:solidFill>
              </a:rPr>
              <a:t>flexibility for quick fixes </a:t>
            </a:r>
            <a:r>
              <a:rPr lang="en-GB" sz="2700" dirty="0"/>
              <a:t>for production version(s).</a:t>
            </a:r>
          </a:p>
          <a:p>
            <a:pPr marL="0" indent="0">
              <a:buNone/>
            </a:pPr>
            <a:r>
              <a:rPr lang="en-GB" sz="2700" dirty="0"/>
              <a:t>5. Provision for </a:t>
            </a:r>
            <a:r>
              <a:rPr lang="en-GB" sz="2700" dirty="0">
                <a:solidFill>
                  <a:srgbClr val="C00000"/>
                </a:solidFill>
              </a:rPr>
              <a:t>production-ready code </a:t>
            </a:r>
          </a:p>
        </p:txBody>
      </p:sp>
    </p:spTree>
    <p:extLst>
      <p:ext uri="{BB962C8B-B14F-4D97-AF65-F5344CB8AC3E}">
        <p14:creationId xmlns:p14="http://schemas.microsoft.com/office/powerpoint/2010/main" val="171731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Brief overview of workflows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439890"/>
              </p:ext>
            </p:extLst>
          </p:nvPr>
        </p:nvGraphicFramePr>
        <p:xfrm>
          <a:off x="457200" y="1600200"/>
          <a:ext cx="8229600" cy="25958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Name</a:t>
                      </a:r>
                      <a:r>
                        <a:rPr lang="en-GB" baseline="0" dirty="0">
                          <a:solidFill>
                            <a:srgbClr val="C00000"/>
                          </a:solidFill>
                        </a:rPr>
                        <a:t> of workflow</a:t>
                      </a:r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Branches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Centralized</a:t>
                      </a:r>
                      <a:r>
                        <a:rPr lang="en-GB" baseline="0" dirty="0"/>
                        <a:t> Control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GITHub</a:t>
                      </a:r>
                      <a:r>
                        <a:rPr lang="en-GB" baseline="0" dirty="0"/>
                        <a:t> Flow / Feature Branch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GITFlow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Develop,</a:t>
                      </a:r>
                      <a:r>
                        <a:rPr lang="en-GB" baseline="0" dirty="0"/>
                        <a:t> Release, </a:t>
                      </a:r>
                      <a:r>
                        <a:rPr lang="en-GB" baseline="0" dirty="0" err="1"/>
                        <a:t>HotFix</a:t>
                      </a:r>
                      <a:r>
                        <a:rPr lang="en-GB" baseline="0" dirty="0"/>
                        <a:t>, Feature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ProGIT</a:t>
                      </a:r>
                      <a:r>
                        <a:rPr lang="en-GB" baseline="0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Develop,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SkullCandy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</a:t>
                      </a:r>
                      <a:r>
                        <a:rPr lang="en-GB" baseline="0" dirty="0"/>
                        <a:t> Feature, QA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37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Centralized Control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527" y="1676399"/>
            <a:ext cx="3200400" cy="4525963"/>
          </a:xfrm>
          <a:solidFill>
            <a:schemeClr val="accent3">
              <a:lumMod val="40000"/>
              <a:lumOff val="60000"/>
              <a:alpha val="18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GB" dirty="0"/>
              <a:t>Central Repository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62200" y="2971800"/>
            <a:ext cx="0" cy="2895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5119254" y="1676400"/>
            <a:ext cx="3200400" cy="4525963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dirty="0"/>
              <a:t>Local Repository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576454" y="2971800"/>
            <a:ext cx="0" cy="2895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6527" y="4270664"/>
            <a:ext cx="1517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Master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254" y="468766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Master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3854" y="1981200"/>
            <a:ext cx="112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9454" y="2590800"/>
            <a:ext cx="1219200" cy="838200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Working Directory</a:t>
            </a:r>
          </a:p>
        </p:txBody>
      </p:sp>
      <p:cxnSp>
        <p:nvCxnSpPr>
          <p:cNvPr id="15" name="Elbow Connector 14"/>
          <p:cNvCxnSpPr/>
          <p:nvPr/>
        </p:nvCxnSpPr>
        <p:spPr>
          <a:xfrm rot="10800000" flipV="1">
            <a:off x="5805054" y="3584864"/>
            <a:ext cx="1295400" cy="6858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19454" y="3670500"/>
            <a:ext cx="13716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Courier New" pitchFamily="49" charset="0"/>
                <a:cs typeface="Courier New" pitchFamily="49" charset="0"/>
              </a:rPr>
              <a:t>Git status</a:t>
            </a:r>
          </a:p>
          <a:p>
            <a:r>
              <a:rPr lang="en-GB" sz="1100" dirty="0">
                <a:latin typeface="Courier New" pitchFamily="49" charset="0"/>
                <a:cs typeface="Courier New" pitchFamily="49" charset="0"/>
              </a:rPr>
              <a:t>Git add</a:t>
            </a:r>
          </a:p>
          <a:p>
            <a:r>
              <a:rPr lang="en-GB" sz="1100" dirty="0">
                <a:latin typeface="Courier New" pitchFamily="49" charset="0"/>
                <a:cs typeface="Courier New" pitchFamily="49" charset="0"/>
              </a:rPr>
              <a:t>Git commit</a:t>
            </a:r>
          </a:p>
        </p:txBody>
      </p:sp>
      <p:cxnSp>
        <p:nvCxnSpPr>
          <p:cNvPr id="17" name="Straight Arrow Connector 16"/>
          <p:cNvCxnSpPr>
            <a:cxnSpLocks/>
          </p:cNvCxnSpPr>
          <p:nvPr/>
        </p:nvCxnSpPr>
        <p:spPr>
          <a:xfrm flipH="1">
            <a:off x="3823854" y="5682550"/>
            <a:ext cx="12815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39937" y="5292435"/>
            <a:ext cx="72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6927" y="3648940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Pull -rebase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CA81A7-39A3-16E1-6055-DC26F9689D47}"/>
              </a:ext>
            </a:extLst>
          </p:cNvPr>
          <p:cNvCxnSpPr>
            <a:cxnSpLocks/>
          </p:cNvCxnSpPr>
          <p:nvPr/>
        </p:nvCxnSpPr>
        <p:spPr>
          <a:xfrm>
            <a:off x="3816927" y="4039054"/>
            <a:ext cx="12884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A10377-67B9-974A-30A1-6E9E33E67823}"/>
              </a:ext>
            </a:extLst>
          </p:cNvPr>
          <p:cNvCxnSpPr>
            <a:cxnSpLocks/>
          </p:cNvCxnSpPr>
          <p:nvPr/>
        </p:nvCxnSpPr>
        <p:spPr>
          <a:xfrm>
            <a:off x="3823854" y="2374777"/>
            <a:ext cx="12884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540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GITHub</a:t>
            </a:r>
            <a:r>
              <a:rPr lang="en-GB" dirty="0">
                <a:solidFill>
                  <a:srgbClr val="92D050"/>
                </a:solidFill>
              </a:rPr>
              <a:t> flow/ Feature Branches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362200"/>
            <a:ext cx="6848441" cy="3101181"/>
          </a:xfrm>
        </p:spPr>
      </p:pic>
    </p:spTree>
    <p:extLst>
      <p:ext uri="{BB962C8B-B14F-4D97-AF65-F5344CB8AC3E}">
        <p14:creationId xmlns:p14="http://schemas.microsoft.com/office/powerpoint/2010/main" val="218626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GITHub</a:t>
            </a:r>
            <a:r>
              <a:rPr lang="en-GB" dirty="0">
                <a:solidFill>
                  <a:srgbClr val="92D050"/>
                </a:solidFill>
              </a:rPr>
              <a:t> flow/ Feature Branches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Advantages</a:t>
            </a:r>
            <a:r>
              <a:rPr lang="en-GB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Promotes individual features development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Protects the main Master branch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Promotes development in team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In depth discussions on all new features before being merged into Master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Short release time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Quick response to issues/bugs reported</a:t>
            </a:r>
          </a:p>
          <a:p>
            <a:pPr marL="57150" indent="0">
              <a:buNone/>
            </a:pPr>
            <a:r>
              <a:rPr lang="en-GB" b="1" dirty="0">
                <a:solidFill>
                  <a:srgbClr val="C00000"/>
                </a:solidFill>
              </a:rPr>
              <a:t>Disadvantages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Too flexible or ad-hoc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Lack of support for releases and lifecycle management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72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026"/>
            <a:ext cx="6858000" cy="6782874"/>
          </a:xfrm>
        </p:spPr>
      </p:pic>
    </p:spTree>
    <p:extLst>
      <p:ext uri="{BB962C8B-B14F-4D97-AF65-F5344CB8AC3E}">
        <p14:creationId xmlns:p14="http://schemas.microsoft.com/office/powerpoint/2010/main" val="76711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GITFlow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Advantages</a:t>
            </a:r>
            <a:r>
              <a:rPr lang="en-GB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Facilitates features, release preparation and maintenance separately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Keeps Master branch production-ready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Helps in managing larger projects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Allows concurrent development on new features while making a new release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Allows quick fixes on live releases without creating a new full-fledged release</a:t>
            </a:r>
          </a:p>
          <a:p>
            <a:pPr marL="57150" indent="0">
              <a:buNone/>
            </a:pPr>
            <a:r>
              <a:rPr lang="en-GB" b="1" dirty="0">
                <a:solidFill>
                  <a:srgbClr val="C00000"/>
                </a:solidFill>
              </a:rPr>
              <a:t>Disadvantages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Need to apply fixes on both Develop and Master. Forgetting this can make Develop out of date.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Too complicated for developers (Larger helper script developed to enforce the flow)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Longer-time-to-release cycle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Longer learning curve</a:t>
            </a:r>
          </a:p>
          <a:p>
            <a:pPr marL="971550" lvl="1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76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ProGIT</a:t>
            </a:r>
            <a:endParaRPr lang="en-GB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16527" y="1676399"/>
            <a:ext cx="3200400" cy="4525963"/>
          </a:xfrm>
          <a:solidFill>
            <a:schemeClr val="accent3">
              <a:lumMod val="40000"/>
              <a:lumOff val="60000"/>
              <a:alpha val="18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GB" dirty="0"/>
              <a:t>Central Repository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48200" y="1676400"/>
            <a:ext cx="3200400" cy="4525963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dirty="0"/>
              <a:t>Local Repository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D92040-D8FF-AB77-2A34-91F15FBCA701}"/>
              </a:ext>
            </a:extLst>
          </p:cNvPr>
          <p:cNvGrpSpPr/>
          <p:nvPr/>
        </p:nvGrpSpPr>
        <p:grpSpPr>
          <a:xfrm>
            <a:off x="647700" y="2362200"/>
            <a:ext cx="7207827" cy="3609661"/>
            <a:chOff x="647700" y="2362200"/>
            <a:chExt cx="7207827" cy="3609661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1066800" y="3259255"/>
              <a:ext cx="0" cy="269042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5091545" y="3071105"/>
              <a:ext cx="0" cy="267897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647700" y="2951478"/>
              <a:ext cx="838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Master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48200" y="2362200"/>
              <a:ext cx="1219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err="1"/>
                <a:t>myFeature</a:t>
              </a:r>
              <a:endParaRPr lang="en-GB" sz="14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31972" y="3821482"/>
              <a:ext cx="1219200" cy="838200"/>
            </a:xfrm>
            <a:prstGeom prst="rect">
              <a:avLst/>
            </a:prstGeom>
            <a:solidFill>
              <a:schemeClr val="accent1"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Working Directory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00799" y="4918502"/>
              <a:ext cx="102523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>
                  <a:latin typeface="Courier New" pitchFamily="49" charset="0"/>
                  <a:cs typeface="Courier New" pitchFamily="49" charset="0"/>
                </a:rPr>
                <a:t>Git status</a:t>
              </a:r>
            </a:p>
            <a:p>
              <a:r>
                <a:rPr lang="en-GB" sz="1100" dirty="0">
                  <a:latin typeface="Courier New" pitchFamily="49" charset="0"/>
                  <a:cs typeface="Courier New" pitchFamily="49" charset="0"/>
                </a:rPr>
                <a:t>Git add</a:t>
              </a:r>
            </a:p>
            <a:p>
              <a:r>
                <a:rPr lang="en-GB" sz="1100" dirty="0">
                  <a:latin typeface="Courier New" pitchFamily="49" charset="0"/>
                  <a:cs typeface="Courier New" pitchFamily="49" charset="0"/>
                </a:rPr>
                <a:t>Git commit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3792683" y="4678602"/>
              <a:ext cx="838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872346" y="4243461"/>
              <a:ext cx="574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push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2133600" y="3281433"/>
              <a:ext cx="0" cy="269042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790699" y="2948881"/>
              <a:ext cx="831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Develop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200400" y="3248191"/>
              <a:ext cx="0" cy="264607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2802081" y="2944111"/>
              <a:ext cx="1101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My Feature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607627" y="2971799"/>
              <a:ext cx="22479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git checkout –b </a:t>
              </a:r>
              <a:r>
                <a:rPr lang="en-GB" sz="1100" dirty="0" err="1"/>
                <a:t>myFeature</a:t>
              </a:r>
              <a:r>
                <a:rPr lang="en-GB" sz="1100" dirty="0"/>
                <a:t> Master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H="1">
              <a:off x="5205845" y="3098000"/>
              <a:ext cx="39485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/>
            <p:nvPr/>
          </p:nvCxnSpPr>
          <p:spPr>
            <a:xfrm rot="10800000">
              <a:off x="5257800" y="3939382"/>
              <a:ext cx="2133600" cy="86121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2362200" y="4678602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1295400" y="4678602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396836" y="4232962"/>
              <a:ext cx="574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test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350818" y="4232961"/>
              <a:ext cx="574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092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ProGIT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Advantages</a:t>
            </a:r>
            <a:r>
              <a:rPr lang="en-GB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Same as </a:t>
            </a:r>
            <a:r>
              <a:rPr lang="en-GB" dirty="0" err="1"/>
              <a:t>GITHub</a:t>
            </a:r>
            <a:endParaRPr lang="en-GB" dirty="0"/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Protects Master branch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Less complicated than </a:t>
            </a:r>
            <a:r>
              <a:rPr lang="en-GB" dirty="0" err="1"/>
              <a:t>GitFlow</a:t>
            </a:r>
            <a:endParaRPr lang="en-GB" dirty="0"/>
          </a:p>
          <a:p>
            <a:pPr marL="57150" indent="0">
              <a:buNone/>
            </a:pPr>
            <a:r>
              <a:rPr lang="en-GB" b="1" dirty="0">
                <a:solidFill>
                  <a:srgbClr val="C00000"/>
                </a:solidFill>
              </a:rPr>
              <a:t>Disadvantages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No separate branches for releases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963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Forking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Starts with central server and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Each developer </a:t>
            </a:r>
            <a:r>
              <a:rPr lang="en-GB" i="1" dirty="0">
                <a:solidFill>
                  <a:srgbClr val="FF0000"/>
                </a:solidFill>
              </a:rPr>
              <a:t>forks</a:t>
            </a:r>
            <a:r>
              <a:rPr lang="en-GB" i="1" dirty="0"/>
              <a:t> 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the repo. Does not </a:t>
            </a:r>
            <a:r>
              <a:rPr lang="en-GB" i="1" dirty="0">
                <a:solidFill>
                  <a:srgbClr val="FF0000"/>
                </a:solidFill>
              </a:rPr>
              <a:t>clone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Continue in local repository like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When they </a:t>
            </a:r>
            <a:r>
              <a:rPr lang="en-GB" i="1" dirty="0">
                <a:solidFill>
                  <a:srgbClr val="FF0000"/>
                </a:solidFill>
              </a:rPr>
              <a:t>push</a:t>
            </a:r>
            <a:r>
              <a:rPr lang="en-GB" dirty="0"/>
              <a:t>, instead of central server, they </a:t>
            </a:r>
            <a:r>
              <a:rPr lang="en-GB" i="1" dirty="0">
                <a:solidFill>
                  <a:srgbClr val="FF0000"/>
                </a:solidFill>
              </a:rPr>
              <a:t>push</a:t>
            </a:r>
            <a:r>
              <a:rPr lang="en-GB" i="1" dirty="0"/>
              <a:t> </a:t>
            </a:r>
            <a:r>
              <a:rPr lang="en-GB" dirty="0"/>
              <a:t>to their copy of server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When done, create a </a:t>
            </a:r>
            <a:r>
              <a:rPr lang="en-GB" i="1" dirty="0">
                <a:solidFill>
                  <a:srgbClr val="FF0000"/>
                </a:solidFill>
              </a:rPr>
              <a:t>pull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request for admin to merge</a:t>
            </a:r>
          </a:p>
        </p:txBody>
      </p:sp>
    </p:spTree>
    <p:extLst>
      <p:ext uri="{BB962C8B-B14F-4D97-AF65-F5344CB8AC3E}">
        <p14:creationId xmlns:p14="http://schemas.microsoft.com/office/powerpoint/2010/main" val="383211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SkullCandy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524000"/>
            <a:ext cx="4267200" cy="4665306"/>
          </a:xfrm>
        </p:spPr>
      </p:pic>
    </p:spTree>
    <p:extLst>
      <p:ext uri="{BB962C8B-B14F-4D97-AF65-F5344CB8AC3E}">
        <p14:creationId xmlns:p14="http://schemas.microsoft.com/office/powerpoint/2010/main" val="4195354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SkullCandy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Works in Sprints</a:t>
            </a:r>
          </a:p>
          <a:p>
            <a:r>
              <a:rPr lang="en-GB" dirty="0"/>
              <a:t>Create QA branch off Master</a:t>
            </a:r>
          </a:p>
          <a:p>
            <a:r>
              <a:rPr lang="en-GB" dirty="0"/>
              <a:t>Create a separate Feature branch for each story off Master</a:t>
            </a:r>
          </a:p>
          <a:p>
            <a:r>
              <a:rPr lang="en-GB" dirty="0"/>
              <a:t>Develop and finish the story by the end of the sprint</a:t>
            </a:r>
          </a:p>
          <a:p>
            <a:r>
              <a:rPr lang="en-GB" dirty="0"/>
              <a:t>Push from Feature branch into QA branch</a:t>
            </a:r>
          </a:p>
          <a:p>
            <a:r>
              <a:rPr lang="en-GB" dirty="0"/>
              <a:t>Once approved from QA, merge back to Master and release</a:t>
            </a:r>
          </a:p>
        </p:txBody>
      </p:sp>
    </p:spTree>
    <p:extLst>
      <p:ext uri="{BB962C8B-B14F-4D97-AF65-F5344CB8AC3E}">
        <p14:creationId xmlns:p14="http://schemas.microsoft.com/office/powerpoint/2010/main" val="2085972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2D050"/>
                </a:solidFill>
              </a:rPr>
              <a:t>SkullCandy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Advantages</a:t>
            </a:r>
            <a:r>
              <a:rPr lang="en-GB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Coherence between issue tracking system and code repository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Easy tracking of features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Opportunity for auto-updating issue tracker for branch work and generating alerts to developers when branch gets released</a:t>
            </a:r>
          </a:p>
          <a:p>
            <a:pPr marL="57150" indent="0">
              <a:buNone/>
            </a:pPr>
            <a:r>
              <a:rPr lang="en-GB" b="1" dirty="0">
                <a:solidFill>
                  <a:srgbClr val="C00000"/>
                </a:solidFill>
              </a:rPr>
              <a:t>Disadvantages</a:t>
            </a:r>
          </a:p>
          <a:p>
            <a:pPr marL="971550" lvl="1" indent="-514350">
              <a:buFont typeface="+mj-lt"/>
              <a:buAutoNum type="arabicPeriod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1073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Summary of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960152"/>
              </p:ext>
            </p:extLst>
          </p:nvPr>
        </p:nvGraphicFramePr>
        <p:xfrm>
          <a:off x="228600" y="1752600"/>
          <a:ext cx="8763000" cy="4343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199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Centralized</a:t>
                      </a:r>
                      <a:r>
                        <a:rPr lang="en-GB" baseline="0" dirty="0"/>
                        <a:t> </a:t>
                      </a:r>
                    </a:p>
                    <a:p>
                      <a:r>
                        <a:rPr lang="en-GB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GITHub</a:t>
                      </a:r>
                      <a:r>
                        <a:rPr lang="en-GB" baseline="0" dirty="0"/>
                        <a:t> Flow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GITFlow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ProGIT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SkullCandy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96">
                <a:tc>
                  <a:txBody>
                    <a:bodyPr/>
                    <a:lstStyle/>
                    <a:p>
                      <a:r>
                        <a:rPr lang="en-GB" dirty="0"/>
                        <a:t>Helpful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296">
                <a:tc>
                  <a:txBody>
                    <a:bodyPr/>
                    <a:lstStyle/>
                    <a:p>
                      <a:r>
                        <a:rPr lang="en-GB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1414">
                <a:tc>
                  <a:txBody>
                    <a:bodyPr/>
                    <a:lstStyle/>
                    <a:p>
                      <a:r>
                        <a:rPr lang="en-GB" dirty="0"/>
                        <a:t>Release</a:t>
                      </a:r>
                      <a:r>
                        <a:rPr lang="en-GB" baseline="0" dirty="0"/>
                        <a:t> lifecycle support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990">
                <a:tc>
                  <a:txBody>
                    <a:bodyPr/>
                    <a:lstStyle/>
                    <a:p>
                      <a:r>
                        <a:rPr lang="en-GB" dirty="0"/>
                        <a:t>Quick</a:t>
                      </a:r>
                      <a:r>
                        <a:rPr lang="en-GB" baseline="0" dirty="0"/>
                        <a:t> fix support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1414">
                <a:tc>
                  <a:txBody>
                    <a:bodyPr/>
                    <a:lstStyle/>
                    <a:p>
                      <a:r>
                        <a:rPr lang="en-GB" dirty="0"/>
                        <a:t>Provides</a:t>
                      </a:r>
                      <a:r>
                        <a:rPr lang="en-GB" baseline="0" dirty="0"/>
                        <a:t> production-ready code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337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TechThree.io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Workflow</a:t>
            </a:r>
            <a:r>
              <a:rPr lang="en-GB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Protected master branch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Separate branch for each feature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Separate “staging” and “production” branches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CICD pipeline for automated deployments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One Story/Task/Bug per branch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Code review before merger into master branch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Flow: </a:t>
            </a:r>
            <a:r>
              <a:rPr lang="en-GB" i="1" dirty="0"/>
              <a:t>master</a:t>
            </a:r>
            <a:r>
              <a:rPr lang="en-GB" dirty="0"/>
              <a:t> &gt;&gt; </a:t>
            </a:r>
            <a:r>
              <a:rPr lang="en-GB" i="1" dirty="0"/>
              <a:t>test </a:t>
            </a:r>
            <a:r>
              <a:rPr lang="en-GB" dirty="0"/>
              <a:t>&gt;&gt; </a:t>
            </a:r>
            <a:r>
              <a:rPr lang="en-GB" i="1" dirty="0"/>
              <a:t>production </a:t>
            </a:r>
            <a:r>
              <a:rPr lang="en-GB" dirty="0"/>
              <a:t>(Strictly)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Release tags</a:t>
            </a:r>
          </a:p>
        </p:txBody>
      </p:sp>
    </p:spTree>
    <p:extLst>
      <p:ext uri="{BB962C8B-B14F-4D97-AF65-F5344CB8AC3E}">
        <p14:creationId xmlns:p14="http://schemas.microsoft.com/office/powerpoint/2010/main" val="299851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TechThree.io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Example</a:t>
            </a:r>
            <a:r>
              <a:rPr lang="en-GB" dirty="0"/>
              <a:t>: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A new feature “Switch between dark and light theme” to be added to </a:t>
            </a:r>
            <a:r>
              <a:rPr lang="en-GB" dirty="0" err="1"/>
              <a:t>Bubshub</a:t>
            </a:r>
            <a:r>
              <a:rPr lang="en-GB" dirty="0"/>
              <a:t>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Scrum master creates a User story on Asana with a tag “</a:t>
            </a:r>
            <a:r>
              <a:rPr lang="en-GB" dirty="0" err="1"/>
              <a:t>bubsy</a:t>
            </a:r>
            <a:r>
              <a:rPr lang="en-GB" dirty="0"/>
              <a:t>-themes”.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Business analyst adds precise requirements and test cases on Asana for this story.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Developer picks this story during Sprint planning for delivery and adds details including story points, estimated time, due date, etc.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Developer creates a new branch from master and names it “</a:t>
            </a:r>
            <a:r>
              <a:rPr lang="en-GB" dirty="0" err="1"/>
              <a:t>bubsy</a:t>
            </a:r>
            <a:r>
              <a:rPr lang="en-GB" dirty="0"/>
              <a:t>-themes”.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Developer implements the functionality and writes tests for automated testing.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Developer creates a request for the Architect to merge into master branch.</a:t>
            </a:r>
          </a:p>
        </p:txBody>
      </p:sp>
    </p:spTree>
    <p:extLst>
      <p:ext uri="{BB962C8B-B14F-4D97-AF65-F5344CB8AC3E}">
        <p14:creationId xmlns:p14="http://schemas.microsoft.com/office/powerpoint/2010/main" val="678127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TechThree.io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Example</a:t>
            </a:r>
            <a:r>
              <a:rPr lang="en-GB" dirty="0"/>
              <a:t>: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Architect reviews the code. Finds that the changed code was not formatted and that instead of a switch button, the developer had used a drop-down list.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Pull request is not accepted and goes back to the developer.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The developer addresses concerns raised during code review and makes another commit.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Architect merged </a:t>
            </a:r>
            <a:r>
              <a:rPr lang="en-GB" dirty="0" err="1"/>
              <a:t>bubsy</a:t>
            </a:r>
            <a:r>
              <a:rPr lang="en-GB" dirty="0"/>
              <a:t>-themes branch into master branch.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As the master branch is updated, the new code is redeployed on test instance.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Q/A team is tests the new app and verifies the requirements provided on Asana.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Q/A approves the task and the master branch is merged into staging branch.</a:t>
            </a:r>
          </a:p>
          <a:p>
            <a:pPr marL="571500" indent="-514350">
              <a:buFont typeface="+mj-lt"/>
              <a:buAutoNum type="arabicPeriod"/>
            </a:pPr>
            <a:r>
              <a:rPr lang="en-GB" dirty="0"/>
              <a:t>One day before end of Sprint, the staging branch is merged into production branch with a new tag named as the updated version of the app.</a:t>
            </a:r>
          </a:p>
        </p:txBody>
      </p:sp>
    </p:spTree>
    <p:extLst>
      <p:ext uri="{BB962C8B-B14F-4D97-AF65-F5344CB8AC3E}">
        <p14:creationId xmlns:p14="http://schemas.microsoft.com/office/powerpoint/2010/main" val="387657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854</Words>
  <Application>Microsoft Macintosh PowerPoint</Application>
  <PresentationFormat>On-screen Show (4:3)</PresentationFormat>
  <Paragraphs>170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Quick Overview of GIT Workflows </vt:lpstr>
      <vt:lpstr>Workflow</vt:lpstr>
      <vt:lpstr>Criteria</vt:lpstr>
      <vt:lpstr>Brief overview of workflows</vt:lpstr>
      <vt:lpstr>Centralized Control</vt:lpstr>
      <vt:lpstr>GITHub flow/ Feature Branches</vt:lpstr>
      <vt:lpstr>GITHub flow/ Feature Branches</vt:lpstr>
      <vt:lpstr>PowerPoint Presentation</vt:lpstr>
      <vt:lpstr>GITFlow</vt:lpstr>
      <vt:lpstr>ProGIT</vt:lpstr>
      <vt:lpstr>ProGIT</vt:lpstr>
      <vt:lpstr>Forking</vt:lpstr>
      <vt:lpstr>SkullCandy</vt:lpstr>
      <vt:lpstr>SkullCandy</vt:lpstr>
      <vt:lpstr>SkullCandy</vt:lpstr>
      <vt:lpstr>Summary of Evaluation</vt:lpstr>
      <vt:lpstr>TechThree.io</vt:lpstr>
      <vt:lpstr>TechThree.io</vt:lpstr>
      <vt:lpstr>TechThree.io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Overview of GIT Workflows</dc:title>
  <dc:creator>Omar</dc:creator>
  <cp:lastModifiedBy>Owais Ahmed</cp:lastModifiedBy>
  <cp:revision>42</cp:revision>
  <dcterms:created xsi:type="dcterms:W3CDTF">2006-08-16T00:00:00Z</dcterms:created>
  <dcterms:modified xsi:type="dcterms:W3CDTF">2024-05-24T07:08:26Z</dcterms:modified>
</cp:coreProperties>
</file>