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70" r:id="rId16"/>
    <p:sldId id="272" r:id="rId17"/>
    <p:sldId id="269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63075F-D8EA-E441-B255-9BB7FADFD92B}" v="86" dt="2024-06-07T06:55:44.8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737" autoAdjust="0"/>
    <p:restoredTop sz="94341" autoAdjust="0"/>
  </p:normalViewPr>
  <p:slideViewPr>
    <p:cSldViewPr snapToGrid="0">
      <p:cViewPr varScale="1">
        <p:scale>
          <a:sx n="139" d="100"/>
          <a:sy n="139" d="100"/>
        </p:scale>
        <p:origin x="176" y="232"/>
      </p:cViewPr>
      <p:guideLst/>
    </p:cSldViewPr>
  </p:slideViewPr>
  <p:outlineViewPr>
    <p:cViewPr>
      <p:scale>
        <a:sx n="33" d="100"/>
        <a:sy n="33" d="100"/>
      </p:scale>
      <p:origin x="0" y="-96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6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9363075F-D8EA-E441-B255-9BB7FADFD92B}"/>
    <pc:docChg chg="custSel addSld modSld sldOrd">
      <pc:chgData name="Owais Ahmed" userId="6abc7d4556b3b071" providerId="LiveId" clId="{9363075F-D8EA-E441-B255-9BB7FADFD92B}" dt="2024-06-07T06:55:44.869" v="169" actId="20577"/>
      <pc:docMkLst>
        <pc:docMk/>
      </pc:docMkLst>
      <pc:sldChg chg="modSp mod">
        <pc:chgData name="Owais Ahmed" userId="6abc7d4556b3b071" providerId="LiveId" clId="{9363075F-D8EA-E441-B255-9BB7FADFD92B}" dt="2024-06-07T06:28:55.219" v="82" actId="20577"/>
        <pc:sldMkLst>
          <pc:docMk/>
          <pc:sldMk cId="743251008" sldId="260"/>
        </pc:sldMkLst>
        <pc:spChg chg="mod">
          <ac:chgData name="Owais Ahmed" userId="6abc7d4556b3b071" providerId="LiveId" clId="{9363075F-D8EA-E441-B255-9BB7FADFD92B}" dt="2024-06-07T06:28:48.146" v="81" actId="20577"/>
          <ac:spMkLst>
            <pc:docMk/>
            <pc:sldMk cId="743251008" sldId="260"/>
            <ac:spMk id="2" creationId="{00000000-0000-0000-0000-000000000000}"/>
          </ac:spMkLst>
        </pc:spChg>
        <pc:spChg chg="mod">
          <ac:chgData name="Owais Ahmed" userId="6abc7d4556b3b071" providerId="LiveId" clId="{9363075F-D8EA-E441-B255-9BB7FADFD92B}" dt="2024-06-07T06:28:55.219" v="82" actId="20577"/>
          <ac:spMkLst>
            <pc:docMk/>
            <pc:sldMk cId="743251008" sldId="260"/>
            <ac:spMk id="3" creationId="{00000000-0000-0000-0000-000000000000}"/>
          </ac:spMkLst>
        </pc:spChg>
      </pc:sldChg>
      <pc:sldChg chg="modSp">
        <pc:chgData name="Owais Ahmed" userId="6abc7d4556b3b071" providerId="LiveId" clId="{9363075F-D8EA-E441-B255-9BB7FADFD92B}" dt="2024-06-07T06:55:44.869" v="169" actId="20577"/>
        <pc:sldMkLst>
          <pc:docMk/>
          <pc:sldMk cId="4158511267" sldId="261"/>
        </pc:sldMkLst>
        <pc:spChg chg="mod">
          <ac:chgData name="Owais Ahmed" userId="6abc7d4556b3b071" providerId="LiveId" clId="{9363075F-D8EA-E441-B255-9BB7FADFD92B}" dt="2024-06-07T06:55:44.869" v="169" actId="20577"/>
          <ac:spMkLst>
            <pc:docMk/>
            <pc:sldMk cId="4158511267" sldId="261"/>
            <ac:spMk id="5" creationId="{00000000-0000-0000-0000-000000000000}"/>
          </ac:spMkLst>
        </pc:spChg>
      </pc:sldChg>
      <pc:sldChg chg="modSp mod">
        <pc:chgData name="Owais Ahmed" userId="6abc7d4556b3b071" providerId="LiveId" clId="{9363075F-D8EA-E441-B255-9BB7FADFD92B}" dt="2024-06-07T06:31:15.971" v="88" actId="20577"/>
        <pc:sldMkLst>
          <pc:docMk/>
          <pc:sldMk cId="861184197" sldId="267"/>
        </pc:sldMkLst>
        <pc:spChg chg="mod">
          <ac:chgData name="Owais Ahmed" userId="6abc7d4556b3b071" providerId="LiveId" clId="{9363075F-D8EA-E441-B255-9BB7FADFD92B}" dt="2024-06-07T06:31:15.971" v="88" actId="20577"/>
          <ac:spMkLst>
            <pc:docMk/>
            <pc:sldMk cId="861184197" sldId="267"/>
            <ac:spMk id="5" creationId="{00000000-0000-0000-0000-000000000000}"/>
          </ac:spMkLst>
        </pc:spChg>
      </pc:sldChg>
      <pc:sldChg chg="ord">
        <pc:chgData name="Owais Ahmed" userId="6abc7d4556b3b071" providerId="LiveId" clId="{9363075F-D8EA-E441-B255-9BB7FADFD92B}" dt="2024-06-07T06:32:32.385" v="90" actId="20578"/>
        <pc:sldMkLst>
          <pc:docMk/>
          <pc:sldMk cId="1465604139" sldId="269"/>
        </pc:sldMkLst>
      </pc:sldChg>
      <pc:sldChg chg="modSp add mod">
        <pc:chgData name="Owais Ahmed" userId="6abc7d4556b3b071" providerId="LiveId" clId="{9363075F-D8EA-E441-B255-9BB7FADFD92B}" dt="2024-06-07T06:32:56.167" v="167" actId="20577"/>
        <pc:sldMkLst>
          <pc:docMk/>
          <pc:sldMk cId="2189830834" sldId="273"/>
        </pc:sldMkLst>
        <pc:spChg chg="mod">
          <ac:chgData name="Owais Ahmed" userId="6abc7d4556b3b071" providerId="LiveId" clId="{9363075F-D8EA-E441-B255-9BB7FADFD92B}" dt="2024-06-07T06:32:56.167" v="167" actId="20577"/>
          <ac:spMkLst>
            <pc:docMk/>
            <pc:sldMk cId="2189830834" sldId="273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58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6/7/24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288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258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6/7/24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349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6/7/24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38150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6/7/24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816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6/7/24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359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1BE4249-C0D0-4B06-8692-E8BB871AF643}" type="datetimeFigureOut">
              <a:rPr lang="en-US" smtClean="0"/>
              <a:t>6/7/24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657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6/7/24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76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6/7/24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174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6/7/24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1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160EA64-D806-43AC-9DF2-F8C432F32B4C}" type="datetimeFigureOut">
              <a:rPr lang="en-US" smtClean="0"/>
              <a:t>6/7/24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85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eekme94/unit-testing-workshop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Unit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Using Junit and </a:t>
            </a:r>
            <a:r>
              <a:rPr lang="en-US" dirty="0" err="1"/>
              <a:t>Mockito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841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44230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What? Why? Who?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Some terms to remember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Unit testing in </a:t>
            </a:r>
            <a:r>
              <a:rPr lang="en-US" sz="2800" dirty="0" err="1"/>
              <a:t>eXtreme</a:t>
            </a:r>
            <a:r>
              <a:rPr lang="en-US" sz="2800" dirty="0"/>
              <a:t> programming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JUnit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JUnit Annotations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Assertion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Naming convention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Hands on…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Test-driven Development</a:t>
            </a:r>
          </a:p>
        </p:txBody>
      </p:sp>
    </p:spTree>
    <p:extLst>
      <p:ext uri="{BB962C8B-B14F-4D97-AF65-F5344CB8AC3E}">
        <p14:creationId xmlns:p14="http://schemas.microsoft.com/office/powerpoint/2010/main" val="193533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3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Unit Testing: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Is a method of testing the correctness of a particular module of source code [</a:t>
            </a:r>
            <a:r>
              <a:rPr lang="en-US" sz="2800" dirty="0" err="1"/>
              <a:t>WikiPedia</a:t>
            </a:r>
            <a:r>
              <a:rPr lang="en-US" sz="2800" dirty="0"/>
              <a:t>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Is testing of individual hardware or software units or groups of related units [IEEE90]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Is not to test high-level application functionality.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6822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3393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Reduce bugs in new features as well as existing features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Reduce cost of change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Guard against ripple effects of changes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Encourage refactoring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A firewall against other programmers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A way of documenting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Forces you to take time to think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Slower start, faster completion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Enables automating engineering process</a:t>
            </a:r>
          </a:p>
        </p:txBody>
      </p:sp>
    </p:spTree>
    <p:extLst>
      <p:ext uri="{BB962C8B-B14F-4D97-AF65-F5344CB8AC3E}">
        <p14:creationId xmlns:p14="http://schemas.microsoft.com/office/powerpoint/2010/main" val="178087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339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/>
              <a:t>Unit tests can be written by any </a:t>
            </a:r>
            <a:r>
              <a:rPr lang="en-US" sz="2800"/>
              <a:t>software engineers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Back-end programmers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2600" dirty="0"/>
              <a:t>Data layer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2600" dirty="0"/>
              <a:t>Service layer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Front-end programmers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2600" dirty="0"/>
              <a:t>Interface functions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2600" dirty="0"/>
              <a:t>Interactions with back-end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UI/UX designer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2600" dirty="0"/>
              <a:t>Styling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2600" dirty="0"/>
              <a:t>Layout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2600" dirty="0"/>
              <a:t>View</a:t>
            </a:r>
          </a:p>
        </p:txBody>
      </p:sp>
    </p:spTree>
    <p:extLst>
      <p:ext uri="{BB962C8B-B14F-4D97-AF65-F5344CB8AC3E}">
        <p14:creationId xmlns:p14="http://schemas.microsoft.com/office/powerpoint/2010/main" val="415851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Terms to Remember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3393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Unit Testing</a:t>
            </a:r>
            <a:r>
              <a:rPr lang="en-US" sz="2800" dirty="0"/>
              <a:t>: testing a unit of code extensively in all possible ways.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Refactoring</a:t>
            </a:r>
            <a:r>
              <a:rPr lang="en-US" sz="2800" dirty="0"/>
              <a:t>: the practice of restructuring existing code for simplicity and clarity, without changing its behavior.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Regression Testing</a:t>
            </a:r>
            <a:r>
              <a:rPr lang="en-US" sz="2800" dirty="0"/>
              <a:t>: retesting the software exhaustively to make sure that any changes have not broken the system.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Automated Testing</a:t>
            </a:r>
            <a:r>
              <a:rPr lang="en-US" sz="2800" dirty="0"/>
              <a:t>: allows software to be tested as and when changes are made.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Acceptance Testing</a:t>
            </a:r>
            <a:r>
              <a:rPr lang="en-US" sz="2800" dirty="0"/>
              <a:t>: testing high-level functions. These are designed by people who understand the business problem.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Performance Testing</a:t>
            </a:r>
            <a:r>
              <a:rPr lang="en-US" sz="2800" dirty="0"/>
              <a:t>: the process of testing the speed, responsiveness and stability under a workload.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/>
              <a:t>Stress Testing</a:t>
            </a:r>
            <a:r>
              <a:rPr lang="en-US" sz="2800" dirty="0"/>
              <a:t>: the process of testing the robustness of software beyond the limits of normal operation (also covers load testing).</a:t>
            </a:r>
          </a:p>
        </p:txBody>
      </p:sp>
    </p:spTree>
    <p:extLst>
      <p:ext uri="{BB962C8B-B14F-4D97-AF65-F5344CB8AC3E}">
        <p14:creationId xmlns:p14="http://schemas.microsoft.com/office/powerpoint/2010/main" val="351354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in Agile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49964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Use a framework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Test all modules/classes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Create test before actual functions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Change code only when a test fails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Tests embedded with source code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All tests should pass before packaging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Zero bug policy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Agile development cannot be done without Unit Testing</a:t>
            </a:r>
          </a:p>
        </p:txBody>
      </p:sp>
      <p:pic>
        <p:nvPicPr>
          <p:cNvPr id="1026" name="Picture 2" descr="Image result for extreme programmi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569" y="1846263"/>
            <a:ext cx="4380462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97279" y="6488668"/>
            <a:ext cx="60941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Ref: http://www.extremeprogramming.org/rules/unittests.html</a:t>
            </a:r>
          </a:p>
        </p:txBody>
      </p:sp>
    </p:spTree>
    <p:extLst>
      <p:ext uri="{BB962C8B-B14F-4D97-AF65-F5344CB8AC3E}">
        <p14:creationId xmlns:p14="http://schemas.microsoft.com/office/powerpoint/2010/main" val="743251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JUnit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339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JUnit is a Java framework for Regression testing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It allows creation and execution of unit tests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A test case is a Java class containing at least one test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A test is a public void method with no parameters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Tests are executed in a batch, </a:t>
            </a:r>
            <a:r>
              <a:rPr lang="en-US" sz="2800" u="sng" dirty="0"/>
              <a:t>independent of each other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7978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JUnit Annotations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3393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Consolas" panose="020B0609020204030204" pitchFamily="49" charset="0"/>
              </a:rPr>
              <a:t>@</a:t>
            </a:r>
            <a:r>
              <a:rPr lang="en-US" sz="2800" dirty="0" err="1">
                <a:latin typeface="Consolas" panose="020B0609020204030204" pitchFamily="49" charset="0"/>
              </a:rPr>
              <a:t>BeforeClass</a:t>
            </a:r>
            <a:endParaRPr lang="en-US" sz="2800" dirty="0"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Consolas" panose="020B0609020204030204" pitchFamily="49" charset="0"/>
              </a:rPr>
              <a:t>@</a:t>
            </a:r>
            <a:r>
              <a:rPr lang="en-US" sz="2800" dirty="0" err="1">
                <a:latin typeface="Consolas" panose="020B0609020204030204" pitchFamily="49" charset="0"/>
              </a:rPr>
              <a:t>AfterClass</a:t>
            </a:r>
            <a:endParaRPr lang="en-US" sz="2800" dirty="0"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Consolas" panose="020B0609020204030204" pitchFamily="49" charset="0"/>
              </a:rPr>
              <a:t>@Before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Consolas" panose="020B0609020204030204" pitchFamily="49" charset="0"/>
              </a:rPr>
              <a:t>@After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Consolas" panose="020B0609020204030204" pitchFamily="49" charset="0"/>
              </a:rPr>
              <a:t>@Test, (expected=</a:t>
            </a:r>
            <a:r>
              <a:rPr lang="en-US" sz="2800" dirty="0" err="1">
                <a:latin typeface="Consolas" panose="020B0609020204030204" pitchFamily="49" charset="0"/>
              </a:rPr>
              <a:t>IOException.class</a:t>
            </a:r>
            <a:r>
              <a:rPr lang="en-US" sz="2800" dirty="0">
                <a:latin typeface="Consolas" panose="020B0609020204030204" pitchFamily="49" charset="0"/>
              </a:rPr>
              <a:t>), (timeout=10)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Consolas" panose="020B0609020204030204" pitchFamily="49" charset="0"/>
              </a:rPr>
              <a:t>@Ignore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Consolas" panose="020B0609020204030204" pitchFamily="49" charset="0"/>
              </a:rPr>
              <a:t>@</a:t>
            </a:r>
            <a:r>
              <a:rPr lang="en-US" sz="2800" dirty="0" err="1">
                <a:latin typeface="Consolas" panose="020B0609020204030204" pitchFamily="49" charset="0"/>
              </a:rPr>
              <a:t>RunWith</a:t>
            </a:r>
            <a:r>
              <a:rPr lang="en-US" sz="2800" dirty="0">
                <a:latin typeface="Consolas" panose="020B0609020204030204" pitchFamily="49" charset="0"/>
              </a:rPr>
              <a:t>(</a:t>
            </a:r>
            <a:r>
              <a:rPr lang="en-US" sz="2800" dirty="0" err="1">
                <a:latin typeface="Consolas" panose="020B0609020204030204" pitchFamily="49" charset="0"/>
              </a:rPr>
              <a:t>Suite.class</a:t>
            </a:r>
            <a:r>
              <a:rPr lang="en-US" sz="2800" dirty="0">
                <a:latin typeface="Consolas" panose="020B0609020204030204" pitchFamily="49" charset="0"/>
              </a:rPr>
              <a:t>, or else)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Consolas" panose="020B0609020204030204" pitchFamily="49" charset="0"/>
              </a:rPr>
              <a:t>@</a:t>
            </a:r>
            <a:r>
              <a:rPr lang="en-US" sz="2800" dirty="0" err="1">
                <a:latin typeface="Consolas" panose="020B0609020204030204" pitchFamily="49" charset="0"/>
              </a:rPr>
              <a:t>SuiteClasses</a:t>
            </a:r>
            <a:endParaRPr lang="en-US" sz="2800" dirty="0"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29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483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/>
              <a:t>Assert class contains some static methods which assert whether given parameters are factual or not: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err="1"/>
              <a:t>assertArrayEquals</a:t>
            </a:r>
            <a:r>
              <a:rPr lang="en-US" sz="2800" dirty="0"/>
              <a:t>: states if two arrays are equal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err="1"/>
              <a:t>assertEquals</a:t>
            </a:r>
            <a:r>
              <a:rPr lang="en-US" sz="2800" dirty="0"/>
              <a:t>: states if the arguments are equal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err="1"/>
              <a:t>assertFalse</a:t>
            </a:r>
            <a:r>
              <a:rPr lang="en-US" sz="2800" dirty="0"/>
              <a:t>: states if the condition passed as argument is false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err="1"/>
              <a:t>assertNotEquals</a:t>
            </a:r>
            <a:r>
              <a:rPr lang="en-US" sz="2800" dirty="0"/>
              <a:t>: states if the arguments are not equal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err="1"/>
              <a:t>assertNotNull</a:t>
            </a:r>
            <a:r>
              <a:rPr lang="en-US" sz="2800" dirty="0"/>
              <a:t>: states if the argument is null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err="1"/>
              <a:t>assertSame</a:t>
            </a:r>
            <a:r>
              <a:rPr lang="en-US" sz="2800" dirty="0"/>
              <a:t>: states if arguments refer to same object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err="1"/>
              <a:t>assertTrue</a:t>
            </a:r>
            <a:r>
              <a:rPr lang="en-US" sz="2800" dirty="0"/>
              <a:t>: states if condition passed as argument is true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fail: fails a test</a:t>
            </a:r>
          </a:p>
        </p:txBody>
      </p:sp>
    </p:spTree>
    <p:extLst>
      <p:ext uri="{BB962C8B-B14F-4D97-AF65-F5344CB8AC3E}">
        <p14:creationId xmlns:p14="http://schemas.microsoft.com/office/powerpoint/2010/main" val="24397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Naming Convention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339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There are no parameters, nor a return type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Comments are not very useful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Thus, the test name should say it all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Either start with “test…”, or “should…” or “</a:t>
            </a:r>
            <a:r>
              <a:rPr lang="en-US" sz="2800" dirty="0" err="1"/>
              <a:t>shouldNot</a:t>
            </a:r>
            <a:r>
              <a:rPr lang="en-US" sz="2800" dirty="0"/>
              <a:t>…”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It is accepted – helpful, in fact – to write a test name as: </a:t>
            </a:r>
            <a:r>
              <a:rPr lang="en-US" sz="2800" dirty="0" err="1"/>
              <a:t>shouldNotThrowExceptionIfPropertiesFileDoesntExist</a:t>
            </a:r>
            <a:r>
              <a:rPr lang="en-US" sz="2800" dirty="0"/>
              <a:t>()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4004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Junit Installation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Maven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2529993"/>
          </a:xfrm>
        </p:spPr>
        <p:txBody>
          <a:bodyPr>
            <a:normAutofit/>
          </a:bodyPr>
          <a:lstStyle/>
          <a:p>
            <a:r>
              <a:rPr lang="en-US" sz="2400" dirty="0"/>
              <a:t>&lt;dependency&gt;</a:t>
            </a:r>
          </a:p>
          <a:p>
            <a:r>
              <a:rPr lang="en-US" sz="2400" dirty="0"/>
              <a:t>    &lt;</a:t>
            </a:r>
            <a:r>
              <a:rPr lang="en-US" sz="2400" dirty="0" err="1"/>
              <a:t>groupId</a:t>
            </a:r>
            <a:r>
              <a:rPr lang="en-US" sz="2400" dirty="0"/>
              <a:t>&gt;</a:t>
            </a:r>
            <a:r>
              <a:rPr lang="en-US" sz="2400" dirty="0" err="1"/>
              <a:t>junit</a:t>
            </a:r>
            <a:r>
              <a:rPr lang="en-US" sz="2400" dirty="0"/>
              <a:t>&lt;/</a:t>
            </a:r>
            <a:r>
              <a:rPr lang="en-US" sz="2400" dirty="0" err="1"/>
              <a:t>groupId</a:t>
            </a:r>
            <a:r>
              <a:rPr lang="en-US" sz="2400" dirty="0"/>
              <a:t>&gt;</a:t>
            </a:r>
          </a:p>
          <a:p>
            <a:r>
              <a:rPr lang="en-US" sz="2400" dirty="0"/>
              <a:t>    &lt;</a:t>
            </a:r>
            <a:r>
              <a:rPr lang="en-US" sz="2400" dirty="0" err="1"/>
              <a:t>artifactId</a:t>
            </a:r>
            <a:r>
              <a:rPr lang="en-US" sz="2400" dirty="0"/>
              <a:t>&gt;</a:t>
            </a:r>
            <a:r>
              <a:rPr lang="en-US" sz="2400" dirty="0" err="1"/>
              <a:t>junit</a:t>
            </a:r>
            <a:r>
              <a:rPr lang="en-US" sz="2400" dirty="0"/>
              <a:t>&lt;/</a:t>
            </a:r>
            <a:r>
              <a:rPr lang="en-US" sz="2400" dirty="0" err="1"/>
              <a:t>artifactId</a:t>
            </a:r>
            <a:r>
              <a:rPr lang="en-US" sz="2400" dirty="0"/>
              <a:t>&gt;</a:t>
            </a:r>
          </a:p>
          <a:p>
            <a:r>
              <a:rPr lang="en-US" sz="2400" dirty="0"/>
              <a:t>    &lt;version&gt;4.12&lt;/version&gt;</a:t>
            </a:r>
          </a:p>
          <a:p>
            <a:r>
              <a:rPr lang="en-US" sz="2400" dirty="0"/>
              <a:t>&lt;/dependency&gt;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Gradle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2529993"/>
          </a:xfrm>
        </p:spPr>
        <p:txBody>
          <a:bodyPr>
            <a:normAutofit/>
          </a:bodyPr>
          <a:lstStyle/>
          <a:p>
            <a:r>
              <a:rPr lang="en-US" sz="2400" dirty="0"/>
              <a:t>apply plugin: 'java'</a:t>
            </a:r>
          </a:p>
          <a:p>
            <a:r>
              <a:rPr lang="en-US" sz="2400" dirty="0"/>
              <a:t>dependencies {</a:t>
            </a:r>
          </a:p>
          <a:p>
            <a:r>
              <a:rPr lang="en-US" sz="2400" dirty="0"/>
              <a:t>  </a:t>
            </a:r>
            <a:r>
              <a:rPr lang="en-US" sz="2400" dirty="0" err="1"/>
              <a:t>testImplementation</a:t>
            </a:r>
            <a:r>
              <a:rPr lang="en-US" sz="2400" dirty="0"/>
              <a:t> 'junit:junit:4.12'</a:t>
            </a:r>
          </a:p>
          <a:p>
            <a:r>
              <a:rPr lang="en-US" sz="2400" dirty="0"/>
              <a:t>}</a:t>
            </a:r>
          </a:p>
        </p:txBody>
      </p:sp>
      <p:sp>
        <p:nvSpPr>
          <p:cNvPr id="13" name="Content Placeholder 8"/>
          <p:cNvSpPr txBox="1">
            <a:spLocks/>
          </p:cNvSpPr>
          <p:nvPr/>
        </p:nvSpPr>
        <p:spPr>
          <a:xfrm>
            <a:off x="1097280" y="5472544"/>
            <a:ext cx="10058399" cy="69272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IntelliJ, Eclipse, Net Beans, all of these IDE’s have JUnit plugin built-in.</a:t>
            </a:r>
          </a:p>
        </p:txBody>
      </p:sp>
    </p:spTree>
    <p:extLst>
      <p:ext uri="{BB962C8B-B14F-4D97-AF65-F5344CB8AC3E}">
        <p14:creationId xmlns:p14="http://schemas.microsoft.com/office/powerpoint/2010/main" val="600481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339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Fork the project on GitHub in your own repository: </a:t>
            </a:r>
            <a:r>
              <a:rPr lang="en-US" sz="2800" dirty="0">
                <a:hlinkClick r:id="rId2"/>
              </a:rPr>
              <a:t>seekme94/unit-testing-workshop (github.com)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Check out your forked project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Import the project in your Java IDE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Run </a:t>
            </a:r>
            <a:r>
              <a:rPr lang="en-US" sz="2800" dirty="0" err="1">
                <a:latin typeface="Consolas" panose="020B0609020204030204" pitchFamily="49" charset="0"/>
              </a:rPr>
              <a:t>HelloUnitTest</a:t>
            </a:r>
            <a:r>
              <a:rPr lang="en-US" sz="2800" dirty="0"/>
              <a:t> class as </a:t>
            </a:r>
            <a:r>
              <a:rPr lang="en-US" sz="2800" dirty="0">
                <a:latin typeface="Consolas" panose="020B0609020204030204" pitchFamily="49" charset="0"/>
              </a:rPr>
              <a:t>Junit Test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Explore the </a:t>
            </a:r>
            <a:r>
              <a:rPr lang="en-US" sz="2800" dirty="0" err="1">
                <a:latin typeface="Consolas" panose="020B0609020204030204" pitchFamily="49" charset="0"/>
              </a:rPr>
              <a:t>DateTimeUtil</a:t>
            </a:r>
            <a:r>
              <a:rPr lang="en-US" sz="2800" dirty="0"/>
              <a:t> class; have a look at the way of testing the utility via main method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Now run the </a:t>
            </a:r>
            <a:r>
              <a:rPr lang="en-US" sz="2800" dirty="0" err="1">
                <a:latin typeface="Consolas" panose="020B0609020204030204" pitchFamily="49" charset="0"/>
              </a:rPr>
              <a:t>DateTimeUtilTest</a:t>
            </a:r>
            <a:r>
              <a:rPr lang="en-US" sz="2800" dirty="0"/>
              <a:t> class as </a:t>
            </a:r>
            <a:r>
              <a:rPr lang="en-US" sz="2800" dirty="0">
                <a:latin typeface="Consolas" panose="020B0609020204030204" pitchFamily="49" charset="0"/>
              </a:rPr>
              <a:t>Junit Test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6118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Test-driven Development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TDD revolves around one simple concept, i.e. to write test before the real code.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For new features, create stub code and write test cases first.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For changes, write test case to test the specific change first.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For bug fixes, recreate the bug in a new test case before fixing it.</a:t>
            </a:r>
          </a:p>
        </p:txBody>
      </p:sp>
      <p:pic>
        <p:nvPicPr>
          <p:cNvPr id="2050" name="Picture 2" descr="Image result for test driven development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190750"/>
            <a:ext cx="36576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31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SemVer</a:t>
            </a:r>
            <a:r>
              <a:rPr lang="en-US" dirty="0"/>
              <a:t>: A case for TDD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31878"/>
            <a:ext cx="10058400" cy="4333393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Semantic versioning [https://semver.org] is most widely used scheme of incremental versioning.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We define a version in the following manners: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2600" dirty="0"/>
              <a:t>Pre-alpha (Dev): 0.0.#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2600" dirty="0"/>
              <a:t>Alpha (for Q/A): 0.#.#-alpha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2600" dirty="0"/>
              <a:t>Beta (for Q/A plus client): [last successful alpha version] -beta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2600" dirty="0"/>
              <a:t>First release: 1.0.0</a:t>
            </a:r>
          </a:p>
          <a:p>
            <a:pPr marL="749808" lvl="1" indent="-457200">
              <a:buFont typeface="Wingdings" panose="05000000000000000000" pitchFamily="2" charset="2"/>
              <a:buChar char="§"/>
            </a:pPr>
            <a:r>
              <a:rPr lang="en-US" sz="2600" dirty="0"/>
              <a:t>Following releases: [MAJOR].[Minor].[micro]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Let’s write a </a:t>
            </a:r>
            <a:r>
              <a:rPr lang="en-US" sz="2800" dirty="0" err="1"/>
              <a:t>SemVerUtil</a:t>
            </a:r>
            <a:r>
              <a:rPr lang="en-US" sz="2800" dirty="0"/>
              <a:t> class in TDD way. Check the code stub for </a:t>
            </a:r>
            <a:r>
              <a:rPr lang="en-US" sz="2800" dirty="0" err="1"/>
              <a:t>SemVerUtilTest</a:t>
            </a:r>
            <a:r>
              <a:rPr lang="en-US" sz="2800" dirty="0"/>
              <a:t> class.</a:t>
            </a:r>
          </a:p>
        </p:txBody>
      </p:sp>
    </p:spTree>
    <p:extLst>
      <p:ext uri="{BB962C8B-B14F-4D97-AF65-F5344CB8AC3E}">
        <p14:creationId xmlns:p14="http://schemas.microsoft.com/office/powerpoint/2010/main" val="3417324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31878"/>
            <a:ext cx="10058400" cy="4333393"/>
          </a:xfrm>
        </p:spPr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There should be at least one </a:t>
            </a:r>
            <a:r>
              <a:rPr lang="en-US" sz="2800" i="1" dirty="0"/>
              <a:t>test</a:t>
            </a:r>
            <a:r>
              <a:rPr lang="en-US" sz="2800" dirty="0"/>
              <a:t> against every </a:t>
            </a:r>
            <a:r>
              <a:rPr lang="en-US" sz="2800" i="1" dirty="0"/>
              <a:t>case.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There should ideally be single assert statement inside a test. A test will fail on first failed assertion, so no use of multiple asserts.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Expected Exceptions should be thrown (think how amusing it would be to fail a test in </a:t>
            </a:r>
            <a:r>
              <a:rPr lang="en-US" sz="2800" i="1" dirty="0"/>
              <a:t>try</a:t>
            </a:r>
            <a:r>
              <a:rPr lang="en-US" sz="2800" dirty="0"/>
              <a:t> and passing in </a:t>
            </a:r>
            <a:r>
              <a:rPr lang="en-US" sz="2800" i="1" dirty="0"/>
              <a:t>catch</a:t>
            </a:r>
            <a:r>
              <a:rPr lang="en-US" sz="2800" dirty="0"/>
              <a:t> block).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100% test coverage is a dilemma. Testing innocent constructors, getters/setters, overloaded wrapping methods, are a waste.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Test suite should be created for your own ease, not for the build management tool.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While writing test cases, focus only on testing, leave // TODO’s in the code or Tasks in IDE to make code amendments after test cases have all been written.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Test cases should not assume that any function in the actual code are </a:t>
            </a:r>
            <a:r>
              <a:rPr lang="en-US" sz="2800"/>
              <a:t>correct.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3200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3339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Complete the test cases for from/to SQL date methods in </a:t>
            </a:r>
            <a:r>
              <a:rPr lang="en-US" sz="2800" dirty="0" err="1">
                <a:latin typeface="Consolas" panose="020B0609020204030204" pitchFamily="49" charset="0"/>
              </a:rPr>
              <a:t>DateTimeUtilTest</a:t>
            </a:r>
            <a:endParaRPr lang="en-US" sz="2800" dirty="0"/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Some tests are failing in this class. Find and fix the bug in </a:t>
            </a:r>
            <a:r>
              <a:rPr lang="en-US" sz="2800" dirty="0" err="1">
                <a:latin typeface="Consolas" panose="020B0609020204030204" pitchFamily="49" charset="0"/>
              </a:rPr>
              <a:t>DateTimeUtil</a:t>
            </a:r>
            <a:r>
              <a:rPr lang="en-US" sz="2800" dirty="0">
                <a:latin typeface="Consolas" panose="020B0609020204030204" pitchFamily="49" charset="0"/>
              </a:rPr>
              <a:t> </a:t>
            </a:r>
            <a:r>
              <a:rPr lang="en-US" sz="2800" dirty="0"/>
              <a:t>class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Commit your code on </a:t>
            </a:r>
            <a:r>
              <a:rPr lang="en-US" sz="2800" dirty="0" err="1"/>
              <a:t>GitLab</a:t>
            </a:r>
            <a:r>
              <a:rPr lang="en-US" sz="2800" dirty="0"/>
              <a:t> (forked project)</a:t>
            </a:r>
          </a:p>
        </p:txBody>
      </p:sp>
    </p:spTree>
    <p:extLst>
      <p:ext uri="{BB962C8B-B14F-4D97-AF65-F5344CB8AC3E}">
        <p14:creationId xmlns:p14="http://schemas.microsoft.com/office/powerpoint/2010/main" val="1465604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</a:t>
            </a:r>
            <a:r>
              <a:rPr lang="en-US"/>
              <a:t>test suite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4423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Creating Test suite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Test coverage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Integration test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MVC Framework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2600" dirty="0"/>
              <a:t>Repository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2600" dirty="0"/>
              <a:t>Service</a:t>
            </a:r>
          </a:p>
          <a:p>
            <a:pPr marL="749808" lvl="1" indent="-457200">
              <a:buFont typeface="+mj-lt"/>
              <a:buAutoNum type="arabicPeriod"/>
            </a:pPr>
            <a:r>
              <a:rPr lang="en-US" sz="2600" dirty="0"/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218983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2115</TotalTime>
  <Words>1080</Words>
  <Application>Microsoft Macintosh PowerPoint</Application>
  <PresentationFormat>Widescreen</PresentationFormat>
  <Paragraphs>142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</vt:lpstr>
      <vt:lpstr>Calibri Light</vt:lpstr>
      <vt:lpstr>Consolas</vt:lpstr>
      <vt:lpstr>Wingdings</vt:lpstr>
      <vt:lpstr>Retrospect</vt:lpstr>
      <vt:lpstr>Introduction to Unit Testing</vt:lpstr>
      <vt:lpstr>Outlines</vt:lpstr>
      <vt:lpstr>What?</vt:lpstr>
      <vt:lpstr>Why?</vt:lpstr>
      <vt:lpstr>Who?</vt:lpstr>
      <vt:lpstr>Some Terms to Remember</vt:lpstr>
      <vt:lpstr>Unit Testing in Agile Programming</vt:lpstr>
      <vt:lpstr>JUnit</vt:lpstr>
      <vt:lpstr>JUnit Annotations</vt:lpstr>
      <vt:lpstr>Assertion</vt:lpstr>
      <vt:lpstr>Naming Convention</vt:lpstr>
      <vt:lpstr>Junit Installation</vt:lpstr>
      <vt:lpstr>Hands on…</vt:lpstr>
      <vt:lpstr>Test-driven Development</vt:lpstr>
      <vt:lpstr>SemVer: A case for TDD</vt:lpstr>
      <vt:lpstr>Checklist</vt:lpstr>
      <vt:lpstr>Exercise 1</vt:lpstr>
      <vt:lpstr>End-to-end test suite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Integration / Continuous Delivery</dc:title>
  <dc:creator>Owais Ahmed</dc:creator>
  <cp:lastModifiedBy>Owais Ahmed</cp:lastModifiedBy>
  <cp:revision>208</cp:revision>
  <dcterms:created xsi:type="dcterms:W3CDTF">2018-05-22T08:02:04Z</dcterms:created>
  <dcterms:modified xsi:type="dcterms:W3CDTF">2024-06-07T06:55:45Z</dcterms:modified>
</cp:coreProperties>
</file>