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448" r:id="rId5"/>
    <p:sldId id="2462" r:id="rId6"/>
    <p:sldId id="2512" r:id="rId7"/>
    <p:sldId id="2513" r:id="rId8"/>
    <p:sldId id="2515" r:id="rId9"/>
    <p:sldId id="2517" r:id="rId10"/>
    <p:sldId id="2518" r:id="rId11"/>
    <p:sldId id="2520" r:id="rId12"/>
    <p:sldId id="2522" r:id="rId13"/>
    <p:sldId id="2524" r:id="rId14"/>
    <p:sldId id="2527" r:id="rId15"/>
    <p:sldId id="2528" r:id="rId16"/>
    <p:sldId id="2529" r:id="rId17"/>
    <p:sldId id="2530" r:id="rId18"/>
    <p:sldId id="2532" r:id="rId19"/>
    <p:sldId id="2531" r:id="rId20"/>
    <p:sldId id="2534" r:id="rId21"/>
    <p:sldId id="2536" r:id="rId22"/>
    <p:sldId id="2533" r:id="rId23"/>
    <p:sldId id="2538" r:id="rId24"/>
    <p:sldId id="2539" r:id="rId25"/>
    <p:sldId id="243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12"/>
            <p14:sldId id="2513"/>
            <p14:sldId id="2515"/>
            <p14:sldId id="2517"/>
            <p14:sldId id="2518"/>
            <p14:sldId id="2520"/>
            <p14:sldId id="2522"/>
            <p14:sldId id="2524"/>
            <p14:sldId id="2527"/>
            <p14:sldId id="2528"/>
            <p14:sldId id="2529"/>
            <p14:sldId id="2530"/>
            <p14:sldId id="2532"/>
            <p14:sldId id="2531"/>
            <p14:sldId id="2534"/>
            <p14:sldId id="2536"/>
            <p14:sldId id="2533"/>
            <p14:sldId id="2538"/>
            <p14:sldId id="2539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3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840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4/14/2023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Most significant bit is the bit of highest value: Left-most True bit</a:t>
            </a:r>
          </a:p>
          <a:p>
            <a:pPr marL="228600" indent="-228600">
              <a:buAutoNum type="arabicPeriod"/>
            </a:pPr>
            <a:r>
              <a:rPr lang="en-US" dirty="0"/>
              <a:t>Least significant bit is the bit of lowest value: Right-most True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72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Most significant bit is the bit of highest value: Left-most True bit</a:t>
            </a:r>
          </a:p>
          <a:p>
            <a:pPr marL="228600" indent="-228600">
              <a:buAutoNum type="arabicPeriod"/>
            </a:pPr>
            <a:r>
              <a:rPr lang="en-US" dirty="0"/>
              <a:t>Least significant bit is the bit of lowest value: Right-most True bit</a:t>
            </a:r>
          </a:p>
          <a:p>
            <a:pPr marL="228600" indent="-228600">
              <a:buAutoNum type="arabicPeriod"/>
            </a:pPr>
            <a:r>
              <a:rPr lang="en-US" dirty="0"/>
              <a:t>Introduce the concept of cross-pairing in K-map for XOR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089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rtl="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33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777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Think of the operation to be like performing addition twice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903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946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898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618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Think of the operation to be like performing addition twice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265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sz="1200" b="0" dirty="0"/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sz="1200" b="0" i="0">
                    <a:latin typeface="Cambria Math" panose="02040503050406030204" pitchFamily="18" charset="0"/>
                  </a:rPr>
                  <a:t>𝐷=(</a:t>
                </a:r>
                <a:r>
                  <a:rPr lang="en-US" sz="1200" i="0">
                    <a:latin typeface="Cambria Math" panose="02040503050406030204" pitchFamily="18" charset="0"/>
                  </a:rPr>
                  <a:t>𝐴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⨁</a:t>
                </a:r>
                <a:r>
                  <a:rPr lang="en-US" sz="1200" i="0">
                    <a:latin typeface="Cambria Math" panose="02040503050406030204" pitchFamily="18" charset="0"/>
                  </a:rPr>
                  <a:t>𝐵</a:t>
                </a:r>
                <a:r>
                  <a:rPr lang="en-US" sz="1200" b="0" i="0">
                    <a:latin typeface="Cambria Math" panose="02040503050406030204" pitchFamily="18" charset="0"/>
                  </a:rPr>
                  <a:t>)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⨁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𝐵_𝑖𝑛</a:t>
                </a:r>
                <a:endParaRPr lang="en-US" sz="1200" b="0" dirty="0"/>
              </a:p>
              <a:p>
                <a:pPr marL="228600" indent="-228600">
                  <a:buAutoNum type="arabicPeriod"/>
                </a:pPr>
                <a:r>
                  <a:rPr lang="en-US" sz="1200" b="0" i="0">
                    <a:latin typeface="Cambria Math" panose="02040503050406030204" pitchFamily="18" charset="0"/>
                  </a:rPr>
                  <a:t>𝐵_𝑜𝑢𝑡=(</a:t>
                </a:r>
                <a:r>
                  <a:rPr lang="en-US" sz="1200" i="0">
                    <a:latin typeface="Cambria Math" panose="02040503050406030204" pitchFamily="18" charset="0"/>
                  </a:rPr>
                  <a:t>𝐴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⨁</a:t>
                </a:r>
                <a:r>
                  <a:rPr lang="en-US" sz="1200" i="0">
                    <a:latin typeface="Cambria Math" panose="02040503050406030204" pitchFamily="18" charset="0"/>
                  </a:rPr>
                  <a:t>𝐵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𝐵_𝑖𝑛+¯𝐴 𝐵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22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995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Tip! The first one can also be a Half Adder because there will never be a Carry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308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Tip! The first one can also be a Half Adder because there will never be a Carry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92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48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866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14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623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631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41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microsoft.com/office/2007/relationships/hdphoto" Target="../media/hdphoto1.wdp"/><Relationship Id="rId7" Type="http://schemas.openxmlformats.org/officeDocument/2006/relationships/image" Target="../media/image4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r>
              <a:rPr lang="en-US" dirty="0"/>
              <a:t>Half Adders/Subtractors</a:t>
            </a:r>
          </a:p>
          <a:p>
            <a:r>
              <a:rPr lang="en-US" dirty="0"/>
              <a:t>Full Adders/Subtractors</a:t>
            </a:r>
          </a:p>
          <a:p>
            <a:r>
              <a:rPr lang="en-US" dirty="0"/>
              <a:t>Parallel Binary Adders</a:t>
            </a:r>
          </a:p>
          <a:p>
            <a:r>
              <a:rPr lang="en-US" dirty="0"/>
              <a:t>Multipliers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Half Adder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9027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digital logic circuit designed to perform binary addition between two single bit inputs.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Inputs: A and B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Outputs: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SUM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3200" dirty="0"/>
                  <a:t>) is the least significant bit of the result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CARRY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the most significant bit</a:t>
                </a:r>
                <a:r>
                  <a:rPr lang="en-US" sz="2800" dirty="0"/>
                  <a:t> of the result</a:t>
                </a: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902778"/>
              </a:xfrm>
              <a:prstGeom prst="rect">
                <a:avLst/>
              </a:prstGeom>
              <a:blipFill>
                <a:blip r:embed="rId3"/>
                <a:stretch>
                  <a:fillRect l="-1090" t="-5451" r="-1505" b="-41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5">
            <a:extLst>
              <a:ext uri="{FF2B5EF4-FFF2-40B4-BE49-F238E27FC236}">
                <a16:creationId xmlns:a16="http://schemas.microsoft.com/office/drawing/2014/main" id="{F2F1FB78-5617-9266-1D2B-69CEA6FEA284}"/>
              </a:ext>
            </a:extLst>
          </p:cNvPr>
          <p:cNvSpPr/>
          <p:nvPr/>
        </p:nvSpPr>
        <p:spPr>
          <a:xfrm>
            <a:off x="1452397" y="4596354"/>
            <a:ext cx="5307615" cy="17295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D3F95D7-CA5A-8702-C824-99EE5DC9C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092369"/>
                  </p:ext>
                </p:extLst>
              </p:nvPr>
            </p:nvGraphicFramePr>
            <p:xfrm>
              <a:off x="7350233" y="4534052"/>
              <a:ext cx="448183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6635">
                      <a:extLst>
                        <a:ext uri="{9D8B030D-6E8A-4147-A177-3AD203B41FA5}">
                          <a16:colId xmlns:a16="http://schemas.microsoft.com/office/drawing/2014/main" val="2073620368"/>
                        </a:ext>
                      </a:extLst>
                    </a:gridCol>
                    <a:gridCol w="1805195">
                      <a:extLst>
                        <a:ext uri="{9D8B030D-6E8A-4147-A177-3AD203B41FA5}">
                          <a16:colId xmlns:a16="http://schemas.microsoft.com/office/drawing/2014/main" val="41629376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0832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0+0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890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0+1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86265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88722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8485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D3F95D7-CA5A-8702-C824-99EE5DC9C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092369"/>
                  </p:ext>
                </p:extLst>
              </p:nvPr>
            </p:nvGraphicFramePr>
            <p:xfrm>
              <a:off x="7350233" y="4534052"/>
              <a:ext cx="448183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6635">
                      <a:extLst>
                        <a:ext uri="{9D8B030D-6E8A-4147-A177-3AD203B41FA5}">
                          <a16:colId xmlns:a16="http://schemas.microsoft.com/office/drawing/2014/main" val="2073620368"/>
                        </a:ext>
                      </a:extLst>
                    </a:gridCol>
                    <a:gridCol w="1805195">
                      <a:extLst>
                        <a:ext uri="{9D8B030D-6E8A-4147-A177-3AD203B41FA5}">
                          <a16:colId xmlns:a16="http://schemas.microsoft.com/office/drawing/2014/main" val="41629376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0832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" t="-108197" r="-6840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986" t="-108197" r="-1689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890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" t="-208197" r="-6840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986" t="-208197" r="-1689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86265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" t="-308197" r="-6840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986" t="-308197" r="-1689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88722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" t="-408197" r="-6840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986" t="-408197" r="-1689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84857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76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Half Adder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400" dirty="0"/>
                  <a:t>Steps: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Construct the Truth table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User Karnaugh map or equivalent method to find out minimal SOP equation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Design logic diagram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/>
                  <a:t>Exercise: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Add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Add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490" t="-2466" r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5">
            <a:extLst>
              <a:ext uri="{FF2B5EF4-FFF2-40B4-BE49-F238E27FC236}">
                <a16:creationId xmlns:a16="http://schemas.microsoft.com/office/drawing/2014/main" id="{F84B57E9-B55A-59B8-7592-11F124F7CC37}"/>
              </a:ext>
            </a:extLst>
          </p:cNvPr>
          <p:cNvSpPr/>
          <p:nvPr/>
        </p:nvSpPr>
        <p:spPr>
          <a:xfrm>
            <a:off x="7392960" y="1613022"/>
            <a:ext cx="4570440" cy="27487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9DCFFF1-0007-E464-AE5C-E94336898A14}"/>
              </a:ext>
            </a:extLst>
          </p:cNvPr>
          <p:cNvSpPr/>
          <p:nvPr/>
        </p:nvSpPr>
        <p:spPr>
          <a:xfrm>
            <a:off x="7849165" y="4504561"/>
            <a:ext cx="3659663" cy="17829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447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Half Subtractor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9027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digital logic circuit designed to calculate difference between two single bit inputs.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Inputs: A and B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Outputs: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DIFFERENCE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sz="3200" dirty="0"/>
                  <a:t>) the difference between the bits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BORROW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3000" dirty="0"/>
                  <a:t>) tells if borrow bit was necessary during subtraction?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902778"/>
              </a:xfrm>
              <a:prstGeom prst="rect">
                <a:avLst/>
              </a:prstGeom>
              <a:blipFill>
                <a:blip r:embed="rId3"/>
                <a:stretch>
                  <a:fillRect l="-1090" t="-5451" b="-41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5">
            <a:extLst>
              <a:ext uri="{FF2B5EF4-FFF2-40B4-BE49-F238E27FC236}">
                <a16:creationId xmlns:a16="http://schemas.microsoft.com/office/drawing/2014/main" id="{78F43F92-6ACE-775A-ED87-60AB48EDD9B8}"/>
              </a:ext>
            </a:extLst>
          </p:cNvPr>
          <p:cNvSpPr/>
          <p:nvPr/>
        </p:nvSpPr>
        <p:spPr>
          <a:xfrm>
            <a:off x="1706013" y="4382736"/>
            <a:ext cx="3130734" cy="19432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D20AD831-EEE3-6C3B-A87B-55C96B2201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18249"/>
                  </p:ext>
                </p:extLst>
              </p:nvPr>
            </p:nvGraphicFramePr>
            <p:xfrm>
              <a:off x="7355255" y="4382736"/>
              <a:ext cx="448183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6635">
                      <a:extLst>
                        <a:ext uri="{9D8B030D-6E8A-4147-A177-3AD203B41FA5}">
                          <a16:colId xmlns:a16="http://schemas.microsoft.com/office/drawing/2014/main" val="2073620368"/>
                        </a:ext>
                      </a:extLst>
                    </a:gridCol>
                    <a:gridCol w="1805195">
                      <a:extLst>
                        <a:ext uri="{9D8B030D-6E8A-4147-A177-3AD203B41FA5}">
                          <a16:colId xmlns:a16="http://schemas.microsoft.com/office/drawing/2014/main" val="41629376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0832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890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86265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1,1 (1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𝑏𝑜𝑟𝑟𝑜𝑤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1)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88722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8485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D20AD831-EEE3-6C3B-A87B-55C96B2201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218249"/>
                  </p:ext>
                </p:extLst>
              </p:nvPr>
            </p:nvGraphicFramePr>
            <p:xfrm>
              <a:off x="7355255" y="4382736"/>
              <a:ext cx="448183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6635">
                      <a:extLst>
                        <a:ext uri="{9D8B030D-6E8A-4147-A177-3AD203B41FA5}">
                          <a16:colId xmlns:a16="http://schemas.microsoft.com/office/drawing/2014/main" val="2073620368"/>
                        </a:ext>
                      </a:extLst>
                    </a:gridCol>
                    <a:gridCol w="1805195">
                      <a:extLst>
                        <a:ext uri="{9D8B030D-6E8A-4147-A177-3AD203B41FA5}">
                          <a16:colId xmlns:a16="http://schemas.microsoft.com/office/drawing/2014/main" val="41629376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Out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08320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" t="-108197" r="-68182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986" t="-108197" r="-1351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890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" t="-204839" r="-6818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986" t="-204839" r="-135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86265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" t="-309836" r="-6818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986" t="-309836" r="-1351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88722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" t="-409836" r="-6818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8986" t="-409836" r="-1351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84857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67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Half Subtractor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400" dirty="0"/>
                  <a:t>Steps: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Construct the Truth table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User Karnaugh map or equivalent method to find out minimal SOP equation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Design logic diagram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/>
                  <a:t>Exercise: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Subtract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Subtract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490" t="-2466" r="-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>
            <a:extLst>
              <a:ext uri="{FF2B5EF4-FFF2-40B4-BE49-F238E27FC236}">
                <a16:creationId xmlns:a16="http://schemas.microsoft.com/office/drawing/2014/main" id="{BD1539BA-CD47-C29A-BDF5-EE7234035BA1}"/>
              </a:ext>
            </a:extLst>
          </p:cNvPr>
          <p:cNvSpPr/>
          <p:nvPr/>
        </p:nvSpPr>
        <p:spPr>
          <a:xfrm>
            <a:off x="7849166" y="1449384"/>
            <a:ext cx="3659662" cy="2624322"/>
          </a:xfrm>
          <a:prstGeom prst="rect">
            <a:avLst/>
          </a:prstGeom>
          <a:blipFill>
            <a:blip r:embed="rId4" cstate="print"/>
            <a:stretch>
              <a:fillRect t="-17664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E4A38A7F-9164-01D5-2A0B-FAA3F4099757}"/>
              </a:ext>
            </a:extLst>
          </p:cNvPr>
          <p:cNvSpPr/>
          <p:nvPr/>
        </p:nvSpPr>
        <p:spPr>
          <a:xfrm>
            <a:off x="7933423" y="4073706"/>
            <a:ext cx="3607999" cy="24017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057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Full Adder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9027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digital logic circuit designed to perform binary addition between two single bit inputs and a carry bit.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Inputs: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40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Outputs: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SUM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3200" dirty="0"/>
                  <a:t>) is the least significant bit of the result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CARRY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the most significant bit</a:t>
                </a:r>
                <a:r>
                  <a:rPr lang="en-US" sz="2800" dirty="0"/>
                  <a:t> of the result</a:t>
                </a: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902778"/>
              </a:xfrm>
              <a:prstGeom prst="rect">
                <a:avLst/>
              </a:prstGeom>
              <a:blipFill>
                <a:blip r:embed="rId3"/>
                <a:stretch>
                  <a:fillRect l="-1090" t="-5451" r="-1505" b="-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>
            <a:extLst>
              <a:ext uri="{FF2B5EF4-FFF2-40B4-BE49-F238E27FC236}">
                <a16:creationId xmlns:a16="http://schemas.microsoft.com/office/drawing/2014/main" id="{8FB627B4-1A2E-E4CE-3835-581BA84AFD5A}"/>
              </a:ext>
            </a:extLst>
          </p:cNvPr>
          <p:cNvSpPr/>
          <p:nvPr/>
        </p:nvSpPr>
        <p:spPr>
          <a:xfrm>
            <a:off x="1556228" y="4435364"/>
            <a:ext cx="4920759" cy="18541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53B062-995D-B961-B6E8-E22BC2BCE880}"/>
              </a:ext>
            </a:extLst>
          </p:cNvPr>
          <p:cNvGrpSpPr/>
          <p:nvPr/>
        </p:nvGrpSpPr>
        <p:grpSpPr>
          <a:xfrm>
            <a:off x="8645779" y="3607286"/>
            <a:ext cx="3317621" cy="2663443"/>
            <a:chOff x="5232653" y="3145917"/>
            <a:chExt cx="3317621" cy="2663443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E001207-DE76-462F-A679-0544A26968BA}"/>
                </a:ext>
              </a:extLst>
            </p:cNvPr>
            <p:cNvSpPr/>
            <p:nvPr/>
          </p:nvSpPr>
          <p:spPr>
            <a:xfrm>
              <a:off x="5715000" y="3263900"/>
              <a:ext cx="381000" cy="12382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14DD749A-2170-7B98-5521-1B1ECAA65C04}"/>
                </a:ext>
              </a:extLst>
            </p:cNvPr>
            <p:cNvSpPr/>
            <p:nvPr/>
          </p:nvSpPr>
          <p:spPr>
            <a:xfrm>
              <a:off x="6324600" y="3217672"/>
              <a:ext cx="533400" cy="118110"/>
            </a:xfrm>
            <a:custGeom>
              <a:avLst/>
              <a:gdLst/>
              <a:ahLst/>
              <a:cxnLst/>
              <a:rect l="l" t="t" r="r" b="b"/>
              <a:pathLst>
                <a:path w="533400" h="118110">
                  <a:moveTo>
                    <a:pt x="483180" y="58927"/>
                  </a:moveTo>
                  <a:lnTo>
                    <a:pt x="425703" y="92455"/>
                  </a:lnTo>
                  <a:lnTo>
                    <a:pt x="419607" y="95885"/>
                  </a:lnTo>
                  <a:lnTo>
                    <a:pt x="417575" y="103758"/>
                  </a:lnTo>
                  <a:lnTo>
                    <a:pt x="421131" y="109727"/>
                  </a:lnTo>
                  <a:lnTo>
                    <a:pt x="424560" y="115824"/>
                  </a:lnTo>
                  <a:lnTo>
                    <a:pt x="432434" y="117855"/>
                  </a:lnTo>
                  <a:lnTo>
                    <a:pt x="438403" y="114300"/>
                  </a:lnTo>
                  <a:lnTo>
                    <a:pt x="511611" y="71627"/>
                  </a:lnTo>
                  <a:lnTo>
                    <a:pt x="508253" y="71627"/>
                  </a:lnTo>
                  <a:lnTo>
                    <a:pt x="508253" y="69850"/>
                  </a:lnTo>
                  <a:lnTo>
                    <a:pt x="501903" y="69850"/>
                  </a:lnTo>
                  <a:lnTo>
                    <a:pt x="483180" y="58927"/>
                  </a:lnTo>
                  <a:close/>
                </a:path>
                <a:path w="533400" h="118110">
                  <a:moveTo>
                    <a:pt x="461409" y="46227"/>
                  </a:moveTo>
                  <a:lnTo>
                    <a:pt x="0" y="46227"/>
                  </a:lnTo>
                  <a:lnTo>
                    <a:pt x="0" y="71627"/>
                  </a:lnTo>
                  <a:lnTo>
                    <a:pt x="461409" y="71627"/>
                  </a:lnTo>
                  <a:lnTo>
                    <a:pt x="483180" y="58927"/>
                  </a:lnTo>
                  <a:lnTo>
                    <a:pt x="461409" y="46227"/>
                  </a:lnTo>
                  <a:close/>
                </a:path>
                <a:path w="533400" h="118110">
                  <a:moveTo>
                    <a:pt x="511611" y="46227"/>
                  </a:moveTo>
                  <a:lnTo>
                    <a:pt x="508253" y="46227"/>
                  </a:lnTo>
                  <a:lnTo>
                    <a:pt x="508253" y="71627"/>
                  </a:lnTo>
                  <a:lnTo>
                    <a:pt x="511611" y="71627"/>
                  </a:lnTo>
                  <a:lnTo>
                    <a:pt x="533400" y="58927"/>
                  </a:lnTo>
                  <a:lnTo>
                    <a:pt x="511611" y="46227"/>
                  </a:lnTo>
                  <a:close/>
                </a:path>
                <a:path w="533400" h="118110">
                  <a:moveTo>
                    <a:pt x="501903" y="48005"/>
                  </a:moveTo>
                  <a:lnTo>
                    <a:pt x="483180" y="58927"/>
                  </a:lnTo>
                  <a:lnTo>
                    <a:pt x="501903" y="69850"/>
                  </a:lnTo>
                  <a:lnTo>
                    <a:pt x="501903" y="48005"/>
                  </a:lnTo>
                  <a:close/>
                </a:path>
                <a:path w="533400" h="118110">
                  <a:moveTo>
                    <a:pt x="508253" y="48005"/>
                  </a:moveTo>
                  <a:lnTo>
                    <a:pt x="501903" y="48005"/>
                  </a:lnTo>
                  <a:lnTo>
                    <a:pt x="501903" y="69850"/>
                  </a:lnTo>
                  <a:lnTo>
                    <a:pt x="508253" y="69850"/>
                  </a:lnTo>
                  <a:lnTo>
                    <a:pt x="508253" y="48005"/>
                  </a:lnTo>
                  <a:close/>
                </a:path>
                <a:path w="533400" h="118110">
                  <a:moveTo>
                    <a:pt x="432434" y="0"/>
                  </a:moveTo>
                  <a:lnTo>
                    <a:pt x="424560" y="2031"/>
                  </a:lnTo>
                  <a:lnTo>
                    <a:pt x="421131" y="8127"/>
                  </a:lnTo>
                  <a:lnTo>
                    <a:pt x="417575" y="14097"/>
                  </a:lnTo>
                  <a:lnTo>
                    <a:pt x="419607" y="21970"/>
                  </a:lnTo>
                  <a:lnTo>
                    <a:pt x="425703" y="25400"/>
                  </a:lnTo>
                  <a:lnTo>
                    <a:pt x="483180" y="58927"/>
                  </a:lnTo>
                  <a:lnTo>
                    <a:pt x="501903" y="48005"/>
                  </a:lnTo>
                  <a:lnTo>
                    <a:pt x="508253" y="48005"/>
                  </a:lnTo>
                  <a:lnTo>
                    <a:pt x="508253" y="46227"/>
                  </a:lnTo>
                  <a:lnTo>
                    <a:pt x="511611" y="46227"/>
                  </a:lnTo>
                  <a:lnTo>
                    <a:pt x="438403" y="3555"/>
                  </a:lnTo>
                  <a:lnTo>
                    <a:pt x="432434" y="0"/>
                  </a:lnTo>
                  <a:close/>
                </a:path>
              </a:pathLst>
            </a:custGeom>
            <a:solidFill>
              <a:srgbClr val="FF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E3270842-E78F-1B07-FAF4-F5C9A4BE8B3E}"/>
                </a:ext>
              </a:extLst>
            </p:cNvPr>
            <p:cNvSpPr/>
            <p:nvPr/>
          </p:nvSpPr>
          <p:spPr>
            <a:xfrm>
              <a:off x="6446520" y="3708400"/>
              <a:ext cx="533400" cy="118110"/>
            </a:xfrm>
            <a:custGeom>
              <a:avLst/>
              <a:gdLst/>
              <a:ahLst/>
              <a:cxnLst/>
              <a:rect l="l" t="t" r="r" b="b"/>
              <a:pathLst>
                <a:path w="533400" h="118110">
                  <a:moveTo>
                    <a:pt x="483180" y="58927"/>
                  </a:moveTo>
                  <a:lnTo>
                    <a:pt x="419607" y="96012"/>
                  </a:lnTo>
                  <a:lnTo>
                    <a:pt x="417575" y="103758"/>
                  </a:lnTo>
                  <a:lnTo>
                    <a:pt x="421131" y="109727"/>
                  </a:lnTo>
                  <a:lnTo>
                    <a:pt x="424560" y="115824"/>
                  </a:lnTo>
                  <a:lnTo>
                    <a:pt x="432434" y="117856"/>
                  </a:lnTo>
                  <a:lnTo>
                    <a:pt x="438403" y="114300"/>
                  </a:lnTo>
                  <a:lnTo>
                    <a:pt x="511611" y="71627"/>
                  </a:lnTo>
                  <a:lnTo>
                    <a:pt x="508253" y="71627"/>
                  </a:lnTo>
                  <a:lnTo>
                    <a:pt x="508253" y="69850"/>
                  </a:lnTo>
                  <a:lnTo>
                    <a:pt x="501903" y="69850"/>
                  </a:lnTo>
                  <a:lnTo>
                    <a:pt x="483180" y="58927"/>
                  </a:lnTo>
                  <a:close/>
                </a:path>
                <a:path w="533400" h="118110">
                  <a:moveTo>
                    <a:pt x="461409" y="46227"/>
                  </a:moveTo>
                  <a:lnTo>
                    <a:pt x="0" y="46227"/>
                  </a:lnTo>
                  <a:lnTo>
                    <a:pt x="0" y="71627"/>
                  </a:lnTo>
                  <a:lnTo>
                    <a:pt x="461409" y="71627"/>
                  </a:lnTo>
                  <a:lnTo>
                    <a:pt x="483180" y="58927"/>
                  </a:lnTo>
                  <a:lnTo>
                    <a:pt x="461409" y="46227"/>
                  </a:lnTo>
                  <a:close/>
                </a:path>
                <a:path w="533400" h="118110">
                  <a:moveTo>
                    <a:pt x="511611" y="46227"/>
                  </a:moveTo>
                  <a:lnTo>
                    <a:pt x="508253" y="46227"/>
                  </a:lnTo>
                  <a:lnTo>
                    <a:pt x="508253" y="71627"/>
                  </a:lnTo>
                  <a:lnTo>
                    <a:pt x="511611" y="71627"/>
                  </a:lnTo>
                  <a:lnTo>
                    <a:pt x="533400" y="58927"/>
                  </a:lnTo>
                  <a:lnTo>
                    <a:pt x="511611" y="46227"/>
                  </a:lnTo>
                  <a:close/>
                </a:path>
                <a:path w="533400" h="118110">
                  <a:moveTo>
                    <a:pt x="501903" y="48006"/>
                  </a:moveTo>
                  <a:lnTo>
                    <a:pt x="483180" y="58927"/>
                  </a:lnTo>
                  <a:lnTo>
                    <a:pt x="501903" y="69850"/>
                  </a:lnTo>
                  <a:lnTo>
                    <a:pt x="501903" y="48006"/>
                  </a:lnTo>
                  <a:close/>
                </a:path>
                <a:path w="533400" h="118110">
                  <a:moveTo>
                    <a:pt x="508253" y="48006"/>
                  </a:moveTo>
                  <a:lnTo>
                    <a:pt x="501903" y="48006"/>
                  </a:lnTo>
                  <a:lnTo>
                    <a:pt x="501903" y="69850"/>
                  </a:lnTo>
                  <a:lnTo>
                    <a:pt x="508253" y="69850"/>
                  </a:lnTo>
                  <a:lnTo>
                    <a:pt x="508253" y="48006"/>
                  </a:lnTo>
                  <a:close/>
                </a:path>
                <a:path w="533400" h="118110">
                  <a:moveTo>
                    <a:pt x="432434" y="0"/>
                  </a:moveTo>
                  <a:lnTo>
                    <a:pt x="424560" y="2031"/>
                  </a:lnTo>
                  <a:lnTo>
                    <a:pt x="421131" y="8127"/>
                  </a:lnTo>
                  <a:lnTo>
                    <a:pt x="417575" y="14097"/>
                  </a:lnTo>
                  <a:lnTo>
                    <a:pt x="419607" y="21970"/>
                  </a:lnTo>
                  <a:lnTo>
                    <a:pt x="425703" y="25400"/>
                  </a:lnTo>
                  <a:lnTo>
                    <a:pt x="483180" y="58927"/>
                  </a:lnTo>
                  <a:lnTo>
                    <a:pt x="501903" y="48006"/>
                  </a:lnTo>
                  <a:lnTo>
                    <a:pt x="508253" y="48006"/>
                  </a:lnTo>
                  <a:lnTo>
                    <a:pt x="508253" y="46227"/>
                  </a:lnTo>
                  <a:lnTo>
                    <a:pt x="511611" y="46227"/>
                  </a:lnTo>
                  <a:lnTo>
                    <a:pt x="438403" y="3556"/>
                  </a:lnTo>
                  <a:lnTo>
                    <a:pt x="432434" y="0"/>
                  </a:lnTo>
                  <a:close/>
                </a:path>
              </a:pathLst>
            </a:custGeom>
            <a:solidFill>
              <a:srgbClr val="FF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C0009CC8-FF83-693C-0EC0-FF2C01D189B6}"/>
                </a:ext>
              </a:extLst>
            </p:cNvPr>
            <p:cNvSpPr txBox="1"/>
            <p:nvPr/>
          </p:nvSpPr>
          <p:spPr>
            <a:xfrm>
              <a:off x="7303769" y="3145917"/>
              <a:ext cx="1246505" cy="7010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7305">
                <a:lnSpc>
                  <a:spcPct val="100000"/>
                </a:lnSpc>
                <a:spcBef>
                  <a:spcPts val="95"/>
                </a:spcBef>
              </a:pPr>
              <a:r>
                <a:rPr sz="1600" spc="-55" dirty="0">
                  <a:latin typeface="Arial"/>
                  <a:cs typeface="Arial"/>
                </a:rPr>
                <a:t>Carry-input</a:t>
              </a:r>
              <a:r>
                <a:rPr sz="1600" spc="-140" dirty="0">
                  <a:latin typeface="Arial"/>
                  <a:cs typeface="Arial"/>
                </a:rPr>
                <a:t> </a:t>
              </a:r>
              <a:r>
                <a:rPr sz="1600" spc="-35" dirty="0">
                  <a:latin typeface="Arial"/>
                  <a:cs typeface="Arial"/>
                </a:rPr>
                <a:t>Bit</a:t>
              </a:r>
              <a:endParaRPr sz="1600">
                <a:latin typeface="Arial"/>
                <a:cs typeface="Arial"/>
              </a:endParaRPr>
            </a:p>
            <a:p>
              <a:pPr>
                <a:lnSpc>
                  <a:spcPct val="100000"/>
                </a:lnSpc>
                <a:spcBef>
                  <a:spcPts val="45"/>
                </a:spcBef>
              </a:pPr>
              <a:endParaRPr sz="125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</a:pPr>
              <a:r>
                <a:rPr sz="1600" spc="-55" dirty="0">
                  <a:latin typeface="Arial"/>
                  <a:cs typeface="Arial"/>
                </a:rPr>
                <a:t>Two-input</a:t>
              </a:r>
              <a:r>
                <a:rPr sz="1600" spc="-114" dirty="0">
                  <a:latin typeface="Arial"/>
                  <a:cs typeface="Arial"/>
                </a:rPr>
                <a:t> </a:t>
              </a:r>
              <a:r>
                <a:rPr sz="1600" spc="-70" dirty="0">
                  <a:latin typeface="Arial"/>
                  <a:cs typeface="Arial"/>
                </a:rPr>
                <a:t>Bits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A9F009F7-1FAB-7316-3C1A-8BEAF0A52582}"/>
                </a:ext>
              </a:extLst>
            </p:cNvPr>
            <p:cNvSpPr/>
            <p:nvPr/>
          </p:nvSpPr>
          <p:spPr>
            <a:xfrm>
              <a:off x="6248400" y="3429000"/>
              <a:ext cx="228600" cy="668655"/>
            </a:xfrm>
            <a:custGeom>
              <a:avLst/>
              <a:gdLst/>
              <a:ahLst/>
              <a:cxnLst/>
              <a:rect l="l" t="t" r="r" b="b"/>
              <a:pathLst>
                <a:path w="228600" h="668654">
                  <a:moveTo>
                    <a:pt x="0" y="0"/>
                  </a:moveTo>
                  <a:lnTo>
                    <a:pt x="44487" y="1494"/>
                  </a:lnTo>
                  <a:lnTo>
                    <a:pt x="80819" y="5572"/>
                  </a:lnTo>
                  <a:lnTo>
                    <a:pt x="105316" y="11626"/>
                  </a:lnTo>
                  <a:lnTo>
                    <a:pt x="114300" y="19050"/>
                  </a:lnTo>
                  <a:lnTo>
                    <a:pt x="114300" y="315087"/>
                  </a:lnTo>
                  <a:lnTo>
                    <a:pt x="123283" y="322510"/>
                  </a:lnTo>
                  <a:lnTo>
                    <a:pt x="147780" y="328564"/>
                  </a:lnTo>
                  <a:lnTo>
                    <a:pt x="184112" y="332642"/>
                  </a:lnTo>
                  <a:lnTo>
                    <a:pt x="228600" y="334137"/>
                  </a:lnTo>
                  <a:lnTo>
                    <a:pt x="184112" y="335649"/>
                  </a:lnTo>
                  <a:lnTo>
                    <a:pt x="147780" y="339756"/>
                  </a:lnTo>
                  <a:lnTo>
                    <a:pt x="123283" y="345817"/>
                  </a:lnTo>
                  <a:lnTo>
                    <a:pt x="114300" y="353187"/>
                  </a:lnTo>
                  <a:lnTo>
                    <a:pt x="114300" y="649351"/>
                  </a:lnTo>
                  <a:lnTo>
                    <a:pt x="105316" y="656774"/>
                  </a:lnTo>
                  <a:lnTo>
                    <a:pt x="80819" y="662828"/>
                  </a:lnTo>
                  <a:lnTo>
                    <a:pt x="44487" y="666906"/>
                  </a:lnTo>
                  <a:lnTo>
                    <a:pt x="0" y="668401"/>
                  </a:lnTo>
                </a:path>
              </a:pathLst>
            </a:custGeom>
            <a:ln w="25400">
              <a:solidFill>
                <a:srgbClr val="FF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D561EA89-19ED-5CFA-1D08-99943158B1A2}"/>
                </a:ext>
              </a:extLst>
            </p:cNvPr>
            <p:cNvSpPr/>
            <p:nvPr/>
          </p:nvSpPr>
          <p:spPr>
            <a:xfrm>
              <a:off x="5992367" y="4616450"/>
              <a:ext cx="380365" cy="336550"/>
            </a:xfrm>
            <a:custGeom>
              <a:avLst/>
              <a:gdLst/>
              <a:ahLst/>
              <a:cxnLst/>
              <a:rect l="l" t="t" r="r" b="b"/>
              <a:pathLst>
                <a:path w="380364" h="336550">
                  <a:moveTo>
                    <a:pt x="270002" y="289179"/>
                  </a:moveTo>
                  <a:lnTo>
                    <a:pt x="263271" y="293624"/>
                  </a:lnTo>
                  <a:lnTo>
                    <a:pt x="262001" y="300481"/>
                  </a:lnTo>
                  <a:lnTo>
                    <a:pt x="260604" y="307339"/>
                  </a:lnTo>
                  <a:lnTo>
                    <a:pt x="265049" y="314070"/>
                  </a:lnTo>
                  <a:lnTo>
                    <a:pt x="379857" y="336550"/>
                  </a:lnTo>
                  <a:lnTo>
                    <a:pt x="377494" y="329438"/>
                  </a:lnTo>
                  <a:lnTo>
                    <a:pt x="352552" y="329438"/>
                  </a:lnTo>
                  <a:lnTo>
                    <a:pt x="317270" y="298388"/>
                  </a:lnTo>
                  <a:lnTo>
                    <a:pt x="276860" y="290449"/>
                  </a:lnTo>
                  <a:lnTo>
                    <a:pt x="270002" y="289179"/>
                  </a:lnTo>
                  <a:close/>
                </a:path>
                <a:path w="380364" h="336550">
                  <a:moveTo>
                    <a:pt x="317270" y="298388"/>
                  </a:moveTo>
                  <a:lnTo>
                    <a:pt x="352552" y="329438"/>
                  </a:lnTo>
                  <a:lnTo>
                    <a:pt x="357357" y="323976"/>
                  </a:lnTo>
                  <a:lnTo>
                    <a:pt x="348869" y="323976"/>
                  </a:lnTo>
                  <a:lnTo>
                    <a:pt x="341978" y="303243"/>
                  </a:lnTo>
                  <a:lnTo>
                    <a:pt x="317270" y="298388"/>
                  </a:lnTo>
                  <a:close/>
                </a:path>
                <a:path w="380364" h="336550">
                  <a:moveTo>
                    <a:pt x="335788" y="221995"/>
                  </a:moveTo>
                  <a:lnTo>
                    <a:pt x="329184" y="224155"/>
                  </a:lnTo>
                  <a:lnTo>
                    <a:pt x="322453" y="226441"/>
                  </a:lnTo>
                  <a:lnTo>
                    <a:pt x="318897" y="233552"/>
                  </a:lnTo>
                  <a:lnTo>
                    <a:pt x="321056" y="240283"/>
                  </a:lnTo>
                  <a:lnTo>
                    <a:pt x="334028" y="279321"/>
                  </a:lnTo>
                  <a:lnTo>
                    <a:pt x="369316" y="310388"/>
                  </a:lnTo>
                  <a:lnTo>
                    <a:pt x="352552" y="329438"/>
                  </a:lnTo>
                  <a:lnTo>
                    <a:pt x="377494" y="329438"/>
                  </a:lnTo>
                  <a:lnTo>
                    <a:pt x="345186" y="232156"/>
                  </a:lnTo>
                  <a:lnTo>
                    <a:pt x="343027" y="225551"/>
                  </a:lnTo>
                  <a:lnTo>
                    <a:pt x="335788" y="221995"/>
                  </a:lnTo>
                  <a:close/>
                </a:path>
                <a:path w="380364" h="336550">
                  <a:moveTo>
                    <a:pt x="341978" y="303243"/>
                  </a:moveTo>
                  <a:lnTo>
                    <a:pt x="348869" y="323976"/>
                  </a:lnTo>
                  <a:lnTo>
                    <a:pt x="363474" y="307467"/>
                  </a:lnTo>
                  <a:lnTo>
                    <a:pt x="341978" y="303243"/>
                  </a:lnTo>
                  <a:close/>
                </a:path>
                <a:path w="380364" h="336550">
                  <a:moveTo>
                    <a:pt x="334028" y="279321"/>
                  </a:moveTo>
                  <a:lnTo>
                    <a:pt x="341978" y="303243"/>
                  </a:lnTo>
                  <a:lnTo>
                    <a:pt x="363474" y="307467"/>
                  </a:lnTo>
                  <a:lnTo>
                    <a:pt x="348869" y="323976"/>
                  </a:lnTo>
                  <a:lnTo>
                    <a:pt x="357357" y="323976"/>
                  </a:lnTo>
                  <a:lnTo>
                    <a:pt x="369316" y="310388"/>
                  </a:lnTo>
                  <a:lnTo>
                    <a:pt x="334028" y="279321"/>
                  </a:lnTo>
                  <a:close/>
                </a:path>
                <a:path w="380364" h="336550">
                  <a:moveTo>
                    <a:pt x="16764" y="0"/>
                  </a:moveTo>
                  <a:lnTo>
                    <a:pt x="0" y="19176"/>
                  </a:lnTo>
                  <a:lnTo>
                    <a:pt x="317270" y="298388"/>
                  </a:lnTo>
                  <a:lnTo>
                    <a:pt x="341978" y="303243"/>
                  </a:lnTo>
                  <a:lnTo>
                    <a:pt x="334028" y="279321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FF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38C3414F-460A-9D07-C986-C53D4E4DCFC7}"/>
                </a:ext>
              </a:extLst>
            </p:cNvPr>
            <p:cNvSpPr/>
            <p:nvPr/>
          </p:nvSpPr>
          <p:spPr>
            <a:xfrm>
              <a:off x="5562600" y="4616069"/>
              <a:ext cx="277495" cy="413384"/>
            </a:xfrm>
            <a:custGeom>
              <a:avLst/>
              <a:gdLst/>
              <a:ahLst/>
              <a:cxnLst/>
              <a:rect l="l" t="t" r="r" b="b"/>
              <a:pathLst>
                <a:path w="277495" h="413385">
                  <a:moveTo>
                    <a:pt x="12191" y="290956"/>
                  </a:moveTo>
                  <a:lnTo>
                    <a:pt x="6096" y="296290"/>
                  </a:lnTo>
                  <a:lnTo>
                    <a:pt x="5841" y="303402"/>
                  </a:lnTo>
                  <a:lnTo>
                    <a:pt x="0" y="413130"/>
                  </a:lnTo>
                  <a:lnTo>
                    <a:pt x="28377" y="399033"/>
                  </a:lnTo>
                  <a:lnTo>
                    <a:pt x="24384" y="399033"/>
                  </a:lnTo>
                  <a:lnTo>
                    <a:pt x="3175" y="385190"/>
                  </a:lnTo>
                  <a:lnTo>
                    <a:pt x="28977" y="345885"/>
                  </a:lnTo>
                  <a:lnTo>
                    <a:pt x="31184" y="303402"/>
                  </a:lnTo>
                  <a:lnTo>
                    <a:pt x="31496" y="297687"/>
                  </a:lnTo>
                  <a:lnTo>
                    <a:pt x="26162" y="291718"/>
                  </a:lnTo>
                  <a:lnTo>
                    <a:pt x="12191" y="290956"/>
                  </a:lnTo>
                  <a:close/>
                </a:path>
                <a:path w="277495" h="413385">
                  <a:moveTo>
                    <a:pt x="28977" y="345885"/>
                  </a:moveTo>
                  <a:lnTo>
                    <a:pt x="3175" y="385190"/>
                  </a:lnTo>
                  <a:lnTo>
                    <a:pt x="24384" y="399033"/>
                  </a:lnTo>
                  <a:lnTo>
                    <a:pt x="28471" y="392810"/>
                  </a:lnTo>
                  <a:lnTo>
                    <a:pt x="26542" y="392810"/>
                  </a:lnTo>
                  <a:lnTo>
                    <a:pt x="8127" y="380745"/>
                  </a:lnTo>
                  <a:lnTo>
                    <a:pt x="27674" y="371004"/>
                  </a:lnTo>
                  <a:lnTo>
                    <a:pt x="28977" y="345885"/>
                  </a:lnTo>
                  <a:close/>
                </a:path>
                <a:path w="277495" h="413385">
                  <a:moveTo>
                    <a:pt x="93345" y="338327"/>
                  </a:moveTo>
                  <a:lnTo>
                    <a:pt x="50150" y="359802"/>
                  </a:lnTo>
                  <a:lnTo>
                    <a:pt x="24384" y="399033"/>
                  </a:lnTo>
                  <a:lnTo>
                    <a:pt x="28377" y="399033"/>
                  </a:lnTo>
                  <a:lnTo>
                    <a:pt x="104775" y="361060"/>
                  </a:lnTo>
                  <a:lnTo>
                    <a:pt x="107314" y="353440"/>
                  </a:lnTo>
                  <a:lnTo>
                    <a:pt x="104139" y="347090"/>
                  </a:lnTo>
                  <a:lnTo>
                    <a:pt x="100964" y="340867"/>
                  </a:lnTo>
                  <a:lnTo>
                    <a:pt x="93345" y="338327"/>
                  </a:lnTo>
                  <a:close/>
                </a:path>
                <a:path w="277495" h="413385">
                  <a:moveTo>
                    <a:pt x="27674" y="371004"/>
                  </a:moveTo>
                  <a:lnTo>
                    <a:pt x="8127" y="380745"/>
                  </a:lnTo>
                  <a:lnTo>
                    <a:pt x="26542" y="392810"/>
                  </a:lnTo>
                  <a:lnTo>
                    <a:pt x="27674" y="371004"/>
                  </a:lnTo>
                  <a:close/>
                </a:path>
                <a:path w="277495" h="413385">
                  <a:moveTo>
                    <a:pt x="50150" y="359802"/>
                  </a:moveTo>
                  <a:lnTo>
                    <a:pt x="27674" y="371004"/>
                  </a:lnTo>
                  <a:lnTo>
                    <a:pt x="26542" y="392810"/>
                  </a:lnTo>
                  <a:lnTo>
                    <a:pt x="28471" y="392810"/>
                  </a:lnTo>
                  <a:lnTo>
                    <a:pt x="50150" y="359802"/>
                  </a:lnTo>
                  <a:close/>
                </a:path>
                <a:path w="277495" h="413385">
                  <a:moveTo>
                    <a:pt x="256032" y="0"/>
                  </a:moveTo>
                  <a:lnTo>
                    <a:pt x="28977" y="345885"/>
                  </a:lnTo>
                  <a:lnTo>
                    <a:pt x="27674" y="371004"/>
                  </a:lnTo>
                  <a:lnTo>
                    <a:pt x="50150" y="359802"/>
                  </a:lnTo>
                  <a:lnTo>
                    <a:pt x="277367" y="13842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FF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A3F68555-29CD-CCA5-3BC8-4476247DA2AD}"/>
                </a:ext>
              </a:extLst>
            </p:cNvPr>
            <p:cNvSpPr txBox="1"/>
            <p:nvPr/>
          </p:nvSpPr>
          <p:spPr>
            <a:xfrm>
              <a:off x="5232653" y="5052440"/>
              <a:ext cx="615315" cy="7569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065" marR="5080" indent="2540" algn="ctr">
                <a:lnSpc>
                  <a:spcPct val="100000"/>
                </a:lnSpc>
                <a:spcBef>
                  <a:spcPts val="95"/>
                </a:spcBef>
              </a:pPr>
              <a:r>
                <a:rPr sz="1600" spc="-85" dirty="0">
                  <a:latin typeface="Arial"/>
                  <a:cs typeface="Arial"/>
                </a:rPr>
                <a:t>Carry-  </a:t>
              </a:r>
              <a:r>
                <a:rPr sz="1600" spc="-70" dirty="0">
                  <a:latin typeface="Arial"/>
                  <a:cs typeface="Arial"/>
                </a:rPr>
                <a:t>Ou</a:t>
              </a:r>
              <a:r>
                <a:rPr sz="1600" spc="-30" dirty="0">
                  <a:latin typeface="Arial"/>
                  <a:cs typeface="Arial"/>
                </a:rPr>
                <a:t>t</a:t>
              </a:r>
              <a:r>
                <a:rPr sz="1600" spc="-10" dirty="0">
                  <a:latin typeface="Arial"/>
                  <a:cs typeface="Arial"/>
                </a:rPr>
                <a:t>put  </a:t>
              </a:r>
              <a:r>
                <a:rPr sz="1600" spc="-35" dirty="0">
                  <a:latin typeface="Arial"/>
                  <a:cs typeface="Arial"/>
                </a:rPr>
                <a:t>Bit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21F672A7-678F-5FFF-04C9-596BA8762D2C}"/>
                </a:ext>
              </a:extLst>
            </p:cNvPr>
            <p:cNvSpPr txBox="1"/>
            <p:nvPr/>
          </p:nvSpPr>
          <p:spPr>
            <a:xfrm>
              <a:off x="6161659" y="5052440"/>
              <a:ext cx="615315" cy="7569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 indent="635" algn="ctr">
                <a:lnSpc>
                  <a:spcPct val="100000"/>
                </a:lnSpc>
                <a:spcBef>
                  <a:spcPts val="95"/>
                </a:spcBef>
              </a:pPr>
              <a:r>
                <a:rPr sz="1600" spc="-130" dirty="0">
                  <a:latin typeface="Arial"/>
                  <a:cs typeface="Arial"/>
                </a:rPr>
                <a:t>Sum-  </a:t>
              </a:r>
              <a:r>
                <a:rPr sz="1600" spc="-70" dirty="0">
                  <a:latin typeface="Arial"/>
                  <a:cs typeface="Arial"/>
                </a:rPr>
                <a:t>Ou</a:t>
              </a:r>
              <a:r>
                <a:rPr sz="1600" spc="-30" dirty="0">
                  <a:latin typeface="Arial"/>
                  <a:cs typeface="Arial"/>
                </a:rPr>
                <a:t>t</a:t>
              </a:r>
              <a:r>
                <a:rPr sz="1600" spc="-10" dirty="0">
                  <a:latin typeface="Arial"/>
                  <a:cs typeface="Arial"/>
                </a:rPr>
                <a:t>put  </a:t>
              </a:r>
              <a:r>
                <a:rPr sz="1600" spc="-35" dirty="0">
                  <a:latin typeface="Arial"/>
                  <a:cs typeface="Arial"/>
                </a:rPr>
                <a:t>Bit</a:t>
              </a:r>
              <a:endParaRPr sz="1600"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386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Full Adder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400" dirty="0"/>
              <a:t>Steps: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Construct the Truth table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User Karnaugh map or equivalent method to find out minimal SOP equation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6A380A9-D3F3-BAF5-5D64-AEF2C6D7BAD0}"/>
              </a:ext>
            </a:extLst>
          </p:cNvPr>
          <p:cNvSpPr/>
          <p:nvPr/>
        </p:nvSpPr>
        <p:spPr>
          <a:xfrm>
            <a:off x="6782585" y="1532588"/>
            <a:ext cx="4676318" cy="2884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586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Full Adder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9"/>
                <a:ext cx="11743016" cy="1896411"/>
              </a:xfrm>
              <a:prstGeom prst="rect">
                <a:avLst/>
              </a:prstGeom>
            </p:spPr>
            <p:txBody>
              <a:bodyPr numCol="2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Design logic diagram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Logic diagram for Output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Logic diagram for Carry 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/>
                  <a:t>Exercise: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Add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Add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9"/>
                <a:ext cx="11743016" cy="1896411"/>
              </a:xfrm>
              <a:prstGeom prst="rect">
                <a:avLst/>
              </a:prstGeom>
              <a:blipFill>
                <a:blip r:embed="rId3"/>
                <a:stretch>
                  <a:fillRect l="-1090" t="-4167" b="-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8">
            <a:extLst>
              <a:ext uri="{FF2B5EF4-FFF2-40B4-BE49-F238E27FC236}">
                <a16:creationId xmlns:a16="http://schemas.microsoft.com/office/drawing/2014/main" id="{552002A0-F819-6B6A-8892-8997A7B4715B}"/>
              </a:ext>
            </a:extLst>
          </p:cNvPr>
          <p:cNvSpPr/>
          <p:nvPr/>
        </p:nvSpPr>
        <p:spPr>
          <a:xfrm>
            <a:off x="220384" y="4608067"/>
            <a:ext cx="4961216" cy="9545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5515B7-C378-D67C-F9D6-155C284C201B}"/>
              </a:ext>
            </a:extLst>
          </p:cNvPr>
          <p:cNvGrpSpPr/>
          <p:nvPr/>
        </p:nvGrpSpPr>
        <p:grpSpPr>
          <a:xfrm>
            <a:off x="5196966" y="3589989"/>
            <a:ext cx="6774649" cy="2885427"/>
            <a:chOff x="244360" y="2639314"/>
            <a:chExt cx="4724857" cy="2012389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E8D93D2B-04C3-73FA-8BC5-E8A562731F99}"/>
                </a:ext>
              </a:extLst>
            </p:cNvPr>
            <p:cNvSpPr/>
            <p:nvPr/>
          </p:nvSpPr>
          <p:spPr>
            <a:xfrm>
              <a:off x="407419" y="2713698"/>
              <a:ext cx="4467554" cy="193800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4F0B6608-7EE4-82F9-A6B8-4BC59A5F5A47}"/>
                </a:ext>
              </a:extLst>
            </p:cNvPr>
            <p:cNvSpPr/>
            <p:nvPr/>
          </p:nvSpPr>
          <p:spPr>
            <a:xfrm>
              <a:off x="244360" y="2639314"/>
              <a:ext cx="3566160" cy="914400"/>
            </a:xfrm>
            <a:custGeom>
              <a:avLst/>
              <a:gdLst/>
              <a:ahLst/>
              <a:cxnLst/>
              <a:rect l="l" t="t" r="r" b="b"/>
              <a:pathLst>
                <a:path w="3566160" h="914400">
                  <a:moveTo>
                    <a:pt x="0" y="914400"/>
                  </a:moveTo>
                  <a:lnTo>
                    <a:pt x="3565652" y="914400"/>
                  </a:lnTo>
                  <a:lnTo>
                    <a:pt x="3565652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E8D8A526-0A02-7294-57B2-589F9689C196}"/>
                </a:ext>
              </a:extLst>
            </p:cNvPr>
            <p:cNvSpPr/>
            <p:nvPr/>
          </p:nvSpPr>
          <p:spPr>
            <a:xfrm>
              <a:off x="454367" y="3704844"/>
              <a:ext cx="4514850" cy="914400"/>
            </a:xfrm>
            <a:custGeom>
              <a:avLst/>
              <a:gdLst/>
              <a:ahLst/>
              <a:cxnLst/>
              <a:rect l="l" t="t" r="r" b="b"/>
              <a:pathLst>
                <a:path w="4514850" h="914400">
                  <a:moveTo>
                    <a:pt x="0" y="914399"/>
                  </a:moveTo>
                  <a:lnTo>
                    <a:pt x="4514342" y="914399"/>
                  </a:lnTo>
                  <a:lnTo>
                    <a:pt x="4514342" y="0"/>
                  </a:lnTo>
                  <a:lnTo>
                    <a:pt x="0" y="0"/>
                  </a:lnTo>
                  <a:lnTo>
                    <a:pt x="0" y="914399"/>
                  </a:lnTo>
                  <a:close/>
                </a:path>
              </a:pathLst>
            </a:custGeom>
            <a:ln w="254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5968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Full Adder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9"/>
                <a:ext cx="5875616" cy="4942827"/>
              </a:xfrm>
              <a:prstGeom prst="rect">
                <a:avLst/>
              </a:prstGeom>
            </p:spPr>
            <p:txBody>
              <a:bodyPr numCol="1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Full Adder using 2 Half Adders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Look closely at the equation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is the sum of first Half Adder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3000" dirty="0"/>
                  <a:t>will give us the output sum of Full Adder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3000" dirty="0"/>
                  <a:t> from first Half Adder is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b="0" dirty="0"/>
                  <a:t>If we make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3000" b="0" dirty="0"/>
                  <a:t> the input for second Half Adder,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3000" dirty="0"/>
                  <a:t> from second Half Adder will be </a:t>
                </a:r>
                <a14:m>
                  <m:oMath xmlns:m="http://schemas.openxmlformats.org/officeDocument/2006/math">
                    <m:r>
                      <a:rPr lang="en-US" sz="3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sz="30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An OR gate between these two will complete the circuit.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9"/>
                <a:ext cx="5875616" cy="4942827"/>
              </a:xfrm>
              <a:prstGeom prst="rect">
                <a:avLst/>
              </a:prstGeom>
              <a:blipFill>
                <a:blip r:embed="rId3"/>
                <a:stretch>
                  <a:fillRect l="-2178" t="-3206" r="-2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6">
            <a:extLst>
              <a:ext uri="{FF2B5EF4-FFF2-40B4-BE49-F238E27FC236}">
                <a16:creationId xmlns:a16="http://schemas.microsoft.com/office/drawing/2014/main" id="{74EA0466-66B4-2976-6A21-559D1BE182C2}"/>
              </a:ext>
            </a:extLst>
          </p:cNvPr>
          <p:cNvSpPr/>
          <p:nvPr/>
        </p:nvSpPr>
        <p:spPr>
          <a:xfrm>
            <a:off x="6096000" y="2259325"/>
            <a:ext cx="5967113" cy="30660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501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Full Subtractor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9027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digital logic circuit designed to calculate difference between two single bit inputs with a borrow bit.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Inputs: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400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Outputs: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DIFFERENCE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sz="3200" dirty="0"/>
                  <a:t>) the difference between the bits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BORROW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3000" dirty="0"/>
                  <a:t>) tells if borrow bit was necessary during subtraction?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902778"/>
              </a:xfrm>
              <a:prstGeom prst="rect">
                <a:avLst/>
              </a:prstGeom>
              <a:blipFill>
                <a:blip r:embed="rId3"/>
                <a:stretch>
                  <a:fillRect l="-1090" t="-5451" b="-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5">
            <a:extLst>
              <a:ext uri="{FF2B5EF4-FFF2-40B4-BE49-F238E27FC236}">
                <a16:creationId xmlns:a16="http://schemas.microsoft.com/office/drawing/2014/main" id="{73DE5C30-53EB-5758-6B94-B8919CE44A6A}"/>
              </a:ext>
            </a:extLst>
          </p:cNvPr>
          <p:cNvSpPr/>
          <p:nvPr/>
        </p:nvSpPr>
        <p:spPr>
          <a:xfrm>
            <a:off x="4161684" y="4572083"/>
            <a:ext cx="3849181" cy="1844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50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Full Subtractor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3400" dirty="0"/>
              <a:t>Steps: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Construct the Truth table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User Karnaugh map or equivalent method to find out minimal SOP equation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22A9F5C5-17C0-3973-C296-56442BA31D68}"/>
              </a:ext>
            </a:extLst>
          </p:cNvPr>
          <p:cNvSpPr/>
          <p:nvPr/>
        </p:nvSpPr>
        <p:spPr>
          <a:xfrm>
            <a:off x="6601582" y="1996965"/>
            <a:ext cx="5370034" cy="3269565"/>
          </a:xfrm>
          <a:prstGeom prst="rect">
            <a:avLst/>
          </a:prstGeom>
          <a:blipFill>
            <a:blip r:embed="rId3" cstate="print"/>
            <a:stretch>
              <a:fillRect t="-1240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801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Full Subtractor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9"/>
                <a:ext cx="11743016" cy="1896411"/>
              </a:xfrm>
              <a:prstGeom prst="rect">
                <a:avLst/>
              </a:prstGeom>
            </p:spPr>
            <p:txBody>
              <a:bodyPr numCol="2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Design logic diagram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Logic diagram for Output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sz="32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Logic diagram for Carry 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200" dirty="0"/>
                  <a:t>Exercise: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Subtract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Subtract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9"/>
                <a:ext cx="11743016" cy="1896411"/>
              </a:xfrm>
              <a:prstGeom prst="rect">
                <a:avLst/>
              </a:prstGeom>
              <a:blipFill>
                <a:blip r:embed="rId3"/>
                <a:stretch>
                  <a:fillRect l="-1090" t="-4167" b="-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VHDL Tutorial – 11: Designing half and full-subtractor circuits">
            <a:extLst>
              <a:ext uri="{FF2B5EF4-FFF2-40B4-BE49-F238E27FC236}">
                <a16:creationId xmlns:a16="http://schemas.microsoft.com/office/drawing/2014/main" id="{FE7FC051-058A-224E-8565-080852AE0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429000"/>
            <a:ext cx="6760779" cy="3103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69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Parallel Adders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An Adder circuit can Sum two single bit inputs. How to Add more than 1 bit?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To add 2-bit inputs, we need 2 Full Adders. For 4-bit inputs, 4 Full Adders.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  <p:pic>
        <p:nvPicPr>
          <p:cNvPr id="2050" name="Picture 2" descr="What is a serial adder circuit? - Quora">
            <a:extLst>
              <a:ext uri="{FF2B5EF4-FFF2-40B4-BE49-F238E27FC236}">
                <a16:creationId xmlns:a16="http://schemas.microsoft.com/office/drawing/2014/main" id="{931A976D-7D7B-980F-991E-EEFF8AD93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94"/>
          <a:stretch/>
        </p:blipFill>
        <p:spPr bwMode="auto">
          <a:xfrm>
            <a:off x="527106" y="3547454"/>
            <a:ext cx="3339995" cy="250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hat is a serial adder circuit? - Quora">
            <a:extLst>
              <a:ext uri="{FF2B5EF4-FFF2-40B4-BE49-F238E27FC236}">
                <a16:creationId xmlns:a16="http://schemas.microsoft.com/office/drawing/2014/main" id="{D442046F-6B56-B374-2865-83E1A224C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906" y="3547454"/>
            <a:ext cx="6253988" cy="250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64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Parallel Adders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8631621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Example: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=01;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US" sz="3000" dirty="0"/>
                  <a:t> are two inputs of 2 bits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=1,0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r>
                  <a:rPr lang="en-US" sz="3000" dirty="0"/>
                  <a:t> (go reverse)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3000" dirty="0"/>
                  <a:t> will initially be 0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For FA1:</a:t>
                </a:r>
                <a:br>
                  <a:rPr lang="en-US" sz="3000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3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en-US" sz="3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3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For FA2:</a:t>
                </a:r>
                <a:br>
                  <a:rPr lang="en-US" sz="30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0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3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sz="3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 ?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8631621" cy="4942828"/>
              </a:xfrm>
              <a:prstGeom prst="rect">
                <a:avLst/>
              </a:prstGeom>
              <a:blipFill>
                <a:blip r:embed="rId3"/>
                <a:stretch>
                  <a:fillRect l="-1412" t="-1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What is a serial adder circuit? - Quora">
            <a:extLst>
              <a:ext uri="{FF2B5EF4-FFF2-40B4-BE49-F238E27FC236}">
                <a16:creationId xmlns:a16="http://schemas.microsoft.com/office/drawing/2014/main" id="{931A976D-7D7B-980F-991E-EEFF8AD93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94"/>
          <a:stretch/>
        </p:blipFill>
        <p:spPr bwMode="auto">
          <a:xfrm>
            <a:off x="8852005" y="1532588"/>
            <a:ext cx="3339995" cy="250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6E7A4E-326A-C1E4-A655-655DFA2BF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005" y="4009233"/>
            <a:ext cx="327660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Parallel Adders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Example: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=0101;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=1010</m:t>
                    </m:r>
                  </m:oMath>
                </a14:m>
                <a:r>
                  <a:rPr lang="en-US" sz="3000" dirty="0"/>
                  <a:t> are two inputs of 4 bits (</a:t>
                </a:r>
                <a:r>
                  <a:rPr lang="en-US" sz="3000" b="1" dirty="0"/>
                  <a:t>Nibble</a:t>
                </a:r>
                <a:r>
                  <a:rPr lang="en-US" sz="3000" dirty="0"/>
                  <a:t>)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=1,0,1,0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3000" dirty="0"/>
                  <a:t> (go reverse)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3000" dirty="0"/>
                  <a:t> will initially be 0; Now for each block, let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0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For a full Adder,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⨁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⨁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𝑌𝑍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𝑋𝑍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Solve…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038" t="-1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What is a serial adder circuit? - Quora">
            <a:extLst>
              <a:ext uri="{FF2B5EF4-FFF2-40B4-BE49-F238E27FC236}">
                <a16:creationId xmlns:a16="http://schemas.microsoft.com/office/drawing/2014/main" id="{D442046F-6B56-B374-2865-83E1A224C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006" y="3973821"/>
            <a:ext cx="6253988" cy="250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67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Parallel Adders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Pin diagram and logic symbol for 74HC283/74LS283, a 4-bit parallel adder IC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Can you tell how to make 8-bit parallel adder by using two of these?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DIY: Create a 12-bit parallel adder using this IC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E5D1F57-5CC5-E8BB-A5F2-D94AB7CA7CAD}"/>
              </a:ext>
            </a:extLst>
          </p:cNvPr>
          <p:cNvSpPr/>
          <p:nvPr/>
        </p:nvSpPr>
        <p:spPr>
          <a:xfrm>
            <a:off x="6096000" y="1532588"/>
            <a:ext cx="5867400" cy="4805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C62605C-961B-EC16-6986-9BD5FEA8066C}"/>
              </a:ext>
            </a:extLst>
          </p:cNvPr>
          <p:cNvSpPr/>
          <p:nvPr/>
        </p:nvSpPr>
        <p:spPr>
          <a:xfrm>
            <a:off x="5934075" y="2514610"/>
            <a:ext cx="6191250" cy="28384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826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Parallel Adders – Subtraction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From complement methods, we learned that we can use 2’s complement method for subtraction.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The ADD/SUB signal (say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is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3000" dirty="0"/>
                  <a:t> for addition.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we turn it to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3000" dirty="0"/>
                  <a:t>, then the input of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 is complemented, i.e., 1’s complement.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The same 1 is also added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sz="3000" dirty="0"/>
                  <a:t>, which turns it into 2’s complement.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The internal Operation then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3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𝑐𝑜𝑚𝑝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Solve this for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=1010;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=1001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1556" t="-2466" r="-2801" b="-148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4 Bit Binary Subtractor Circuit Diagram - Wiring Diagram and Schematics">
            <a:extLst>
              <a:ext uri="{FF2B5EF4-FFF2-40B4-BE49-F238E27FC236}">
                <a16:creationId xmlns:a16="http://schemas.microsoft.com/office/drawing/2014/main" id="{DDFA8341-B692-CE89-94BA-78829D313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30"/>
          <a:stretch/>
        </p:blipFill>
        <p:spPr bwMode="auto">
          <a:xfrm>
            <a:off x="6199255" y="1401900"/>
            <a:ext cx="5772361" cy="326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17CB12-2444-8B51-F26A-3C3BF2454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255" y="2650249"/>
            <a:ext cx="576262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8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Multipliers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9"/>
                <a:ext cx="8019726" cy="4942827"/>
              </a:xfrm>
              <a:prstGeom prst="rect">
                <a:avLst/>
              </a:prstGeom>
            </p:spPr>
            <p:txBody>
              <a:bodyPr numCol="1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Multipliers can also be created using Adders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First, the input from both signals is multiplied using AND operation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Second, the output from AND operations is added using Adders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Given circuit multiplies 4-bit inputs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=1011;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=1110;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9"/>
                <a:ext cx="8019726" cy="4942827"/>
              </a:xfrm>
              <a:prstGeom prst="rect">
                <a:avLst/>
              </a:prstGeom>
              <a:blipFill>
                <a:blip r:embed="rId3"/>
                <a:stretch>
                  <a:fillRect l="-1900" t="-1726" r="-235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Traditional 4 bit array multiplier. | Download Scientific Diagram">
            <a:extLst>
              <a:ext uri="{FF2B5EF4-FFF2-40B4-BE49-F238E27FC236}">
                <a16:creationId xmlns:a16="http://schemas.microsoft.com/office/drawing/2014/main" id="{0D13226F-527B-DF96-F5B0-5249CE770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110" y="1449385"/>
            <a:ext cx="3723290" cy="510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23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pic>
        <p:nvPicPr>
          <p:cNvPr id="2050" name="Picture 2" descr="Traditional 4 bit array multiplier. | Download Scientific Diagram">
            <a:extLst>
              <a:ext uri="{FF2B5EF4-FFF2-40B4-BE49-F238E27FC236}">
                <a16:creationId xmlns:a16="http://schemas.microsoft.com/office/drawing/2014/main" id="{0D13226F-527B-DF96-F5B0-5249CE770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702" y="181388"/>
            <a:ext cx="4618298" cy="633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1CA216A-7FE3-E3B8-A5CB-5C42F6A1CC32}"/>
              </a:ext>
            </a:extLst>
          </p:cNvPr>
          <p:cNvGrpSpPr/>
          <p:nvPr/>
        </p:nvGrpSpPr>
        <p:grpSpPr>
          <a:xfrm>
            <a:off x="115746" y="1012859"/>
            <a:ext cx="8019726" cy="2509747"/>
            <a:chOff x="115746" y="1012859"/>
            <a:chExt cx="8019726" cy="250974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E0EB21-FE41-668E-3CE6-802BCC6592EA}"/>
                </a:ext>
              </a:extLst>
            </p:cNvPr>
            <p:cNvGrpSpPr/>
            <p:nvPr/>
          </p:nvGrpSpPr>
          <p:grpSpPr>
            <a:xfrm>
              <a:off x="115746" y="1012859"/>
              <a:ext cx="8019726" cy="2105066"/>
              <a:chOff x="2392860" y="3029457"/>
              <a:chExt cx="6513014" cy="1709574"/>
            </a:xfrm>
          </p:grpSpPr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747348B9-A84B-0667-BD22-8FA9952CCF38}"/>
                  </a:ext>
                </a:extLst>
              </p:cNvPr>
              <p:cNvSpPr/>
              <p:nvPr/>
            </p:nvSpPr>
            <p:spPr>
              <a:xfrm>
                <a:off x="2392860" y="3029457"/>
                <a:ext cx="5794765" cy="1709574"/>
              </a:xfrm>
              <a:prstGeom prst="rect">
                <a:avLst/>
              </a:prstGeom>
              <a:blipFill>
                <a:blip r:embed="rId4" cstate="print"/>
                <a:stretch>
                  <a:fillRect b="-14778"/>
                </a:stretch>
              </a:blip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0667F453-7F53-9506-8188-27D886A0166C}"/>
                  </a:ext>
                </a:extLst>
              </p:cNvPr>
              <p:cNvSpPr txBox="1"/>
              <p:nvPr/>
            </p:nvSpPr>
            <p:spPr>
              <a:xfrm>
                <a:off x="8265032" y="3271672"/>
                <a:ext cx="574675" cy="339090"/>
              </a:xfrm>
              <a:prstGeom prst="rect">
                <a:avLst/>
              </a:prstGeom>
              <a:ln w="9525">
                <a:solidFill>
                  <a:srgbClr val="000000"/>
                </a:solidFill>
              </a:ln>
            </p:spPr>
            <p:txBody>
              <a:bodyPr vert="horz" wrap="square" lIns="0" tIns="33655" rIns="0" bIns="0" rtlCol="0">
                <a:spAutoFit/>
              </a:bodyPr>
              <a:lstStyle/>
              <a:p>
                <a:pPr marL="92075">
                  <a:lnSpc>
                    <a:spcPct val="100000"/>
                  </a:lnSpc>
                  <a:spcBef>
                    <a:spcPts val="265"/>
                  </a:spcBef>
                </a:pPr>
                <a:r>
                  <a:rPr sz="1600" b="1" spc="-25" dirty="0">
                    <a:solidFill>
                      <a:srgbClr val="FF0000"/>
                    </a:solidFill>
                    <a:latin typeface="Trebuchet MS"/>
                    <a:cs typeface="Trebuchet MS"/>
                  </a:rPr>
                  <a:t>AND</a:t>
                </a:r>
                <a:endParaRPr sz="1600">
                  <a:latin typeface="Trebuchet MS"/>
                  <a:cs typeface="Trebuchet MS"/>
                </a:endParaRPr>
              </a:p>
            </p:txBody>
          </p:sp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DCD3652A-8336-D1DD-A0B0-8466886887E1}"/>
                  </a:ext>
                </a:extLst>
              </p:cNvPr>
              <p:cNvSpPr txBox="1"/>
              <p:nvPr/>
            </p:nvSpPr>
            <p:spPr>
              <a:xfrm>
                <a:off x="8198484" y="4399940"/>
                <a:ext cx="707390" cy="339090"/>
              </a:xfrm>
              <a:prstGeom prst="rect">
                <a:avLst/>
              </a:prstGeom>
              <a:ln w="9525">
                <a:solidFill>
                  <a:srgbClr val="000000"/>
                </a:solidFill>
              </a:ln>
            </p:spPr>
            <p:txBody>
              <a:bodyPr vert="horz" wrap="square" lIns="0" tIns="33655" rIns="0" bIns="0" rtlCol="0">
                <a:spAutoFit/>
              </a:bodyPr>
              <a:lstStyle/>
              <a:p>
                <a:pPr marL="92710">
                  <a:lnSpc>
                    <a:spcPct val="100000"/>
                  </a:lnSpc>
                  <a:spcBef>
                    <a:spcPts val="265"/>
                  </a:spcBef>
                </a:pPr>
                <a:r>
                  <a:rPr sz="1600" b="1" spc="-90" dirty="0">
                    <a:solidFill>
                      <a:srgbClr val="FF0000"/>
                    </a:solidFill>
                    <a:latin typeface="Trebuchet MS"/>
                    <a:cs typeface="Trebuchet MS"/>
                  </a:rPr>
                  <a:t>Adder</a:t>
                </a:r>
                <a:endParaRPr sz="1600">
                  <a:latin typeface="Trebuchet MS"/>
                  <a:cs typeface="Trebuchet MS"/>
                </a:endParaRPr>
              </a:p>
            </p:txBody>
          </p:sp>
          <p:sp>
            <p:nvSpPr>
              <p:cNvPr id="8" name="object 9">
                <a:extLst>
                  <a:ext uri="{FF2B5EF4-FFF2-40B4-BE49-F238E27FC236}">
                    <a16:creationId xmlns:a16="http://schemas.microsoft.com/office/drawing/2014/main" id="{C0EFE5AA-5B34-11D1-54A7-B7A84E361295}"/>
                  </a:ext>
                </a:extLst>
              </p:cNvPr>
              <p:cNvSpPr/>
              <p:nvPr/>
            </p:nvSpPr>
            <p:spPr>
              <a:xfrm>
                <a:off x="7239000" y="3610203"/>
                <a:ext cx="762000" cy="438784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438785">
                    <a:moveTo>
                      <a:pt x="0" y="438683"/>
                    </a:moveTo>
                    <a:lnTo>
                      <a:pt x="762000" y="438683"/>
                    </a:lnTo>
                    <a:lnTo>
                      <a:pt x="762000" y="0"/>
                    </a:lnTo>
                    <a:lnTo>
                      <a:pt x="0" y="0"/>
                    </a:lnTo>
                    <a:lnTo>
                      <a:pt x="0" y="438683"/>
                    </a:lnTo>
                    <a:close/>
                  </a:path>
                </a:pathLst>
              </a:custGeom>
              <a:ln w="28575">
                <a:solidFill>
                  <a:srgbClr val="FF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4B3E260B-CFC1-F6C7-8253-D6E4CF4C613E}"/>
                  </a:ext>
                </a:extLst>
              </p:cNvPr>
              <p:cNvSpPr/>
              <p:nvPr/>
            </p:nvSpPr>
            <p:spPr>
              <a:xfrm>
                <a:off x="6447535" y="3610203"/>
                <a:ext cx="762000" cy="57594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575945">
                    <a:moveTo>
                      <a:pt x="0" y="575843"/>
                    </a:moveTo>
                    <a:lnTo>
                      <a:pt x="762000" y="575843"/>
                    </a:lnTo>
                    <a:lnTo>
                      <a:pt x="762000" y="0"/>
                    </a:lnTo>
                    <a:lnTo>
                      <a:pt x="0" y="0"/>
                    </a:lnTo>
                    <a:lnTo>
                      <a:pt x="0" y="575843"/>
                    </a:lnTo>
                    <a:close/>
                  </a:path>
                </a:pathLst>
              </a:custGeom>
              <a:ln w="28575">
                <a:solidFill>
                  <a:srgbClr val="006FC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FEC27681-DB05-3A2A-C9CF-6356131E67BD}"/>
                  </a:ext>
                </a:extLst>
              </p:cNvPr>
              <p:cNvSpPr/>
              <p:nvPr/>
            </p:nvSpPr>
            <p:spPr>
              <a:xfrm>
                <a:off x="5655945" y="3610216"/>
                <a:ext cx="762000" cy="78994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789939">
                    <a:moveTo>
                      <a:pt x="0" y="789698"/>
                    </a:moveTo>
                    <a:lnTo>
                      <a:pt x="762000" y="789698"/>
                    </a:lnTo>
                    <a:lnTo>
                      <a:pt x="762000" y="0"/>
                    </a:lnTo>
                    <a:lnTo>
                      <a:pt x="0" y="0"/>
                    </a:lnTo>
                    <a:lnTo>
                      <a:pt x="0" y="789698"/>
                    </a:lnTo>
                    <a:close/>
                  </a:path>
                </a:pathLst>
              </a:custGeom>
              <a:ln w="28575">
                <a:solidFill>
                  <a:srgbClr val="00AF5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F6FA49E-E5BA-19DB-AA95-D3825526735D}"/>
                    </a:ext>
                  </a:extLst>
                </p:cNvPr>
                <p:cNvSpPr txBox="1"/>
                <p:nvPr/>
              </p:nvSpPr>
              <p:spPr>
                <a:xfrm>
                  <a:off x="366397" y="3060941"/>
                  <a:ext cx="636022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sSub>
                          <m:sSub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sSub>
                          <m:sSub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sSub>
                          <m:sSub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sSub>
                          <m:sSub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sSub>
                          <m:sSub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sSub>
                          <m:sSub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PK" sz="2400" b="1" baseline="-25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F6FA49E-E5BA-19DB-AA95-D38255267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397" y="3060941"/>
                  <a:ext cx="636022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92" r="-479" b="-3947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object 5">
            <a:extLst>
              <a:ext uri="{FF2B5EF4-FFF2-40B4-BE49-F238E27FC236}">
                <a16:creationId xmlns:a16="http://schemas.microsoft.com/office/drawing/2014/main" id="{B8A68A65-C1CD-C505-D626-4AAB555AE13A}"/>
              </a:ext>
            </a:extLst>
          </p:cNvPr>
          <p:cNvSpPr/>
          <p:nvPr/>
        </p:nvSpPr>
        <p:spPr>
          <a:xfrm>
            <a:off x="2907577" y="3718939"/>
            <a:ext cx="1277861" cy="27931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551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3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9"/>
                <a:ext cx="11743016" cy="4942827"/>
              </a:xfrm>
              <a:prstGeom prst="rect">
                <a:avLst/>
              </a:prstGeom>
            </p:spPr>
            <p:txBody>
              <a:bodyPr numCol="1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400" dirty="0"/>
                  <a:t>You have two 4-bit inputs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=1100;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=1011</m:t>
                    </m:r>
                  </m:oMath>
                </a14:m>
                <a:endParaRPr lang="en-US" sz="3200" dirty="0"/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3000" dirty="0"/>
                  <a:t>Create a </a:t>
                </a:r>
                <a:r>
                  <a:rPr lang="en-US" sz="3000" b="1" u="sng" dirty="0"/>
                  <a:t>complete</a:t>
                </a:r>
                <a:r>
                  <a:rPr lang="en-US" sz="3000" dirty="0"/>
                  <a:t> logic diagram and show the Multiplication operation between these two inputs.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3000" dirty="0"/>
                  <a:t>You must show the inner working of each Adder circuit as well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3000" dirty="0"/>
                  <a:t>It is recommended that you do this activity in a group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3000" dirty="0"/>
                  <a:t>You can perform this activity on paper as well as using any software like </a:t>
                </a:r>
                <a:r>
                  <a:rPr lang="en-US" sz="3000" dirty="0" err="1"/>
                  <a:t>Circuitverse</a:t>
                </a:r>
                <a:r>
                  <a:rPr lang="en-US" sz="3000" dirty="0"/>
                  <a:t> or Multisim</a:t>
                </a: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3000" dirty="0"/>
                  <a:t>Submit your output on LMS in a PDF or MS Word document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9"/>
                <a:ext cx="11743016" cy="4942827"/>
              </a:xfrm>
              <a:prstGeom prst="rect">
                <a:avLst/>
              </a:prstGeom>
              <a:blipFill>
                <a:blip r:embed="rId3"/>
                <a:stretch>
                  <a:fillRect l="-1453" t="-1603" r="-36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997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4847</TotalTime>
  <Words>1279</Words>
  <Application>Microsoft Office PowerPoint</Application>
  <PresentationFormat>Widescreen</PresentationFormat>
  <Paragraphs>199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Times New Roman</vt:lpstr>
      <vt:lpstr>Trebuchet MS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432</cp:revision>
  <dcterms:created xsi:type="dcterms:W3CDTF">2022-11-22T20:08:03Z</dcterms:created>
  <dcterms:modified xsi:type="dcterms:W3CDTF">2023-04-14T13:02:44Z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