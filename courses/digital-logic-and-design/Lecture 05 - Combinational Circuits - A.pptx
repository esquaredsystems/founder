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handoutMasterIdLst>
    <p:handoutMasterId r:id="rId24"/>
  </p:handoutMasterIdLst>
  <p:sldIdLst>
    <p:sldId id="2448" r:id="rId5"/>
    <p:sldId id="2462" r:id="rId6"/>
    <p:sldId id="2512" r:id="rId7"/>
    <p:sldId id="2513" r:id="rId8"/>
    <p:sldId id="2514" r:id="rId9"/>
    <p:sldId id="2515" r:id="rId10"/>
    <p:sldId id="2516" r:id="rId11"/>
    <p:sldId id="2517" r:id="rId12"/>
    <p:sldId id="2518" r:id="rId13"/>
    <p:sldId id="2528" r:id="rId14"/>
    <p:sldId id="2519" r:id="rId15"/>
    <p:sldId id="2521" r:id="rId16"/>
    <p:sldId id="2522" r:id="rId17"/>
    <p:sldId id="2524" r:id="rId18"/>
    <p:sldId id="2503" r:id="rId19"/>
    <p:sldId id="2527" r:id="rId20"/>
    <p:sldId id="2529" r:id="rId21"/>
    <p:sldId id="243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A9EC6DC-2EC1-4120-BB9F-606007DB316C}">
          <p14:sldIdLst>
            <p14:sldId id="2448"/>
            <p14:sldId id="2462"/>
            <p14:sldId id="2512"/>
            <p14:sldId id="2513"/>
            <p14:sldId id="2514"/>
            <p14:sldId id="2515"/>
            <p14:sldId id="2516"/>
            <p14:sldId id="2517"/>
            <p14:sldId id="2518"/>
            <p14:sldId id="2528"/>
            <p14:sldId id="2519"/>
            <p14:sldId id="2521"/>
            <p14:sldId id="2522"/>
            <p14:sldId id="2524"/>
            <p14:sldId id="2503"/>
            <p14:sldId id="2527"/>
            <p14:sldId id="2529"/>
            <p14:sldId id="2436"/>
          </p14:sldIdLst>
        </p14:section>
      </p14:sectionLst>
    </p:ex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A53F52"/>
    <a:srgbClr val="01023B"/>
    <a:srgbClr val="2F334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73" autoAdjust="0"/>
    <p:restoredTop sz="89150" autoAdjust="0"/>
  </p:normalViewPr>
  <p:slideViewPr>
    <p:cSldViewPr snapToGrid="0">
      <p:cViewPr varScale="1">
        <p:scale>
          <a:sx n="73" d="100"/>
          <a:sy n="73" d="100"/>
        </p:scale>
        <p:origin x="840" y="72"/>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4/14/2023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4/14/2023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5571722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8359032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3945289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34530052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4014344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18311482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7603860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1543967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39081566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116832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5570060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2396987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Using NAND as universal gate is a business decision, which helps chip manufacturers to get a single chip in bulk and use it for any purpose without worrying about supply and demand gap.</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37098130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30207786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3214254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8" Type="http://schemas.openxmlformats.org/officeDocument/2006/relationships/image" Target="../media/image26.png"/><Relationship Id="rId3" Type="http://schemas.microsoft.com/office/2007/relationships/hdphoto" Target="../media/hdphoto1.wdp"/><Relationship Id="rId7" Type="http://schemas.openxmlformats.org/officeDocument/2006/relationships/image" Target="../media/image25.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 Id="rId9"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DIGITAL LOGIC DESIGN (111776)</a:t>
            </a:r>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3927832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20" y="2078875"/>
            <a:ext cx="4114800" cy="4136198"/>
          </a:xfrm>
        </p:spPr>
        <p:txBody>
          <a:bodyPr/>
          <a:lstStyle/>
          <a:p>
            <a:r>
              <a:rPr lang="en-US" dirty="0"/>
              <a:t>Combinational circuits</a:t>
            </a:r>
          </a:p>
          <a:p>
            <a:r>
              <a:rPr lang="en-US" dirty="0"/>
              <a:t>Exclusive gates</a:t>
            </a:r>
          </a:p>
          <a:p>
            <a:r>
              <a:rPr lang="en-US"/>
              <a:t>Gate conversions</a:t>
            </a:r>
            <a:endParaRPr lang="en-US" dirty="0"/>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Combinational Circuits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8"/>
            <a:ext cx="11743016" cy="494282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Digital electronics is divided into two major types of circuits</a:t>
            </a:r>
          </a:p>
          <a:p>
            <a:pPr>
              <a:buFont typeface="Wingdings" panose="05000000000000000000" pitchFamily="2" charset="2"/>
              <a:buChar char="§"/>
            </a:pPr>
            <a:r>
              <a:rPr lang="en-US" sz="3400" dirty="0"/>
              <a:t>Combinational circuits</a:t>
            </a:r>
          </a:p>
          <a:p>
            <a:pPr lvl="1">
              <a:buFont typeface="Wingdings" panose="05000000000000000000" pitchFamily="2" charset="2"/>
              <a:buChar char="§"/>
            </a:pPr>
            <a:r>
              <a:rPr lang="en-US" sz="3200" dirty="0"/>
              <a:t>Work only on present input signals</a:t>
            </a:r>
          </a:p>
          <a:p>
            <a:pPr lvl="1">
              <a:buFont typeface="Wingdings" panose="05000000000000000000" pitchFamily="2" charset="2"/>
              <a:buChar char="§"/>
            </a:pPr>
            <a:r>
              <a:rPr lang="en-US" sz="3200" dirty="0"/>
              <a:t>Have no memory or feedback</a:t>
            </a:r>
          </a:p>
          <a:p>
            <a:pPr>
              <a:buFont typeface="Wingdings" panose="05000000000000000000" pitchFamily="2" charset="2"/>
              <a:buChar char="§"/>
            </a:pPr>
            <a:r>
              <a:rPr lang="en-US" sz="3400" dirty="0"/>
              <a:t>Sequential circuits</a:t>
            </a:r>
          </a:p>
          <a:p>
            <a:pPr lvl="1">
              <a:buFont typeface="Wingdings" panose="05000000000000000000" pitchFamily="2" charset="2"/>
              <a:buChar char="§"/>
            </a:pPr>
            <a:r>
              <a:rPr lang="en-US" sz="3200" dirty="0"/>
              <a:t>Works on present as well as past input</a:t>
            </a:r>
          </a:p>
          <a:p>
            <a:pPr lvl="1">
              <a:buFont typeface="Wingdings" panose="05000000000000000000" pitchFamily="2" charset="2"/>
              <a:buChar char="§"/>
            </a:pPr>
            <a:r>
              <a:rPr lang="en-US" sz="3200" dirty="0"/>
              <a:t>Supports memory and feedback</a:t>
            </a:r>
          </a:p>
        </p:txBody>
      </p:sp>
    </p:spTree>
    <p:extLst>
      <p:ext uri="{BB962C8B-B14F-4D97-AF65-F5344CB8AC3E}">
        <p14:creationId xmlns:p14="http://schemas.microsoft.com/office/powerpoint/2010/main" val="138766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Combinational Circuits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3" y="1532588"/>
            <a:ext cx="6600831" cy="4942828"/>
          </a:xfrm>
          <a:prstGeom prst="rect">
            <a:avLst/>
          </a:prstGeom>
        </p:spPr>
        <p:txBody>
          <a:bodyP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2400" dirty="0"/>
              <a:t>Digital electronics is divided into two major types of circuits</a:t>
            </a:r>
          </a:p>
          <a:p>
            <a:pPr>
              <a:lnSpc>
                <a:spcPct val="120000"/>
              </a:lnSpc>
              <a:buFont typeface="Wingdings" panose="05000000000000000000" pitchFamily="2" charset="2"/>
              <a:buChar char="§"/>
            </a:pPr>
            <a:r>
              <a:rPr lang="en-US" sz="2400" dirty="0"/>
              <a:t>Combinational circuits</a:t>
            </a:r>
          </a:p>
          <a:p>
            <a:pPr lvl="1">
              <a:lnSpc>
                <a:spcPct val="120000"/>
              </a:lnSpc>
              <a:buFont typeface="Wingdings" panose="05000000000000000000" pitchFamily="2" charset="2"/>
              <a:buChar char="§"/>
            </a:pPr>
            <a:r>
              <a:rPr lang="en-US" sz="2000" dirty="0"/>
              <a:t>Work only on present input signals</a:t>
            </a:r>
          </a:p>
          <a:p>
            <a:pPr lvl="1">
              <a:lnSpc>
                <a:spcPct val="120000"/>
              </a:lnSpc>
              <a:buFont typeface="Wingdings" panose="05000000000000000000" pitchFamily="2" charset="2"/>
              <a:buChar char="§"/>
            </a:pPr>
            <a:r>
              <a:rPr lang="en-US" sz="2000" dirty="0"/>
              <a:t>Have no memory or feedback</a:t>
            </a:r>
          </a:p>
          <a:p>
            <a:pPr lvl="1">
              <a:lnSpc>
                <a:spcPct val="120000"/>
              </a:lnSpc>
              <a:buFont typeface="Wingdings" panose="05000000000000000000" pitchFamily="2" charset="2"/>
              <a:buChar char="§"/>
            </a:pPr>
            <a:r>
              <a:rPr lang="en-US" sz="2000" dirty="0"/>
              <a:t>These are easy to implement and faster to operate</a:t>
            </a:r>
          </a:p>
          <a:p>
            <a:pPr>
              <a:lnSpc>
                <a:spcPct val="120000"/>
              </a:lnSpc>
              <a:buFont typeface="Wingdings" panose="05000000000000000000" pitchFamily="2" charset="2"/>
              <a:buChar char="§"/>
            </a:pPr>
            <a:r>
              <a:rPr lang="en-US" sz="2400" dirty="0"/>
              <a:t>Sequential circuits</a:t>
            </a:r>
          </a:p>
          <a:p>
            <a:pPr lvl="1">
              <a:lnSpc>
                <a:spcPct val="120000"/>
              </a:lnSpc>
              <a:buFont typeface="Wingdings" panose="05000000000000000000" pitchFamily="2" charset="2"/>
              <a:buChar char="§"/>
            </a:pPr>
            <a:r>
              <a:rPr lang="en-US" sz="2000" dirty="0"/>
              <a:t>Works on present as well as past input</a:t>
            </a:r>
          </a:p>
          <a:p>
            <a:pPr lvl="1">
              <a:lnSpc>
                <a:spcPct val="120000"/>
              </a:lnSpc>
              <a:buFont typeface="Wingdings" panose="05000000000000000000" pitchFamily="2" charset="2"/>
              <a:buChar char="§"/>
            </a:pPr>
            <a:r>
              <a:rPr lang="en-US" sz="2000" dirty="0"/>
              <a:t>Supports memory and feedback</a:t>
            </a:r>
          </a:p>
          <a:p>
            <a:pPr lvl="1">
              <a:lnSpc>
                <a:spcPct val="120000"/>
              </a:lnSpc>
              <a:buFont typeface="Wingdings" panose="05000000000000000000" pitchFamily="2" charset="2"/>
              <a:buChar char="§"/>
            </a:pPr>
            <a:r>
              <a:rPr lang="en-US" sz="2000" dirty="0"/>
              <a:t>These are difficult to implement and slower to operate</a:t>
            </a:r>
          </a:p>
        </p:txBody>
      </p:sp>
      <p:pic>
        <p:nvPicPr>
          <p:cNvPr id="1026" name="Picture 2" descr="sequential circuits">
            <a:extLst>
              <a:ext uri="{FF2B5EF4-FFF2-40B4-BE49-F238E27FC236}">
                <a16:creationId xmlns:a16="http://schemas.microsoft.com/office/drawing/2014/main" id="{49C8A989-87A9-A1D0-2503-D45C5E90315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589" t="19592" r="6415" b="10980"/>
          <a:stretch/>
        </p:blipFill>
        <p:spPr bwMode="auto">
          <a:xfrm>
            <a:off x="6258585" y="2007477"/>
            <a:ext cx="5933415" cy="35551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8073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Combinational Circuits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3" y="1532588"/>
            <a:ext cx="11743017" cy="2463830"/>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AOI, or AND-OR-INVERTER circuit is formed when the output of a SOP form is inverted. The AOI configuration lends itself to product-of-sums (POS).</a:t>
            </a:r>
          </a:p>
          <a:p>
            <a:pPr>
              <a:buFont typeface="Wingdings" panose="05000000000000000000" pitchFamily="2" charset="2"/>
              <a:buChar char="§"/>
            </a:pPr>
            <a:r>
              <a:rPr lang="en-US" sz="3400" dirty="0"/>
              <a:t>Here is an example of an AOI circuit, which can be expressed as POS using </a:t>
            </a:r>
            <a:r>
              <a:rPr lang="en-US" sz="3400" dirty="0" err="1"/>
              <a:t>DeMorgan’s</a:t>
            </a:r>
            <a:r>
              <a:rPr lang="en-US" sz="3400" dirty="0"/>
              <a:t> theorem.</a:t>
            </a:r>
          </a:p>
        </p:txBody>
      </p:sp>
      <p:grpSp>
        <p:nvGrpSpPr>
          <p:cNvPr id="4" name="Group 3">
            <a:extLst>
              <a:ext uri="{FF2B5EF4-FFF2-40B4-BE49-F238E27FC236}">
                <a16:creationId xmlns:a16="http://schemas.microsoft.com/office/drawing/2014/main" id="{2DB7B822-816D-6930-A71C-04A5319C99F9}"/>
              </a:ext>
            </a:extLst>
          </p:cNvPr>
          <p:cNvGrpSpPr/>
          <p:nvPr/>
        </p:nvGrpSpPr>
        <p:grpSpPr>
          <a:xfrm>
            <a:off x="2247900" y="4263117"/>
            <a:ext cx="7696200" cy="1708150"/>
            <a:chOff x="990600" y="4191000"/>
            <a:chExt cx="7696200" cy="1708150"/>
          </a:xfrm>
        </p:grpSpPr>
        <p:sp>
          <p:nvSpPr>
            <p:cNvPr id="5" name="Text Box 10">
              <a:extLst>
                <a:ext uri="{FF2B5EF4-FFF2-40B4-BE49-F238E27FC236}">
                  <a16:creationId xmlns:a16="http://schemas.microsoft.com/office/drawing/2014/main" id="{2C0AC579-F542-C49D-79DF-D13BD504051A}"/>
                </a:ext>
              </a:extLst>
            </p:cNvPr>
            <p:cNvSpPr txBox="1">
              <a:spLocks noChangeArrowheads="1"/>
            </p:cNvSpPr>
            <p:nvPr/>
          </p:nvSpPr>
          <p:spPr bwMode="auto">
            <a:xfrm>
              <a:off x="7924800" y="5562600"/>
              <a:ext cx="762000" cy="336550"/>
            </a:xfrm>
            <a:prstGeom prst="rect">
              <a:avLst/>
            </a:prstGeom>
            <a:noFill/>
            <a:ln>
              <a:noFill/>
            </a:ln>
            <a:effec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1600">
                  <a:solidFill>
                    <a:srgbClr val="008000"/>
                  </a:solidFill>
                  <a:latin typeface="Arial" panose="020B0604020202020204" pitchFamily="34" charset="0"/>
                </a:rPr>
                <a:t>POS</a:t>
              </a:r>
            </a:p>
          </p:txBody>
        </p:sp>
        <p:pic>
          <p:nvPicPr>
            <p:cNvPr id="6" name="Picture 5">
              <a:extLst>
                <a:ext uri="{FF2B5EF4-FFF2-40B4-BE49-F238E27FC236}">
                  <a16:creationId xmlns:a16="http://schemas.microsoft.com/office/drawing/2014/main" id="{71326C23-C1C0-E186-2222-E6086676F3AF}"/>
                </a:ext>
              </a:extLst>
            </p:cNvPr>
            <p:cNvPicPr>
              <a:picLocks/>
            </p:cNvPicPr>
            <p:nvPr/>
          </p:nvPicPr>
          <p:blipFill>
            <a:blip r:embed="rId3"/>
            <a:stretch>
              <a:fillRect/>
            </a:stretch>
          </p:blipFill>
          <p:spPr>
            <a:xfrm>
              <a:off x="1295400" y="4267200"/>
              <a:ext cx="6324600" cy="1511300"/>
            </a:xfrm>
            <a:prstGeom prst="rect">
              <a:avLst/>
            </a:prstGeom>
          </p:spPr>
        </p:pic>
        <p:grpSp>
          <p:nvGrpSpPr>
            <p:cNvPr id="7" name="Group 32">
              <a:extLst>
                <a:ext uri="{FF2B5EF4-FFF2-40B4-BE49-F238E27FC236}">
                  <a16:creationId xmlns:a16="http://schemas.microsoft.com/office/drawing/2014/main" id="{E9965265-92E7-3C27-5CD2-E6ED82C4651C}"/>
                </a:ext>
              </a:extLst>
            </p:cNvPr>
            <p:cNvGrpSpPr/>
            <p:nvPr/>
          </p:nvGrpSpPr>
          <p:grpSpPr bwMode="auto">
            <a:xfrm>
              <a:off x="2819400" y="5486400"/>
              <a:ext cx="533400" cy="336550"/>
              <a:chOff x="2832" y="3388"/>
              <a:chExt cx="336" cy="212"/>
            </a:xfrm>
          </p:grpSpPr>
          <p:sp>
            <p:nvSpPr>
              <p:cNvPr id="45" name="Text Box 33">
                <a:extLst>
                  <a:ext uri="{FF2B5EF4-FFF2-40B4-BE49-F238E27FC236}">
                    <a16:creationId xmlns:a16="http://schemas.microsoft.com/office/drawing/2014/main" id="{847C3B24-E0EF-70AA-D6BA-1D35487FC240}"/>
                  </a:ext>
                </a:extLst>
              </p:cNvPr>
              <p:cNvSpPr txBox="1">
                <a:spLocks noChangeArrowheads="1"/>
              </p:cNvSpPr>
              <p:nvPr/>
            </p:nvSpPr>
            <p:spPr bwMode="auto">
              <a:xfrm>
                <a:off x="2832" y="3388"/>
                <a:ext cx="336" cy="212"/>
              </a:xfrm>
              <a:prstGeom prst="rect">
                <a:avLst/>
              </a:prstGeom>
              <a:noFill/>
              <a:ln>
                <a:noFill/>
              </a:ln>
              <a:effec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1600" i="1">
                    <a:solidFill>
                      <a:srgbClr val="FF0000"/>
                    </a:solidFill>
                    <a:latin typeface="Arial" panose="020B0604020202020204" pitchFamily="34" charset="0"/>
                  </a:rPr>
                  <a:t>DE</a:t>
                </a:r>
              </a:p>
            </p:txBody>
          </p:sp>
          <p:sp>
            <p:nvSpPr>
              <p:cNvPr id="46" name="Line 34">
                <a:extLst>
                  <a:ext uri="{FF2B5EF4-FFF2-40B4-BE49-F238E27FC236}">
                    <a16:creationId xmlns:a16="http://schemas.microsoft.com/office/drawing/2014/main" id="{9B4761B8-B5ED-5154-4138-7972AEC1962B}"/>
                  </a:ext>
                </a:extLst>
              </p:cNvPr>
              <p:cNvSpPr>
                <a:spLocks noChangeShapeType="1"/>
              </p:cNvSpPr>
              <p:nvPr/>
            </p:nvSpPr>
            <p:spPr bwMode="auto">
              <a:xfrm>
                <a:off x="2900" y="3424"/>
                <a:ext cx="96" cy="0"/>
              </a:xfrm>
              <a:prstGeom prst="line">
                <a:avLst/>
              </a:prstGeom>
              <a:noFill/>
              <a:ln w="12700">
                <a:solidFill>
                  <a:srgbClr val="FF0000"/>
                </a:solidFill>
                <a:round/>
                <a:headEnd/>
                <a:tailEnd/>
              </a:ln>
              <a:effectLst/>
            </p:spPr>
            <p:txBody>
              <a:bodyPr/>
              <a:lstStyle/>
              <a:p>
                <a:endParaRPr lang="en-GB"/>
              </a:p>
            </p:txBody>
          </p:sp>
        </p:grpSp>
        <p:grpSp>
          <p:nvGrpSpPr>
            <p:cNvPr id="8" name="Group 35">
              <a:extLst>
                <a:ext uri="{FF2B5EF4-FFF2-40B4-BE49-F238E27FC236}">
                  <a16:creationId xmlns:a16="http://schemas.microsoft.com/office/drawing/2014/main" id="{7DFFCC2C-2702-6DD2-3113-5613E20BEFE0}"/>
                </a:ext>
              </a:extLst>
            </p:cNvPr>
            <p:cNvGrpSpPr/>
            <p:nvPr/>
          </p:nvGrpSpPr>
          <p:grpSpPr bwMode="auto">
            <a:xfrm>
              <a:off x="2743200" y="4343400"/>
              <a:ext cx="762000" cy="336550"/>
              <a:chOff x="2784" y="2736"/>
              <a:chExt cx="480" cy="212"/>
            </a:xfrm>
          </p:grpSpPr>
          <p:sp>
            <p:nvSpPr>
              <p:cNvPr id="43" name="Text Box 36">
                <a:extLst>
                  <a:ext uri="{FF2B5EF4-FFF2-40B4-BE49-F238E27FC236}">
                    <a16:creationId xmlns:a16="http://schemas.microsoft.com/office/drawing/2014/main" id="{133C3D38-7AEC-1E88-468C-E2B043F388D3}"/>
                  </a:ext>
                </a:extLst>
              </p:cNvPr>
              <p:cNvSpPr txBox="1">
                <a:spLocks noChangeArrowheads="1"/>
              </p:cNvSpPr>
              <p:nvPr/>
            </p:nvSpPr>
            <p:spPr bwMode="auto">
              <a:xfrm>
                <a:off x="2784" y="2736"/>
                <a:ext cx="480" cy="212"/>
              </a:xfrm>
              <a:prstGeom prst="rect">
                <a:avLst/>
              </a:prstGeom>
              <a:noFill/>
              <a:ln>
                <a:noFill/>
              </a:ln>
              <a:effec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1600" i="1">
                    <a:solidFill>
                      <a:srgbClr val="FF0000"/>
                    </a:solidFill>
                    <a:latin typeface="Arial" panose="020B0604020202020204" pitchFamily="34" charset="0"/>
                  </a:rPr>
                  <a:t>ABC</a:t>
                </a:r>
              </a:p>
            </p:txBody>
          </p:sp>
          <p:sp>
            <p:nvSpPr>
              <p:cNvPr id="44" name="Line 37">
                <a:extLst>
                  <a:ext uri="{FF2B5EF4-FFF2-40B4-BE49-F238E27FC236}">
                    <a16:creationId xmlns:a16="http://schemas.microsoft.com/office/drawing/2014/main" id="{7ED9CEF3-2866-E7B5-40AA-A88CE762F9BA}"/>
                  </a:ext>
                </a:extLst>
              </p:cNvPr>
              <p:cNvSpPr>
                <a:spLocks noChangeShapeType="1"/>
              </p:cNvSpPr>
              <p:nvPr/>
            </p:nvSpPr>
            <p:spPr bwMode="auto">
              <a:xfrm>
                <a:off x="3020" y="2780"/>
                <a:ext cx="96" cy="0"/>
              </a:xfrm>
              <a:prstGeom prst="line">
                <a:avLst/>
              </a:prstGeom>
              <a:noFill/>
              <a:ln w="12700">
                <a:solidFill>
                  <a:srgbClr val="FF0000"/>
                </a:solidFill>
                <a:round/>
                <a:headEnd/>
                <a:tailEnd/>
              </a:ln>
              <a:effectLst/>
            </p:spPr>
            <p:txBody>
              <a:bodyPr/>
              <a:lstStyle/>
              <a:p>
                <a:endParaRPr lang="en-GB"/>
              </a:p>
            </p:txBody>
          </p:sp>
        </p:grpSp>
        <p:grpSp>
          <p:nvGrpSpPr>
            <p:cNvPr id="9" name="Group 38">
              <a:extLst>
                <a:ext uri="{FF2B5EF4-FFF2-40B4-BE49-F238E27FC236}">
                  <a16:creationId xmlns:a16="http://schemas.microsoft.com/office/drawing/2014/main" id="{08D1A6F8-AEF8-690B-49E1-E8BC8E57C09C}"/>
                </a:ext>
              </a:extLst>
            </p:cNvPr>
            <p:cNvGrpSpPr/>
            <p:nvPr/>
          </p:nvGrpSpPr>
          <p:grpSpPr bwMode="auto">
            <a:xfrm>
              <a:off x="990600" y="4191000"/>
              <a:ext cx="304800" cy="1631950"/>
              <a:chOff x="1776" y="2640"/>
              <a:chExt cx="192" cy="1028"/>
            </a:xfrm>
          </p:grpSpPr>
          <p:sp>
            <p:nvSpPr>
              <p:cNvPr id="36" name="Text Box 39">
                <a:extLst>
                  <a:ext uri="{FF2B5EF4-FFF2-40B4-BE49-F238E27FC236}">
                    <a16:creationId xmlns:a16="http://schemas.microsoft.com/office/drawing/2014/main" id="{5360D2AF-BBCA-5E7D-DA27-DFA6D095E147}"/>
                  </a:ext>
                </a:extLst>
              </p:cNvPr>
              <p:cNvSpPr txBox="1">
                <a:spLocks noChangeArrowheads="1"/>
              </p:cNvSpPr>
              <p:nvPr/>
            </p:nvSpPr>
            <p:spPr bwMode="auto">
              <a:xfrm>
                <a:off x="1776" y="2640"/>
                <a:ext cx="192" cy="212"/>
              </a:xfrm>
              <a:prstGeom prst="rect">
                <a:avLst/>
              </a:prstGeom>
              <a:noFill/>
              <a:ln>
                <a:noFill/>
              </a:ln>
              <a:effec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1600" i="1">
                    <a:solidFill>
                      <a:srgbClr val="FF0000"/>
                    </a:solidFill>
                    <a:latin typeface="Arial" panose="020B0604020202020204" pitchFamily="34" charset="0"/>
                  </a:rPr>
                  <a:t>A</a:t>
                </a:r>
              </a:p>
            </p:txBody>
          </p:sp>
          <p:sp>
            <p:nvSpPr>
              <p:cNvPr id="37" name="Text Box 40">
                <a:extLst>
                  <a:ext uri="{FF2B5EF4-FFF2-40B4-BE49-F238E27FC236}">
                    <a16:creationId xmlns:a16="http://schemas.microsoft.com/office/drawing/2014/main" id="{715E7B4D-DAC5-FE68-0E59-E3466D3F3B4E}"/>
                  </a:ext>
                </a:extLst>
              </p:cNvPr>
              <p:cNvSpPr txBox="1">
                <a:spLocks noChangeArrowheads="1"/>
              </p:cNvSpPr>
              <p:nvPr/>
            </p:nvSpPr>
            <p:spPr bwMode="auto">
              <a:xfrm>
                <a:off x="1776" y="2793"/>
                <a:ext cx="192" cy="212"/>
              </a:xfrm>
              <a:prstGeom prst="rect">
                <a:avLst/>
              </a:prstGeom>
              <a:noFill/>
              <a:ln>
                <a:noFill/>
              </a:ln>
              <a:effec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1600" i="1">
                    <a:solidFill>
                      <a:srgbClr val="FF0000"/>
                    </a:solidFill>
                    <a:latin typeface="Arial" panose="020B0604020202020204" pitchFamily="34" charset="0"/>
                  </a:rPr>
                  <a:t>B</a:t>
                </a:r>
              </a:p>
            </p:txBody>
          </p:sp>
          <p:sp>
            <p:nvSpPr>
              <p:cNvPr id="38" name="Text Box 41">
                <a:extLst>
                  <a:ext uri="{FF2B5EF4-FFF2-40B4-BE49-F238E27FC236}">
                    <a16:creationId xmlns:a16="http://schemas.microsoft.com/office/drawing/2014/main" id="{268B0DB4-4A1D-BFA5-DA22-D29457517A0F}"/>
                  </a:ext>
                </a:extLst>
              </p:cNvPr>
              <p:cNvSpPr txBox="1">
                <a:spLocks noChangeArrowheads="1"/>
              </p:cNvSpPr>
              <p:nvPr/>
            </p:nvSpPr>
            <p:spPr bwMode="auto">
              <a:xfrm>
                <a:off x="1776" y="2976"/>
                <a:ext cx="192" cy="212"/>
              </a:xfrm>
              <a:prstGeom prst="rect">
                <a:avLst/>
              </a:prstGeom>
              <a:noFill/>
              <a:ln>
                <a:noFill/>
              </a:ln>
              <a:effec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1600" i="1">
                    <a:solidFill>
                      <a:srgbClr val="FF0000"/>
                    </a:solidFill>
                    <a:latin typeface="Arial" panose="020B0604020202020204" pitchFamily="34" charset="0"/>
                  </a:rPr>
                  <a:t>C</a:t>
                </a:r>
              </a:p>
            </p:txBody>
          </p:sp>
          <p:sp>
            <p:nvSpPr>
              <p:cNvPr id="39" name="Line 42">
                <a:extLst>
                  <a:ext uri="{FF2B5EF4-FFF2-40B4-BE49-F238E27FC236}">
                    <a16:creationId xmlns:a16="http://schemas.microsoft.com/office/drawing/2014/main" id="{1C131126-8248-2CCC-7F38-25C6315B27A5}"/>
                  </a:ext>
                </a:extLst>
              </p:cNvPr>
              <p:cNvSpPr>
                <a:spLocks noChangeShapeType="1"/>
              </p:cNvSpPr>
              <p:nvPr/>
            </p:nvSpPr>
            <p:spPr bwMode="auto">
              <a:xfrm>
                <a:off x="1840" y="3016"/>
                <a:ext cx="96" cy="0"/>
              </a:xfrm>
              <a:prstGeom prst="line">
                <a:avLst/>
              </a:prstGeom>
              <a:noFill/>
              <a:ln w="12700">
                <a:solidFill>
                  <a:srgbClr val="FF0000"/>
                </a:solidFill>
                <a:round/>
                <a:headEnd/>
                <a:tailEnd/>
              </a:ln>
              <a:effectLst/>
            </p:spPr>
            <p:txBody>
              <a:bodyPr/>
              <a:lstStyle/>
              <a:p>
                <a:endParaRPr lang="en-GB"/>
              </a:p>
            </p:txBody>
          </p:sp>
          <p:sp>
            <p:nvSpPr>
              <p:cNvPr id="40" name="Text Box 43">
                <a:extLst>
                  <a:ext uri="{FF2B5EF4-FFF2-40B4-BE49-F238E27FC236}">
                    <a16:creationId xmlns:a16="http://schemas.microsoft.com/office/drawing/2014/main" id="{B3B02CF3-68B7-C9FA-10B0-C6B562D3BC5C}"/>
                  </a:ext>
                </a:extLst>
              </p:cNvPr>
              <p:cNvSpPr txBox="1">
                <a:spLocks noChangeArrowheads="1"/>
              </p:cNvSpPr>
              <p:nvPr/>
            </p:nvSpPr>
            <p:spPr bwMode="auto">
              <a:xfrm>
                <a:off x="1776" y="3456"/>
                <a:ext cx="192" cy="212"/>
              </a:xfrm>
              <a:prstGeom prst="rect">
                <a:avLst/>
              </a:prstGeom>
              <a:noFill/>
              <a:ln>
                <a:noFill/>
              </a:ln>
              <a:effec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1600" i="1">
                    <a:solidFill>
                      <a:srgbClr val="FF0000"/>
                    </a:solidFill>
                    <a:latin typeface="Arial" panose="020B0604020202020204" pitchFamily="34" charset="0"/>
                  </a:rPr>
                  <a:t>E</a:t>
                </a:r>
              </a:p>
            </p:txBody>
          </p:sp>
          <p:sp>
            <p:nvSpPr>
              <p:cNvPr id="41" name="Text Box 44">
                <a:extLst>
                  <a:ext uri="{FF2B5EF4-FFF2-40B4-BE49-F238E27FC236}">
                    <a16:creationId xmlns:a16="http://schemas.microsoft.com/office/drawing/2014/main" id="{4220E3A1-991B-AF3C-3592-0DD4B41E9447}"/>
                  </a:ext>
                </a:extLst>
              </p:cNvPr>
              <p:cNvSpPr txBox="1">
                <a:spLocks noChangeArrowheads="1"/>
              </p:cNvSpPr>
              <p:nvPr/>
            </p:nvSpPr>
            <p:spPr bwMode="auto">
              <a:xfrm>
                <a:off x="1776" y="3244"/>
                <a:ext cx="192" cy="212"/>
              </a:xfrm>
              <a:prstGeom prst="rect">
                <a:avLst/>
              </a:prstGeom>
              <a:noFill/>
              <a:ln>
                <a:noFill/>
              </a:ln>
              <a:effec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1600" i="1">
                    <a:solidFill>
                      <a:srgbClr val="FF0000"/>
                    </a:solidFill>
                    <a:latin typeface="Arial" panose="020B0604020202020204" pitchFamily="34" charset="0"/>
                  </a:rPr>
                  <a:t>D</a:t>
                </a:r>
              </a:p>
            </p:txBody>
          </p:sp>
          <p:sp>
            <p:nvSpPr>
              <p:cNvPr id="42" name="Line 45">
                <a:extLst>
                  <a:ext uri="{FF2B5EF4-FFF2-40B4-BE49-F238E27FC236}">
                    <a16:creationId xmlns:a16="http://schemas.microsoft.com/office/drawing/2014/main" id="{73DB438A-DCF1-3A69-8456-3DC80E0EF160}"/>
                  </a:ext>
                </a:extLst>
              </p:cNvPr>
              <p:cNvSpPr>
                <a:spLocks noChangeShapeType="1"/>
              </p:cNvSpPr>
              <p:nvPr/>
            </p:nvSpPr>
            <p:spPr bwMode="auto">
              <a:xfrm>
                <a:off x="1828" y="3280"/>
                <a:ext cx="96" cy="0"/>
              </a:xfrm>
              <a:prstGeom prst="line">
                <a:avLst/>
              </a:prstGeom>
              <a:noFill/>
              <a:ln w="12700">
                <a:solidFill>
                  <a:srgbClr val="FF0000"/>
                </a:solidFill>
                <a:round/>
                <a:headEnd/>
                <a:tailEnd/>
              </a:ln>
              <a:effectLst/>
            </p:spPr>
            <p:txBody>
              <a:bodyPr/>
              <a:lstStyle/>
              <a:p>
                <a:endParaRPr lang="en-GB"/>
              </a:p>
            </p:txBody>
          </p:sp>
        </p:grpSp>
        <p:grpSp>
          <p:nvGrpSpPr>
            <p:cNvPr id="10" name="Group 47">
              <a:extLst>
                <a:ext uri="{FF2B5EF4-FFF2-40B4-BE49-F238E27FC236}">
                  <a16:creationId xmlns:a16="http://schemas.microsoft.com/office/drawing/2014/main" id="{3D690679-00C6-1444-66D9-790B2BFEF34A}"/>
                </a:ext>
              </a:extLst>
            </p:cNvPr>
            <p:cNvGrpSpPr/>
            <p:nvPr/>
          </p:nvGrpSpPr>
          <p:grpSpPr bwMode="auto">
            <a:xfrm>
              <a:off x="3810000" y="4692650"/>
              <a:ext cx="1676400" cy="336550"/>
              <a:chOff x="3360" y="2976"/>
              <a:chExt cx="1056" cy="212"/>
            </a:xfrm>
          </p:grpSpPr>
          <p:sp>
            <p:nvSpPr>
              <p:cNvPr id="32" name="Text Box 48">
                <a:extLst>
                  <a:ext uri="{FF2B5EF4-FFF2-40B4-BE49-F238E27FC236}">
                    <a16:creationId xmlns:a16="http://schemas.microsoft.com/office/drawing/2014/main" id="{B3477D1C-0ACF-FE46-81D0-79454C54A8C5}"/>
                  </a:ext>
                </a:extLst>
              </p:cNvPr>
              <p:cNvSpPr txBox="1">
                <a:spLocks noChangeArrowheads="1"/>
              </p:cNvSpPr>
              <p:nvPr/>
            </p:nvSpPr>
            <p:spPr bwMode="auto">
              <a:xfrm>
                <a:off x="3360" y="2976"/>
                <a:ext cx="672" cy="212"/>
              </a:xfrm>
              <a:prstGeom prst="rect">
                <a:avLst/>
              </a:prstGeom>
              <a:noFill/>
              <a:ln>
                <a:noFill/>
              </a:ln>
              <a:effec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1600" i="1">
                    <a:solidFill>
                      <a:srgbClr val="FF0000"/>
                    </a:solidFill>
                    <a:latin typeface="Arial" panose="020B0604020202020204" pitchFamily="34" charset="0"/>
                  </a:rPr>
                  <a:t>X = ABC</a:t>
                </a:r>
              </a:p>
            </p:txBody>
          </p:sp>
          <p:sp>
            <p:nvSpPr>
              <p:cNvPr id="33" name="Text Box 49">
                <a:extLst>
                  <a:ext uri="{FF2B5EF4-FFF2-40B4-BE49-F238E27FC236}">
                    <a16:creationId xmlns:a16="http://schemas.microsoft.com/office/drawing/2014/main" id="{4996A52C-31BE-72AF-4B77-B094AF4F36DD}"/>
                  </a:ext>
                </a:extLst>
              </p:cNvPr>
              <p:cNvSpPr txBox="1">
                <a:spLocks noChangeArrowheads="1"/>
              </p:cNvSpPr>
              <p:nvPr/>
            </p:nvSpPr>
            <p:spPr bwMode="auto">
              <a:xfrm>
                <a:off x="3840" y="2976"/>
                <a:ext cx="576" cy="212"/>
              </a:xfrm>
              <a:prstGeom prst="rect">
                <a:avLst/>
              </a:prstGeom>
              <a:noFill/>
              <a:ln>
                <a:noFill/>
              </a:ln>
              <a:effec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1600" i="1">
                    <a:solidFill>
                      <a:srgbClr val="FF0000"/>
                    </a:solidFill>
                    <a:latin typeface="Arial" panose="020B0604020202020204" pitchFamily="34" charset="0"/>
                  </a:rPr>
                  <a:t> + DE</a:t>
                </a:r>
              </a:p>
            </p:txBody>
          </p:sp>
          <p:sp>
            <p:nvSpPr>
              <p:cNvPr id="34" name="Line 50">
                <a:extLst>
                  <a:ext uri="{FF2B5EF4-FFF2-40B4-BE49-F238E27FC236}">
                    <a16:creationId xmlns:a16="http://schemas.microsoft.com/office/drawing/2014/main" id="{126F9754-15FD-5C7E-E585-6AFA28EB7681}"/>
                  </a:ext>
                </a:extLst>
              </p:cNvPr>
              <p:cNvSpPr>
                <a:spLocks noChangeShapeType="1"/>
              </p:cNvSpPr>
              <p:nvPr/>
            </p:nvSpPr>
            <p:spPr bwMode="auto">
              <a:xfrm>
                <a:off x="4052" y="3016"/>
                <a:ext cx="96" cy="1"/>
              </a:xfrm>
              <a:prstGeom prst="line">
                <a:avLst/>
              </a:prstGeom>
              <a:noFill/>
              <a:ln w="12700">
                <a:solidFill>
                  <a:srgbClr val="FF0000"/>
                </a:solidFill>
                <a:round/>
                <a:headEnd/>
                <a:tailEnd/>
              </a:ln>
              <a:effectLst/>
            </p:spPr>
            <p:txBody>
              <a:bodyPr/>
              <a:lstStyle/>
              <a:p>
                <a:endParaRPr lang="en-GB"/>
              </a:p>
            </p:txBody>
          </p:sp>
          <p:sp>
            <p:nvSpPr>
              <p:cNvPr id="35" name="Line 51">
                <a:extLst>
                  <a:ext uri="{FF2B5EF4-FFF2-40B4-BE49-F238E27FC236}">
                    <a16:creationId xmlns:a16="http://schemas.microsoft.com/office/drawing/2014/main" id="{C3815951-D03A-6E64-CEE0-1B4DB9594A1C}"/>
                  </a:ext>
                </a:extLst>
              </p:cNvPr>
              <p:cNvSpPr>
                <a:spLocks noChangeShapeType="1"/>
              </p:cNvSpPr>
              <p:nvPr/>
            </p:nvSpPr>
            <p:spPr bwMode="auto">
              <a:xfrm>
                <a:off x="3836" y="3020"/>
                <a:ext cx="96" cy="0"/>
              </a:xfrm>
              <a:prstGeom prst="line">
                <a:avLst/>
              </a:prstGeom>
              <a:noFill/>
              <a:ln w="12700">
                <a:solidFill>
                  <a:srgbClr val="FF0000"/>
                </a:solidFill>
                <a:round/>
                <a:headEnd/>
                <a:tailEnd/>
              </a:ln>
              <a:effectLst/>
            </p:spPr>
            <p:txBody>
              <a:bodyPr/>
              <a:lstStyle/>
              <a:p>
                <a:endParaRPr lang="en-GB"/>
              </a:p>
            </p:txBody>
          </p:sp>
        </p:grpSp>
        <p:grpSp>
          <p:nvGrpSpPr>
            <p:cNvPr id="11" name="Group 58">
              <a:extLst>
                <a:ext uri="{FF2B5EF4-FFF2-40B4-BE49-F238E27FC236}">
                  <a16:creationId xmlns:a16="http://schemas.microsoft.com/office/drawing/2014/main" id="{284B5D60-D894-15BF-66EB-B827AFA4D7CB}"/>
                </a:ext>
              </a:extLst>
            </p:cNvPr>
            <p:cNvGrpSpPr/>
            <p:nvPr/>
          </p:nvGrpSpPr>
          <p:grpSpPr bwMode="auto">
            <a:xfrm>
              <a:off x="5791200" y="4692650"/>
              <a:ext cx="1676400" cy="336550"/>
              <a:chOff x="3744" y="2956"/>
              <a:chExt cx="1056" cy="212"/>
            </a:xfrm>
          </p:grpSpPr>
          <p:grpSp>
            <p:nvGrpSpPr>
              <p:cNvPr id="26" name="Group 52">
                <a:extLst>
                  <a:ext uri="{FF2B5EF4-FFF2-40B4-BE49-F238E27FC236}">
                    <a16:creationId xmlns:a16="http://schemas.microsoft.com/office/drawing/2014/main" id="{69B75474-22E4-8B4B-F73C-A88A5A6BFBFB}"/>
                  </a:ext>
                </a:extLst>
              </p:cNvPr>
              <p:cNvGrpSpPr/>
              <p:nvPr/>
            </p:nvGrpSpPr>
            <p:grpSpPr bwMode="auto">
              <a:xfrm>
                <a:off x="3744" y="2956"/>
                <a:ext cx="1056" cy="212"/>
                <a:chOff x="3360" y="2976"/>
                <a:chExt cx="1056" cy="212"/>
              </a:xfrm>
            </p:grpSpPr>
            <p:sp>
              <p:nvSpPr>
                <p:cNvPr id="28" name="Text Box 53">
                  <a:extLst>
                    <a:ext uri="{FF2B5EF4-FFF2-40B4-BE49-F238E27FC236}">
                      <a16:creationId xmlns:a16="http://schemas.microsoft.com/office/drawing/2014/main" id="{910B3B97-2A88-4CEB-F02A-478809DBF417}"/>
                    </a:ext>
                  </a:extLst>
                </p:cNvPr>
                <p:cNvSpPr txBox="1">
                  <a:spLocks noChangeArrowheads="1"/>
                </p:cNvSpPr>
                <p:nvPr/>
              </p:nvSpPr>
              <p:spPr bwMode="auto">
                <a:xfrm>
                  <a:off x="3360" y="2976"/>
                  <a:ext cx="672" cy="212"/>
                </a:xfrm>
                <a:prstGeom prst="rect">
                  <a:avLst/>
                </a:prstGeom>
                <a:noFill/>
                <a:ln>
                  <a:noFill/>
                </a:ln>
                <a:effec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1600" i="1">
                      <a:solidFill>
                        <a:srgbClr val="FF0000"/>
                      </a:solidFill>
                      <a:latin typeface="Arial" panose="020B0604020202020204" pitchFamily="34" charset="0"/>
                    </a:rPr>
                    <a:t>X = ABC</a:t>
                  </a:r>
                </a:p>
              </p:txBody>
            </p:sp>
            <p:sp>
              <p:nvSpPr>
                <p:cNvPr id="29" name="Text Box 54">
                  <a:extLst>
                    <a:ext uri="{FF2B5EF4-FFF2-40B4-BE49-F238E27FC236}">
                      <a16:creationId xmlns:a16="http://schemas.microsoft.com/office/drawing/2014/main" id="{220D4139-6881-AB8F-500C-199394F84E4A}"/>
                    </a:ext>
                  </a:extLst>
                </p:cNvPr>
                <p:cNvSpPr txBox="1">
                  <a:spLocks noChangeArrowheads="1"/>
                </p:cNvSpPr>
                <p:nvPr/>
              </p:nvSpPr>
              <p:spPr bwMode="auto">
                <a:xfrm>
                  <a:off x="3840" y="2976"/>
                  <a:ext cx="576" cy="212"/>
                </a:xfrm>
                <a:prstGeom prst="rect">
                  <a:avLst/>
                </a:prstGeom>
                <a:noFill/>
                <a:ln>
                  <a:noFill/>
                </a:ln>
                <a:effec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1600" i="1">
                      <a:solidFill>
                        <a:srgbClr val="FF0000"/>
                      </a:solidFill>
                      <a:latin typeface="Arial" panose="020B0604020202020204" pitchFamily="34" charset="0"/>
                    </a:rPr>
                    <a:t> + DE</a:t>
                  </a:r>
                </a:p>
              </p:txBody>
            </p:sp>
            <p:sp>
              <p:nvSpPr>
                <p:cNvPr id="30" name="Line 55">
                  <a:extLst>
                    <a:ext uri="{FF2B5EF4-FFF2-40B4-BE49-F238E27FC236}">
                      <a16:creationId xmlns:a16="http://schemas.microsoft.com/office/drawing/2014/main" id="{F468344E-9126-4A82-3983-E7FD80BF572D}"/>
                    </a:ext>
                  </a:extLst>
                </p:cNvPr>
                <p:cNvSpPr>
                  <a:spLocks noChangeShapeType="1"/>
                </p:cNvSpPr>
                <p:nvPr/>
              </p:nvSpPr>
              <p:spPr bwMode="auto">
                <a:xfrm>
                  <a:off x="4052" y="3016"/>
                  <a:ext cx="96" cy="1"/>
                </a:xfrm>
                <a:prstGeom prst="line">
                  <a:avLst/>
                </a:prstGeom>
                <a:noFill/>
                <a:ln w="12700">
                  <a:solidFill>
                    <a:srgbClr val="FF0000"/>
                  </a:solidFill>
                  <a:round/>
                  <a:headEnd/>
                  <a:tailEnd/>
                </a:ln>
                <a:effectLst/>
              </p:spPr>
              <p:txBody>
                <a:bodyPr/>
                <a:lstStyle/>
                <a:p>
                  <a:endParaRPr lang="en-GB"/>
                </a:p>
              </p:txBody>
            </p:sp>
            <p:sp>
              <p:nvSpPr>
                <p:cNvPr id="31" name="Line 56">
                  <a:extLst>
                    <a:ext uri="{FF2B5EF4-FFF2-40B4-BE49-F238E27FC236}">
                      <a16:creationId xmlns:a16="http://schemas.microsoft.com/office/drawing/2014/main" id="{0CD9319D-C59A-1C39-FEE6-1B24229A95B5}"/>
                    </a:ext>
                  </a:extLst>
                </p:cNvPr>
                <p:cNvSpPr>
                  <a:spLocks noChangeShapeType="1"/>
                </p:cNvSpPr>
                <p:nvPr/>
              </p:nvSpPr>
              <p:spPr bwMode="auto">
                <a:xfrm>
                  <a:off x="3836" y="3020"/>
                  <a:ext cx="96" cy="0"/>
                </a:xfrm>
                <a:prstGeom prst="line">
                  <a:avLst/>
                </a:prstGeom>
                <a:noFill/>
                <a:ln w="12700">
                  <a:solidFill>
                    <a:srgbClr val="FF0000"/>
                  </a:solidFill>
                  <a:round/>
                  <a:headEnd/>
                  <a:tailEnd/>
                </a:ln>
                <a:effectLst/>
              </p:spPr>
              <p:txBody>
                <a:bodyPr/>
                <a:lstStyle/>
                <a:p>
                  <a:endParaRPr lang="en-GB"/>
                </a:p>
              </p:txBody>
            </p:sp>
          </p:grpSp>
          <p:sp>
            <p:nvSpPr>
              <p:cNvPr id="27" name="Line 57">
                <a:extLst>
                  <a:ext uri="{FF2B5EF4-FFF2-40B4-BE49-F238E27FC236}">
                    <a16:creationId xmlns:a16="http://schemas.microsoft.com/office/drawing/2014/main" id="{FA74ED5D-97B6-D44F-35CC-A5793B9DA0A1}"/>
                  </a:ext>
                </a:extLst>
              </p:cNvPr>
              <p:cNvSpPr>
                <a:spLocks noChangeShapeType="1"/>
              </p:cNvSpPr>
              <p:nvPr/>
            </p:nvSpPr>
            <p:spPr bwMode="auto">
              <a:xfrm>
                <a:off x="4041" y="2970"/>
                <a:ext cx="576" cy="0"/>
              </a:xfrm>
              <a:prstGeom prst="line">
                <a:avLst/>
              </a:prstGeom>
              <a:noFill/>
              <a:ln w="12700">
                <a:solidFill>
                  <a:srgbClr val="FF0000"/>
                </a:solidFill>
                <a:round/>
                <a:headEnd/>
                <a:tailEnd/>
              </a:ln>
              <a:effectLst/>
            </p:spPr>
            <p:txBody>
              <a:bodyPr/>
              <a:lstStyle/>
              <a:p>
                <a:endParaRPr lang="en-GB"/>
              </a:p>
            </p:txBody>
          </p:sp>
        </p:grpSp>
        <p:grpSp>
          <p:nvGrpSpPr>
            <p:cNvPr id="12" name="Group 67">
              <a:extLst>
                <a:ext uri="{FF2B5EF4-FFF2-40B4-BE49-F238E27FC236}">
                  <a16:creationId xmlns:a16="http://schemas.microsoft.com/office/drawing/2014/main" id="{7701A62D-272C-569C-76B0-486CE7028FEA}"/>
                </a:ext>
              </a:extLst>
            </p:cNvPr>
            <p:cNvGrpSpPr/>
            <p:nvPr/>
          </p:nvGrpSpPr>
          <p:grpSpPr bwMode="auto">
            <a:xfrm>
              <a:off x="5791200" y="5562600"/>
              <a:ext cx="2590800" cy="336550"/>
              <a:chOff x="3744" y="3408"/>
              <a:chExt cx="1632" cy="212"/>
            </a:xfrm>
          </p:grpSpPr>
          <p:sp>
            <p:nvSpPr>
              <p:cNvPr id="22" name="Text Box 61">
                <a:extLst>
                  <a:ext uri="{FF2B5EF4-FFF2-40B4-BE49-F238E27FC236}">
                    <a16:creationId xmlns:a16="http://schemas.microsoft.com/office/drawing/2014/main" id="{AF689F18-CE7D-30DC-D4D4-B47983810A82}"/>
                  </a:ext>
                </a:extLst>
              </p:cNvPr>
              <p:cNvSpPr txBox="1">
                <a:spLocks noChangeArrowheads="1"/>
              </p:cNvSpPr>
              <p:nvPr/>
            </p:nvSpPr>
            <p:spPr bwMode="auto">
              <a:xfrm>
                <a:off x="3744" y="3408"/>
                <a:ext cx="1632" cy="212"/>
              </a:xfrm>
              <a:prstGeom prst="rect">
                <a:avLst/>
              </a:prstGeom>
              <a:noFill/>
              <a:ln>
                <a:noFill/>
              </a:ln>
              <a:effec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1600" i="1">
                    <a:solidFill>
                      <a:srgbClr val="FF0000"/>
                    </a:solidFill>
                    <a:latin typeface="Arial" panose="020B0604020202020204" pitchFamily="34" charset="0"/>
                  </a:rPr>
                  <a:t>X = </a:t>
                </a:r>
                <a:r>
                  <a:rPr lang="en-US" altLang="en-US" sz="1600">
                    <a:solidFill>
                      <a:srgbClr val="FF0000"/>
                    </a:solidFill>
                    <a:latin typeface="Arial" panose="020B0604020202020204" pitchFamily="34" charset="0"/>
                  </a:rPr>
                  <a:t>(</a:t>
                </a:r>
                <a:r>
                  <a:rPr lang="en-US" altLang="en-US" sz="1600" i="1">
                    <a:solidFill>
                      <a:srgbClr val="FF0000"/>
                    </a:solidFill>
                    <a:latin typeface="Arial" panose="020B0604020202020204" pitchFamily="34" charset="0"/>
                  </a:rPr>
                  <a:t>A + B + C</a:t>
                </a:r>
                <a:r>
                  <a:rPr lang="en-US" altLang="en-US" sz="1600">
                    <a:solidFill>
                      <a:srgbClr val="FF0000"/>
                    </a:solidFill>
                    <a:latin typeface="Arial" panose="020B0604020202020204" pitchFamily="34" charset="0"/>
                  </a:rPr>
                  <a:t>)(</a:t>
                </a:r>
                <a:r>
                  <a:rPr lang="en-US" altLang="en-US" sz="1600" i="1">
                    <a:solidFill>
                      <a:srgbClr val="FF0000"/>
                    </a:solidFill>
                    <a:latin typeface="Arial" panose="020B0604020202020204" pitchFamily="34" charset="0"/>
                  </a:rPr>
                  <a:t>D + E</a:t>
                </a:r>
                <a:r>
                  <a:rPr lang="en-US" altLang="en-US" sz="1600">
                    <a:solidFill>
                      <a:srgbClr val="FF0000"/>
                    </a:solidFill>
                    <a:latin typeface="Arial" panose="020B0604020202020204" pitchFamily="34" charset="0"/>
                  </a:rPr>
                  <a:t>)</a:t>
                </a:r>
                <a:endParaRPr lang="en-US" altLang="en-US" sz="1600" i="1">
                  <a:solidFill>
                    <a:srgbClr val="FF0000"/>
                  </a:solidFill>
                  <a:latin typeface="Arial" panose="020B0604020202020204" pitchFamily="34" charset="0"/>
                </a:endParaRPr>
              </a:p>
            </p:txBody>
          </p:sp>
          <p:sp>
            <p:nvSpPr>
              <p:cNvPr id="23" name="Line 63">
                <a:extLst>
                  <a:ext uri="{FF2B5EF4-FFF2-40B4-BE49-F238E27FC236}">
                    <a16:creationId xmlns:a16="http://schemas.microsoft.com/office/drawing/2014/main" id="{3EE2240A-6C8D-F26A-0590-7969E3FF814D}"/>
                  </a:ext>
                </a:extLst>
              </p:cNvPr>
              <p:cNvSpPr>
                <a:spLocks noChangeShapeType="1"/>
              </p:cNvSpPr>
              <p:nvPr/>
            </p:nvSpPr>
            <p:spPr bwMode="auto">
              <a:xfrm>
                <a:off x="4310" y="3443"/>
                <a:ext cx="96" cy="1"/>
              </a:xfrm>
              <a:prstGeom prst="line">
                <a:avLst/>
              </a:prstGeom>
              <a:noFill/>
              <a:ln w="12700">
                <a:solidFill>
                  <a:srgbClr val="FF0000"/>
                </a:solidFill>
                <a:round/>
                <a:headEnd/>
                <a:tailEnd/>
              </a:ln>
              <a:effectLst/>
            </p:spPr>
            <p:txBody>
              <a:bodyPr/>
              <a:lstStyle/>
              <a:p>
                <a:endParaRPr lang="en-GB"/>
              </a:p>
            </p:txBody>
          </p:sp>
          <p:sp>
            <p:nvSpPr>
              <p:cNvPr id="24" name="Line 64">
                <a:extLst>
                  <a:ext uri="{FF2B5EF4-FFF2-40B4-BE49-F238E27FC236}">
                    <a16:creationId xmlns:a16="http://schemas.microsoft.com/office/drawing/2014/main" id="{D50B786A-A5B1-B775-14DF-CB482A202E40}"/>
                  </a:ext>
                </a:extLst>
              </p:cNvPr>
              <p:cNvSpPr>
                <a:spLocks noChangeShapeType="1"/>
              </p:cNvSpPr>
              <p:nvPr/>
            </p:nvSpPr>
            <p:spPr bwMode="auto">
              <a:xfrm>
                <a:off x="4085" y="3443"/>
                <a:ext cx="96" cy="0"/>
              </a:xfrm>
              <a:prstGeom prst="line">
                <a:avLst/>
              </a:prstGeom>
              <a:noFill/>
              <a:ln w="12700">
                <a:solidFill>
                  <a:srgbClr val="FF0000"/>
                </a:solidFill>
                <a:round/>
                <a:headEnd/>
                <a:tailEnd/>
              </a:ln>
              <a:effectLst/>
            </p:spPr>
            <p:txBody>
              <a:bodyPr/>
              <a:lstStyle/>
              <a:p>
                <a:endParaRPr lang="en-GB"/>
              </a:p>
            </p:txBody>
          </p:sp>
          <p:sp>
            <p:nvSpPr>
              <p:cNvPr id="25" name="Line 66">
                <a:extLst>
                  <a:ext uri="{FF2B5EF4-FFF2-40B4-BE49-F238E27FC236}">
                    <a16:creationId xmlns:a16="http://schemas.microsoft.com/office/drawing/2014/main" id="{718A27AF-F6A4-69ED-ADFB-D663EBD306FB}"/>
                  </a:ext>
                </a:extLst>
              </p:cNvPr>
              <p:cNvSpPr>
                <a:spLocks noChangeShapeType="1"/>
              </p:cNvSpPr>
              <p:nvPr/>
            </p:nvSpPr>
            <p:spPr bwMode="auto">
              <a:xfrm>
                <a:off x="4953" y="3443"/>
                <a:ext cx="96" cy="1"/>
              </a:xfrm>
              <a:prstGeom prst="line">
                <a:avLst/>
              </a:prstGeom>
              <a:noFill/>
              <a:ln w="12700">
                <a:solidFill>
                  <a:srgbClr val="FF0000"/>
                </a:solidFill>
                <a:round/>
                <a:headEnd/>
                <a:tailEnd/>
              </a:ln>
              <a:effectLst/>
            </p:spPr>
            <p:txBody>
              <a:bodyPr/>
              <a:lstStyle/>
              <a:p>
                <a:endParaRPr lang="en-GB"/>
              </a:p>
            </p:txBody>
          </p:sp>
        </p:grpSp>
        <p:grpSp>
          <p:nvGrpSpPr>
            <p:cNvPr id="13" name="Group 75">
              <a:extLst>
                <a:ext uri="{FF2B5EF4-FFF2-40B4-BE49-F238E27FC236}">
                  <a16:creationId xmlns:a16="http://schemas.microsoft.com/office/drawing/2014/main" id="{EFBCB084-C5E3-39D5-888F-FA75BE3FAD90}"/>
                </a:ext>
              </a:extLst>
            </p:cNvPr>
            <p:cNvGrpSpPr/>
            <p:nvPr/>
          </p:nvGrpSpPr>
          <p:grpSpPr bwMode="auto">
            <a:xfrm>
              <a:off x="5791200" y="5181600"/>
              <a:ext cx="1600200" cy="336550"/>
              <a:chOff x="3744" y="3264"/>
              <a:chExt cx="1008" cy="212"/>
            </a:xfrm>
          </p:grpSpPr>
          <p:sp>
            <p:nvSpPr>
              <p:cNvPr id="17" name="Text Box 69">
                <a:extLst>
                  <a:ext uri="{FF2B5EF4-FFF2-40B4-BE49-F238E27FC236}">
                    <a16:creationId xmlns:a16="http://schemas.microsoft.com/office/drawing/2014/main" id="{2866C8D5-C9AA-BD67-231A-D871AFF04624}"/>
                  </a:ext>
                </a:extLst>
              </p:cNvPr>
              <p:cNvSpPr txBox="1">
                <a:spLocks noChangeArrowheads="1"/>
              </p:cNvSpPr>
              <p:nvPr/>
            </p:nvSpPr>
            <p:spPr bwMode="auto">
              <a:xfrm>
                <a:off x="3744" y="3264"/>
                <a:ext cx="1008" cy="212"/>
              </a:xfrm>
              <a:prstGeom prst="rect">
                <a:avLst/>
              </a:prstGeom>
              <a:noFill/>
              <a:ln>
                <a:noFill/>
              </a:ln>
              <a:effec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1600" i="1">
                    <a:solidFill>
                      <a:srgbClr val="FF0000"/>
                    </a:solidFill>
                    <a:latin typeface="Arial" panose="020B0604020202020204" pitchFamily="34" charset="0"/>
                  </a:rPr>
                  <a:t>X = </a:t>
                </a:r>
                <a:r>
                  <a:rPr lang="en-US" altLang="en-US" sz="1600">
                    <a:solidFill>
                      <a:srgbClr val="FF0000"/>
                    </a:solidFill>
                    <a:latin typeface="Arial" panose="020B0604020202020204" pitchFamily="34" charset="0"/>
                  </a:rPr>
                  <a:t>(</a:t>
                </a:r>
                <a:r>
                  <a:rPr lang="en-US" altLang="en-US" sz="1600" i="1">
                    <a:solidFill>
                      <a:srgbClr val="FF0000"/>
                    </a:solidFill>
                    <a:latin typeface="Arial" panose="020B0604020202020204" pitchFamily="34" charset="0"/>
                  </a:rPr>
                  <a:t>ABC</a:t>
                </a:r>
                <a:r>
                  <a:rPr lang="en-US" altLang="en-US" sz="1600">
                    <a:solidFill>
                      <a:srgbClr val="FF0000"/>
                    </a:solidFill>
                    <a:latin typeface="Arial" panose="020B0604020202020204" pitchFamily="34" charset="0"/>
                  </a:rPr>
                  <a:t>)(</a:t>
                </a:r>
                <a:r>
                  <a:rPr lang="en-US" altLang="en-US" sz="1600" i="1">
                    <a:solidFill>
                      <a:srgbClr val="FF0000"/>
                    </a:solidFill>
                    <a:latin typeface="Arial" panose="020B0604020202020204" pitchFamily="34" charset="0"/>
                  </a:rPr>
                  <a:t>DE</a:t>
                </a:r>
                <a:r>
                  <a:rPr lang="en-US" altLang="en-US" sz="1600">
                    <a:solidFill>
                      <a:srgbClr val="FF0000"/>
                    </a:solidFill>
                    <a:latin typeface="Arial" panose="020B0604020202020204" pitchFamily="34" charset="0"/>
                  </a:rPr>
                  <a:t>)</a:t>
                </a:r>
                <a:endParaRPr lang="en-US" altLang="en-US" sz="1600" i="1">
                  <a:solidFill>
                    <a:srgbClr val="FF0000"/>
                  </a:solidFill>
                  <a:latin typeface="Arial" panose="020B0604020202020204" pitchFamily="34" charset="0"/>
                </a:endParaRPr>
              </a:p>
            </p:txBody>
          </p:sp>
          <p:sp>
            <p:nvSpPr>
              <p:cNvPr id="18" name="Line 70">
                <a:extLst>
                  <a:ext uri="{FF2B5EF4-FFF2-40B4-BE49-F238E27FC236}">
                    <a16:creationId xmlns:a16="http://schemas.microsoft.com/office/drawing/2014/main" id="{7CE55BAA-2D14-681C-B5ED-1650C249EB7F}"/>
                  </a:ext>
                </a:extLst>
              </p:cNvPr>
              <p:cNvSpPr>
                <a:spLocks noChangeShapeType="1"/>
              </p:cNvSpPr>
              <p:nvPr/>
            </p:nvSpPr>
            <p:spPr bwMode="auto">
              <a:xfrm>
                <a:off x="4238" y="3299"/>
                <a:ext cx="96" cy="1"/>
              </a:xfrm>
              <a:prstGeom prst="line">
                <a:avLst/>
              </a:prstGeom>
              <a:noFill/>
              <a:ln w="12700">
                <a:solidFill>
                  <a:srgbClr val="FF0000"/>
                </a:solidFill>
                <a:round/>
                <a:headEnd/>
                <a:tailEnd/>
              </a:ln>
              <a:effectLst/>
            </p:spPr>
            <p:txBody>
              <a:bodyPr/>
              <a:lstStyle/>
              <a:p>
                <a:endParaRPr lang="en-GB"/>
              </a:p>
            </p:txBody>
          </p:sp>
          <p:sp>
            <p:nvSpPr>
              <p:cNvPr id="19" name="Line 72">
                <a:extLst>
                  <a:ext uri="{FF2B5EF4-FFF2-40B4-BE49-F238E27FC236}">
                    <a16:creationId xmlns:a16="http://schemas.microsoft.com/office/drawing/2014/main" id="{38254BC9-914B-37A7-575D-B792E95169FF}"/>
                  </a:ext>
                </a:extLst>
              </p:cNvPr>
              <p:cNvSpPr>
                <a:spLocks noChangeShapeType="1"/>
              </p:cNvSpPr>
              <p:nvPr/>
            </p:nvSpPr>
            <p:spPr bwMode="auto">
              <a:xfrm>
                <a:off x="4429" y="3307"/>
                <a:ext cx="96" cy="1"/>
              </a:xfrm>
              <a:prstGeom prst="line">
                <a:avLst/>
              </a:prstGeom>
              <a:noFill/>
              <a:ln w="12700">
                <a:solidFill>
                  <a:srgbClr val="FF0000"/>
                </a:solidFill>
                <a:round/>
                <a:headEnd/>
                <a:tailEnd/>
              </a:ln>
              <a:effectLst/>
            </p:spPr>
            <p:txBody>
              <a:bodyPr/>
              <a:lstStyle/>
              <a:p>
                <a:endParaRPr lang="en-GB"/>
              </a:p>
            </p:txBody>
          </p:sp>
          <p:sp>
            <p:nvSpPr>
              <p:cNvPr id="20" name="Line 73">
                <a:extLst>
                  <a:ext uri="{FF2B5EF4-FFF2-40B4-BE49-F238E27FC236}">
                    <a16:creationId xmlns:a16="http://schemas.microsoft.com/office/drawing/2014/main" id="{B084883A-ECEE-B810-BE6A-50B5C5397BF2}"/>
                  </a:ext>
                </a:extLst>
              </p:cNvPr>
              <p:cNvSpPr>
                <a:spLocks noChangeShapeType="1"/>
              </p:cNvSpPr>
              <p:nvPr/>
            </p:nvSpPr>
            <p:spPr bwMode="auto">
              <a:xfrm>
                <a:off x="4080" y="3264"/>
                <a:ext cx="256" cy="0"/>
              </a:xfrm>
              <a:prstGeom prst="line">
                <a:avLst/>
              </a:prstGeom>
              <a:noFill/>
              <a:ln w="12700">
                <a:solidFill>
                  <a:srgbClr val="FF0000"/>
                </a:solidFill>
                <a:round/>
                <a:headEnd/>
                <a:tailEnd/>
              </a:ln>
              <a:effectLst/>
            </p:spPr>
            <p:txBody>
              <a:bodyPr/>
              <a:lstStyle/>
              <a:p>
                <a:endParaRPr lang="en-GB"/>
              </a:p>
            </p:txBody>
          </p:sp>
          <p:sp>
            <p:nvSpPr>
              <p:cNvPr id="21" name="Line 74">
                <a:extLst>
                  <a:ext uri="{FF2B5EF4-FFF2-40B4-BE49-F238E27FC236}">
                    <a16:creationId xmlns:a16="http://schemas.microsoft.com/office/drawing/2014/main" id="{D3BB78CC-26CF-01A6-2406-EBBD5DA568A6}"/>
                  </a:ext>
                </a:extLst>
              </p:cNvPr>
              <p:cNvSpPr>
                <a:spLocks noChangeShapeType="1"/>
              </p:cNvSpPr>
              <p:nvPr/>
            </p:nvSpPr>
            <p:spPr bwMode="auto">
              <a:xfrm>
                <a:off x="4416" y="3264"/>
                <a:ext cx="192" cy="0"/>
              </a:xfrm>
              <a:prstGeom prst="line">
                <a:avLst/>
              </a:prstGeom>
              <a:noFill/>
              <a:ln w="12700">
                <a:solidFill>
                  <a:srgbClr val="FF0000"/>
                </a:solidFill>
                <a:round/>
                <a:headEnd/>
                <a:tailEnd/>
              </a:ln>
              <a:effectLst/>
            </p:spPr>
            <p:txBody>
              <a:bodyPr/>
              <a:lstStyle/>
              <a:p>
                <a:endParaRPr lang="en-GB"/>
              </a:p>
            </p:txBody>
          </p:sp>
        </p:grpSp>
        <p:sp>
          <p:nvSpPr>
            <p:cNvPr id="14" name="Text Box 76">
              <a:extLst>
                <a:ext uri="{FF2B5EF4-FFF2-40B4-BE49-F238E27FC236}">
                  <a16:creationId xmlns:a16="http://schemas.microsoft.com/office/drawing/2014/main" id="{DE2861AC-CDC0-D859-0005-EE875732304D}"/>
                </a:ext>
              </a:extLst>
            </p:cNvPr>
            <p:cNvSpPr txBox="1">
              <a:spLocks noChangeArrowheads="1"/>
            </p:cNvSpPr>
            <p:nvPr/>
          </p:nvSpPr>
          <p:spPr bwMode="auto">
            <a:xfrm>
              <a:off x="7315200" y="4692650"/>
              <a:ext cx="762000" cy="336550"/>
            </a:xfrm>
            <a:prstGeom prst="rect">
              <a:avLst/>
            </a:prstGeom>
            <a:noFill/>
            <a:ln>
              <a:noFill/>
            </a:ln>
            <a:effec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1600">
                  <a:solidFill>
                    <a:srgbClr val="008000"/>
                  </a:solidFill>
                  <a:latin typeface="Arial" panose="020B0604020202020204" pitchFamily="34" charset="0"/>
                </a:rPr>
                <a:t>AOI</a:t>
              </a:r>
            </a:p>
          </p:txBody>
        </p:sp>
        <p:sp>
          <p:nvSpPr>
            <p:cNvPr id="15" name="Text Box 77">
              <a:extLst>
                <a:ext uri="{FF2B5EF4-FFF2-40B4-BE49-F238E27FC236}">
                  <a16:creationId xmlns:a16="http://schemas.microsoft.com/office/drawing/2014/main" id="{B8B24BF1-68BA-6DCD-4E62-E5B8D6D74B09}"/>
                </a:ext>
              </a:extLst>
            </p:cNvPr>
            <p:cNvSpPr txBox="1">
              <a:spLocks noChangeArrowheads="1"/>
            </p:cNvSpPr>
            <p:nvPr/>
          </p:nvSpPr>
          <p:spPr bwMode="auto">
            <a:xfrm>
              <a:off x="7315200" y="5149850"/>
              <a:ext cx="1219200" cy="336550"/>
            </a:xfrm>
            <a:prstGeom prst="rect">
              <a:avLst/>
            </a:prstGeom>
            <a:noFill/>
            <a:ln>
              <a:noFill/>
            </a:ln>
            <a:effec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1600">
                  <a:solidFill>
                    <a:srgbClr val="008000"/>
                  </a:solidFill>
                  <a:latin typeface="Arial" panose="020B0604020202020204" pitchFamily="34" charset="0"/>
                </a:rPr>
                <a:t>DeMorgan</a:t>
              </a:r>
            </a:p>
          </p:txBody>
        </p:sp>
        <p:pic>
          <p:nvPicPr>
            <p:cNvPr id="16" name="Picture 23">
              <a:extLst>
                <a:ext uri="{FF2B5EF4-FFF2-40B4-BE49-F238E27FC236}">
                  <a16:creationId xmlns:a16="http://schemas.microsoft.com/office/drawing/2014/main" id="{752E8FC6-0B28-AD98-985C-214F5AE3B7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4267200"/>
              <a:ext cx="6324600" cy="151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1715746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Combinational Circuits – Design steps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8"/>
            <a:ext cx="11743016" cy="494282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US" sz="3400" dirty="0"/>
              <a:t>Determine the input variables</a:t>
            </a:r>
          </a:p>
          <a:p>
            <a:pPr marL="514350" indent="-514350">
              <a:buFont typeface="+mj-lt"/>
              <a:buAutoNum type="arabicPeriod"/>
            </a:pPr>
            <a:r>
              <a:rPr lang="en-US" sz="3400" dirty="0"/>
              <a:t>Make a truth table to define input states and their output</a:t>
            </a:r>
          </a:p>
          <a:p>
            <a:pPr marL="514350" indent="-514350">
              <a:buFont typeface="+mj-lt"/>
              <a:buAutoNum type="arabicPeriod"/>
            </a:pPr>
            <a:r>
              <a:rPr lang="en-US" sz="3400" dirty="0"/>
              <a:t>Use Karnaugh map to find out minimal SOP equation</a:t>
            </a:r>
          </a:p>
          <a:p>
            <a:pPr marL="514350" indent="-514350">
              <a:buFont typeface="+mj-lt"/>
              <a:buAutoNum type="arabicPeriod"/>
            </a:pPr>
            <a:r>
              <a:rPr lang="en-US" sz="3400" dirty="0"/>
              <a:t>Draw the logic diagram from the SOP equation</a:t>
            </a:r>
            <a:endParaRPr lang="en-US" sz="3200" dirty="0"/>
          </a:p>
        </p:txBody>
      </p:sp>
    </p:spTree>
    <p:extLst>
      <p:ext uri="{BB962C8B-B14F-4D97-AF65-F5344CB8AC3E}">
        <p14:creationId xmlns:p14="http://schemas.microsoft.com/office/powerpoint/2010/main" val="3115718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Combinational Circuits –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8"/>
                <a:ext cx="11743016" cy="494282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a:t>Design combinational circuit with two inputs. The output is 1 only when both the input signals are 0.</a:t>
                </a:r>
              </a:p>
              <a:p>
                <a:pPr marL="514350" indent="-514350">
                  <a:buFont typeface="+mj-lt"/>
                  <a:buAutoNum type="arabicPeriod"/>
                </a:pPr>
                <a:r>
                  <a:rPr lang="en-US" sz="3200" dirty="0"/>
                  <a:t>Let the input variables be </a:t>
                </a:r>
                <a14:m>
                  <m:oMath xmlns:m="http://schemas.openxmlformats.org/officeDocument/2006/math">
                    <m:r>
                      <a:rPr lang="en-US" sz="3200" i="1" dirty="0" smtClean="0">
                        <a:latin typeface="Cambria Math" panose="02040503050406030204" pitchFamily="18" charset="0"/>
                      </a:rPr>
                      <m:t>𝐴</m:t>
                    </m:r>
                    <m:r>
                      <a:rPr lang="en-US" sz="3200" i="1" dirty="0" smtClean="0">
                        <a:latin typeface="Cambria Math" panose="02040503050406030204" pitchFamily="18" charset="0"/>
                      </a:rPr>
                      <m:t>, </m:t>
                    </m:r>
                    <m:r>
                      <a:rPr lang="en-US" sz="3200" i="1" dirty="0" smtClean="0">
                        <a:latin typeface="Cambria Math" panose="02040503050406030204" pitchFamily="18" charset="0"/>
                      </a:rPr>
                      <m:t>𝐵</m:t>
                    </m:r>
                    <m:r>
                      <a:rPr lang="en-US" sz="3200" b="0" i="0" dirty="0" smtClean="0">
                        <a:latin typeface="Cambria Math" panose="02040503050406030204" pitchFamily="18" charset="0"/>
                      </a:rPr>
                      <m:t> </m:t>
                    </m:r>
                  </m:oMath>
                </a14:m>
                <a:r>
                  <a:rPr lang="en-US" sz="3200" dirty="0"/>
                  <a:t>and the output </a:t>
                </a:r>
                <a14:m>
                  <m:oMath xmlns:m="http://schemas.openxmlformats.org/officeDocument/2006/math">
                    <m:r>
                      <a:rPr lang="en-US" sz="3200" b="0" i="1" smtClean="0">
                        <a:latin typeface="Cambria Math" panose="02040503050406030204" pitchFamily="18" charset="0"/>
                      </a:rPr>
                      <m:t>𝑋</m:t>
                    </m:r>
                    <m:r>
                      <a:rPr lang="en-US" sz="3200" b="0" i="0" smtClean="0">
                        <a:latin typeface="Cambria Math" panose="02040503050406030204" pitchFamily="18" charset="0"/>
                      </a:rPr>
                      <m:t>.</m:t>
                    </m:r>
                  </m:oMath>
                </a14:m>
                <a:endParaRPr lang="en-US" sz="3200" b="0" dirty="0"/>
              </a:p>
              <a:p>
                <a:pPr marL="514350" indent="-514350">
                  <a:buFont typeface="+mj-lt"/>
                  <a:buAutoNum type="arabicPeriod"/>
                </a:pPr>
                <a:r>
                  <a:rPr lang="en-US" sz="3200" dirty="0"/>
                  <a:t>Truth table:</a:t>
                </a:r>
                <a:br>
                  <a:rPr lang="en-US" sz="3200" dirty="0"/>
                </a:br>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8"/>
                <a:ext cx="11743016" cy="4942828"/>
              </a:xfrm>
              <a:prstGeom prst="rect">
                <a:avLst/>
              </a:prstGeom>
              <a:blipFill>
                <a:blip r:embed="rId3"/>
                <a:stretch>
                  <a:fillRect l="-1349"/>
                </a:stretch>
              </a:blipFill>
            </p:spPr>
            <p:txBody>
              <a:bodyPr/>
              <a:lstStyle/>
              <a:p>
                <a:r>
                  <a:rPr lang="en-PK">
                    <a:noFill/>
                  </a:rPr>
                  <a:t> </a:t>
                </a:r>
              </a:p>
            </p:txBody>
          </p:sp>
        </mc:Fallback>
      </mc:AlternateContent>
      <p:graphicFrame>
        <p:nvGraphicFramePr>
          <p:cNvPr id="4" name="Table 4">
            <a:extLst>
              <a:ext uri="{FF2B5EF4-FFF2-40B4-BE49-F238E27FC236}">
                <a16:creationId xmlns:a16="http://schemas.microsoft.com/office/drawing/2014/main" id="{1497D81E-EA23-DB63-6AA2-25E0BC1461BA}"/>
              </a:ext>
            </a:extLst>
          </p:cNvPr>
          <p:cNvGraphicFramePr>
            <a:graphicFrameLocks noGrp="1"/>
          </p:cNvGraphicFramePr>
          <p:nvPr>
            <p:extLst>
              <p:ext uri="{D42A27DB-BD31-4B8C-83A1-F6EECF244321}">
                <p14:modId xmlns:p14="http://schemas.microsoft.com/office/powerpoint/2010/main" val="1803897384"/>
              </p:ext>
            </p:extLst>
          </p:nvPr>
        </p:nvGraphicFramePr>
        <p:xfrm>
          <a:off x="3835401" y="4398312"/>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582584770"/>
                    </a:ext>
                  </a:extLst>
                </a:gridCol>
                <a:gridCol w="2709333">
                  <a:extLst>
                    <a:ext uri="{9D8B030D-6E8A-4147-A177-3AD203B41FA5}">
                      <a16:colId xmlns:a16="http://schemas.microsoft.com/office/drawing/2014/main" val="2065373370"/>
                    </a:ext>
                  </a:extLst>
                </a:gridCol>
                <a:gridCol w="2709333">
                  <a:extLst>
                    <a:ext uri="{9D8B030D-6E8A-4147-A177-3AD203B41FA5}">
                      <a16:colId xmlns:a16="http://schemas.microsoft.com/office/drawing/2014/main" val="2276230156"/>
                    </a:ext>
                  </a:extLst>
                </a:gridCol>
              </a:tblGrid>
              <a:tr h="370840">
                <a:tc>
                  <a:txBody>
                    <a:bodyPr/>
                    <a:lstStyle/>
                    <a:p>
                      <a:pPr algn="ctr"/>
                      <a:r>
                        <a:rPr lang="en-US" dirty="0"/>
                        <a:t>A</a:t>
                      </a:r>
                      <a:endParaRPr lang="en-PK" dirty="0"/>
                    </a:p>
                  </a:txBody>
                  <a:tcPr/>
                </a:tc>
                <a:tc>
                  <a:txBody>
                    <a:bodyPr/>
                    <a:lstStyle/>
                    <a:p>
                      <a:pPr algn="ctr"/>
                      <a:r>
                        <a:rPr lang="en-US" dirty="0"/>
                        <a:t>B</a:t>
                      </a:r>
                      <a:endParaRPr lang="en-PK" dirty="0"/>
                    </a:p>
                  </a:txBody>
                  <a:tcPr/>
                </a:tc>
                <a:tc>
                  <a:txBody>
                    <a:bodyPr/>
                    <a:lstStyle/>
                    <a:p>
                      <a:pPr algn="ctr"/>
                      <a:r>
                        <a:rPr lang="en-US" dirty="0"/>
                        <a:t>X</a:t>
                      </a:r>
                      <a:endParaRPr lang="en-PK" dirty="0"/>
                    </a:p>
                  </a:txBody>
                  <a:tcPr/>
                </a:tc>
                <a:extLst>
                  <a:ext uri="{0D108BD9-81ED-4DB2-BD59-A6C34878D82A}">
                    <a16:rowId xmlns:a16="http://schemas.microsoft.com/office/drawing/2014/main" val="3747358963"/>
                  </a:ext>
                </a:extLst>
              </a:tr>
              <a:tr h="370840">
                <a:tc>
                  <a:txBody>
                    <a:bodyPr/>
                    <a:lstStyle/>
                    <a:p>
                      <a:pPr algn="ctr"/>
                      <a:r>
                        <a:rPr lang="en-US" dirty="0"/>
                        <a:t>0</a:t>
                      </a:r>
                      <a:endParaRPr lang="en-PK" dirty="0"/>
                    </a:p>
                  </a:txBody>
                  <a:tcPr/>
                </a:tc>
                <a:tc>
                  <a:txBody>
                    <a:bodyPr/>
                    <a:lstStyle/>
                    <a:p>
                      <a:pPr algn="ctr"/>
                      <a:r>
                        <a:rPr lang="en-US" dirty="0"/>
                        <a:t>0</a:t>
                      </a:r>
                      <a:endParaRPr lang="en-PK" dirty="0"/>
                    </a:p>
                  </a:txBody>
                  <a:tcPr/>
                </a:tc>
                <a:tc>
                  <a:txBody>
                    <a:bodyPr/>
                    <a:lstStyle/>
                    <a:p>
                      <a:pPr algn="ctr"/>
                      <a:r>
                        <a:rPr lang="en-US" dirty="0"/>
                        <a:t>1</a:t>
                      </a:r>
                      <a:endParaRPr lang="en-PK" dirty="0"/>
                    </a:p>
                  </a:txBody>
                  <a:tcPr/>
                </a:tc>
                <a:extLst>
                  <a:ext uri="{0D108BD9-81ED-4DB2-BD59-A6C34878D82A}">
                    <a16:rowId xmlns:a16="http://schemas.microsoft.com/office/drawing/2014/main" val="1555933801"/>
                  </a:ext>
                </a:extLst>
              </a:tr>
              <a:tr h="370840">
                <a:tc>
                  <a:txBody>
                    <a:bodyPr/>
                    <a:lstStyle/>
                    <a:p>
                      <a:pPr algn="ctr"/>
                      <a:r>
                        <a:rPr lang="en-US" dirty="0"/>
                        <a:t>0</a:t>
                      </a:r>
                      <a:endParaRPr lang="en-PK" dirty="0"/>
                    </a:p>
                  </a:txBody>
                  <a:tcPr/>
                </a:tc>
                <a:tc>
                  <a:txBody>
                    <a:bodyPr/>
                    <a:lstStyle/>
                    <a:p>
                      <a:pPr algn="ctr"/>
                      <a:r>
                        <a:rPr lang="en-US" dirty="0"/>
                        <a:t>1</a:t>
                      </a:r>
                      <a:endParaRPr lang="en-PK" dirty="0"/>
                    </a:p>
                  </a:txBody>
                  <a:tcPr/>
                </a:tc>
                <a:tc>
                  <a:txBody>
                    <a:bodyPr/>
                    <a:lstStyle/>
                    <a:p>
                      <a:pPr algn="ctr"/>
                      <a:r>
                        <a:rPr lang="en-US" dirty="0"/>
                        <a:t>0</a:t>
                      </a:r>
                      <a:endParaRPr lang="en-PK" dirty="0"/>
                    </a:p>
                  </a:txBody>
                  <a:tcPr/>
                </a:tc>
                <a:extLst>
                  <a:ext uri="{0D108BD9-81ED-4DB2-BD59-A6C34878D82A}">
                    <a16:rowId xmlns:a16="http://schemas.microsoft.com/office/drawing/2014/main" val="2989279737"/>
                  </a:ext>
                </a:extLst>
              </a:tr>
              <a:tr h="370840">
                <a:tc>
                  <a:txBody>
                    <a:bodyPr/>
                    <a:lstStyle/>
                    <a:p>
                      <a:pPr algn="ctr"/>
                      <a:r>
                        <a:rPr lang="en-US" dirty="0"/>
                        <a:t>1</a:t>
                      </a:r>
                      <a:endParaRPr lang="en-PK" dirty="0"/>
                    </a:p>
                  </a:txBody>
                  <a:tcPr/>
                </a:tc>
                <a:tc>
                  <a:txBody>
                    <a:bodyPr/>
                    <a:lstStyle/>
                    <a:p>
                      <a:pPr algn="ctr"/>
                      <a:r>
                        <a:rPr lang="en-US" dirty="0"/>
                        <a:t>0</a:t>
                      </a:r>
                      <a:endParaRPr lang="en-PK" dirty="0"/>
                    </a:p>
                  </a:txBody>
                  <a:tcPr/>
                </a:tc>
                <a:tc>
                  <a:txBody>
                    <a:bodyPr/>
                    <a:lstStyle/>
                    <a:p>
                      <a:pPr algn="ctr"/>
                      <a:r>
                        <a:rPr lang="en-US" dirty="0"/>
                        <a:t>0</a:t>
                      </a:r>
                      <a:endParaRPr lang="en-PK" dirty="0"/>
                    </a:p>
                  </a:txBody>
                  <a:tcPr/>
                </a:tc>
                <a:extLst>
                  <a:ext uri="{0D108BD9-81ED-4DB2-BD59-A6C34878D82A}">
                    <a16:rowId xmlns:a16="http://schemas.microsoft.com/office/drawing/2014/main" val="2178802699"/>
                  </a:ext>
                </a:extLst>
              </a:tr>
              <a:tr h="370840">
                <a:tc>
                  <a:txBody>
                    <a:bodyPr/>
                    <a:lstStyle/>
                    <a:p>
                      <a:pPr algn="ctr"/>
                      <a:r>
                        <a:rPr lang="en-US" dirty="0"/>
                        <a:t>1</a:t>
                      </a:r>
                      <a:endParaRPr lang="en-PK" dirty="0"/>
                    </a:p>
                  </a:txBody>
                  <a:tcPr/>
                </a:tc>
                <a:tc>
                  <a:txBody>
                    <a:bodyPr/>
                    <a:lstStyle/>
                    <a:p>
                      <a:pPr algn="ctr"/>
                      <a:r>
                        <a:rPr lang="en-US" dirty="0"/>
                        <a:t>1</a:t>
                      </a:r>
                      <a:endParaRPr lang="en-PK" dirty="0"/>
                    </a:p>
                  </a:txBody>
                  <a:tcPr/>
                </a:tc>
                <a:tc>
                  <a:txBody>
                    <a:bodyPr/>
                    <a:lstStyle/>
                    <a:p>
                      <a:pPr algn="ctr"/>
                      <a:r>
                        <a:rPr lang="en-US" dirty="0"/>
                        <a:t>0</a:t>
                      </a:r>
                      <a:endParaRPr lang="en-PK" dirty="0"/>
                    </a:p>
                  </a:txBody>
                  <a:tcPr/>
                </a:tc>
                <a:extLst>
                  <a:ext uri="{0D108BD9-81ED-4DB2-BD59-A6C34878D82A}">
                    <a16:rowId xmlns:a16="http://schemas.microsoft.com/office/drawing/2014/main" val="3649253280"/>
                  </a:ext>
                </a:extLst>
              </a:tr>
            </a:tbl>
          </a:graphicData>
        </a:graphic>
      </p:graphicFrame>
    </p:spTree>
    <p:extLst>
      <p:ext uri="{BB962C8B-B14F-4D97-AF65-F5344CB8AC3E}">
        <p14:creationId xmlns:p14="http://schemas.microsoft.com/office/powerpoint/2010/main" val="3212754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Combinational Circuits –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8"/>
                <a:ext cx="11743016" cy="494282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startAt="3"/>
                </a:pPr>
                <a:r>
                  <a:rPr lang="en-US" sz="3200" dirty="0"/>
                  <a:t>Karnaugh Map</a:t>
                </a:r>
                <a:br>
                  <a:rPr lang="en-US" sz="3200" dirty="0"/>
                </a:br>
                <a14:m>
                  <m:oMath xmlns:m="http://schemas.openxmlformats.org/officeDocument/2006/math">
                    <m:r>
                      <a:rPr lang="en-US" sz="3200" b="0" i="1" smtClean="0">
                        <a:latin typeface="Cambria Math" panose="02040503050406030204" pitchFamily="18" charset="0"/>
                      </a:rPr>
                      <m:t>𝑋</m:t>
                    </m:r>
                    <m:r>
                      <a:rPr lang="en-US" sz="3200" b="0" i="1" smtClean="0">
                        <a:latin typeface="Cambria Math" panose="02040503050406030204" pitchFamily="18" charset="0"/>
                      </a:rPr>
                      <m:t>=</m:t>
                    </m:r>
                    <m:bar>
                      <m:barPr>
                        <m:pos m:val="top"/>
                        <m:ctrlPr>
                          <a:rPr lang="en-US" sz="3200" b="0" i="1" smtClean="0">
                            <a:latin typeface="Cambria Math" panose="02040503050406030204" pitchFamily="18" charset="0"/>
                          </a:rPr>
                        </m:ctrlPr>
                      </m:barPr>
                      <m:e>
                        <m:r>
                          <a:rPr lang="en-US" sz="3200" b="0" i="1" smtClean="0">
                            <a:latin typeface="Cambria Math" panose="02040503050406030204" pitchFamily="18" charset="0"/>
                          </a:rPr>
                          <m:t>𝐴</m:t>
                        </m:r>
                      </m:e>
                    </m:bar>
                    <m:r>
                      <a:rPr lang="en-US" sz="3200" b="0" i="1" smtClean="0">
                        <a:latin typeface="Cambria Math" panose="02040503050406030204" pitchFamily="18" charset="0"/>
                      </a:rPr>
                      <m:t>.</m:t>
                    </m:r>
                    <m:bar>
                      <m:barPr>
                        <m:pos m:val="top"/>
                        <m:ctrlPr>
                          <a:rPr lang="en-US" sz="3200" b="0" i="1" smtClean="0">
                            <a:latin typeface="Cambria Math" panose="02040503050406030204" pitchFamily="18" charset="0"/>
                          </a:rPr>
                        </m:ctrlPr>
                      </m:barPr>
                      <m:e>
                        <m:r>
                          <a:rPr lang="en-US" sz="3200" b="0" i="1" smtClean="0">
                            <a:latin typeface="Cambria Math" panose="02040503050406030204" pitchFamily="18" charset="0"/>
                          </a:rPr>
                          <m:t>𝐵</m:t>
                        </m:r>
                      </m:e>
                    </m:bar>
                  </m:oMath>
                </a14:m>
                <a:endParaRPr lang="en-US" sz="3200" dirty="0"/>
              </a:p>
              <a:p>
                <a:pPr marL="514350" indent="-514350">
                  <a:buFont typeface="+mj-lt"/>
                  <a:buAutoNum type="arabicPeriod" startAt="3"/>
                </a:pPr>
                <a:r>
                  <a:rPr lang="en-US" sz="3200" dirty="0"/>
                  <a:t>Logic diagram</a:t>
                </a:r>
              </a:p>
              <a:p>
                <a:pPr marL="514350" indent="-514350">
                  <a:buFont typeface="+mj-lt"/>
                  <a:buAutoNum type="arabicPeriod" startAt="3"/>
                </a:pPr>
                <a:endParaRPr lang="en-US" sz="3200" b="0" dirty="0"/>
              </a:p>
              <a:p>
                <a:pPr marL="514350" indent="-514350">
                  <a:buFont typeface="+mj-lt"/>
                  <a:buAutoNum type="arabicPeriod" startAt="3"/>
                </a:pPr>
                <a:endParaRPr lang="en-US" sz="3200" b="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8"/>
                <a:ext cx="11743016" cy="4942828"/>
              </a:xfrm>
              <a:prstGeom prst="rect">
                <a:avLst/>
              </a:prstGeom>
              <a:blipFill>
                <a:blip r:embed="rId3"/>
                <a:stretch>
                  <a:fillRect l="-1349"/>
                </a:stretch>
              </a:blipFill>
            </p:spPr>
            <p:txBody>
              <a:bodyPr/>
              <a:lstStyle/>
              <a:p>
                <a:r>
                  <a:rPr lang="en-PK">
                    <a:noFill/>
                  </a:rPr>
                  <a:t> </a:t>
                </a:r>
              </a:p>
            </p:txBody>
          </p:sp>
        </mc:Fallback>
      </mc:AlternateContent>
      <mc:AlternateContent xmlns:mc="http://schemas.openxmlformats.org/markup-compatibility/2006" xmlns:a14="http://schemas.microsoft.com/office/drawing/2010/main">
        <mc:Choice Requires="a14">
          <p:graphicFrame>
            <p:nvGraphicFramePr>
              <p:cNvPr id="5" name="Table 48">
                <a:extLst>
                  <a:ext uri="{FF2B5EF4-FFF2-40B4-BE49-F238E27FC236}">
                    <a16:creationId xmlns:a16="http://schemas.microsoft.com/office/drawing/2014/main" id="{C9102B6F-31B0-4BC3-9A60-114FDDC6C00F}"/>
                  </a:ext>
                </a:extLst>
              </p:cNvPr>
              <p:cNvGraphicFramePr>
                <a:graphicFrameLocks noGrp="1"/>
              </p:cNvGraphicFramePr>
              <p:nvPr>
                <p:extLst>
                  <p:ext uri="{D42A27DB-BD31-4B8C-83A1-F6EECF244321}">
                    <p14:modId xmlns:p14="http://schemas.microsoft.com/office/powerpoint/2010/main" val="2194247538"/>
                  </p:ext>
                </p:extLst>
              </p:nvPr>
            </p:nvGraphicFramePr>
            <p:xfrm>
              <a:off x="7168055" y="1755229"/>
              <a:ext cx="4803561" cy="2451669"/>
            </p:xfrm>
            <a:graphic>
              <a:graphicData uri="http://schemas.openxmlformats.org/drawingml/2006/table">
                <a:tbl>
                  <a:tblPr firstRow="1" bandRow="1">
                    <a:tableStyleId>{073A0DAA-6AF3-43AB-8588-CEC1D06C72B9}</a:tableStyleId>
                  </a:tblPr>
                  <a:tblGrid>
                    <a:gridCol w="1601187">
                      <a:extLst>
                        <a:ext uri="{9D8B030D-6E8A-4147-A177-3AD203B41FA5}">
                          <a16:colId xmlns:a16="http://schemas.microsoft.com/office/drawing/2014/main" val="3293817876"/>
                        </a:ext>
                      </a:extLst>
                    </a:gridCol>
                    <a:gridCol w="1601187">
                      <a:extLst>
                        <a:ext uri="{9D8B030D-6E8A-4147-A177-3AD203B41FA5}">
                          <a16:colId xmlns:a16="http://schemas.microsoft.com/office/drawing/2014/main" val="322129533"/>
                        </a:ext>
                      </a:extLst>
                    </a:gridCol>
                    <a:gridCol w="1601187">
                      <a:extLst>
                        <a:ext uri="{9D8B030D-6E8A-4147-A177-3AD203B41FA5}">
                          <a16:colId xmlns:a16="http://schemas.microsoft.com/office/drawing/2014/main" val="1671210400"/>
                        </a:ext>
                      </a:extLst>
                    </a:gridCol>
                  </a:tblGrid>
                  <a:tr h="817223">
                    <a:tc>
                      <a:txBody>
                        <a:bodyPr/>
                        <a:lstStyle/>
                        <a:p>
                          <a:pPr algn="ctr"/>
                          <a:endParaRPr lang="en-US" sz="2400" dirty="0"/>
                        </a:p>
                      </a:txBody>
                      <a:tcPr marL="74756" marR="74756" marT="37378" marB="37378" anchor="ctr"/>
                    </a:tc>
                    <a:tc>
                      <a:txBody>
                        <a:bodyPr/>
                        <a:lstStyle/>
                        <a:p>
                          <a:pPr algn="ctr"/>
                          <a14:m>
                            <m:oMathPara xmlns:m="http://schemas.openxmlformats.org/officeDocument/2006/math">
                              <m:oMathParaPr>
                                <m:jc m:val="centerGroup"/>
                              </m:oMathParaPr>
                              <m:oMath xmlns:m="http://schemas.openxmlformats.org/officeDocument/2006/math">
                                <m:bar>
                                  <m:barPr>
                                    <m:pos m:val="top"/>
                                    <m:ctrlPr>
                                      <a:rPr lang="en-US" sz="2400" i="1" smtClean="0">
                                        <a:latin typeface="Cambria Math" panose="02040503050406030204" pitchFamily="18" charset="0"/>
                                      </a:rPr>
                                    </m:ctrlPr>
                                  </m:barPr>
                                  <m:e>
                                    <m:r>
                                      <a:rPr lang="en-US" sz="2400" b="1" smtClean="0">
                                        <a:latin typeface="Cambria Math" panose="02040503050406030204" pitchFamily="18" charset="0"/>
                                      </a:rPr>
                                      <m:t>𝑩</m:t>
                                    </m:r>
                                  </m:e>
                                </m:bar>
                              </m:oMath>
                            </m:oMathPara>
                          </a14:m>
                          <a:endParaRPr lang="en-US" sz="2400" dirty="0"/>
                        </a:p>
                      </a:txBody>
                      <a:tcPr marL="74756" marR="74756" marT="37378" marB="37378" anchor="ctr"/>
                    </a:tc>
                    <a:tc>
                      <a:txBody>
                        <a:bodyPr/>
                        <a:lstStyle/>
                        <a:p>
                          <a:pPr algn="ctr"/>
                          <a14:m>
                            <m:oMathPara xmlns:m="http://schemas.openxmlformats.org/officeDocument/2006/math">
                              <m:oMathParaPr>
                                <m:jc m:val="centerGroup"/>
                              </m:oMathParaPr>
                              <m:oMath xmlns:m="http://schemas.openxmlformats.org/officeDocument/2006/math">
                                <m:r>
                                  <a:rPr lang="en-US" sz="2400" b="1" smtClean="0">
                                    <a:latin typeface="Cambria Math" panose="02040503050406030204" pitchFamily="18" charset="0"/>
                                  </a:rPr>
                                  <m:t>𝑩</m:t>
                                </m:r>
                              </m:oMath>
                            </m:oMathPara>
                          </a14:m>
                          <a:endParaRPr lang="en-US" sz="2400" dirty="0"/>
                        </a:p>
                      </a:txBody>
                      <a:tcPr marL="74756" marR="74756" marT="37378" marB="37378" anchor="ctr"/>
                    </a:tc>
                    <a:extLst>
                      <a:ext uri="{0D108BD9-81ED-4DB2-BD59-A6C34878D82A}">
                        <a16:rowId xmlns:a16="http://schemas.microsoft.com/office/drawing/2014/main" val="3996399180"/>
                      </a:ext>
                    </a:extLst>
                  </a:tr>
                  <a:tr h="817223">
                    <a:tc>
                      <a:txBody>
                        <a:bodyPr/>
                        <a:lstStyle/>
                        <a:p>
                          <a:pPr algn="ctr"/>
                          <a14:m>
                            <m:oMathPara xmlns:m="http://schemas.openxmlformats.org/officeDocument/2006/math">
                              <m:oMathParaPr>
                                <m:jc m:val="centerGroup"/>
                              </m:oMathParaPr>
                              <m:oMath xmlns:m="http://schemas.openxmlformats.org/officeDocument/2006/math">
                                <m:bar>
                                  <m:barPr>
                                    <m:pos m:val="top"/>
                                    <m:ctrlPr>
                                      <a:rPr lang="en-US" sz="2400" i="1" dirty="0" smtClean="0">
                                        <a:latin typeface="Cambria Math" panose="02040503050406030204" pitchFamily="18" charset="0"/>
                                      </a:rPr>
                                    </m:ctrlPr>
                                  </m:barPr>
                                  <m:e>
                                    <m:r>
                                      <a:rPr lang="en-US" sz="2400" dirty="0" smtClean="0">
                                        <a:latin typeface="Cambria Math" panose="02040503050406030204" pitchFamily="18" charset="0"/>
                                      </a:rPr>
                                      <m:t>𝐴</m:t>
                                    </m:r>
                                  </m:e>
                                </m:bar>
                              </m:oMath>
                            </m:oMathPara>
                          </a14:m>
                          <a:endParaRPr lang="en-US" sz="2400" dirty="0"/>
                        </a:p>
                      </a:txBody>
                      <a:tcPr marL="74756" marR="74756" marT="37378" marB="37378" anchor="ctr"/>
                    </a:tc>
                    <a:tc>
                      <a:txBody>
                        <a:bodyPr/>
                        <a:lstStyle/>
                        <a:p>
                          <a:pPr algn="ctr"/>
                          <a:r>
                            <a:rPr lang="en-US" sz="2400" dirty="0"/>
                            <a:t>1</a:t>
                          </a:r>
                        </a:p>
                      </a:txBody>
                      <a:tcPr marL="74756" marR="74756" marT="37378" marB="37378" anchor="ctr"/>
                    </a:tc>
                    <a:tc>
                      <a:txBody>
                        <a:bodyPr/>
                        <a:lstStyle/>
                        <a:p>
                          <a:pPr algn="ctr"/>
                          <a:r>
                            <a:rPr lang="en-US" sz="2400" dirty="0"/>
                            <a:t>0</a:t>
                          </a:r>
                        </a:p>
                      </a:txBody>
                      <a:tcPr marL="74756" marR="74756" marT="37378" marB="37378" anchor="ctr"/>
                    </a:tc>
                    <a:extLst>
                      <a:ext uri="{0D108BD9-81ED-4DB2-BD59-A6C34878D82A}">
                        <a16:rowId xmlns:a16="http://schemas.microsoft.com/office/drawing/2014/main" val="921349598"/>
                      </a:ext>
                    </a:extLst>
                  </a:tr>
                  <a:tr h="817223">
                    <a:tc>
                      <a:txBody>
                        <a:bodyPr/>
                        <a:lstStyle/>
                        <a:p>
                          <a:pPr algn="ctr"/>
                          <a14:m>
                            <m:oMathPara xmlns:m="http://schemas.openxmlformats.org/officeDocument/2006/math">
                              <m:oMathParaPr>
                                <m:jc m:val="centerGroup"/>
                              </m:oMathParaPr>
                              <m:oMath xmlns:m="http://schemas.openxmlformats.org/officeDocument/2006/math">
                                <m:r>
                                  <a:rPr lang="en-US" sz="2400" dirty="0" smtClean="0">
                                    <a:latin typeface="Cambria Math" panose="02040503050406030204" pitchFamily="18" charset="0"/>
                                  </a:rPr>
                                  <m:t>𝐴</m:t>
                                </m:r>
                              </m:oMath>
                            </m:oMathPara>
                          </a14:m>
                          <a:endParaRPr lang="en-US" sz="2400" dirty="0"/>
                        </a:p>
                      </a:txBody>
                      <a:tcPr marL="74756" marR="74756" marT="37378" marB="37378" anchor="ctr"/>
                    </a:tc>
                    <a:tc>
                      <a:txBody>
                        <a:bodyPr/>
                        <a:lstStyle/>
                        <a:p>
                          <a:pPr algn="ctr"/>
                          <a:r>
                            <a:rPr lang="en-US" sz="2400" dirty="0"/>
                            <a:t>0</a:t>
                          </a:r>
                        </a:p>
                      </a:txBody>
                      <a:tcPr marL="74756" marR="74756" marT="37378" marB="37378" anchor="ctr"/>
                    </a:tc>
                    <a:tc>
                      <a:txBody>
                        <a:bodyPr/>
                        <a:lstStyle/>
                        <a:p>
                          <a:pPr algn="ctr"/>
                          <a:r>
                            <a:rPr lang="en-US" sz="2400" dirty="0"/>
                            <a:t>0</a:t>
                          </a:r>
                        </a:p>
                      </a:txBody>
                      <a:tcPr marL="74756" marR="74756" marT="37378" marB="37378" anchor="ctr"/>
                    </a:tc>
                    <a:extLst>
                      <a:ext uri="{0D108BD9-81ED-4DB2-BD59-A6C34878D82A}">
                        <a16:rowId xmlns:a16="http://schemas.microsoft.com/office/drawing/2014/main" val="3714241907"/>
                      </a:ext>
                    </a:extLst>
                  </a:tr>
                </a:tbl>
              </a:graphicData>
            </a:graphic>
          </p:graphicFrame>
        </mc:Choice>
        <mc:Fallback xmlns="">
          <p:graphicFrame>
            <p:nvGraphicFramePr>
              <p:cNvPr id="5" name="Table 48">
                <a:extLst>
                  <a:ext uri="{FF2B5EF4-FFF2-40B4-BE49-F238E27FC236}">
                    <a16:creationId xmlns:a16="http://schemas.microsoft.com/office/drawing/2014/main" id="{C9102B6F-31B0-4BC3-9A60-114FDDC6C00F}"/>
                  </a:ext>
                </a:extLst>
              </p:cNvPr>
              <p:cNvGraphicFramePr>
                <a:graphicFrameLocks noGrp="1"/>
              </p:cNvGraphicFramePr>
              <p:nvPr>
                <p:extLst>
                  <p:ext uri="{D42A27DB-BD31-4B8C-83A1-F6EECF244321}">
                    <p14:modId xmlns:p14="http://schemas.microsoft.com/office/powerpoint/2010/main" val="2194247538"/>
                  </p:ext>
                </p:extLst>
              </p:nvPr>
            </p:nvGraphicFramePr>
            <p:xfrm>
              <a:off x="7168055" y="1755229"/>
              <a:ext cx="4803561" cy="2451669"/>
            </p:xfrm>
            <a:graphic>
              <a:graphicData uri="http://schemas.openxmlformats.org/drawingml/2006/table">
                <a:tbl>
                  <a:tblPr firstRow="1" bandRow="1">
                    <a:tableStyleId>{073A0DAA-6AF3-43AB-8588-CEC1D06C72B9}</a:tableStyleId>
                  </a:tblPr>
                  <a:tblGrid>
                    <a:gridCol w="1601187">
                      <a:extLst>
                        <a:ext uri="{9D8B030D-6E8A-4147-A177-3AD203B41FA5}">
                          <a16:colId xmlns:a16="http://schemas.microsoft.com/office/drawing/2014/main" val="3293817876"/>
                        </a:ext>
                      </a:extLst>
                    </a:gridCol>
                    <a:gridCol w="1601187">
                      <a:extLst>
                        <a:ext uri="{9D8B030D-6E8A-4147-A177-3AD203B41FA5}">
                          <a16:colId xmlns:a16="http://schemas.microsoft.com/office/drawing/2014/main" val="322129533"/>
                        </a:ext>
                      </a:extLst>
                    </a:gridCol>
                    <a:gridCol w="1601187">
                      <a:extLst>
                        <a:ext uri="{9D8B030D-6E8A-4147-A177-3AD203B41FA5}">
                          <a16:colId xmlns:a16="http://schemas.microsoft.com/office/drawing/2014/main" val="1671210400"/>
                        </a:ext>
                      </a:extLst>
                    </a:gridCol>
                  </a:tblGrid>
                  <a:tr h="817223">
                    <a:tc>
                      <a:txBody>
                        <a:bodyPr/>
                        <a:lstStyle/>
                        <a:p>
                          <a:pPr algn="ctr"/>
                          <a:endParaRPr lang="en-US" sz="2400" dirty="0"/>
                        </a:p>
                      </a:txBody>
                      <a:tcPr marL="74756" marR="74756" marT="37378" marB="37378" anchor="ctr"/>
                    </a:tc>
                    <a:tc>
                      <a:txBody>
                        <a:bodyPr/>
                        <a:lstStyle/>
                        <a:p>
                          <a:endParaRPr lang="en-PK"/>
                        </a:p>
                      </a:txBody>
                      <a:tcPr marL="74756" marR="74756" marT="37378" marB="37378" anchor="ctr">
                        <a:blipFill>
                          <a:blip r:embed="rId4"/>
                          <a:stretch>
                            <a:fillRect l="-100380" t="-741" r="-101901" b="-200741"/>
                          </a:stretch>
                        </a:blipFill>
                      </a:tcPr>
                    </a:tc>
                    <a:tc>
                      <a:txBody>
                        <a:bodyPr/>
                        <a:lstStyle/>
                        <a:p>
                          <a:endParaRPr lang="en-PK"/>
                        </a:p>
                      </a:txBody>
                      <a:tcPr marL="74756" marR="74756" marT="37378" marB="37378" anchor="ctr">
                        <a:blipFill>
                          <a:blip r:embed="rId4"/>
                          <a:stretch>
                            <a:fillRect l="-200380" t="-741" r="-1901" b="-200741"/>
                          </a:stretch>
                        </a:blipFill>
                      </a:tcPr>
                    </a:tc>
                    <a:extLst>
                      <a:ext uri="{0D108BD9-81ED-4DB2-BD59-A6C34878D82A}">
                        <a16:rowId xmlns:a16="http://schemas.microsoft.com/office/drawing/2014/main" val="3996399180"/>
                      </a:ext>
                    </a:extLst>
                  </a:tr>
                  <a:tr h="817223">
                    <a:tc>
                      <a:txBody>
                        <a:bodyPr/>
                        <a:lstStyle/>
                        <a:p>
                          <a:endParaRPr lang="en-PK"/>
                        </a:p>
                      </a:txBody>
                      <a:tcPr marL="74756" marR="74756" marT="37378" marB="37378" anchor="ctr">
                        <a:blipFill>
                          <a:blip r:embed="rId4"/>
                          <a:stretch>
                            <a:fillRect l="-380" t="-101493" r="-201901" b="-102239"/>
                          </a:stretch>
                        </a:blipFill>
                      </a:tcPr>
                    </a:tc>
                    <a:tc>
                      <a:txBody>
                        <a:bodyPr/>
                        <a:lstStyle/>
                        <a:p>
                          <a:pPr algn="ctr"/>
                          <a:r>
                            <a:rPr lang="en-US" sz="2400" dirty="0"/>
                            <a:t>1</a:t>
                          </a:r>
                        </a:p>
                      </a:txBody>
                      <a:tcPr marL="74756" marR="74756" marT="37378" marB="37378" anchor="ctr"/>
                    </a:tc>
                    <a:tc>
                      <a:txBody>
                        <a:bodyPr/>
                        <a:lstStyle/>
                        <a:p>
                          <a:pPr algn="ctr"/>
                          <a:r>
                            <a:rPr lang="en-US" sz="2400" dirty="0"/>
                            <a:t>0</a:t>
                          </a:r>
                        </a:p>
                      </a:txBody>
                      <a:tcPr marL="74756" marR="74756" marT="37378" marB="37378" anchor="ctr"/>
                    </a:tc>
                    <a:extLst>
                      <a:ext uri="{0D108BD9-81ED-4DB2-BD59-A6C34878D82A}">
                        <a16:rowId xmlns:a16="http://schemas.microsoft.com/office/drawing/2014/main" val="921349598"/>
                      </a:ext>
                    </a:extLst>
                  </a:tr>
                  <a:tr h="817223">
                    <a:tc>
                      <a:txBody>
                        <a:bodyPr/>
                        <a:lstStyle/>
                        <a:p>
                          <a:endParaRPr lang="en-PK"/>
                        </a:p>
                      </a:txBody>
                      <a:tcPr marL="74756" marR="74756" marT="37378" marB="37378" anchor="ctr">
                        <a:blipFill>
                          <a:blip r:embed="rId4"/>
                          <a:stretch>
                            <a:fillRect l="-380" t="-200000" r="-201901" b="-1481"/>
                          </a:stretch>
                        </a:blipFill>
                      </a:tcPr>
                    </a:tc>
                    <a:tc>
                      <a:txBody>
                        <a:bodyPr/>
                        <a:lstStyle/>
                        <a:p>
                          <a:pPr algn="ctr"/>
                          <a:r>
                            <a:rPr lang="en-US" sz="2400" dirty="0"/>
                            <a:t>0</a:t>
                          </a:r>
                        </a:p>
                      </a:txBody>
                      <a:tcPr marL="74756" marR="74756" marT="37378" marB="37378" anchor="ctr"/>
                    </a:tc>
                    <a:tc>
                      <a:txBody>
                        <a:bodyPr/>
                        <a:lstStyle/>
                        <a:p>
                          <a:pPr algn="ctr"/>
                          <a:r>
                            <a:rPr lang="en-US" sz="2400" dirty="0"/>
                            <a:t>0</a:t>
                          </a:r>
                        </a:p>
                      </a:txBody>
                      <a:tcPr marL="74756" marR="74756" marT="37378" marB="37378" anchor="ctr"/>
                    </a:tc>
                    <a:extLst>
                      <a:ext uri="{0D108BD9-81ED-4DB2-BD59-A6C34878D82A}">
                        <a16:rowId xmlns:a16="http://schemas.microsoft.com/office/drawing/2014/main" val="3714241907"/>
                      </a:ext>
                    </a:extLst>
                  </a:tr>
                </a:tbl>
              </a:graphicData>
            </a:graphic>
          </p:graphicFrame>
        </mc:Fallback>
      </mc:AlternateContent>
      <p:pic>
        <p:nvPicPr>
          <p:cNvPr id="7" name="Picture 6">
            <a:extLst>
              <a:ext uri="{FF2B5EF4-FFF2-40B4-BE49-F238E27FC236}">
                <a16:creationId xmlns:a16="http://schemas.microsoft.com/office/drawing/2014/main" id="{B5200134-5D17-FE27-5547-53C51B8E2BD7}"/>
              </a:ext>
            </a:extLst>
          </p:cNvPr>
          <p:cNvPicPr>
            <a:picLocks noChangeAspect="1"/>
          </p:cNvPicPr>
          <p:nvPr/>
        </p:nvPicPr>
        <p:blipFill>
          <a:blip r:embed="rId5"/>
          <a:stretch>
            <a:fillRect/>
          </a:stretch>
        </p:blipFill>
        <p:spPr>
          <a:xfrm>
            <a:off x="720760" y="4277138"/>
            <a:ext cx="4629006" cy="1724532"/>
          </a:xfrm>
          <a:prstGeom prst="rect">
            <a:avLst/>
          </a:prstGeom>
        </p:spPr>
      </p:pic>
    </p:spTree>
    <p:extLst>
      <p:ext uri="{BB962C8B-B14F-4D97-AF65-F5344CB8AC3E}">
        <p14:creationId xmlns:p14="http://schemas.microsoft.com/office/powerpoint/2010/main" val="443862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Combinational Circuits –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8"/>
            <a:ext cx="11743016" cy="494282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3200" dirty="0"/>
              <a:t>You have an underground water tank and a water tank at the roof top. You have also installed UPS for power outages. You have a mechanical sensor in the top tank, which tells whether the water level is below a certain level or not. A similar sensor is installed in the underground tank which tells whether the water level is above a certain level or not.</a:t>
            </a:r>
          </a:p>
          <a:p>
            <a:pPr marL="0" indent="0">
              <a:lnSpc>
                <a:spcPct val="100000"/>
              </a:lnSpc>
              <a:buNone/>
            </a:pPr>
            <a:r>
              <a:rPr lang="en-US" sz="3200" dirty="0"/>
              <a:t>The switch to motor pump turns on automatically if the water level is below the marked level in top tank and above the marked level in the underground tank.</a:t>
            </a:r>
          </a:p>
          <a:p>
            <a:pPr marL="0" indent="0">
              <a:lnSpc>
                <a:spcPct val="100000"/>
              </a:lnSpc>
              <a:buNone/>
            </a:pPr>
            <a:r>
              <a:rPr lang="en-US" sz="3200" dirty="0"/>
              <a:t>Additionally, there is a power supply sensor which tells whether the house is currently running on main power or UPS. If the UPS is being used, then the motor will not turn on, as it will not get enough wattage.</a:t>
            </a:r>
          </a:p>
          <a:p>
            <a:pPr marL="0" indent="0">
              <a:lnSpc>
                <a:spcPct val="100000"/>
              </a:lnSpc>
              <a:buNone/>
            </a:pPr>
            <a:r>
              <a:rPr lang="en-US" sz="3200" dirty="0"/>
              <a:t>Design a combinational circuit to represent this scenario as Boolean logic.</a:t>
            </a:r>
          </a:p>
        </p:txBody>
      </p:sp>
    </p:spTree>
    <p:extLst>
      <p:ext uri="{BB962C8B-B14F-4D97-AF65-F5344CB8AC3E}">
        <p14:creationId xmlns:p14="http://schemas.microsoft.com/office/powerpoint/2010/main" val="3316947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Activity 2</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8"/>
            <a:ext cx="11743016" cy="494282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3200" dirty="0"/>
              <a:t>You have an underground water tank and a water tank at the roof top. You have also installed UPS for power outages. You have a mechanical sensor in the top tank, which tells whether the water level is below a certain level or not. A similar sensor is installed in the underground tank which tells whether the water level is above a certain level or not.</a:t>
            </a:r>
          </a:p>
          <a:p>
            <a:pPr marL="0" indent="0">
              <a:lnSpc>
                <a:spcPct val="100000"/>
              </a:lnSpc>
              <a:buNone/>
            </a:pPr>
            <a:r>
              <a:rPr lang="en-US" sz="3200" dirty="0"/>
              <a:t>The switch to motor pump turns on automatically if the water level is below the marked level in top tank and above the marked level in the underground tank.</a:t>
            </a:r>
          </a:p>
          <a:p>
            <a:pPr marL="0" indent="0">
              <a:lnSpc>
                <a:spcPct val="100000"/>
              </a:lnSpc>
              <a:buNone/>
            </a:pPr>
            <a:r>
              <a:rPr lang="en-US" sz="3200" dirty="0"/>
              <a:t>Additionally, there is a power supply sensor which tells whether the house is currently running on main power or UPS. If the UPS is being used, then the motor will not turn on, as it will not get enough wattage.</a:t>
            </a:r>
          </a:p>
          <a:p>
            <a:pPr marL="0" indent="0">
              <a:lnSpc>
                <a:spcPct val="100000"/>
              </a:lnSpc>
              <a:buNone/>
            </a:pPr>
            <a:r>
              <a:rPr lang="en-US" sz="3200" dirty="0"/>
              <a:t>You have also installed Solar panels at your house. Therefore, it is now possible to run the motor pump during day time even when the house is running on UPS.</a:t>
            </a:r>
          </a:p>
          <a:p>
            <a:pPr marL="0" indent="0">
              <a:lnSpc>
                <a:spcPct val="100000"/>
              </a:lnSpc>
              <a:buNone/>
            </a:pPr>
            <a:r>
              <a:rPr lang="en-US" sz="3200" dirty="0"/>
              <a:t>Redesign the solution, catering for this new condition.</a:t>
            </a:r>
          </a:p>
        </p:txBody>
      </p:sp>
    </p:spTree>
    <p:extLst>
      <p:ext uri="{BB962C8B-B14F-4D97-AF65-F5344CB8AC3E}">
        <p14:creationId xmlns:p14="http://schemas.microsoft.com/office/powerpoint/2010/main" val="1732006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Combinational Circuits –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8"/>
                <a:ext cx="5875616" cy="494282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00000"/>
                  </a:lnSpc>
                  <a:buFont typeface="+mj-lt"/>
                  <a:buAutoNum type="arabicPeriod"/>
                </a:pPr>
                <a:r>
                  <a:rPr lang="en-US" sz="3200" dirty="0"/>
                  <a:t>Identify the input variables.</a:t>
                </a:r>
                <a:br>
                  <a:rPr lang="en-US" sz="3200" dirty="0"/>
                </a:br>
                <a:r>
                  <a:rPr lang="en-US" sz="3200" dirty="0"/>
                  <a:t>Let the input from top tank be </a:t>
                </a:r>
                <a14:m>
                  <m:oMath xmlns:m="http://schemas.openxmlformats.org/officeDocument/2006/math">
                    <m:r>
                      <a:rPr lang="en-US" sz="3200" b="0" i="1" smtClean="0">
                        <a:latin typeface="Cambria Math" panose="02040503050406030204" pitchFamily="18" charset="0"/>
                      </a:rPr>
                      <m:t>𝐴</m:t>
                    </m:r>
                  </m:oMath>
                </a14:m>
                <a:r>
                  <a:rPr lang="en-US" sz="3200" dirty="0"/>
                  <a:t>; input from bottom tank be </a:t>
                </a:r>
                <a14:m>
                  <m:oMath xmlns:m="http://schemas.openxmlformats.org/officeDocument/2006/math">
                    <m:r>
                      <a:rPr lang="en-US" sz="3200" b="0" i="1" smtClean="0">
                        <a:latin typeface="Cambria Math" panose="02040503050406030204" pitchFamily="18" charset="0"/>
                      </a:rPr>
                      <m:t>𝐵</m:t>
                    </m:r>
                  </m:oMath>
                </a14:m>
                <a:r>
                  <a:rPr lang="en-US" sz="3200" dirty="0"/>
                  <a:t>; input from UPS be </a:t>
                </a:r>
                <a14:m>
                  <m:oMath xmlns:m="http://schemas.openxmlformats.org/officeDocument/2006/math">
                    <m:r>
                      <a:rPr lang="en-US" sz="3200" b="0" i="1" smtClean="0">
                        <a:latin typeface="Cambria Math" panose="02040503050406030204" pitchFamily="18" charset="0"/>
                      </a:rPr>
                      <m:t>𝐶</m:t>
                    </m:r>
                  </m:oMath>
                </a14:m>
                <a:r>
                  <a:rPr lang="en-US" sz="3200" dirty="0"/>
                  <a:t>; and the output be </a:t>
                </a:r>
                <a14:m>
                  <m:oMath xmlns:m="http://schemas.openxmlformats.org/officeDocument/2006/math">
                    <m:r>
                      <a:rPr lang="en-US" sz="3200" b="0" i="1" smtClean="0">
                        <a:latin typeface="Cambria Math" panose="02040503050406030204" pitchFamily="18" charset="0"/>
                      </a:rPr>
                      <m:t>𝑋</m:t>
                    </m:r>
                  </m:oMath>
                </a14:m>
                <a:r>
                  <a:rPr lang="en-US" sz="3200" dirty="0"/>
                  <a:t>.</a:t>
                </a:r>
              </a:p>
              <a:p>
                <a:pPr marL="514350" indent="-514350">
                  <a:lnSpc>
                    <a:spcPct val="100000"/>
                  </a:lnSpc>
                  <a:buFont typeface="+mj-lt"/>
                  <a:buAutoNum type="arabicPeriod"/>
                </a:pPr>
                <a:r>
                  <a:rPr lang="en-US" sz="3200" dirty="0"/>
                  <a:t>Truth table:</a:t>
                </a:r>
                <a:br>
                  <a:rPr lang="en-US" sz="3200" dirty="0"/>
                </a:br>
                <a:r>
                  <a:rPr lang="en-US" sz="3200" dirty="0"/>
                  <a:t>The output will be true only </a:t>
                </a:r>
                <a14:m>
                  <m:oMath xmlns:m="http://schemas.openxmlformats.org/officeDocument/2006/math">
                    <m:r>
                      <a:rPr lang="en-US" sz="3200" b="0" i="1" smtClean="0">
                        <a:latin typeface="Cambria Math" panose="02040503050406030204" pitchFamily="18" charset="0"/>
                      </a:rPr>
                      <m:t>𝐴</m:t>
                    </m:r>
                    <m:r>
                      <a:rPr lang="en-US" sz="3200" b="0" i="1" smtClean="0">
                        <a:latin typeface="Cambria Math" panose="02040503050406030204" pitchFamily="18" charset="0"/>
                      </a:rPr>
                      <m:t>=0,</m:t>
                    </m:r>
                    <m:r>
                      <a:rPr lang="en-US" sz="3200" b="0" i="1" smtClean="0">
                        <a:latin typeface="Cambria Math" panose="02040503050406030204" pitchFamily="18" charset="0"/>
                      </a:rPr>
                      <m:t>𝐵</m:t>
                    </m:r>
                    <m:r>
                      <a:rPr lang="en-US" sz="3200" b="0" i="1" smtClean="0">
                        <a:latin typeface="Cambria Math" panose="02040503050406030204" pitchFamily="18" charset="0"/>
                      </a:rPr>
                      <m:t>=1,</m:t>
                    </m:r>
                    <m:r>
                      <a:rPr lang="en-US" sz="3200" b="0" i="1" smtClean="0">
                        <a:latin typeface="Cambria Math" panose="02040503050406030204" pitchFamily="18" charset="0"/>
                      </a:rPr>
                      <m:t>𝐶</m:t>
                    </m:r>
                    <m:r>
                      <a:rPr lang="en-US" sz="3200" b="0" i="1" smtClean="0">
                        <a:latin typeface="Cambria Math" panose="02040503050406030204" pitchFamily="18" charset="0"/>
                      </a:rPr>
                      <m:t>=1</m:t>
                    </m:r>
                    <a:fld id="{825F15A7-03F4-43D7-82C5-3E23DA2F108C}" type="mathplaceholder">
                      <a:rPr lang="en-US" sz="3200" b="0" i="1" smtClean="0">
                        <a:latin typeface="Cambria Math" panose="02040503050406030204" pitchFamily="18" charset="0"/>
                      </a:rPr>
                      <a:t>.</a:t>
                    </a:fld>
                  </m:oMath>
                </a14:m>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8"/>
                <a:ext cx="5875616" cy="4942828"/>
              </a:xfrm>
              <a:prstGeom prst="rect">
                <a:avLst/>
              </a:prstGeom>
              <a:blipFill>
                <a:blip r:embed="rId3"/>
                <a:stretch>
                  <a:fillRect l="-2697" t="-1850" r="-934"/>
                </a:stretch>
              </a:blipFill>
            </p:spPr>
            <p:txBody>
              <a:bodyPr/>
              <a:lstStyle/>
              <a:p>
                <a:r>
                  <a:rPr lang="en-PK">
                    <a:noFill/>
                  </a:rPr>
                  <a:t> </a:t>
                </a:r>
              </a:p>
            </p:txBody>
          </p:sp>
        </mc:Fallback>
      </mc:AlternateContent>
      <p:graphicFrame>
        <p:nvGraphicFramePr>
          <p:cNvPr id="4" name="Table 4">
            <a:extLst>
              <a:ext uri="{FF2B5EF4-FFF2-40B4-BE49-F238E27FC236}">
                <a16:creationId xmlns:a16="http://schemas.microsoft.com/office/drawing/2014/main" id="{77096C06-2C9E-DCDE-C235-135BDF25C5A0}"/>
              </a:ext>
            </a:extLst>
          </p:cNvPr>
          <p:cNvGraphicFramePr>
            <a:graphicFrameLocks noGrp="1"/>
          </p:cNvGraphicFramePr>
          <p:nvPr>
            <p:extLst>
              <p:ext uri="{D42A27DB-BD31-4B8C-83A1-F6EECF244321}">
                <p14:modId xmlns:p14="http://schemas.microsoft.com/office/powerpoint/2010/main" val="3837992871"/>
              </p:ext>
            </p:extLst>
          </p:nvPr>
        </p:nvGraphicFramePr>
        <p:xfrm>
          <a:off x="6096000" y="1702676"/>
          <a:ext cx="5867400" cy="4456386"/>
        </p:xfrm>
        <a:graphic>
          <a:graphicData uri="http://schemas.openxmlformats.org/drawingml/2006/table">
            <a:tbl>
              <a:tblPr firstRow="1" bandRow="1">
                <a:tableStyleId>{5C22544A-7EE6-4342-B048-85BDC9FD1C3A}</a:tableStyleId>
              </a:tblPr>
              <a:tblGrid>
                <a:gridCol w="1466850">
                  <a:extLst>
                    <a:ext uri="{9D8B030D-6E8A-4147-A177-3AD203B41FA5}">
                      <a16:colId xmlns:a16="http://schemas.microsoft.com/office/drawing/2014/main" val="582584770"/>
                    </a:ext>
                  </a:extLst>
                </a:gridCol>
                <a:gridCol w="1466850">
                  <a:extLst>
                    <a:ext uri="{9D8B030D-6E8A-4147-A177-3AD203B41FA5}">
                      <a16:colId xmlns:a16="http://schemas.microsoft.com/office/drawing/2014/main" val="2065373370"/>
                    </a:ext>
                  </a:extLst>
                </a:gridCol>
                <a:gridCol w="1466850">
                  <a:extLst>
                    <a:ext uri="{9D8B030D-6E8A-4147-A177-3AD203B41FA5}">
                      <a16:colId xmlns:a16="http://schemas.microsoft.com/office/drawing/2014/main" val="1414005584"/>
                    </a:ext>
                  </a:extLst>
                </a:gridCol>
                <a:gridCol w="1466850">
                  <a:extLst>
                    <a:ext uri="{9D8B030D-6E8A-4147-A177-3AD203B41FA5}">
                      <a16:colId xmlns:a16="http://schemas.microsoft.com/office/drawing/2014/main" val="2276230156"/>
                    </a:ext>
                  </a:extLst>
                </a:gridCol>
              </a:tblGrid>
              <a:tr h="495154">
                <a:tc>
                  <a:txBody>
                    <a:bodyPr/>
                    <a:lstStyle/>
                    <a:p>
                      <a:pPr algn="ctr"/>
                      <a:r>
                        <a:rPr lang="en-US" sz="2200" dirty="0"/>
                        <a:t>A</a:t>
                      </a:r>
                      <a:endParaRPr lang="en-PK" sz="2200" dirty="0"/>
                    </a:p>
                  </a:txBody>
                  <a:tcPr/>
                </a:tc>
                <a:tc>
                  <a:txBody>
                    <a:bodyPr/>
                    <a:lstStyle/>
                    <a:p>
                      <a:pPr algn="ctr"/>
                      <a:r>
                        <a:rPr lang="en-US" sz="2200" dirty="0"/>
                        <a:t>B</a:t>
                      </a:r>
                      <a:endParaRPr lang="en-PK" sz="2200" dirty="0"/>
                    </a:p>
                  </a:txBody>
                  <a:tcPr/>
                </a:tc>
                <a:tc>
                  <a:txBody>
                    <a:bodyPr/>
                    <a:lstStyle/>
                    <a:p>
                      <a:pPr algn="ctr"/>
                      <a:r>
                        <a:rPr lang="en-US" sz="2200" dirty="0"/>
                        <a:t>C</a:t>
                      </a:r>
                      <a:endParaRPr lang="en-PK" sz="2200" dirty="0"/>
                    </a:p>
                  </a:txBody>
                  <a:tcPr/>
                </a:tc>
                <a:tc>
                  <a:txBody>
                    <a:bodyPr/>
                    <a:lstStyle/>
                    <a:p>
                      <a:pPr algn="ctr"/>
                      <a:r>
                        <a:rPr lang="en-US" sz="2200" dirty="0"/>
                        <a:t>X</a:t>
                      </a:r>
                      <a:endParaRPr lang="en-PK" sz="2200" dirty="0"/>
                    </a:p>
                  </a:txBody>
                  <a:tcPr/>
                </a:tc>
                <a:extLst>
                  <a:ext uri="{0D108BD9-81ED-4DB2-BD59-A6C34878D82A}">
                    <a16:rowId xmlns:a16="http://schemas.microsoft.com/office/drawing/2014/main" val="3747358963"/>
                  </a:ext>
                </a:extLst>
              </a:tr>
              <a:tr h="495154">
                <a:tc>
                  <a:txBody>
                    <a:bodyPr/>
                    <a:lstStyle/>
                    <a:p>
                      <a:pPr algn="ctr"/>
                      <a:r>
                        <a:rPr lang="en-US" sz="2200" dirty="0"/>
                        <a:t>0</a:t>
                      </a:r>
                      <a:endParaRPr lang="en-PK" sz="2200" dirty="0"/>
                    </a:p>
                  </a:txBody>
                  <a:tcPr/>
                </a:tc>
                <a:tc>
                  <a:txBody>
                    <a:bodyPr/>
                    <a:lstStyle/>
                    <a:p>
                      <a:pPr algn="ctr"/>
                      <a:r>
                        <a:rPr lang="en-US" sz="2200" dirty="0"/>
                        <a:t>0</a:t>
                      </a:r>
                      <a:endParaRPr lang="en-PK" sz="2200" dirty="0"/>
                    </a:p>
                  </a:txBody>
                  <a:tcPr/>
                </a:tc>
                <a:tc>
                  <a:txBody>
                    <a:bodyPr/>
                    <a:lstStyle/>
                    <a:p>
                      <a:pPr algn="ctr"/>
                      <a:r>
                        <a:rPr lang="en-US" sz="2200" dirty="0"/>
                        <a:t>0</a:t>
                      </a:r>
                      <a:endParaRPr lang="en-PK" sz="2200" dirty="0"/>
                    </a:p>
                  </a:txBody>
                  <a:tcPr/>
                </a:tc>
                <a:tc>
                  <a:txBody>
                    <a:bodyPr/>
                    <a:lstStyle/>
                    <a:p>
                      <a:pPr algn="ctr"/>
                      <a:r>
                        <a:rPr lang="en-US" sz="2200" dirty="0"/>
                        <a:t>0</a:t>
                      </a:r>
                      <a:endParaRPr lang="en-PK" sz="2200" dirty="0"/>
                    </a:p>
                  </a:txBody>
                  <a:tcPr/>
                </a:tc>
                <a:extLst>
                  <a:ext uri="{0D108BD9-81ED-4DB2-BD59-A6C34878D82A}">
                    <a16:rowId xmlns:a16="http://schemas.microsoft.com/office/drawing/2014/main" val="1555933801"/>
                  </a:ext>
                </a:extLst>
              </a:tr>
              <a:tr h="495154">
                <a:tc>
                  <a:txBody>
                    <a:bodyPr/>
                    <a:lstStyle/>
                    <a:p>
                      <a:pPr algn="ctr"/>
                      <a:r>
                        <a:rPr lang="en-US" sz="2200" dirty="0"/>
                        <a:t>0</a:t>
                      </a:r>
                      <a:endParaRPr lang="en-PK" sz="2200" dirty="0"/>
                    </a:p>
                  </a:txBody>
                  <a:tcPr/>
                </a:tc>
                <a:tc>
                  <a:txBody>
                    <a:bodyPr/>
                    <a:lstStyle/>
                    <a:p>
                      <a:pPr algn="ctr"/>
                      <a:r>
                        <a:rPr lang="en-US" sz="2200" dirty="0"/>
                        <a:t>0</a:t>
                      </a:r>
                      <a:endParaRPr lang="en-PK" sz="2200" dirty="0"/>
                    </a:p>
                  </a:txBody>
                  <a:tcPr/>
                </a:tc>
                <a:tc>
                  <a:txBody>
                    <a:bodyPr/>
                    <a:lstStyle/>
                    <a:p>
                      <a:pPr algn="ctr"/>
                      <a:r>
                        <a:rPr lang="en-US" sz="2200" dirty="0"/>
                        <a:t>1</a:t>
                      </a:r>
                      <a:endParaRPr lang="en-PK" sz="2200" dirty="0"/>
                    </a:p>
                  </a:txBody>
                  <a:tcPr/>
                </a:tc>
                <a:tc>
                  <a:txBody>
                    <a:bodyPr/>
                    <a:lstStyle/>
                    <a:p>
                      <a:pPr algn="ctr"/>
                      <a:r>
                        <a:rPr lang="en-US" sz="2200" dirty="0"/>
                        <a:t>0</a:t>
                      </a:r>
                      <a:endParaRPr lang="en-PK" sz="2200" dirty="0"/>
                    </a:p>
                  </a:txBody>
                  <a:tcPr/>
                </a:tc>
                <a:extLst>
                  <a:ext uri="{0D108BD9-81ED-4DB2-BD59-A6C34878D82A}">
                    <a16:rowId xmlns:a16="http://schemas.microsoft.com/office/drawing/2014/main" val="2989279737"/>
                  </a:ext>
                </a:extLst>
              </a:tr>
              <a:tr h="495154">
                <a:tc>
                  <a:txBody>
                    <a:bodyPr/>
                    <a:lstStyle/>
                    <a:p>
                      <a:pPr algn="ctr"/>
                      <a:r>
                        <a:rPr lang="en-US" sz="2200" dirty="0"/>
                        <a:t>0</a:t>
                      </a:r>
                      <a:endParaRPr lang="en-PK" sz="2200" dirty="0"/>
                    </a:p>
                  </a:txBody>
                  <a:tcPr/>
                </a:tc>
                <a:tc>
                  <a:txBody>
                    <a:bodyPr/>
                    <a:lstStyle/>
                    <a:p>
                      <a:pPr algn="ctr"/>
                      <a:r>
                        <a:rPr lang="en-US" sz="2200" dirty="0"/>
                        <a:t>1</a:t>
                      </a:r>
                      <a:endParaRPr lang="en-PK" sz="2200" dirty="0"/>
                    </a:p>
                  </a:txBody>
                  <a:tcPr/>
                </a:tc>
                <a:tc>
                  <a:txBody>
                    <a:bodyPr/>
                    <a:lstStyle/>
                    <a:p>
                      <a:pPr algn="ctr"/>
                      <a:r>
                        <a:rPr lang="en-US" sz="2200" dirty="0"/>
                        <a:t>0</a:t>
                      </a:r>
                      <a:endParaRPr lang="en-PK" sz="2200" dirty="0"/>
                    </a:p>
                  </a:txBody>
                  <a:tcPr/>
                </a:tc>
                <a:tc>
                  <a:txBody>
                    <a:bodyPr/>
                    <a:lstStyle/>
                    <a:p>
                      <a:pPr algn="ctr"/>
                      <a:r>
                        <a:rPr lang="en-US" sz="2200" dirty="0"/>
                        <a:t>0</a:t>
                      </a:r>
                      <a:endParaRPr lang="en-PK" sz="2200" dirty="0"/>
                    </a:p>
                  </a:txBody>
                  <a:tcPr/>
                </a:tc>
                <a:extLst>
                  <a:ext uri="{0D108BD9-81ED-4DB2-BD59-A6C34878D82A}">
                    <a16:rowId xmlns:a16="http://schemas.microsoft.com/office/drawing/2014/main" val="2178802699"/>
                  </a:ext>
                </a:extLst>
              </a:tr>
              <a:tr h="495154">
                <a:tc>
                  <a:txBody>
                    <a:bodyPr/>
                    <a:lstStyle/>
                    <a:p>
                      <a:pPr algn="ctr"/>
                      <a:r>
                        <a:rPr lang="en-US" sz="2200" dirty="0"/>
                        <a:t>0</a:t>
                      </a:r>
                      <a:endParaRPr lang="en-PK" sz="2200" dirty="0"/>
                    </a:p>
                  </a:txBody>
                  <a:tcPr/>
                </a:tc>
                <a:tc>
                  <a:txBody>
                    <a:bodyPr/>
                    <a:lstStyle/>
                    <a:p>
                      <a:pPr algn="ctr"/>
                      <a:r>
                        <a:rPr lang="en-US" sz="2200" dirty="0"/>
                        <a:t>1</a:t>
                      </a:r>
                      <a:endParaRPr lang="en-PK" sz="2200" dirty="0"/>
                    </a:p>
                  </a:txBody>
                  <a:tcPr/>
                </a:tc>
                <a:tc>
                  <a:txBody>
                    <a:bodyPr/>
                    <a:lstStyle/>
                    <a:p>
                      <a:pPr algn="ctr"/>
                      <a:r>
                        <a:rPr lang="en-US" sz="2200" dirty="0"/>
                        <a:t>1</a:t>
                      </a:r>
                      <a:endParaRPr lang="en-PK" sz="2200" dirty="0"/>
                    </a:p>
                  </a:txBody>
                  <a:tcPr/>
                </a:tc>
                <a:tc>
                  <a:txBody>
                    <a:bodyPr/>
                    <a:lstStyle/>
                    <a:p>
                      <a:pPr algn="ctr"/>
                      <a:r>
                        <a:rPr lang="en-US" sz="2200" dirty="0"/>
                        <a:t>1</a:t>
                      </a:r>
                      <a:endParaRPr lang="en-PK" sz="2200" dirty="0"/>
                    </a:p>
                  </a:txBody>
                  <a:tcPr/>
                </a:tc>
                <a:extLst>
                  <a:ext uri="{0D108BD9-81ED-4DB2-BD59-A6C34878D82A}">
                    <a16:rowId xmlns:a16="http://schemas.microsoft.com/office/drawing/2014/main" val="3649253280"/>
                  </a:ext>
                </a:extLst>
              </a:tr>
              <a:tr h="495154">
                <a:tc>
                  <a:txBody>
                    <a:bodyPr/>
                    <a:lstStyle/>
                    <a:p>
                      <a:pPr algn="ctr"/>
                      <a:r>
                        <a:rPr lang="en-US" sz="2200" dirty="0"/>
                        <a:t>1</a:t>
                      </a:r>
                      <a:endParaRPr lang="en-PK" sz="2200" dirty="0"/>
                    </a:p>
                  </a:txBody>
                  <a:tcPr/>
                </a:tc>
                <a:tc>
                  <a:txBody>
                    <a:bodyPr/>
                    <a:lstStyle/>
                    <a:p>
                      <a:pPr algn="ctr"/>
                      <a:r>
                        <a:rPr lang="en-US" sz="2200" dirty="0"/>
                        <a:t>0</a:t>
                      </a:r>
                      <a:endParaRPr lang="en-PK" sz="2200" dirty="0"/>
                    </a:p>
                  </a:txBody>
                  <a:tcPr/>
                </a:tc>
                <a:tc>
                  <a:txBody>
                    <a:bodyPr/>
                    <a:lstStyle/>
                    <a:p>
                      <a:pPr algn="ctr"/>
                      <a:r>
                        <a:rPr lang="en-US" sz="2200" dirty="0"/>
                        <a:t>0</a:t>
                      </a:r>
                      <a:endParaRPr lang="en-PK" sz="2200" dirty="0"/>
                    </a:p>
                  </a:txBody>
                  <a:tcPr/>
                </a:tc>
                <a:tc>
                  <a:txBody>
                    <a:bodyPr/>
                    <a:lstStyle/>
                    <a:p>
                      <a:pPr algn="ctr"/>
                      <a:r>
                        <a:rPr lang="en-US" sz="2200" dirty="0"/>
                        <a:t>0</a:t>
                      </a:r>
                      <a:endParaRPr lang="en-PK" sz="2200" dirty="0"/>
                    </a:p>
                  </a:txBody>
                  <a:tcPr/>
                </a:tc>
                <a:extLst>
                  <a:ext uri="{0D108BD9-81ED-4DB2-BD59-A6C34878D82A}">
                    <a16:rowId xmlns:a16="http://schemas.microsoft.com/office/drawing/2014/main" val="2072772717"/>
                  </a:ext>
                </a:extLst>
              </a:tr>
              <a:tr h="495154">
                <a:tc>
                  <a:txBody>
                    <a:bodyPr/>
                    <a:lstStyle/>
                    <a:p>
                      <a:pPr algn="ctr"/>
                      <a:r>
                        <a:rPr lang="en-US" sz="2200" dirty="0"/>
                        <a:t>1</a:t>
                      </a:r>
                      <a:endParaRPr lang="en-PK" sz="2200" dirty="0"/>
                    </a:p>
                  </a:txBody>
                  <a:tcPr/>
                </a:tc>
                <a:tc>
                  <a:txBody>
                    <a:bodyPr/>
                    <a:lstStyle/>
                    <a:p>
                      <a:pPr algn="ctr"/>
                      <a:r>
                        <a:rPr lang="en-US" sz="2200" dirty="0"/>
                        <a:t>0</a:t>
                      </a:r>
                      <a:endParaRPr lang="en-PK" sz="2200" dirty="0"/>
                    </a:p>
                  </a:txBody>
                  <a:tcPr/>
                </a:tc>
                <a:tc>
                  <a:txBody>
                    <a:bodyPr/>
                    <a:lstStyle/>
                    <a:p>
                      <a:pPr algn="ctr"/>
                      <a:r>
                        <a:rPr lang="en-US" sz="2200" dirty="0"/>
                        <a:t>1</a:t>
                      </a:r>
                      <a:endParaRPr lang="en-PK" sz="2200" dirty="0"/>
                    </a:p>
                  </a:txBody>
                  <a:tcPr/>
                </a:tc>
                <a:tc>
                  <a:txBody>
                    <a:bodyPr/>
                    <a:lstStyle/>
                    <a:p>
                      <a:pPr algn="ctr"/>
                      <a:r>
                        <a:rPr lang="en-US" sz="2200" dirty="0"/>
                        <a:t>0</a:t>
                      </a:r>
                      <a:endParaRPr lang="en-PK" sz="2200" dirty="0"/>
                    </a:p>
                  </a:txBody>
                  <a:tcPr/>
                </a:tc>
                <a:extLst>
                  <a:ext uri="{0D108BD9-81ED-4DB2-BD59-A6C34878D82A}">
                    <a16:rowId xmlns:a16="http://schemas.microsoft.com/office/drawing/2014/main" val="2515440516"/>
                  </a:ext>
                </a:extLst>
              </a:tr>
              <a:tr h="495154">
                <a:tc>
                  <a:txBody>
                    <a:bodyPr/>
                    <a:lstStyle/>
                    <a:p>
                      <a:pPr algn="ctr"/>
                      <a:r>
                        <a:rPr lang="en-US" sz="2200" dirty="0"/>
                        <a:t>1</a:t>
                      </a:r>
                      <a:endParaRPr lang="en-PK" sz="2200" dirty="0"/>
                    </a:p>
                  </a:txBody>
                  <a:tcPr/>
                </a:tc>
                <a:tc>
                  <a:txBody>
                    <a:bodyPr/>
                    <a:lstStyle/>
                    <a:p>
                      <a:pPr algn="ctr"/>
                      <a:r>
                        <a:rPr lang="en-US" sz="2200" dirty="0"/>
                        <a:t>1</a:t>
                      </a:r>
                      <a:endParaRPr lang="en-PK" sz="2200" dirty="0"/>
                    </a:p>
                  </a:txBody>
                  <a:tcPr/>
                </a:tc>
                <a:tc>
                  <a:txBody>
                    <a:bodyPr/>
                    <a:lstStyle/>
                    <a:p>
                      <a:pPr algn="ctr"/>
                      <a:r>
                        <a:rPr lang="en-US" sz="2200" dirty="0"/>
                        <a:t>0</a:t>
                      </a:r>
                      <a:endParaRPr lang="en-PK" sz="2200" dirty="0"/>
                    </a:p>
                  </a:txBody>
                  <a:tcPr/>
                </a:tc>
                <a:tc>
                  <a:txBody>
                    <a:bodyPr/>
                    <a:lstStyle/>
                    <a:p>
                      <a:pPr algn="ctr"/>
                      <a:r>
                        <a:rPr lang="en-US" sz="2200" dirty="0"/>
                        <a:t>0</a:t>
                      </a:r>
                      <a:endParaRPr lang="en-PK" sz="2200" dirty="0"/>
                    </a:p>
                  </a:txBody>
                  <a:tcPr/>
                </a:tc>
                <a:extLst>
                  <a:ext uri="{0D108BD9-81ED-4DB2-BD59-A6C34878D82A}">
                    <a16:rowId xmlns:a16="http://schemas.microsoft.com/office/drawing/2014/main" val="2003100372"/>
                  </a:ext>
                </a:extLst>
              </a:tr>
              <a:tr h="495154">
                <a:tc>
                  <a:txBody>
                    <a:bodyPr/>
                    <a:lstStyle/>
                    <a:p>
                      <a:pPr algn="ctr"/>
                      <a:r>
                        <a:rPr lang="en-US" sz="2200" dirty="0"/>
                        <a:t>1</a:t>
                      </a:r>
                      <a:endParaRPr lang="en-PK" sz="2200" dirty="0"/>
                    </a:p>
                  </a:txBody>
                  <a:tcPr/>
                </a:tc>
                <a:tc>
                  <a:txBody>
                    <a:bodyPr/>
                    <a:lstStyle/>
                    <a:p>
                      <a:pPr algn="ctr"/>
                      <a:r>
                        <a:rPr lang="en-US" sz="2200" dirty="0"/>
                        <a:t>1</a:t>
                      </a:r>
                      <a:endParaRPr lang="en-PK" sz="2200" dirty="0"/>
                    </a:p>
                  </a:txBody>
                  <a:tcPr/>
                </a:tc>
                <a:tc>
                  <a:txBody>
                    <a:bodyPr/>
                    <a:lstStyle/>
                    <a:p>
                      <a:pPr algn="ctr"/>
                      <a:r>
                        <a:rPr lang="en-US" sz="2200" dirty="0"/>
                        <a:t>1</a:t>
                      </a:r>
                      <a:endParaRPr lang="en-PK" sz="2200" dirty="0"/>
                    </a:p>
                  </a:txBody>
                  <a:tcPr/>
                </a:tc>
                <a:tc>
                  <a:txBody>
                    <a:bodyPr/>
                    <a:lstStyle/>
                    <a:p>
                      <a:pPr algn="ctr"/>
                      <a:r>
                        <a:rPr lang="en-US" sz="2200" dirty="0"/>
                        <a:t>0</a:t>
                      </a:r>
                      <a:endParaRPr lang="en-PK" sz="2200" dirty="0"/>
                    </a:p>
                  </a:txBody>
                  <a:tcPr/>
                </a:tc>
                <a:extLst>
                  <a:ext uri="{0D108BD9-81ED-4DB2-BD59-A6C34878D82A}">
                    <a16:rowId xmlns:a16="http://schemas.microsoft.com/office/drawing/2014/main" val="1333083958"/>
                  </a:ext>
                </a:extLst>
              </a:tr>
            </a:tbl>
          </a:graphicData>
        </a:graphic>
      </p:graphicFrame>
    </p:spTree>
    <p:extLst>
      <p:ext uri="{BB962C8B-B14F-4D97-AF65-F5344CB8AC3E}">
        <p14:creationId xmlns:p14="http://schemas.microsoft.com/office/powerpoint/2010/main" val="4047550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Combinational Circuits –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8"/>
                <a:ext cx="11743016" cy="494282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00000"/>
                  </a:lnSpc>
                  <a:buFont typeface="+mj-lt"/>
                  <a:buAutoNum type="arabicPeriod" startAt="3"/>
                </a:pPr>
                <a:r>
                  <a:rPr lang="en-US" sz="3200" dirty="0"/>
                  <a:t>Karnaugh Map.</a:t>
                </a:r>
                <a:br>
                  <a:rPr lang="en-US" sz="3200" dirty="0"/>
                </a:br>
                <a:r>
                  <a:rPr lang="en-US" sz="3200" dirty="0"/>
                  <a:t>The case is straight forward, since we only have single instance where </a:t>
                </a:r>
                <a14:m>
                  <m:oMath xmlns:m="http://schemas.openxmlformats.org/officeDocument/2006/math">
                    <m:r>
                      <a:rPr lang="en-US" sz="3200" b="0" i="1" smtClean="0">
                        <a:latin typeface="Cambria Math" panose="02040503050406030204" pitchFamily="18" charset="0"/>
                      </a:rPr>
                      <m:t>𝑋</m:t>
                    </m:r>
                    <m:r>
                      <a:rPr lang="en-US" sz="3200" b="0" i="1" smtClean="0">
                        <a:latin typeface="Cambria Math" panose="02040503050406030204" pitchFamily="18" charset="0"/>
                      </a:rPr>
                      <m:t>=1</m:t>
                    </m:r>
                  </m:oMath>
                </a14:m>
                <a:r>
                  <a:rPr lang="en-US" sz="3200" dirty="0"/>
                  <a:t>, therefore a map is not needed. The SOP equation will be: </a:t>
                </a:r>
                <a14:m>
                  <m:oMath xmlns:m="http://schemas.openxmlformats.org/officeDocument/2006/math">
                    <m:r>
                      <a:rPr lang="en-US" sz="3200" b="0" i="1" smtClean="0">
                        <a:latin typeface="Cambria Math" panose="02040503050406030204" pitchFamily="18" charset="0"/>
                      </a:rPr>
                      <m:t>𝑋</m:t>
                    </m:r>
                    <m:r>
                      <a:rPr lang="en-US" sz="3200" b="0" i="1" smtClean="0">
                        <a:latin typeface="Cambria Math" panose="02040503050406030204" pitchFamily="18" charset="0"/>
                      </a:rPr>
                      <m:t>=</m:t>
                    </m:r>
                    <m:bar>
                      <m:barPr>
                        <m:pos m:val="top"/>
                        <m:ctrlPr>
                          <a:rPr lang="en-US" sz="3200" b="0" i="1" smtClean="0">
                            <a:latin typeface="Cambria Math" panose="02040503050406030204" pitchFamily="18" charset="0"/>
                          </a:rPr>
                        </m:ctrlPr>
                      </m:barPr>
                      <m:e>
                        <m:r>
                          <a:rPr lang="en-US" sz="3200" b="0" i="1" smtClean="0">
                            <a:latin typeface="Cambria Math" panose="02040503050406030204" pitchFamily="18" charset="0"/>
                          </a:rPr>
                          <m:t>𝐴</m:t>
                        </m:r>
                      </m:e>
                    </m:bar>
                    <m:r>
                      <a:rPr lang="en-US" sz="3200" b="0" i="1" smtClean="0">
                        <a:latin typeface="Cambria Math" panose="02040503050406030204" pitchFamily="18" charset="0"/>
                      </a:rPr>
                      <m:t>.</m:t>
                    </m:r>
                    <m:r>
                      <a:rPr lang="en-US" sz="3200" b="0" i="1" smtClean="0">
                        <a:latin typeface="Cambria Math" panose="02040503050406030204" pitchFamily="18" charset="0"/>
                      </a:rPr>
                      <m:t>𝐵</m:t>
                    </m:r>
                    <m:r>
                      <a:rPr lang="en-US" sz="3200" b="0" i="1" smtClean="0">
                        <a:latin typeface="Cambria Math" panose="02040503050406030204" pitchFamily="18" charset="0"/>
                      </a:rPr>
                      <m:t>.</m:t>
                    </m:r>
                    <m:r>
                      <a:rPr lang="en-US" sz="3200" b="0" i="1" smtClean="0">
                        <a:latin typeface="Cambria Math" panose="02040503050406030204" pitchFamily="18" charset="0"/>
                      </a:rPr>
                      <m:t>𝐶</m:t>
                    </m:r>
                  </m:oMath>
                </a14:m>
                <a:endParaRPr lang="en-US" sz="3200" dirty="0"/>
              </a:p>
              <a:p>
                <a:pPr marL="514350" indent="-514350">
                  <a:lnSpc>
                    <a:spcPct val="100000"/>
                  </a:lnSpc>
                  <a:buFont typeface="+mj-lt"/>
                  <a:buAutoNum type="arabicPeriod" startAt="3"/>
                </a:pPr>
                <a:r>
                  <a:rPr lang="en-US" sz="3200" dirty="0"/>
                  <a:t>Logic diagram</a:t>
                </a:r>
              </a:p>
              <a:p>
                <a:pPr marL="514350" indent="-514350">
                  <a:lnSpc>
                    <a:spcPct val="100000"/>
                  </a:lnSpc>
                  <a:buFont typeface="+mj-lt"/>
                  <a:buAutoNum type="arabicPeriod" startAt="3"/>
                </a:pPr>
                <a:endParaRPr lang="en-US" sz="3200" b="0" dirty="0"/>
              </a:p>
              <a:p>
                <a:pPr marL="514350" indent="-514350">
                  <a:lnSpc>
                    <a:spcPct val="100000"/>
                  </a:lnSpc>
                  <a:buFont typeface="+mj-lt"/>
                  <a:buAutoNum type="arabicPeriod" startAt="3"/>
                </a:pPr>
                <a:endParaRPr lang="en-US" sz="3200" b="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8"/>
                <a:ext cx="11743016" cy="4942828"/>
              </a:xfrm>
              <a:prstGeom prst="rect">
                <a:avLst/>
              </a:prstGeom>
              <a:blipFill>
                <a:blip r:embed="rId3"/>
                <a:stretch>
                  <a:fillRect l="-1349" t="-1850"/>
                </a:stretch>
              </a:blipFill>
            </p:spPr>
            <p:txBody>
              <a:bodyPr/>
              <a:lstStyle/>
              <a:p>
                <a:r>
                  <a:rPr lang="en-PK">
                    <a:noFill/>
                  </a:rPr>
                  <a:t> </a:t>
                </a:r>
              </a:p>
            </p:txBody>
          </p:sp>
        </mc:Fallback>
      </mc:AlternateContent>
      <p:pic>
        <p:nvPicPr>
          <p:cNvPr id="6" name="Picture 5">
            <a:extLst>
              <a:ext uri="{FF2B5EF4-FFF2-40B4-BE49-F238E27FC236}">
                <a16:creationId xmlns:a16="http://schemas.microsoft.com/office/drawing/2014/main" id="{DCB79C44-0FA8-F391-A14C-1C21D6893E71}"/>
              </a:ext>
            </a:extLst>
          </p:cNvPr>
          <p:cNvPicPr>
            <a:picLocks noChangeAspect="1"/>
          </p:cNvPicPr>
          <p:nvPr/>
        </p:nvPicPr>
        <p:blipFill>
          <a:blip r:embed="rId4"/>
          <a:stretch>
            <a:fillRect/>
          </a:stretch>
        </p:blipFill>
        <p:spPr>
          <a:xfrm>
            <a:off x="4025626" y="3978862"/>
            <a:ext cx="4121297" cy="2496554"/>
          </a:xfrm>
          <a:prstGeom prst="rect">
            <a:avLst/>
          </a:prstGeom>
        </p:spPr>
      </p:pic>
    </p:spTree>
    <p:extLst>
      <p:ext uri="{BB962C8B-B14F-4D97-AF65-F5344CB8AC3E}">
        <p14:creationId xmlns:p14="http://schemas.microsoft.com/office/powerpoint/2010/main" val="3994595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Exclusive Gates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8"/>
            <a:ext cx="11743016" cy="1896412"/>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US" sz="3400" dirty="0"/>
              <a:t>Exclusive OR: Any, but not All</a:t>
            </a:r>
          </a:p>
          <a:p>
            <a:pPr marL="514350" indent="-514350">
              <a:buFont typeface="+mj-lt"/>
              <a:buAutoNum type="arabicPeriod"/>
            </a:pPr>
            <a:r>
              <a:rPr lang="en-US" sz="3400"/>
              <a:t>Exclusive AND: </a:t>
            </a:r>
            <a:r>
              <a:rPr lang="en-US" sz="3400" dirty="0"/>
              <a:t>All, but not Any</a:t>
            </a:r>
            <a:endParaRPr lang="en-US" sz="3200" dirty="0"/>
          </a:p>
        </p:txBody>
      </p:sp>
      <p:pic>
        <p:nvPicPr>
          <p:cNvPr id="5" name="Picture 4">
            <a:extLst>
              <a:ext uri="{FF2B5EF4-FFF2-40B4-BE49-F238E27FC236}">
                <a16:creationId xmlns:a16="http://schemas.microsoft.com/office/drawing/2014/main" id="{0EC8A913-003B-2D96-F2C0-63CAA5D0ED2E}"/>
              </a:ext>
            </a:extLst>
          </p:cNvPr>
          <p:cNvPicPr>
            <a:picLocks noChangeAspect="1"/>
          </p:cNvPicPr>
          <p:nvPr/>
        </p:nvPicPr>
        <p:blipFill>
          <a:blip r:embed="rId3"/>
          <a:stretch>
            <a:fillRect/>
          </a:stretch>
        </p:blipFill>
        <p:spPr>
          <a:xfrm>
            <a:off x="892226" y="4016353"/>
            <a:ext cx="10407547" cy="2459063"/>
          </a:xfrm>
          <a:prstGeom prst="rect">
            <a:avLst/>
          </a:prstGeom>
        </p:spPr>
      </p:pic>
    </p:spTree>
    <p:extLst>
      <p:ext uri="{BB962C8B-B14F-4D97-AF65-F5344CB8AC3E}">
        <p14:creationId xmlns:p14="http://schemas.microsoft.com/office/powerpoint/2010/main" val="1646840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Gate Conversions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8"/>
            <a:ext cx="11743016" cy="494282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Any Boolean circuit can be constructed using:</a:t>
            </a:r>
          </a:p>
          <a:p>
            <a:pPr marL="971550" lvl="1" indent="-514350">
              <a:buFont typeface="+mj-lt"/>
              <a:buAutoNum type="alphaLcParenR"/>
            </a:pPr>
            <a:r>
              <a:rPr lang="en-US" sz="3200" dirty="0"/>
              <a:t>3 main gates: AND, OR, NOT</a:t>
            </a:r>
          </a:p>
          <a:p>
            <a:pPr marL="971550" lvl="1" indent="-514350">
              <a:buFont typeface="+mj-lt"/>
              <a:buAutoNum type="alphaLcParenR"/>
            </a:pPr>
            <a:r>
              <a:rPr lang="en-US" sz="3200" dirty="0"/>
              <a:t>NAND gates</a:t>
            </a:r>
          </a:p>
          <a:p>
            <a:pPr marL="971550" lvl="1" indent="-514350">
              <a:buFont typeface="+mj-lt"/>
              <a:buAutoNum type="alphaLcParenR"/>
            </a:pPr>
            <a:r>
              <a:rPr lang="en-US" sz="3200" dirty="0"/>
              <a:t>NOR gates</a:t>
            </a:r>
          </a:p>
          <a:p>
            <a:pPr>
              <a:buFont typeface="Wingdings" panose="05000000000000000000" pitchFamily="2" charset="2"/>
              <a:buChar char="§"/>
            </a:pPr>
            <a:r>
              <a:rPr lang="en-US" sz="3200" dirty="0"/>
              <a:t>Which means all three of the above can be converted into one another.</a:t>
            </a:r>
          </a:p>
          <a:p>
            <a:pPr>
              <a:buFont typeface="Wingdings" panose="05000000000000000000" pitchFamily="2" charset="2"/>
              <a:buChar char="§"/>
            </a:pPr>
            <a:r>
              <a:rPr lang="en-US" sz="3200" dirty="0"/>
              <a:t>One rule to remember is that two NOT gates cancel each other. Similarly, you can introduce two NOT gates, without affecting the output.</a:t>
            </a:r>
          </a:p>
        </p:txBody>
      </p:sp>
    </p:spTree>
    <p:extLst>
      <p:ext uri="{BB962C8B-B14F-4D97-AF65-F5344CB8AC3E}">
        <p14:creationId xmlns:p14="http://schemas.microsoft.com/office/powerpoint/2010/main" val="1172553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Gate Conversions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1466850"/>
          </a:xfrm>
          <a:prstGeom prst="rect">
            <a:avLst/>
          </a:prstGeom>
        </p:spPr>
        <p:txBody>
          <a:bodyPr numCol="3">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NAND as Universal gate</a:t>
            </a:r>
          </a:p>
          <a:p>
            <a:pPr>
              <a:lnSpc>
                <a:spcPct val="120000"/>
              </a:lnSpc>
              <a:buFont typeface="Wingdings" panose="05000000000000000000" pitchFamily="2" charset="2"/>
              <a:buChar char="§"/>
            </a:pPr>
            <a:r>
              <a:rPr lang="en-US" sz="3000" dirty="0"/>
              <a:t>NOT</a:t>
            </a:r>
          </a:p>
          <a:p>
            <a:pPr>
              <a:lnSpc>
                <a:spcPct val="120000"/>
              </a:lnSpc>
              <a:buFont typeface="Wingdings" panose="05000000000000000000" pitchFamily="2" charset="2"/>
              <a:buChar char="§"/>
            </a:pPr>
            <a:r>
              <a:rPr lang="en-US" sz="3000" dirty="0"/>
              <a:t>AND</a:t>
            </a:r>
          </a:p>
          <a:p>
            <a:pPr>
              <a:lnSpc>
                <a:spcPct val="120000"/>
              </a:lnSpc>
              <a:buFont typeface="Wingdings" panose="05000000000000000000" pitchFamily="2" charset="2"/>
              <a:buChar char="§"/>
            </a:pPr>
            <a:r>
              <a:rPr lang="en-US" sz="3000" dirty="0"/>
              <a:t>OR</a:t>
            </a:r>
          </a:p>
          <a:p>
            <a:pPr>
              <a:lnSpc>
                <a:spcPct val="120000"/>
              </a:lnSpc>
              <a:buFont typeface="Wingdings" panose="05000000000000000000" pitchFamily="2" charset="2"/>
              <a:buChar char="§"/>
            </a:pPr>
            <a:r>
              <a:rPr lang="en-US" sz="3000" dirty="0"/>
              <a:t>NOR</a:t>
            </a:r>
          </a:p>
          <a:p>
            <a:pPr>
              <a:lnSpc>
                <a:spcPct val="120000"/>
              </a:lnSpc>
              <a:buFont typeface="Wingdings" panose="05000000000000000000" pitchFamily="2" charset="2"/>
              <a:buChar char="§"/>
            </a:pPr>
            <a:r>
              <a:rPr lang="en-US" sz="3000" dirty="0"/>
              <a:t>XOR</a:t>
            </a:r>
          </a:p>
        </p:txBody>
      </p:sp>
      <p:pic>
        <p:nvPicPr>
          <p:cNvPr id="5" name="Picture 4">
            <a:extLst>
              <a:ext uri="{FF2B5EF4-FFF2-40B4-BE49-F238E27FC236}">
                <a16:creationId xmlns:a16="http://schemas.microsoft.com/office/drawing/2014/main" id="{7B7CC089-8E77-7A0B-F5B2-F5EC7CB9D8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7811" y="3754618"/>
            <a:ext cx="436245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a:extLst>
              <a:ext uri="{FF2B5EF4-FFF2-40B4-BE49-F238E27FC236}">
                <a16:creationId xmlns:a16="http://schemas.microsoft.com/office/drawing/2014/main" id="{A66F29D1-E1DC-ACE2-17EC-B7B99B9B21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31415" y="3358055"/>
            <a:ext cx="3667125"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3">
            <a:extLst>
              <a:ext uri="{FF2B5EF4-FFF2-40B4-BE49-F238E27FC236}">
                <a16:creationId xmlns:a16="http://schemas.microsoft.com/office/drawing/2014/main" id="{FB1B7B48-1E37-6883-9552-F7D5C75839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384" y="3752068"/>
            <a:ext cx="2626273" cy="67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a:extLst>
              <a:ext uri="{FF2B5EF4-FFF2-40B4-BE49-F238E27FC236}">
                <a16:creationId xmlns:a16="http://schemas.microsoft.com/office/drawing/2014/main" id="{7725125D-30D6-290C-FE30-715FC319B5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384" y="4847578"/>
            <a:ext cx="3672506" cy="131160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D05F668F-AE9A-8AB9-BB2E-F09EDB32D4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73566" y="4759129"/>
            <a:ext cx="4434429" cy="1478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9883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5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Gate Conversions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1466850"/>
          </a:xfrm>
          <a:prstGeom prst="rect">
            <a:avLst/>
          </a:prstGeom>
        </p:spPr>
        <p:txBody>
          <a:bodyPr numCol="3">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NOR as Universal gate</a:t>
            </a:r>
          </a:p>
          <a:p>
            <a:pPr>
              <a:lnSpc>
                <a:spcPct val="120000"/>
              </a:lnSpc>
              <a:buFont typeface="Wingdings" panose="05000000000000000000" pitchFamily="2" charset="2"/>
              <a:buChar char="§"/>
            </a:pPr>
            <a:r>
              <a:rPr lang="en-US" sz="3000" dirty="0"/>
              <a:t>NOT</a:t>
            </a:r>
          </a:p>
          <a:p>
            <a:pPr>
              <a:lnSpc>
                <a:spcPct val="120000"/>
              </a:lnSpc>
              <a:buFont typeface="Wingdings" panose="05000000000000000000" pitchFamily="2" charset="2"/>
              <a:buChar char="§"/>
            </a:pPr>
            <a:r>
              <a:rPr lang="en-US" sz="3000" dirty="0"/>
              <a:t>AND</a:t>
            </a:r>
          </a:p>
          <a:p>
            <a:pPr>
              <a:lnSpc>
                <a:spcPct val="120000"/>
              </a:lnSpc>
              <a:buFont typeface="Wingdings" panose="05000000000000000000" pitchFamily="2" charset="2"/>
              <a:buChar char="§"/>
            </a:pPr>
            <a:r>
              <a:rPr lang="en-US" sz="3000" dirty="0"/>
              <a:t>OR</a:t>
            </a:r>
          </a:p>
        </p:txBody>
      </p:sp>
      <p:pic>
        <p:nvPicPr>
          <p:cNvPr id="7" name="Picture 6">
            <a:extLst>
              <a:ext uri="{FF2B5EF4-FFF2-40B4-BE49-F238E27FC236}">
                <a16:creationId xmlns:a16="http://schemas.microsoft.com/office/drawing/2014/main" id="{B25CC08F-3BDD-9868-F7B2-8B74052B3C01}"/>
              </a:ext>
            </a:extLst>
          </p:cNvPr>
          <p:cNvPicPr>
            <a:picLocks noChangeAspect="1"/>
          </p:cNvPicPr>
          <p:nvPr/>
        </p:nvPicPr>
        <p:blipFill>
          <a:blip r:embed="rId3"/>
          <a:stretch>
            <a:fillRect/>
          </a:stretch>
        </p:blipFill>
        <p:spPr>
          <a:xfrm>
            <a:off x="220384" y="3862440"/>
            <a:ext cx="2404991" cy="797695"/>
          </a:xfrm>
          <a:prstGeom prst="rect">
            <a:avLst/>
          </a:prstGeom>
        </p:spPr>
      </p:pic>
      <p:pic>
        <p:nvPicPr>
          <p:cNvPr id="10" name="Picture 9">
            <a:extLst>
              <a:ext uri="{FF2B5EF4-FFF2-40B4-BE49-F238E27FC236}">
                <a16:creationId xmlns:a16="http://schemas.microsoft.com/office/drawing/2014/main" id="{7E85BCF3-60AA-C592-69DE-4BA465686C59}"/>
              </a:ext>
            </a:extLst>
          </p:cNvPr>
          <p:cNvPicPr>
            <a:picLocks noChangeAspect="1"/>
          </p:cNvPicPr>
          <p:nvPr/>
        </p:nvPicPr>
        <p:blipFill>
          <a:blip r:embed="rId4"/>
          <a:stretch>
            <a:fillRect/>
          </a:stretch>
        </p:blipFill>
        <p:spPr>
          <a:xfrm>
            <a:off x="4281019" y="3462339"/>
            <a:ext cx="3610511" cy="1597896"/>
          </a:xfrm>
          <a:prstGeom prst="rect">
            <a:avLst/>
          </a:prstGeom>
        </p:spPr>
      </p:pic>
      <p:pic>
        <p:nvPicPr>
          <p:cNvPr id="12" name="Picture 11">
            <a:extLst>
              <a:ext uri="{FF2B5EF4-FFF2-40B4-BE49-F238E27FC236}">
                <a16:creationId xmlns:a16="http://schemas.microsoft.com/office/drawing/2014/main" id="{2955E0AF-DB0B-9BED-0A4D-AE7B922B3C9D}"/>
              </a:ext>
            </a:extLst>
          </p:cNvPr>
          <p:cNvPicPr>
            <a:picLocks noChangeAspect="1"/>
          </p:cNvPicPr>
          <p:nvPr/>
        </p:nvPicPr>
        <p:blipFill>
          <a:blip r:embed="rId5"/>
          <a:stretch>
            <a:fillRect/>
          </a:stretch>
        </p:blipFill>
        <p:spPr>
          <a:xfrm>
            <a:off x="8297124" y="3766879"/>
            <a:ext cx="3674492" cy="988816"/>
          </a:xfrm>
          <a:prstGeom prst="rect">
            <a:avLst/>
          </a:prstGeom>
        </p:spPr>
      </p:pic>
    </p:spTree>
    <p:extLst>
      <p:ext uri="{BB962C8B-B14F-4D97-AF65-F5344CB8AC3E}">
        <p14:creationId xmlns:p14="http://schemas.microsoft.com/office/powerpoint/2010/main" val="1437710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Gate Conversions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8"/>
                <a:ext cx="11743016" cy="494282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200" dirty="0"/>
                  <a:t>Create logic diagram and convert into NAND equivalent:</a:t>
                </a:r>
                <a:br>
                  <a:rPr lang="en-US" sz="3200" dirty="0"/>
                </a:br>
                <a14:m>
                  <m:oMath xmlns:m="http://schemas.openxmlformats.org/officeDocument/2006/math">
                    <m:r>
                      <a:rPr lang="en-US" sz="3200" b="0" i="1" smtClean="0">
                        <a:latin typeface="Cambria Math" panose="02040503050406030204" pitchFamily="18" charset="0"/>
                      </a:rPr>
                      <m:t>𝑄</m:t>
                    </m:r>
                    <m:r>
                      <a:rPr lang="en-US" sz="3200" b="0" i="1" smtClean="0">
                        <a:latin typeface="Cambria Math" panose="02040503050406030204" pitchFamily="18" charset="0"/>
                      </a:rPr>
                      <m:t>=</m:t>
                    </m:r>
                    <m:r>
                      <a:rPr lang="en-US" sz="3200" b="0" i="1" smtClean="0">
                        <a:latin typeface="Cambria Math" panose="02040503050406030204" pitchFamily="18" charset="0"/>
                      </a:rPr>
                      <m:t>𝐴</m:t>
                    </m:r>
                    <m:r>
                      <a:rPr lang="en-US" sz="3200" b="0" i="1" smtClean="0">
                        <a:latin typeface="Cambria Math" panose="02040503050406030204" pitchFamily="18" charset="0"/>
                      </a:rPr>
                      <m:t>+</m:t>
                    </m:r>
                    <m:bar>
                      <m:barPr>
                        <m:pos m:val="top"/>
                        <m:ctrlPr>
                          <a:rPr lang="en-US" sz="3200" b="0" i="1" smtClean="0">
                            <a:latin typeface="Cambria Math" panose="02040503050406030204" pitchFamily="18" charset="0"/>
                          </a:rPr>
                        </m:ctrlPr>
                      </m:barPr>
                      <m:e>
                        <m:r>
                          <a:rPr lang="en-US" sz="3200" b="0" i="1" smtClean="0">
                            <a:latin typeface="Cambria Math" panose="02040503050406030204" pitchFamily="18" charset="0"/>
                          </a:rPr>
                          <m:t>𝐵</m:t>
                        </m:r>
                      </m:e>
                    </m:bar>
                    <m:r>
                      <a:rPr lang="en-US" sz="3200" b="0" i="1" smtClean="0">
                        <a:latin typeface="Cambria Math" panose="02040503050406030204" pitchFamily="18" charset="0"/>
                      </a:rPr>
                      <m:t>𝐶</m:t>
                    </m:r>
                  </m:oMath>
                </a14:m>
                <a:endParaRPr lang="en-US" sz="3200" dirty="0"/>
              </a:p>
              <a:p>
                <a:pPr>
                  <a:buFont typeface="Wingdings" panose="05000000000000000000" pitchFamily="2" charset="2"/>
                  <a:buChar char="§"/>
                </a:pPr>
                <a:r>
                  <a:rPr lang="en-US" sz="3200" dirty="0"/>
                  <a:t>Convert the same into NOR equivalent</a:t>
                </a:r>
              </a:p>
              <a:p>
                <a:pPr>
                  <a:buFont typeface="Wingdings" panose="05000000000000000000" pitchFamily="2" charset="2"/>
                  <a:buChar char="§"/>
                </a:pPr>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8"/>
                <a:ext cx="11743016" cy="4942828"/>
              </a:xfrm>
              <a:prstGeom prst="rect">
                <a:avLst/>
              </a:prstGeom>
              <a:blipFill>
                <a:blip r:embed="rId3"/>
                <a:stretch>
                  <a:fillRect l="-1142"/>
                </a:stretch>
              </a:blipFill>
            </p:spPr>
            <p:txBody>
              <a:bodyPr/>
              <a:lstStyle/>
              <a:p>
                <a:r>
                  <a:rPr lang="en-US">
                    <a:noFill/>
                  </a:rPr>
                  <a:t> </a:t>
                </a:r>
              </a:p>
            </p:txBody>
          </p:sp>
        </mc:Fallback>
      </mc:AlternateContent>
    </p:spTree>
    <p:extLst>
      <p:ext uri="{BB962C8B-B14F-4D97-AF65-F5344CB8AC3E}">
        <p14:creationId xmlns:p14="http://schemas.microsoft.com/office/powerpoint/2010/main" val="3061873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3.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Tech presentation</Template>
  <TotalTime>3969</TotalTime>
  <Words>1048</Words>
  <Application>Microsoft Office PowerPoint</Application>
  <PresentationFormat>Widescreen</PresentationFormat>
  <Paragraphs>193</Paragraphs>
  <Slides>18</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Cambria Math</vt:lpstr>
      <vt:lpstr>Wingdings</vt:lpstr>
      <vt:lpstr>Office Theme</vt:lpstr>
      <vt:lpstr>DIGITAL LOGIC DESIGN (111776)</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310</cp:revision>
  <dcterms:created xsi:type="dcterms:W3CDTF">2022-11-22T20:08:03Z</dcterms:created>
  <dcterms:modified xsi:type="dcterms:W3CDTF">2023-04-14T01:53:11Z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