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handoutMasterIdLst>
    <p:handoutMasterId r:id="rId33"/>
  </p:handoutMasterIdLst>
  <p:sldIdLst>
    <p:sldId id="2448" r:id="rId5"/>
    <p:sldId id="2462" r:id="rId6"/>
    <p:sldId id="2479" r:id="rId7"/>
    <p:sldId id="2480" r:id="rId8"/>
    <p:sldId id="2481" r:id="rId9"/>
    <p:sldId id="2482" r:id="rId10"/>
    <p:sldId id="2483" r:id="rId11"/>
    <p:sldId id="2484" r:id="rId12"/>
    <p:sldId id="2485" r:id="rId13"/>
    <p:sldId id="2486" r:id="rId14"/>
    <p:sldId id="2487" r:id="rId15"/>
    <p:sldId id="2488" r:id="rId16"/>
    <p:sldId id="2489" r:id="rId17"/>
    <p:sldId id="2490" r:id="rId18"/>
    <p:sldId id="2491" r:id="rId19"/>
    <p:sldId id="2492" r:id="rId20"/>
    <p:sldId id="2493" r:id="rId21"/>
    <p:sldId id="2494" r:id="rId22"/>
    <p:sldId id="2496" r:id="rId23"/>
    <p:sldId id="2497" r:id="rId24"/>
    <p:sldId id="2495" r:id="rId25"/>
    <p:sldId id="2498" r:id="rId26"/>
    <p:sldId id="2499" r:id="rId27"/>
    <p:sldId id="2500" r:id="rId28"/>
    <p:sldId id="2501" r:id="rId29"/>
    <p:sldId id="2502" r:id="rId30"/>
    <p:sldId id="243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35FDB0-07D6-44A8-AB3F-F14A5006133A}" v="1" dt="2023-06-14T19:03:06.2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9150" autoAdjust="0"/>
  </p:normalViewPr>
  <p:slideViewPr>
    <p:cSldViewPr snapToGrid="0">
      <p:cViewPr varScale="1">
        <p:scale>
          <a:sx n="73" d="100"/>
          <a:sy n="73" d="100"/>
        </p:scale>
        <p:origin x="1027" y="72"/>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pChg chg="mod">
          <ac:chgData name="Owais Ahmed" userId="6abc7d4556b3b071" providerId="LiveId" clId="{5035FDB0-07D6-44A8-AB3F-F14A5006133A}" dt="2023-06-14T19:03:06.273" v="0" actId="20577"/>
          <ac:spMkLst>
            <pc:docMk/>
            <pc:sldMk cId="641030253" sldId="2479"/>
            <ac:spMk id="3" creationId="{4A1C0383-58FE-E486-295E-B33B8683B938}"/>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6/15/2023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6/15/2023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495559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2292304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861212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26293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727672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634316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709061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For parallel communication, each channel will be transferring 1bit/sec. Therefore, it’ll take 1micro second to transfer any wave.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660968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7331381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 and B are inputs to Two Resistors. The resistors are sending signal to the Base of PNP type Transistor. Emitter is provided the voltage and Collector is grounded. The output is also collected from the Collector.</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671600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024574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Tell the students that the Sum and Product signs are only to scare you. In your head, treat them as simple A,B,C,D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637173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857502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This one is a bit complicated to explain. Provide an example of how on TV we have single screen but there’s main window, then a ticker, then a side Ad. All are using separate rooms on the same screen for different types of information.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500917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Now is the good time to explain how we’ve come afar from Tape drives to Floppies to CD/DVD to HDD to SD Cards to SSD’s and now </a:t>
            </a:r>
            <a:r>
              <a:rPr lang="en-US" dirty="0" err="1"/>
              <a:t>NVMe</a:t>
            </a:r>
            <a:r>
              <a:rPr lang="en-US" dirty="0"/>
              <a:t> storages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4151992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Tell the students that there’s no significance whatsoever in the way the chips are packaged except the convenience of putting on a circuit board. The function still remains the same.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423230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Tell the students that there’s no significance whatsoever in the way the chips are packaged except the convenience of putting on a circuit board. The function still remains the same.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4018400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3688658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857098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72070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32143957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11111"/>
                </a:solidFill>
                <a:effectLst/>
                <a:latin typeface="-apple-system"/>
              </a:rPr>
              <a:t>You have 10 seconds x 60 frames/second x 24 KB/image = 14,400 KB.</a:t>
            </a:r>
          </a:p>
          <a:p>
            <a:pPr algn="l"/>
            <a:r>
              <a:rPr lang="en-US" b="0" i="0" dirty="0">
                <a:solidFill>
                  <a:srgbClr val="111111"/>
                </a:solidFill>
                <a:effectLst/>
                <a:latin typeface="-apple-system"/>
              </a:rPr>
              <a:t>The speed of the </a:t>
            </a:r>
            <a:r>
              <a:rPr lang="en-US" b="0" i="0">
                <a:solidFill>
                  <a:srgbClr val="111111"/>
                </a:solidFill>
                <a:effectLst/>
                <a:latin typeface="-apple-system"/>
              </a:rPr>
              <a:t>GPU is </a:t>
            </a:r>
            <a:r>
              <a:rPr lang="en-US" b="0" i="0" dirty="0">
                <a:solidFill>
                  <a:srgbClr val="111111"/>
                </a:solidFill>
                <a:effectLst/>
                <a:latin typeface="-apple-system"/>
              </a:rPr>
              <a:t>192-bit x 1200 MHz = 230,400 Mbps.</a:t>
            </a:r>
          </a:p>
          <a:p>
            <a:pPr algn="l"/>
            <a:r>
              <a:rPr lang="en-US" b="0" i="0" dirty="0">
                <a:solidFill>
                  <a:srgbClr val="111111"/>
                </a:solidFill>
                <a:effectLst/>
                <a:latin typeface="-apple-system"/>
              </a:rPr>
              <a:t>Therefore, the data transfer time is 14,400 KB / 230,400 Mbps = 0.0005 seconds.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2942672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11111"/>
              </a:solidFill>
              <a:effectLst/>
              <a:latin typeface="-apple-system"/>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112039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9.emf"/><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0.e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7.emf"/></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8.emf"/><Relationship Id="rId4"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0.emf"/><Relationship Id="rId5" Type="http://schemas.openxmlformats.org/officeDocument/2006/relationships/oleObject" Target="../embeddings/oleObject12.bin"/><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07/relationships/hdphoto" Target="../media/hdphoto1.wdp"/><Relationship Id="rId7" Type="http://schemas.openxmlformats.org/officeDocument/2006/relationships/image" Target="../media/image28.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DIGITAL LOGIC DESIGN (111776)</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5"/>
            <a:ext cx="4114800" cy="4136198"/>
          </a:xfrm>
        </p:spPr>
        <p:txBody>
          <a:bodyPr/>
          <a:lstStyle/>
          <a:p>
            <a:r>
              <a:rPr lang="en-US" dirty="0"/>
              <a:t>Introduction</a:t>
            </a:r>
          </a:p>
          <a:p>
            <a:r>
              <a:rPr lang="en-US" dirty="0"/>
              <a:t>The Digital &amp; Analog world</a:t>
            </a:r>
          </a:p>
          <a:p>
            <a:r>
              <a:rPr lang="en-US" dirty="0"/>
              <a:t>Basic Logic Functions</a:t>
            </a:r>
          </a:p>
          <a:p>
            <a:r>
              <a:rPr lang="en-US" dirty="0"/>
              <a:t>Combinational and Sequential Logic</a:t>
            </a:r>
          </a:p>
          <a:p>
            <a:r>
              <a:rPr lang="en-US" dirty="0"/>
              <a:t>Programmable Logic</a:t>
            </a:r>
          </a:p>
          <a:p>
            <a:r>
              <a:rPr lang="en-US" dirty="0"/>
              <a:t>Fixed Function Logic Devices</a:t>
            </a:r>
          </a:p>
          <a:p>
            <a:r>
              <a:rPr lang="en-US" dirty="0"/>
              <a:t>Measurement Instruments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What’s beneath the digital world we see around us?</a:t>
            </a:r>
          </a:p>
          <a:p>
            <a:pPr>
              <a:buFont typeface="Wingdings" panose="05000000000000000000" pitchFamily="2" charset="2"/>
              <a:buChar char="§"/>
            </a:pPr>
            <a:r>
              <a:rPr lang="en-US" sz="3400" dirty="0"/>
              <a:t>Journey from Valves (a.k.a. Vacuum tubes) to </a:t>
            </a:r>
            <a:r>
              <a:rPr lang="en-US" sz="3400" strike="sngStrike" dirty="0" err="1"/>
              <a:t>Micro</a:t>
            </a:r>
            <a:r>
              <a:rPr lang="en-US" sz="3400" dirty="0" err="1"/>
              <a:t>Nanochips</a:t>
            </a:r>
            <a:endParaRPr lang="en-US" sz="3400" dirty="0"/>
          </a:p>
          <a:p>
            <a:pPr lvl="1">
              <a:buFont typeface="Wingdings" panose="05000000000000000000" pitchFamily="2" charset="2"/>
              <a:buChar char="§"/>
            </a:pPr>
            <a:r>
              <a:rPr lang="en-US" sz="3200" dirty="0"/>
              <a:t>From Massive to Small</a:t>
            </a:r>
          </a:p>
          <a:p>
            <a:pPr lvl="1">
              <a:buFont typeface="Wingdings" panose="05000000000000000000" pitchFamily="2" charset="2"/>
              <a:buChar char="§"/>
            </a:pPr>
            <a:r>
              <a:rPr lang="en-US" sz="3200" dirty="0"/>
              <a:t>From Power-hungry to Power Efficient</a:t>
            </a:r>
          </a:p>
          <a:p>
            <a:pPr lvl="1">
              <a:buFont typeface="Wingdings" panose="05000000000000000000" pitchFamily="2" charset="2"/>
              <a:buChar char="§"/>
            </a:pPr>
            <a:r>
              <a:rPr lang="en-US" sz="3200" dirty="0"/>
              <a:t>From Slow to Fast</a:t>
            </a:r>
          </a:p>
          <a:p>
            <a:pPr lvl="1">
              <a:buFont typeface="Wingdings" panose="05000000000000000000" pitchFamily="2" charset="2"/>
              <a:buChar char="§"/>
            </a:pPr>
            <a:r>
              <a:rPr lang="en-US" sz="3200" dirty="0"/>
              <a:t>From Heat throbbing to Warm and Cozy</a:t>
            </a:r>
          </a:p>
          <a:p>
            <a:pPr>
              <a:buFont typeface="Wingdings" panose="05000000000000000000" pitchFamily="2" charset="2"/>
              <a:buChar char="§"/>
            </a:pPr>
            <a:r>
              <a:rPr lang="en-US" sz="3400" dirty="0"/>
              <a:t>Binary systems – a marvel of human intelligence</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65401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Analog world is continuous, natural, complex, prone to noise, and beautiful.</a:t>
            </a:r>
          </a:p>
        </p:txBody>
      </p:sp>
      <p:grpSp>
        <p:nvGrpSpPr>
          <p:cNvPr id="6" name="Group 5">
            <a:extLst>
              <a:ext uri="{FF2B5EF4-FFF2-40B4-BE49-F238E27FC236}">
                <a16:creationId xmlns:a16="http://schemas.microsoft.com/office/drawing/2014/main" id="{FD589D9F-4290-70D5-647A-B064BD51AD0F}"/>
              </a:ext>
            </a:extLst>
          </p:cNvPr>
          <p:cNvGrpSpPr/>
          <p:nvPr/>
        </p:nvGrpSpPr>
        <p:grpSpPr>
          <a:xfrm>
            <a:off x="2795943" y="3264389"/>
            <a:ext cx="7132350" cy="3156076"/>
            <a:chOff x="2133600" y="2895600"/>
            <a:chExt cx="5356225" cy="2370138"/>
          </a:xfrm>
        </p:grpSpPr>
        <p:graphicFrame>
          <p:nvGraphicFramePr>
            <p:cNvPr id="7" name="Object 35">
              <a:extLst>
                <a:ext uri="{FF2B5EF4-FFF2-40B4-BE49-F238E27FC236}">
                  <a16:creationId xmlns:a16="http://schemas.microsoft.com/office/drawing/2014/main" id="{7FAACA05-2AF8-65B6-3247-494C8D83A2A3}"/>
                </a:ext>
              </a:extLst>
            </p:cNvPr>
            <p:cNvGraphicFramePr>
              <a:graphicFrameLocks noChangeAspect="1"/>
            </p:cNvGraphicFramePr>
            <p:nvPr>
              <p:extLst>
                <p:ext uri="{D42A27DB-BD31-4B8C-83A1-F6EECF244321}">
                  <p14:modId xmlns:p14="http://schemas.microsoft.com/office/powerpoint/2010/main" val="3858881716"/>
                </p:ext>
              </p:extLst>
            </p:nvPr>
          </p:nvGraphicFramePr>
          <p:xfrm>
            <a:off x="2133600" y="2895600"/>
            <a:ext cx="5356225" cy="2370138"/>
          </p:xfrm>
          <a:graphic>
            <a:graphicData uri="http://schemas.openxmlformats.org/presentationml/2006/ole">
              <mc:AlternateContent xmlns:mc="http://schemas.openxmlformats.org/markup-compatibility/2006">
                <mc:Choice xmlns:v="urn:schemas-microsoft-com:vml" Requires="v">
                  <p:oleObj name="CorelDRAW" r:id="rId3" imgW="5355817" imgH="2369475" progId="CorelDRAW.Graphic.13">
                    <p:embed/>
                  </p:oleObj>
                </mc:Choice>
                <mc:Fallback>
                  <p:oleObj name="CorelDRAW" r:id="rId3" imgW="5355817" imgH="2369475" progId="CorelDRAW.Graphic.13">
                    <p:embed/>
                    <p:pic>
                      <p:nvPicPr>
                        <p:cNvPr id="7" name="Object 35">
                          <a:extLst>
                            <a:ext uri="{FF2B5EF4-FFF2-40B4-BE49-F238E27FC236}">
                              <a16:creationId xmlns:a16="http://schemas.microsoft.com/office/drawing/2014/main" id="{7FAACA05-2AF8-65B6-3247-494C8D83A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895600"/>
                          <a:ext cx="5356225" cy="237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6">
              <a:extLst>
                <a:ext uri="{FF2B5EF4-FFF2-40B4-BE49-F238E27FC236}">
                  <a16:creationId xmlns:a16="http://schemas.microsoft.com/office/drawing/2014/main" id="{499CFD65-868C-4833-4C17-404622B9360F}"/>
                </a:ext>
              </a:extLst>
            </p:cNvPr>
            <p:cNvGraphicFramePr>
              <a:graphicFrameLocks noChangeAspect="1"/>
            </p:cNvGraphicFramePr>
            <p:nvPr>
              <p:extLst>
                <p:ext uri="{D42A27DB-BD31-4B8C-83A1-F6EECF244321}">
                  <p14:modId xmlns:p14="http://schemas.microsoft.com/office/powerpoint/2010/main" val="644584863"/>
                </p:ext>
              </p:extLst>
            </p:nvPr>
          </p:nvGraphicFramePr>
          <p:xfrm>
            <a:off x="2438400" y="3535363"/>
            <a:ext cx="3960813" cy="1189037"/>
          </p:xfrm>
          <a:graphic>
            <a:graphicData uri="http://schemas.openxmlformats.org/presentationml/2006/ole">
              <mc:AlternateContent xmlns:mc="http://schemas.openxmlformats.org/markup-compatibility/2006">
                <mc:Choice xmlns:v="urn:schemas-microsoft-com:vml" Requires="v">
                  <p:oleObj name="CorelDRAW" r:id="rId5" imgW="3960796" imgH="1188639" progId="CorelDRAW.Graphic.13">
                    <p:embed/>
                  </p:oleObj>
                </mc:Choice>
                <mc:Fallback>
                  <p:oleObj name="CorelDRAW" r:id="rId5" imgW="3960796" imgH="1188639" progId="CorelDRAW.Graphic.13">
                    <p:embed/>
                    <p:pic>
                      <p:nvPicPr>
                        <p:cNvPr id="8" name="Object 36">
                          <a:extLst>
                            <a:ext uri="{FF2B5EF4-FFF2-40B4-BE49-F238E27FC236}">
                              <a16:creationId xmlns:a16="http://schemas.microsoft.com/office/drawing/2014/main" id="{499CFD65-868C-4833-4C17-404622B936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3535363"/>
                          <a:ext cx="3960813"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37">
              <a:extLst>
                <a:ext uri="{FF2B5EF4-FFF2-40B4-BE49-F238E27FC236}">
                  <a16:creationId xmlns:a16="http://schemas.microsoft.com/office/drawing/2014/main" id="{05B7410C-9230-9514-6EE0-C6BB6D00E65A}"/>
                </a:ext>
              </a:extLst>
            </p:cNvPr>
            <p:cNvGraphicFramePr>
              <a:graphicFrameLocks noChangeAspect="1"/>
            </p:cNvGraphicFramePr>
            <p:nvPr>
              <p:extLst>
                <p:ext uri="{D42A27DB-BD31-4B8C-83A1-F6EECF244321}">
                  <p14:modId xmlns:p14="http://schemas.microsoft.com/office/powerpoint/2010/main" val="3729339752"/>
                </p:ext>
              </p:extLst>
            </p:nvPr>
          </p:nvGraphicFramePr>
          <p:xfrm>
            <a:off x="2393950" y="3529013"/>
            <a:ext cx="4022725" cy="1436687"/>
          </p:xfrm>
          <a:graphic>
            <a:graphicData uri="http://schemas.openxmlformats.org/presentationml/2006/ole">
              <mc:AlternateContent xmlns:mc="http://schemas.openxmlformats.org/markup-compatibility/2006">
                <mc:Choice xmlns:v="urn:schemas-microsoft-com:vml" Requires="v">
                  <p:oleObj name="CorelDRAW" r:id="rId7" imgW="4022077" imgH="1436380" progId="CorelDRAW.Graphic.13">
                    <p:embed/>
                  </p:oleObj>
                </mc:Choice>
                <mc:Fallback>
                  <p:oleObj name="CorelDRAW" r:id="rId7" imgW="4022077" imgH="1436380" progId="CorelDRAW.Graphic.13">
                    <p:embed/>
                    <p:pic>
                      <p:nvPicPr>
                        <p:cNvPr id="9" name="Object 37">
                          <a:extLst>
                            <a:ext uri="{FF2B5EF4-FFF2-40B4-BE49-F238E27FC236}">
                              <a16:creationId xmlns:a16="http://schemas.microsoft.com/office/drawing/2014/main" id="{05B7410C-9230-9514-6EE0-C6BB6D00E6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3950" y="3529013"/>
                          <a:ext cx="4022725" cy="14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329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65401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Digital world is discrete, engineered, simple, accurate, fast, and ugly. In fact, it doesn’t </a:t>
            </a:r>
            <a:r>
              <a:rPr lang="en-US" sz="3400" i="1" dirty="0"/>
              <a:t>really </a:t>
            </a:r>
            <a:r>
              <a:rPr lang="en-US" sz="3400" dirty="0"/>
              <a:t>exist.</a:t>
            </a:r>
          </a:p>
        </p:txBody>
      </p:sp>
      <p:graphicFrame>
        <p:nvGraphicFramePr>
          <p:cNvPr id="4" name="Object 11">
            <a:extLst>
              <a:ext uri="{FF2B5EF4-FFF2-40B4-BE49-F238E27FC236}">
                <a16:creationId xmlns:a16="http://schemas.microsoft.com/office/drawing/2014/main" id="{A4BC4EBA-3876-6BF4-89C0-19210A8CD91E}"/>
              </a:ext>
            </a:extLst>
          </p:cNvPr>
          <p:cNvGraphicFramePr>
            <a:graphicFrameLocks noChangeAspect="1"/>
          </p:cNvGraphicFramePr>
          <p:nvPr>
            <p:extLst>
              <p:ext uri="{D42A27DB-BD31-4B8C-83A1-F6EECF244321}">
                <p14:modId xmlns:p14="http://schemas.microsoft.com/office/powerpoint/2010/main" val="3107412269"/>
              </p:ext>
            </p:extLst>
          </p:nvPr>
        </p:nvGraphicFramePr>
        <p:xfrm>
          <a:off x="1902372" y="3671396"/>
          <a:ext cx="7788166" cy="2806599"/>
        </p:xfrm>
        <a:graphic>
          <a:graphicData uri="http://schemas.openxmlformats.org/presentationml/2006/ole">
            <mc:AlternateContent xmlns:mc="http://schemas.openxmlformats.org/markup-compatibility/2006">
              <mc:Choice xmlns:v="urn:schemas-microsoft-com:vml" Requires="v">
                <p:oleObj name="CorelDRAW" r:id="rId3" imgW="4088170" imgH="1472794" progId="CorelDRAW.Graphic.13">
                  <p:embed/>
                </p:oleObj>
              </mc:Choice>
              <mc:Fallback>
                <p:oleObj name="CorelDRAW" r:id="rId3" imgW="4088170" imgH="1472794" progId="CorelDRAW.Graphic.13">
                  <p:embed/>
                  <p:pic>
                    <p:nvPicPr>
                      <p:cNvPr id="4" name="Object 11">
                        <a:extLst>
                          <a:ext uri="{FF2B5EF4-FFF2-40B4-BE49-F238E27FC236}">
                            <a16:creationId xmlns:a16="http://schemas.microsoft.com/office/drawing/2014/main" id="{A4BC4EBA-3876-6BF4-89C0-19210A8CD9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2372" y="3671396"/>
                        <a:ext cx="7788166" cy="280659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4257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7588802"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How is analog world mapped to digital? Think of the water tank in your home.</a:t>
            </a:r>
          </a:p>
          <a:p>
            <a:pPr>
              <a:buFont typeface="Wingdings" panose="05000000000000000000" pitchFamily="2" charset="2"/>
              <a:buChar char="§"/>
            </a:pPr>
            <a:r>
              <a:rPr lang="en-US" altLang="en-US" sz="3600" dirty="0"/>
              <a:t>In Digital electronics, circuits have two states HIGH and LOW, represented by different voltage levels.</a:t>
            </a:r>
            <a:endParaRPr lang="en-US" sz="3400" dirty="0"/>
          </a:p>
          <a:p>
            <a:pPr>
              <a:buFont typeface="Wingdings" panose="05000000000000000000" pitchFamily="2" charset="2"/>
              <a:buChar char="§"/>
            </a:pPr>
            <a:endParaRPr lang="en-US" sz="3400" dirty="0"/>
          </a:p>
        </p:txBody>
      </p:sp>
      <p:grpSp>
        <p:nvGrpSpPr>
          <p:cNvPr id="5" name="Group 4">
            <a:extLst>
              <a:ext uri="{FF2B5EF4-FFF2-40B4-BE49-F238E27FC236}">
                <a16:creationId xmlns:a16="http://schemas.microsoft.com/office/drawing/2014/main" id="{94258CDA-92B0-B5D6-384D-F2A3E75B7760}"/>
              </a:ext>
            </a:extLst>
          </p:cNvPr>
          <p:cNvGrpSpPr/>
          <p:nvPr/>
        </p:nvGrpSpPr>
        <p:grpSpPr>
          <a:xfrm>
            <a:off x="8807669" y="2167677"/>
            <a:ext cx="2753710" cy="3528190"/>
            <a:chOff x="5791200" y="3176588"/>
            <a:chExt cx="1981200" cy="2538412"/>
          </a:xfrm>
        </p:grpSpPr>
        <p:graphicFrame>
          <p:nvGraphicFramePr>
            <p:cNvPr id="6" name="Object 10">
              <a:extLst>
                <a:ext uri="{FF2B5EF4-FFF2-40B4-BE49-F238E27FC236}">
                  <a16:creationId xmlns:a16="http://schemas.microsoft.com/office/drawing/2014/main" id="{E263AE06-16F9-EA63-2B55-AFAFDFF05400}"/>
                </a:ext>
              </a:extLst>
            </p:cNvPr>
            <p:cNvGraphicFramePr>
              <a:graphicFrameLocks noChangeAspect="1"/>
            </p:cNvGraphicFramePr>
            <p:nvPr>
              <p:extLst>
                <p:ext uri="{D42A27DB-BD31-4B8C-83A1-F6EECF244321}">
                  <p14:modId xmlns:p14="http://schemas.microsoft.com/office/powerpoint/2010/main" val="3686579506"/>
                </p:ext>
              </p:extLst>
            </p:nvPr>
          </p:nvGraphicFramePr>
          <p:xfrm>
            <a:off x="6400800" y="3176588"/>
            <a:ext cx="1354138" cy="2538412"/>
          </p:xfrm>
          <a:graphic>
            <a:graphicData uri="http://schemas.openxmlformats.org/presentationml/2006/ole">
              <mc:AlternateContent xmlns:mc="http://schemas.openxmlformats.org/markup-compatibility/2006">
                <mc:Choice xmlns:v="urn:schemas-microsoft-com:vml" Requires="v">
                  <p:oleObj name="CorelDRAW" r:id="rId3" imgW="919213" imgH="1723461" progId="CorelDRAW.Graphic.13">
                    <p:embed/>
                  </p:oleObj>
                </mc:Choice>
                <mc:Fallback>
                  <p:oleObj name="CorelDRAW" r:id="rId3" imgW="919213" imgH="1723461" progId="CorelDRAW.Graphic.13">
                    <p:embed/>
                    <p:pic>
                      <p:nvPicPr>
                        <p:cNvPr id="6" name="Object 10">
                          <a:extLst>
                            <a:ext uri="{FF2B5EF4-FFF2-40B4-BE49-F238E27FC236}">
                              <a16:creationId xmlns:a16="http://schemas.microsoft.com/office/drawing/2014/main" id="{E263AE06-16F9-EA63-2B55-AFAFDFF054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176588"/>
                          <a:ext cx="1354138" cy="253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12">
              <a:extLst>
                <a:ext uri="{FF2B5EF4-FFF2-40B4-BE49-F238E27FC236}">
                  <a16:creationId xmlns:a16="http://schemas.microsoft.com/office/drawing/2014/main" id="{C4E1FD69-13E5-3FE3-DBBD-F4EDBD0B4548}"/>
                </a:ext>
              </a:extLst>
            </p:cNvPr>
            <p:cNvSpPr txBox="1">
              <a:spLocks noChangeArrowheads="1"/>
            </p:cNvSpPr>
            <p:nvPr/>
          </p:nvSpPr>
          <p:spPr bwMode="auto">
            <a:xfrm>
              <a:off x="6705600" y="3602038"/>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sz="1600"/>
                <a:t>HIGH</a:t>
              </a:r>
            </a:p>
          </p:txBody>
        </p:sp>
        <p:sp>
          <p:nvSpPr>
            <p:cNvPr id="8" name="Text Box 13">
              <a:extLst>
                <a:ext uri="{FF2B5EF4-FFF2-40B4-BE49-F238E27FC236}">
                  <a16:creationId xmlns:a16="http://schemas.microsoft.com/office/drawing/2014/main" id="{A3151781-A385-D86F-D674-1B13A34E15FD}"/>
                </a:ext>
              </a:extLst>
            </p:cNvPr>
            <p:cNvSpPr txBox="1">
              <a:spLocks noChangeArrowheads="1"/>
            </p:cNvSpPr>
            <p:nvPr/>
          </p:nvSpPr>
          <p:spPr bwMode="auto">
            <a:xfrm>
              <a:off x="6705600" y="4973638"/>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sz="1600"/>
                <a:t>LOW</a:t>
              </a:r>
            </a:p>
          </p:txBody>
        </p:sp>
        <p:sp>
          <p:nvSpPr>
            <p:cNvPr id="9" name="Text Box 14">
              <a:extLst>
                <a:ext uri="{FF2B5EF4-FFF2-40B4-BE49-F238E27FC236}">
                  <a16:creationId xmlns:a16="http://schemas.microsoft.com/office/drawing/2014/main" id="{7FEA710A-3158-0DA2-73B7-9B738D7CB45C}"/>
                </a:ext>
              </a:extLst>
            </p:cNvPr>
            <p:cNvSpPr txBox="1">
              <a:spLocks noChangeArrowheads="1"/>
            </p:cNvSpPr>
            <p:nvPr/>
          </p:nvSpPr>
          <p:spPr bwMode="auto">
            <a:xfrm>
              <a:off x="5791200" y="3276600"/>
              <a:ext cx="647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400" i="1"/>
                <a:t>V</a:t>
              </a:r>
              <a:r>
                <a:rPr lang="en-US" altLang="en-US" sz="1400" baseline="-25000"/>
                <a:t>H(max)</a:t>
              </a:r>
            </a:p>
          </p:txBody>
        </p:sp>
        <p:sp>
          <p:nvSpPr>
            <p:cNvPr id="10" name="Text Box 15">
              <a:extLst>
                <a:ext uri="{FF2B5EF4-FFF2-40B4-BE49-F238E27FC236}">
                  <a16:creationId xmlns:a16="http://schemas.microsoft.com/office/drawing/2014/main" id="{4E343397-BF21-8FB1-2BA8-F2FBF2316C97}"/>
                </a:ext>
              </a:extLst>
            </p:cNvPr>
            <p:cNvSpPr txBox="1">
              <a:spLocks noChangeArrowheads="1"/>
            </p:cNvSpPr>
            <p:nvPr/>
          </p:nvSpPr>
          <p:spPr bwMode="auto">
            <a:xfrm>
              <a:off x="5791200" y="3962400"/>
              <a:ext cx="628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400" i="1"/>
                <a:t>V</a:t>
              </a:r>
              <a:r>
                <a:rPr lang="en-US" altLang="en-US" sz="1400" baseline="-25000"/>
                <a:t>H(min)</a:t>
              </a:r>
            </a:p>
          </p:txBody>
        </p:sp>
        <p:sp>
          <p:nvSpPr>
            <p:cNvPr id="11" name="Text Box 16">
              <a:extLst>
                <a:ext uri="{FF2B5EF4-FFF2-40B4-BE49-F238E27FC236}">
                  <a16:creationId xmlns:a16="http://schemas.microsoft.com/office/drawing/2014/main" id="{CE1638A0-80E0-117E-C1B2-FD5E695BDC5B}"/>
                </a:ext>
              </a:extLst>
            </p:cNvPr>
            <p:cNvSpPr txBox="1">
              <a:spLocks noChangeArrowheads="1"/>
            </p:cNvSpPr>
            <p:nvPr/>
          </p:nvSpPr>
          <p:spPr bwMode="auto">
            <a:xfrm>
              <a:off x="5791200" y="4572000"/>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400" i="1"/>
                <a:t>V</a:t>
              </a:r>
              <a:r>
                <a:rPr lang="en-US" altLang="en-US" sz="1400" baseline="-25000"/>
                <a:t>L(max)</a:t>
              </a:r>
            </a:p>
          </p:txBody>
        </p:sp>
        <p:sp>
          <p:nvSpPr>
            <p:cNvPr id="12" name="Text Box 17">
              <a:extLst>
                <a:ext uri="{FF2B5EF4-FFF2-40B4-BE49-F238E27FC236}">
                  <a16:creationId xmlns:a16="http://schemas.microsoft.com/office/drawing/2014/main" id="{B708FF02-D0A1-390F-D4A4-141B061E2351}"/>
                </a:ext>
              </a:extLst>
            </p:cNvPr>
            <p:cNvSpPr txBox="1">
              <a:spLocks noChangeArrowheads="1"/>
            </p:cNvSpPr>
            <p:nvPr/>
          </p:nvSpPr>
          <p:spPr bwMode="auto">
            <a:xfrm>
              <a:off x="5791200" y="5334000"/>
              <a:ext cx="615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r>
                <a:rPr lang="en-US" altLang="en-US" sz="1400" i="1"/>
                <a:t>V</a:t>
              </a:r>
              <a:r>
                <a:rPr lang="en-US" altLang="en-US" sz="1400" baseline="-25000"/>
                <a:t>L(min)</a:t>
              </a:r>
            </a:p>
          </p:txBody>
        </p:sp>
        <p:sp>
          <p:nvSpPr>
            <p:cNvPr id="13" name="Text Box 18">
              <a:extLst>
                <a:ext uri="{FF2B5EF4-FFF2-40B4-BE49-F238E27FC236}">
                  <a16:creationId xmlns:a16="http://schemas.microsoft.com/office/drawing/2014/main" id="{9D5025B5-0745-F2E3-16E8-8CA67BAAD609}"/>
                </a:ext>
              </a:extLst>
            </p:cNvPr>
            <p:cNvSpPr txBox="1">
              <a:spLocks noChangeArrowheads="1"/>
            </p:cNvSpPr>
            <p:nvPr/>
          </p:nvSpPr>
          <p:spPr bwMode="auto">
            <a:xfrm>
              <a:off x="6705600" y="4311650"/>
              <a:ext cx="106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sz="1600"/>
                <a:t>Invalid</a:t>
              </a:r>
            </a:p>
          </p:txBody>
        </p:sp>
      </p:grpSp>
    </p:spTree>
    <p:extLst>
      <p:ext uri="{BB962C8B-B14F-4D97-AF65-F5344CB8AC3E}">
        <p14:creationId xmlns:p14="http://schemas.microsoft.com/office/powerpoint/2010/main" val="355449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000407"/>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 </a:t>
            </a:r>
            <a:r>
              <a:rPr lang="en-US" altLang="en-US" sz="3600" dirty="0"/>
              <a:t>pulse is described by the rise time, fall time, amplitude, and other characteristics</a:t>
            </a:r>
            <a:r>
              <a:rPr lang="en-US" altLang="en-US" sz="3400" dirty="0"/>
              <a:t>. An ideal pulse wave doesn’t exist in physical world.</a:t>
            </a:r>
            <a:endParaRPr lang="en-US" sz="3400" dirty="0"/>
          </a:p>
        </p:txBody>
      </p:sp>
      <p:graphicFrame>
        <p:nvGraphicFramePr>
          <p:cNvPr id="4" name="Object 7">
            <a:extLst>
              <a:ext uri="{FF2B5EF4-FFF2-40B4-BE49-F238E27FC236}">
                <a16:creationId xmlns:a16="http://schemas.microsoft.com/office/drawing/2014/main" id="{976AB35B-B8A7-3F4B-F4BD-5863694BCC5D}"/>
              </a:ext>
            </a:extLst>
          </p:cNvPr>
          <p:cNvGraphicFramePr>
            <a:graphicFrameLocks noChangeAspect="1"/>
          </p:cNvGraphicFramePr>
          <p:nvPr>
            <p:extLst>
              <p:ext uri="{D42A27DB-BD31-4B8C-83A1-F6EECF244321}">
                <p14:modId xmlns:p14="http://schemas.microsoft.com/office/powerpoint/2010/main" val="829154633"/>
              </p:ext>
            </p:extLst>
          </p:nvPr>
        </p:nvGraphicFramePr>
        <p:xfrm>
          <a:off x="2432105" y="2288281"/>
          <a:ext cx="7327790" cy="4073454"/>
        </p:xfrm>
        <a:graphic>
          <a:graphicData uri="http://schemas.openxmlformats.org/presentationml/2006/ole">
            <mc:AlternateContent xmlns:mc="http://schemas.openxmlformats.org/markup-compatibility/2006">
              <mc:Choice xmlns:v="urn:schemas-microsoft-com:vml" Requires="v">
                <p:oleObj name="CorelDRAW" r:id="rId3" imgW="3040941" imgH="1690949" progId="CorelDRAW.Graphic.13">
                  <p:embed/>
                </p:oleObj>
              </mc:Choice>
              <mc:Fallback>
                <p:oleObj name="CorelDRAW" r:id="rId3" imgW="3040941" imgH="1690949" progId="CorelDRAW.Graphic.13">
                  <p:embed/>
                  <p:pic>
                    <p:nvPicPr>
                      <p:cNvPr id="4" name="Object 7">
                        <a:extLst>
                          <a:ext uri="{FF2B5EF4-FFF2-40B4-BE49-F238E27FC236}">
                            <a16:creationId xmlns:a16="http://schemas.microsoft.com/office/drawing/2014/main" id="{976AB35B-B8A7-3F4B-F4BD-5863694BCC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105" y="2288281"/>
                        <a:ext cx="7327790" cy="407345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7753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932257"/>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In a digital wave form, Width of the Pulse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𝑡</m:t>
                        </m:r>
                      </m:e>
                      <m:sub>
                        <m:r>
                          <a:rPr lang="en-US" sz="3400" b="0" i="1" smtClean="0">
                            <a:latin typeface="Cambria Math" panose="02040503050406030204" pitchFamily="18" charset="0"/>
                          </a:rPr>
                          <m:t>𝑊</m:t>
                        </m:r>
                      </m:sub>
                    </m:sSub>
                  </m:oMath>
                </a14:m>
                <a:r>
                  <a:rPr lang="en-US" sz="3400" dirty="0"/>
                  <a:t> is the time where the voltage was HIGH; Amplitude </a:t>
                </a:r>
                <a14:m>
                  <m:oMath xmlns:m="http://schemas.openxmlformats.org/officeDocument/2006/math">
                    <m:r>
                      <a:rPr lang="en-US" sz="3400" b="0" i="1" smtClean="0">
                        <a:latin typeface="Cambria Math" panose="02040503050406030204" pitchFamily="18" charset="0"/>
                      </a:rPr>
                      <m:t>𝐴</m:t>
                    </m:r>
                  </m:oMath>
                </a14:m>
                <a:r>
                  <a:rPr lang="en-US" sz="3400" dirty="0"/>
                  <a:t> is the height; Period </a:t>
                </a:r>
                <a14:m>
                  <m:oMath xmlns:m="http://schemas.openxmlformats.org/officeDocument/2006/math">
                    <m:r>
                      <a:rPr lang="en-US" sz="3400" b="0" i="1" smtClean="0">
                        <a:latin typeface="Cambria Math" panose="02040503050406030204" pitchFamily="18" charset="0"/>
                      </a:rPr>
                      <m:t>𝑇</m:t>
                    </m:r>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𝑓</m:t>
                        </m:r>
                      </m:den>
                    </m:f>
                  </m:oMath>
                </a14:m>
                <a:r>
                  <a:rPr lang="en-US" sz="3400" dirty="0"/>
                  <a:t> is the time from LOW to HIGH and back to LOW voltage. Duty cycle is the percentage of time spent in HIGH state, i.e., </a:t>
                </a:r>
                <a14:m>
                  <m:oMath xmlns:m="http://schemas.openxmlformats.org/officeDocument/2006/math">
                    <m:f>
                      <m:fPr>
                        <m:ctrlPr>
                          <a:rPr lang="en-US" sz="3400" b="0" i="1" smtClean="0">
                            <a:latin typeface="Cambria Math" panose="02040503050406030204" pitchFamily="18" charset="0"/>
                          </a:rPr>
                        </m:ctrlPr>
                      </m:fPr>
                      <m:num>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𝑇</m:t>
                            </m:r>
                          </m:e>
                          <m:sub>
                            <m:r>
                              <a:rPr lang="en-US" sz="3400" b="0" i="1" smtClean="0">
                                <a:latin typeface="Cambria Math" panose="02040503050406030204" pitchFamily="18" charset="0"/>
                              </a:rPr>
                              <m:t>𝑊</m:t>
                            </m:r>
                          </m:sub>
                        </m:sSub>
                      </m:num>
                      <m:den>
                        <m:r>
                          <a:rPr lang="en-US" sz="3400" b="0" i="1" smtClean="0">
                            <a:latin typeface="Cambria Math" panose="02040503050406030204" pitchFamily="18" charset="0"/>
                          </a:rPr>
                          <m:t>𝑇</m:t>
                        </m:r>
                      </m:den>
                    </m:f>
                    <m:r>
                      <a:rPr lang="en-US" sz="3400" b="0" i="1" smtClean="0">
                        <a:latin typeface="Cambria Math" panose="02040503050406030204" pitchFamily="18" charset="0"/>
                      </a:rPr>
                      <m:t>×100</m:t>
                    </m:r>
                  </m:oMath>
                </a14:m>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1932257"/>
              </a:xfrm>
              <a:prstGeom prst="rect">
                <a:avLst/>
              </a:prstGeom>
              <a:blipFill>
                <a:blip r:embed="rId3"/>
                <a:stretch>
                  <a:fillRect l="-675" b="-3155"/>
                </a:stretch>
              </a:blipFill>
            </p:spPr>
            <p:txBody>
              <a:bodyPr/>
              <a:lstStyle/>
              <a:p>
                <a:r>
                  <a:rPr lang="en-PK">
                    <a:noFill/>
                  </a:rPr>
                  <a:t> </a:t>
                </a:r>
              </a:p>
            </p:txBody>
          </p:sp>
        </mc:Fallback>
      </mc:AlternateContent>
      <p:grpSp>
        <p:nvGrpSpPr>
          <p:cNvPr id="5" name="Group 4">
            <a:extLst>
              <a:ext uri="{FF2B5EF4-FFF2-40B4-BE49-F238E27FC236}">
                <a16:creationId xmlns:a16="http://schemas.microsoft.com/office/drawing/2014/main" id="{F299F5F0-22E0-D1A1-49CA-0FA87EC7C3F5}"/>
              </a:ext>
            </a:extLst>
          </p:cNvPr>
          <p:cNvGrpSpPr/>
          <p:nvPr/>
        </p:nvGrpSpPr>
        <p:grpSpPr>
          <a:xfrm>
            <a:off x="2215055" y="3541043"/>
            <a:ext cx="7761890" cy="2934373"/>
            <a:chOff x="1676400" y="3505200"/>
            <a:chExt cx="6248400" cy="2362200"/>
          </a:xfrm>
        </p:grpSpPr>
        <p:graphicFrame>
          <p:nvGraphicFramePr>
            <p:cNvPr id="6" name="Object 11">
              <a:extLst>
                <a:ext uri="{FF2B5EF4-FFF2-40B4-BE49-F238E27FC236}">
                  <a16:creationId xmlns:a16="http://schemas.microsoft.com/office/drawing/2014/main" id="{D6062A98-8C21-5037-803E-40FA7421CEF0}"/>
                </a:ext>
              </a:extLst>
            </p:cNvPr>
            <p:cNvGraphicFramePr>
              <a:graphicFrameLocks noChangeAspect="1"/>
            </p:cNvGraphicFramePr>
            <p:nvPr>
              <p:extLst>
                <p:ext uri="{D42A27DB-BD31-4B8C-83A1-F6EECF244321}">
                  <p14:modId xmlns:p14="http://schemas.microsoft.com/office/powerpoint/2010/main" val="1346354929"/>
                </p:ext>
              </p:extLst>
            </p:nvPr>
          </p:nvGraphicFramePr>
          <p:xfrm>
            <a:off x="2614613" y="3505200"/>
            <a:ext cx="5310187" cy="2127250"/>
          </p:xfrm>
          <a:graphic>
            <a:graphicData uri="http://schemas.openxmlformats.org/presentationml/2006/ole">
              <mc:AlternateContent xmlns:mc="http://schemas.openxmlformats.org/markup-compatibility/2006">
                <mc:Choice xmlns:v="urn:schemas-microsoft-com:vml" Requires="v">
                  <p:oleObj name="CorelDRAW" r:id="rId4" imgW="5310149" imgH="2127694" progId="CorelDRAW.Graphic.12">
                    <p:embed/>
                  </p:oleObj>
                </mc:Choice>
                <mc:Fallback>
                  <p:oleObj name="CorelDRAW" r:id="rId4" imgW="5310149" imgH="2127694" progId="CorelDRAW.Graphic.12">
                    <p:embed/>
                    <p:pic>
                      <p:nvPicPr>
                        <p:cNvPr id="6" name="Object 11">
                          <a:extLst>
                            <a:ext uri="{FF2B5EF4-FFF2-40B4-BE49-F238E27FC236}">
                              <a16:creationId xmlns:a16="http://schemas.microsoft.com/office/drawing/2014/main" id="{D6062A98-8C21-5037-803E-40FA7421CE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4613" y="3505200"/>
                          <a:ext cx="5310187" cy="212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AutoShape 17">
              <a:extLst>
                <a:ext uri="{FF2B5EF4-FFF2-40B4-BE49-F238E27FC236}">
                  <a16:creationId xmlns:a16="http://schemas.microsoft.com/office/drawing/2014/main" id="{55BA099A-CF9D-DA01-089D-3FB73BCCDF0D}"/>
                </a:ext>
              </a:extLst>
            </p:cNvPr>
            <p:cNvSpPr>
              <a:spLocks noChangeAspect="1" noChangeArrowheads="1" noTextEdit="1"/>
            </p:cNvSpPr>
            <p:nvPr/>
          </p:nvSpPr>
          <p:spPr bwMode="auto">
            <a:xfrm>
              <a:off x="1676400" y="4495800"/>
              <a:ext cx="104616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PK"/>
            </a:p>
          </p:txBody>
        </p:sp>
        <p:sp>
          <p:nvSpPr>
            <p:cNvPr id="8" name="Rectangle 22">
              <a:extLst>
                <a:ext uri="{FF2B5EF4-FFF2-40B4-BE49-F238E27FC236}">
                  <a16:creationId xmlns:a16="http://schemas.microsoft.com/office/drawing/2014/main" id="{8B5CD697-AFB4-87A3-6AE0-3E13DFFBFE9A}"/>
                </a:ext>
              </a:extLst>
            </p:cNvPr>
            <p:cNvSpPr>
              <a:spLocks noChangeArrowheads="1"/>
            </p:cNvSpPr>
            <p:nvPr/>
          </p:nvSpPr>
          <p:spPr bwMode="auto">
            <a:xfrm>
              <a:off x="2143125" y="4505325"/>
              <a:ext cx="5238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9" name="Rectangle 23">
              <a:extLst>
                <a:ext uri="{FF2B5EF4-FFF2-40B4-BE49-F238E27FC236}">
                  <a16:creationId xmlns:a16="http://schemas.microsoft.com/office/drawing/2014/main" id="{14D7CFE0-500B-EE3E-0916-F312008148CA}"/>
                </a:ext>
              </a:extLst>
            </p:cNvPr>
            <p:cNvSpPr>
              <a:spLocks noChangeArrowheads="1"/>
            </p:cNvSpPr>
            <p:nvPr/>
          </p:nvSpPr>
          <p:spPr bwMode="auto">
            <a:xfrm>
              <a:off x="2143125" y="5505450"/>
              <a:ext cx="5238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grpSp>
          <p:nvGrpSpPr>
            <p:cNvPr id="10" name="Group 29">
              <a:extLst>
                <a:ext uri="{FF2B5EF4-FFF2-40B4-BE49-F238E27FC236}">
                  <a16:creationId xmlns:a16="http://schemas.microsoft.com/office/drawing/2014/main" id="{5F8B08D4-6C65-A4B4-7200-EEB2C72E35C3}"/>
                </a:ext>
              </a:extLst>
            </p:cNvPr>
            <p:cNvGrpSpPr>
              <a:grpSpLocks/>
            </p:cNvGrpSpPr>
            <p:nvPr/>
          </p:nvGrpSpPr>
          <p:grpSpPr bwMode="auto">
            <a:xfrm>
              <a:off x="2181225" y="4514850"/>
              <a:ext cx="66675" cy="1000125"/>
              <a:chOff x="1374" y="2844"/>
              <a:chExt cx="42" cy="630"/>
            </a:xfrm>
          </p:grpSpPr>
          <p:sp>
            <p:nvSpPr>
              <p:cNvPr id="26" name="Rectangle 24">
                <a:extLst>
                  <a:ext uri="{FF2B5EF4-FFF2-40B4-BE49-F238E27FC236}">
                    <a16:creationId xmlns:a16="http://schemas.microsoft.com/office/drawing/2014/main" id="{CBD0581F-8EAF-DD54-9931-F722097CCF36}"/>
                  </a:ext>
                </a:extLst>
              </p:cNvPr>
              <p:cNvSpPr>
                <a:spLocks noChangeArrowheads="1"/>
              </p:cNvSpPr>
              <p:nvPr/>
            </p:nvSpPr>
            <p:spPr bwMode="auto">
              <a:xfrm>
                <a:off x="1386" y="2892"/>
                <a:ext cx="12" cy="19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27" name="Freeform 25">
                <a:extLst>
                  <a:ext uri="{FF2B5EF4-FFF2-40B4-BE49-F238E27FC236}">
                    <a16:creationId xmlns:a16="http://schemas.microsoft.com/office/drawing/2014/main" id="{65B31570-2F7D-A625-6849-372E2DEECD85}"/>
                  </a:ext>
                </a:extLst>
              </p:cNvPr>
              <p:cNvSpPr>
                <a:spLocks/>
              </p:cNvSpPr>
              <p:nvPr/>
            </p:nvSpPr>
            <p:spPr bwMode="auto">
              <a:xfrm>
                <a:off x="1374" y="2844"/>
                <a:ext cx="42" cy="66"/>
              </a:xfrm>
              <a:custGeom>
                <a:avLst/>
                <a:gdLst>
                  <a:gd name="T0" fmla="*/ 0 w 7"/>
                  <a:gd name="T1" fmla="*/ 513216 h 11"/>
                  <a:gd name="T2" fmla="*/ 139968 w 7"/>
                  <a:gd name="T3" fmla="*/ 0 h 11"/>
                  <a:gd name="T4" fmla="*/ 326592 w 7"/>
                  <a:gd name="T5" fmla="*/ 513216 h 11"/>
                  <a:gd name="T6" fmla="*/ 0 w 7"/>
                  <a:gd name="T7" fmla="*/ 513216 h 11"/>
                  <a:gd name="T8" fmla="*/ 0 60000 65536"/>
                  <a:gd name="T9" fmla="*/ 0 60000 65536"/>
                  <a:gd name="T10" fmla="*/ 0 60000 65536"/>
                  <a:gd name="T11" fmla="*/ 0 60000 65536"/>
                  <a:gd name="T12" fmla="*/ 0 w 7"/>
                  <a:gd name="T13" fmla="*/ 0 h 11"/>
                  <a:gd name="T14" fmla="*/ 7 w 7"/>
                  <a:gd name="T15" fmla="*/ 11 h 11"/>
                </a:gdLst>
                <a:ahLst/>
                <a:cxnLst>
                  <a:cxn ang="T8">
                    <a:pos x="T0" y="T1"/>
                  </a:cxn>
                  <a:cxn ang="T9">
                    <a:pos x="T2" y="T3"/>
                  </a:cxn>
                  <a:cxn ang="T10">
                    <a:pos x="T4" y="T5"/>
                  </a:cxn>
                  <a:cxn ang="T11">
                    <a:pos x="T6" y="T7"/>
                  </a:cxn>
                </a:cxnLst>
                <a:rect l="T12" t="T13" r="T14" b="T15"/>
                <a:pathLst>
                  <a:path w="7" h="11">
                    <a:moveTo>
                      <a:pt x="0" y="11"/>
                    </a:moveTo>
                    <a:lnTo>
                      <a:pt x="3" y="0"/>
                    </a:lnTo>
                    <a:lnTo>
                      <a:pt x="7" y="11"/>
                    </a:lnTo>
                    <a:lnTo>
                      <a:pt x="0" y="1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sp>
            <p:nvSpPr>
              <p:cNvPr id="28" name="Rectangle 26">
                <a:extLst>
                  <a:ext uri="{FF2B5EF4-FFF2-40B4-BE49-F238E27FC236}">
                    <a16:creationId xmlns:a16="http://schemas.microsoft.com/office/drawing/2014/main" id="{EF6A9AF1-BD6E-86CB-85D2-48629D499C36}"/>
                  </a:ext>
                </a:extLst>
              </p:cNvPr>
              <p:cNvSpPr>
                <a:spLocks noChangeArrowheads="1"/>
              </p:cNvSpPr>
              <p:nvPr/>
            </p:nvSpPr>
            <p:spPr bwMode="auto">
              <a:xfrm>
                <a:off x="1386" y="3234"/>
                <a:ext cx="12" cy="19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29" name="Freeform 27">
                <a:extLst>
                  <a:ext uri="{FF2B5EF4-FFF2-40B4-BE49-F238E27FC236}">
                    <a16:creationId xmlns:a16="http://schemas.microsoft.com/office/drawing/2014/main" id="{598807CE-1E04-5612-F554-B4F4EF64953A}"/>
                  </a:ext>
                </a:extLst>
              </p:cNvPr>
              <p:cNvSpPr>
                <a:spLocks/>
              </p:cNvSpPr>
              <p:nvPr/>
            </p:nvSpPr>
            <p:spPr bwMode="auto">
              <a:xfrm>
                <a:off x="1374" y="3408"/>
                <a:ext cx="42" cy="66"/>
              </a:xfrm>
              <a:custGeom>
                <a:avLst/>
                <a:gdLst>
                  <a:gd name="T0" fmla="*/ 0 w 7"/>
                  <a:gd name="T1" fmla="*/ 0 h 11"/>
                  <a:gd name="T2" fmla="*/ 139968 w 7"/>
                  <a:gd name="T3" fmla="*/ 513216 h 11"/>
                  <a:gd name="T4" fmla="*/ 326592 w 7"/>
                  <a:gd name="T5" fmla="*/ 0 h 11"/>
                  <a:gd name="T6" fmla="*/ 0 w 7"/>
                  <a:gd name="T7" fmla="*/ 0 h 11"/>
                  <a:gd name="T8" fmla="*/ 0 60000 65536"/>
                  <a:gd name="T9" fmla="*/ 0 60000 65536"/>
                  <a:gd name="T10" fmla="*/ 0 60000 65536"/>
                  <a:gd name="T11" fmla="*/ 0 60000 65536"/>
                  <a:gd name="T12" fmla="*/ 0 w 7"/>
                  <a:gd name="T13" fmla="*/ 0 h 11"/>
                  <a:gd name="T14" fmla="*/ 7 w 7"/>
                  <a:gd name="T15" fmla="*/ 11 h 11"/>
                </a:gdLst>
                <a:ahLst/>
                <a:cxnLst>
                  <a:cxn ang="T8">
                    <a:pos x="T0" y="T1"/>
                  </a:cxn>
                  <a:cxn ang="T9">
                    <a:pos x="T2" y="T3"/>
                  </a:cxn>
                  <a:cxn ang="T10">
                    <a:pos x="T4" y="T5"/>
                  </a:cxn>
                  <a:cxn ang="T11">
                    <a:pos x="T6" y="T7"/>
                  </a:cxn>
                </a:cxnLst>
                <a:rect l="T12" t="T13" r="T14" b="T15"/>
                <a:pathLst>
                  <a:path w="7" h="11">
                    <a:moveTo>
                      <a:pt x="0" y="0"/>
                    </a:moveTo>
                    <a:lnTo>
                      <a:pt x="3" y="11"/>
                    </a:lnTo>
                    <a:lnTo>
                      <a:pt x="7" y="0"/>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grpSp>
        <p:sp>
          <p:nvSpPr>
            <p:cNvPr id="11" name="Text Box 28">
              <a:extLst>
                <a:ext uri="{FF2B5EF4-FFF2-40B4-BE49-F238E27FC236}">
                  <a16:creationId xmlns:a16="http://schemas.microsoft.com/office/drawing/2014/main" id="{43214471-716B-DD60-6ABE-109DFA27050D}"/>
                </a:ext>
              </a:extLst>
            </p:cNvPr>
            <p:cNvSpPr txBox="1">
              <a:spLocks noChangeArrowheads="1"/>
            </p:cNvSpPr>
            <p:nvPr/>
          </p:nvSpPr>
          <p:spPr bwMode="auto">
            <a:xfrm>
              <a:off x="1752600" y="4830763"/>
              <a:ext cx="1295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a:solidFill>
                    <a:srgbClr val="FF0000"/>
                  </a:solidFill>
                </a:rPr>
                <a:t>Amplitude (</a:t>
              </a:r>
              <a:r>
                <a:rPr lang="en-US" altLang="en-US" i="1">
                  <a:solidFill>
                    <a:srgbClr val="FF0000"/>
                  </a:solidFill>
                </a:rPr>
                <a:t>A</a:t>
              </a:r>
              <a:r>
                <a:rPr lang="en-US" altLang="en-US">
                  <a:solidFill>
                    <a:srgbClr val="FF0000"/>
                  </a:solidFill>
                </a:rPr>
                <a:t>)</a:t>
              </a:r>
            </a:p>
          </p:txBody>
        </p:sp>
        <p:grpSp>
          <p:nvGrpSpPr>
            <p:cNvPr id="12" name="Group 41">
              <a:extLst>
                <a:ext uri="{FF2B5EF4-FFF2-40B4-BE49-F238E27FC236}">
                  <a16:creationId xmlns:a16="http://schemas.microsoft.com/office/drawing/2014/main" id="{C08FEAF3-94E6-1EEA-45F3-B6619E861383}"/>
                </a:ext>
              </a:extLst>
            </p:cNvPr>
            <p:cNvGrpSpPr>
              <a:grpSpLocks/>
            </p:cNvGrpSpPr>
            <p:nvPr/>
          </p:nvGrpSpPr>
          <p:grpSpPr bwMode="auto">
            <a:xfrm>
              <a:off x="2814638" y="5281613"/>
              <a:ext cx="523875" cy="66675"/>
              <a:chOff x="1773" y="3327"/>
              <a:chExt cx="330" cy="42"/>
            </a:xfrm>
          </p:grpSpPr>
          <p:sp>
            <p:nvSpPr>
              <p:cNvPr id="23" name="Rectangle 38">
                <a:extLst>
                  <a:ext uri="{FF2B5EF4-FFF2-40B4-BE49-F238E27FC236}">
                    <a16:creationId xmlns:a16="http://schemas.microsoft.com/office/drawing/2014/main" id="{A34C6B58-56E8-825F-57FF-2ED8615E7079}"/>
                  </a:ext>
                </a:extLst>
              </p:cNvPr>
              <p:cNvSpPr>
                <a:spLocks noChangeArrowheads="1"/>
              </p:cNvSpPr>
              <p:nvPr/>
            </p:nvSpPr>
            <p:spPr bwMode="auto">
              <a:xfrm>
                <a:off x="1815" y="3339"/>
                <a:ext cx="240" cy="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24" name="Freeform 39">
                <a:extLst>
                  <a:ext uri="{FF2B5EF4-FFF2-40B4-BE49-F238E27FC236}">
                    <a16:creationId xmlns:a16="http://schemas.microsoft.com/office/drawing/2014/main" id="{97FFB713-4A4F-385D-29BA-E73F9F9AF409}"/>
                  </a:ext>
                </a:extLst>
              </p:cNvPr>
              <p:cNvSpPr>
                <a:spLocks/>
              </p:cNvSpPr>
              <p:nvPr/>
            </p:nvSpPr>
            <p:spPr bwMode="auto">
              <a:xfrm>
                <a:off x="2037" y="3327"/>
                <a:ext cx="66" cy="42"/>
              </a:xfrm>
              <a:custGeom>
                <a:avLst/>
                <a:gdLst>
                  <a:gd name="T0" fmla="*/ 0 w 11"/>
                  <a:gd name="T1" fmla="*/ 0 h 7"/>
                  <a:gd name="T2" fmla="*/ 513216 w 11"/>
                  <a:gd name="T3" fmla="*/ 139968 h 7"/>
                  <a:gd name="T4" fmla="*/ 0 w 11"/>
                  <a:gd name="T5" fmla="*/ 326592 h 7"/>
                  <a:gd name="T6" fmla="*/ 0 w 11"/>
                  <a:gd name="T7" fmla="*/ 0 h 7"/>
                  <a:gd name="T8" fmla="*/ 0 60000 65536"/>
                  <a:gd name="T9" fmla="*/ 0 60000 65536"/>
                  <a:gd name="T10" fmla="*/ 0 60000 65536"/>
                  <a:gd name="T11" fmla="*/ 0 60000 65536"/>
                  <a:gd name="T12" fmla="*/ 0 w 11"/>
                  <a:gd name="T13" fmla="*/ 0 h 7"/>
                  <a:gd name="T14" fmla="*/ 11 w 11"/>
                  <a:gd name="T15" fmla="*/ 7 h 7"/>
                </a:gdLst>
                <a:ahLst/>
                <a:cxnLst>
                  <a:cxn ang="T8">
                    <a:pos x="T0" y="T1"/>
                  </a:cxn>
                  <a:cxn ang="T9">
                    <a:pos x="T2" y="T3"/>
                  </a:cxn>
                  <a:cxn ang="T10">
                    <a:pos x="T4" y="T5"/>
                  </a:cxn>
                  <a:cxn ang="T11">
                    <a:pos x="T6" y="T7"/>
                  </a:cxn>
                </a:cxnLst>
                <a:rect l="T12" t="T13" r="T14" b="T15"/>
                <a:pathLst>
                  <a:path w="11" h="7">
                    <a:moveTo>
                      <a:pt x="0" y="0"/>
                    </a:moveTo>
                    <a:lnTo>
                      <a:pt x="11" y="3"/>
                    </a:lnTo>
                    <a:lnTo>
                      <a:pt x="0" y="7"/>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sp>
            <p:nvSpPr>
              <p:cNvPr id="25" name="Freeform 40">
                <a:extLst>
                  <a:ext uri="{FF2B5EF4-FFF2-40B4-BE49-F238E27FC236}">
                    <a16:creationId xmlns:a16="http://schemas.microsoft.com/office/drawing/2014/main" id="{83D4EE20-4465-2F99-20E4-96B41FE72BAA}"/>
                  </a:ext>
                </a:extLst>
              </p:cNvPr>
              <p:cNvSpPr>
                <a:spLocks/>
              </p:cNvSpPr>
              <p:nvPr/>
            </p:nvSpPr>
            <p:spPr bwMode="auto">
              <a:xfrm>
                <a:off x="1773" y="3327"/>
                <a:ext cx="66" cy="42"/>
              </a:xfrm>
              <a:custGeom>
                <a:avLst/>
                <a:gdLst>
                  <a:gd name="T0" fmla="*/ 513216 w 11"/>
                  <a:gd name="T1" fmla="*/ 0 h 7"/>
                  <a:gd name="T2" fmla="*/ 0 w 11"/>
                  <a:gd name="T3" fmla="*/ 139968 h 7"/>
                  <a:gd name="T4" fmla="*/ 513216 w 11"/>
                  <a:gd name="T5" fmla="*/ 326592 h 7"/>
                  <a:gd name="T6" fmla="*/ 513216 w 11"/>
                  <a:gd name="T7" fmla="*/ 0 h 7"/>
                  <a:gd name="T8" fmla="*/ 0 60000 65536"/>
                  <a:gd name="T9" fmla="*/ 0 60000 65536"/>
                  <a:gd name="T10" fmla="*/ 0 60000 65536"/>
                  <a:gd name="T11" fmla="*/ 0 60000 65536"/>
                  <a:gd name="T12" fmla="*/ 0 w 11"/>
                  <a:gd name="T13" fmla="*/ 0 h 7"/>
                  <a:gd name="T14" fmla="*/ 11 w 11"/>
                  <a:gd name="T15" fmla="*/ 7 h 7"/>
                </a:gdLst>
                <a:ahLst/>
                <a:cxnLst>
                  <a:cxn ang="T8">
                    <a:pos x="T0" y="T1"/>
                  </a:cxn>
                  <a:cxn ang="T9">
                    <a:pos x="T2" y="T3"/>
                  </a:cxn>
                  <a:cxn ang="T10">
                    <a:pos x="T4" y="T5"/>
                  </a:cxn>
                  <a:cxn ang="T11">
                    <a:pos x="T6" y="T7"/>
                  </a:cxn>
                </a:cxnLst>
                <a:rect l="T12" t="T13" r="T14" b="T15"/>
                <a:pathLst>
                  <a:path w="11" h="7">
                    <a:moveTo>
                      <a:pt x="11" y="0"/>
                    </a:moveTo>
                    <a:lnTo>
                      <a:pt x="0" y="3"/>
                    </a:lnTo>
                    <a:lnTo>
                      <a:pt x="11"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grpSp>
        <p:sp>
          <p:nvSpPr>
            <p:cNvPr id="13" name="Text Box 42">
              <a:extLst>
                <a:ext uri="{FF2B5EF4-FFF2-40B4-BE49-F238E27FC236}">
                  <a16:creationId xmlns:a16="http://schemas.microsoft.com/office/drawing/2014/main" id="{FAA990E2-2821-A383-E799-8067629CA75C}"/>
                </a:ext>
              </a:extLst>
            </p:cNvPr>
            <p:cNvSpPr txBox="1">
              <a:spLocks noChangeArrowheads="1"/>
            </p:cNvSpPr>
            <p:nvPr/>
          </p:nvSpPr>
          <p:spPr bwMode="auto">
            <a:xfrm>
              <a:off x="2819400" y="4541838"/>
              <a:ext cx="60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a:solidFill>
                    <a:srgbClr val="FF0000"/>
                  </a:solidFill>
                </a:rPr>
                <a:t>Pulse width (</a:t>
              </a:r>
              <a:r>
                <a:rPr lang="en-US" altLang="en-US" i="1">
                  <a:solidFill>
                    <a:srgbClr val="FF0000"/>
                  </a:solidFill>
                </a:rPr>
                <a:t>t</a:t>
              </a:r>
              <a:r>
                <a:rPr lang="en-US" altLang="en-US" i="1" baseline="-25000">
                  <a:solidFill>
                    <a:srgbClr val="FF0000"/>
                  </a:solidFill>
                </a:rPr>
                <a:t>W</a:t>
              </a:r>
              <a:r>
                <a:rPr lang="en-US" altLang="en-US">
                  <a:solidFill>
                    <a:srgbClr val="FF0000"/>
                  </a:solidFill>
                </a:rPr>
                <a:t>)</a:t>
              </a:r>
            </a:p>
          </p:txBody>
        </p:sp>
        <p:grpSp>
          <p:nvGrpSpPr>
            <p:cNvPr id="14" name="Group 54">
              <a:extLst>
                <a:ext uri="{FF2B5EF4-FFF2-40B4-BE49-F238E27FC236}">
                  <a16:creationId xmlns:a16="http://schemas.microsoft.com/office/drawing/2014/main" id="{65F0AE59-9C85-3533-161C-A401EAF2021F}"/>
                </a:ext>
              </a:extLst>
            </p:cNvPr>
            <p:cNvGrpSpPr>
              <a:grpSpLocks/>
            </p:cNvGrpSpPr>
            <p:nvPr/>
          </p:nvGrpSpPr>
          <p:grpSpPr bwMode="auto">
            <a:xfrm>
              <a:off x="2786063" y="5645150"/>
              <a:ext cx="1587500" cy="179388"/>
              <a:chOff x="1755" y="3556"/>
              <a:chExt cx="1000" cy="113"/>
            </a:xfrm>
          </p:grpSpPr>
          <p:sp>
            <p:nvSpPr>
              <p:cNvPr id="16" name="AutoShape 43">
                <a:extLst>
                  <a:ext uri="{FF2B5EF4-FFF2-40B4-BE49-F238E27FC236}">
                    <a16:creationId xmlns:a16="http://schemas.microsoft.com/office/drawing/2014/main" id="{29E538EA-8887-71D8-6567-6AE1C312A98A}"/>
                  </a:ext>
                </a:extLst>
              </p:cNvPr>
              <p:cNvSpPr>
                <a:spLocks noChangeAspect="1" noChangeArrowheads="1" noTextEdit="1"/>
              </p:cNvSpPr>
              <p:nvPr/>
            </p:nvSpPr>
            <p:spPr bwMode="auto">
              <a:xfrm>
                <a:off x="1755" y="3556"/>
                <a:ext cx="100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PK"/>
              </a:p>
            </p:txBody>
          </p:sp>
          <p:sp>
            <p:nvSpPr>
              <p:cNvPr id="17" name="Rectangle 48">
                <a:extLst>
                  <a:ext uri="{FF2B5EF4-FFF2-40B4-BE49-F238E27FC236}">
                    <a16:creationId xmlns:a16="http://schemas.microsoft.com/office/drawing/2014/main" id="{FCAA705B-E173-3247-BD24-8A5E9844FF2A}"/>
                  </a:ext>
                </a:extLst>
              </p:cNvPr>
              <p:cNvSpPr>
                <a:spLocks noChangeArrowheads="1"/>
              </p:cNvSpPr>
              <p:nvPr/>
            </p:nvSpPr>
            <p:spPr bwMode="auto">
              <a:xfrm>
                <a:off x="1761" y="3562"/>
                <a:ext cx="12" cy="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18" name="Rectangle 49">
                <a:extLst>
                  <a:ext uri="{FF2B5EF4-FFF2-40B4-BE49-F238E27FC236}">
                    <a16:creationId xmlns:a16="http://schemas.microsoft.com/office/drawing/2014/main" id="{FD1EE0E5-528C-1471-6132-2C95A8FF34DB}"/>
                  </a:ext>
                </a:extLst>
              </p:cNvPr>
              <p:cNvSpPr>
                <a:spLocks noChangeArrowheads="1"/>
              </p:cNvSpPr>
              <p:nvPr/>
            </p:nvSpPr>
            <p:spPr bwMode="auto">
              <a:xfrm>
                <a:off x="2733" y="3562"/>
                <a:ext cx="12" cy="9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19" name="Rectangle 50">
                <a:extLst>
                  <a:ext uri="{FF2B5EF4-FFF2-40B4-BE49-F238E27FC236}">
                    <a16:creationId xmlns:a16="http://schemas.microsoft.com/office/drawing/2014/main" id="{8638A1AB-9E42-C187-D2AC-D9C9A3F3A5D1}"/>
                  </a:ext>
                </a:extLst>
              </p:cNvPr>
              <p:cNvSpPr>
                <a:spLocks noChangeArrowheads="1"/>
              </p:cNvSpPr>
              <p:nvPr/>
            </p:nvSpPr>
            <p:spPr bwMode="auto">
              <a:xfrm>
                <a:off x="1815" y="3604"/>
                <a:ext cx="174" cy="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20" name="Freeform 51">
                <a:extLst>
                  <a:ext uri="{FF2B5EF4-FFF2-40B4-BE49-F238E27FC236}">
                    <a16:creationId xmlns:a16="http://schemas.microsoft.com/office/drawing/2014/main" id="{FB75DA1E-A533-0DC9-6375-3B13FE54D5FD}"/>
                  </a:ext>
                </a:extLst>
              </p:cNvPr>
              <p:cNvSpPr>
                <a:spLocks/>
              </p:cNvSpPr>
              <p:nvPr/>
            </p:nvSpPr>
            <p:spPr bwMode="auto">
              <a:xfrm>
                <a:off x="1767" y="3586"/>
                <a:ext cx="66" cy="42"/>
              </a:xfrm>
              <a:custGeom>
                <a:avLst/>
                <a:gdLst>
                  <a:gd name="T0" fmla="*/ 513216 w 11"/>
                  <a:gd name="T1" fmla="*/ 0 h 7"/>
                  <a:gd name="T2" fmla="*/ 0 w 11"/>
                  <a:gd name="T3" fmla="*/ 186624 h 7"/>
                  <a:gd name="T4" fmla="*/ 513216 w 11"/>
                  <a:gd name="T5" fmla="*/ 326592 h 7"/>
                  <a:gd name="T6" fmla="*/ 513216 w 11"/>
                  <a:gd name="T7" fmla="*/ 0 h 7"/>
                  <a:gd name="T8" fmla="*/ 0 60000 65536"/>
                  <a:gd name="T9" fmla="*/ 0 60000 65536"/>
                  <a:gd name="T10" fmla="*/ 0 60000 65536"/>
                  <a:gd name="T11" fmla="*/ 0 60000 65536"/>
                  <a:gd name="T12" fmla="*/ 0 w 11"/>
                  <a:gd name="T13" fmla="*/ 0 h 7"/>
                  <a:gd name="T14" fmla="*/ 11 w 11"/>
                  <a:gd name="T15" fmla="*/ 7 h 7"/>
                </a:gdLst>
                <a:ahLst/>
                <a:cxnLst>
                  <a:cxn ang="T8">
                    <a:pos x="T0" y="T1"/>
                  </a:cxn>
                  <a:cxn ang="T9">
                    <a:pos x="T2" y="T3"/>
                  </a:cxn>
                  <a:cxn ang="T10">
                    <a:pos x="T4" y="T5"/>
                  </a:cxn>
                  <a:cxn ang="T11">
                    <a:pos x="T6" y="T7"/>
                  </a:cxn>
                </a:cxnLst>
                <a:rect l="T12" t="T13" r="T14" b="T15"/>
                <a:pathLst>
                  <a:path w="11" h="7">
                    <a:moveTo>
                      <a:pt x="11" y="0"/>
                    </a:moveTo>
                    <a:lnTo>
                      <a:pt x="0" y="4"/>
                    </a:lnTo>
                    <a:lnTo>
                      <a:pt x="11" y="7"/>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sp>
            <p:nvSpPr>
              <p:cNvPr id="21" name="Rectangle 52">
                <a:extLst>
                  <a:ext uri="{FF2B5EF4-FFF2-40B4-BE49-F238E27FC236}">
                    <a16:creationId xmlns:a16="http://schemas.microsoft.com/office/drawing/2014/main" id="{05D4747D-C55A-27A8-A503-97067BF659CD}"/>
                  </a:ext>
                </a:extLst>
              </p:cNvPr>
              <p:cNvSpPr>
                <a:spLocks noChangeArrowheads="1"/>
              </p:cNvSpPr>
              <p:nvPr/>
            </p:nvSpPr>
            <p:spPr bwMode="auto">
              <a:xfrm>
                <a:off x="2505" y="3604"/>
                <a:ext cx="192" cy="1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US" altLang="en-US"/>
              </a:p>
            </p:txBody>
          </p:sp>
          <p:sp>
            <p:nvSpPr>
              <p:cNvPr id="22" name="Freeform 53">
                <a:extLst>
                  <a:ext uri="{FF2B5EF4-FFF2-40B4-BE49-F238E27FC236}">
                    <a16:creationId xmlns:a16="http://schemas.microsoft.com/office/drawing/2014/main" id="{060909E4-FC5A-F3CB-0DCE-7A6B2C8D85FE}"/>
                  </a:ext>
                </a:extLst>
              </p:cNvPr>
              <p:cNvSpPr>
                <a:spLocks/>
              </p:cNvSpPr>
              <p:nvPr/>
            </p:nvSpPr>
            <p:spPr bwMode="auto">
              <a:xfrm>
                <a:off x="2673" y="3586"/>
                <a:ext cx="66" cy="42"/>
              </a:xfrm>
              <a:custGeom>
                <a:avLst/>
                <a:gdLst>
                  <a:gd name="T0" fmla="*/ 0 w 11"/>
                  <a:gd name="T1" fmla="*/ 0 h 7"/>
                  <a:gd name="T2" fmla="*/ 513216 w 11"/>
                  <a:gd name="T3" fmla="*/ 186624 h 7"/>
                  <a:gd name="T4" fmla="*/ 0 w 11"/>
                  <a:gd name="T5" fmla="*/ 326592 h 7"/>
                  <a:gd name="T6" fmla="*/ 0 w 11"/>
                  <a:gd name="T7" fmla="*/ 0 h 7"/>
                  <a:gd name="T8" fmla="*/ 0 60000 65536"/>
                  <a:gd name="T9" fmla="*/ 0 60000 65536"/>
                  <a:gd name="T10" fmla="*/ 0 60000 65536"/>
                  <a:gd name="T11" fmla="*/ 0 60000 65536"/>
                  <a:gd name="T12" fmla="*/ 0 w 11"/>
                  <a:gd name="T13" fmla="*/ 0 h 7"/>
                  <a:gd name="T14" fmla="*/ 11 w 11"/>
                  <a:gd name="T15" fmla="*/ 7 h 7"/>
                </a:gdLst>
                <a:ahLst/>
                <a:cxnLst>
                  <a:cxn ang="T8">
                    <a:pos x="T0" y="T1"/>
                  </a:cxn>
                  <a:cxn ang="T9">
                    <a:pos x="T2" y="T3"/>
                  </a:cxn>
                  <a:cxn ang="T10">
                    <a:pos x="T4" y="T5"/>
                  </a:cxn>
                  <a:cxn ang="T11">
                    <a:pos x="T6" y="T7"/>
                  </a:cxn>
                </a:cxnLst>
                <a:rect l="T12" t="T13" r="T14" b="T15"/>
                <a:pathLst>
                  <a:path w="11" h="7">
                    <a:moveTo>
                      <a:pt x="0" y="0"/>
                    </a:moveTo>
                    <a:lnTo>
                      <a:pt x="11" y="4"/>
                    </a:lnTo>
                    <a:lnTo>
                      <a:pt x="0" y="7"/>
                    </a:lnTo>
                    <a:lnTo>
                      <a:pt x="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endParaRPr lang="en-PK" altLang="en-PK"/>
              </a:p>
            </p:txBody>
          </p:sp>
        </p:grpSp>
        <p:sp>
          <p:nvSpPr>
            <p:cNvPr id="15" name="Text Box 55">
              <a:extLst>
                <a:ext uri="{FF2B5EF4-FFF2-40B4-BE49-F238E27FC236}">
                  <a16:creationId xmlns:a16="http://schemas.microsoft.com/office/drawing/2014/main" id="{7DA1DB7D-B35C-DE61-9AFF-134B326B0FD9}"/>
                </a:ext>
              </a:extLst>
            </p:cNvPr>
            <p:cNvSpPr txBox="1">
              <a:spLocks noChangeArrowheads="1"/>
            </p:cNvSpPr>
            <p:nvPr/>
          </p:nvSpPr>
          <p:spPr bwMode="auto">
            <a:xfrm>
              <a:off x="3200400" y="5592763"/>
              <a:ext cx="990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spcBef>
                  <a:spcPct val="50000"/>
                </a:spcBef>
              </a:pPr>
              <a:r>
                <a:rPr lang="en-US" altLang="en-US">
                  <a:solidFill>
                    <a:srgbClr val="FF0000"/>
                  </a:solidFill>
                </a:rPr>
                <a:t>Period, </a:t>
              </a:r>
              <a:r>
                <a:rPr lang="en-US" altLang="en-US" i="1">
                  <a:solidFill>
                    <a:srgbClr val="FF0000"/>
                  </a:solidFill>
                </a:rPr>
                <a:t>T</a:t>
              </a:r>
            </a:p>
          </p:txBody>
        </p:sp>
      </p:grpSp>
    </p:spTree>
    <p:extLst>
      <p:ext uri="{BB962C8B-B14F-4D97-AF65-F5344CB8AC3E}">
        <p14:creationId xmlns:p14="http://schemas.microsoft.com/office/powerpoint/2010/main" val="27897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Exercise: if a periodic digital waveform has pulse width of 25</a:t>
                </a:r>
                <a14:m>
                  <m:oMath xmlns:m="http://schemas.openxmlformats.org/officeDocument/2006/math">
                    <m:r>
                      <a:rPr lang="en-US" sz="3400" b="0" i="1" smtClean="0">
                        <a:latin typeface="Cambria Math" panose="02040503050406030204" pitchFamily="18" charset="0"/>
                      </a:rPr>
                      <m:t>𝜇</m:t>
                    </m:r>
                    <m:r>
                      <a:rPr lang="en-US" sz="3400" b="0" i="1" smtClean="0">
                        <a:latin typeface="Cambria Math" panose="02040503050406030204" pitchFamily="18" charset="0"/>
                      </a:rPr>
                      <m:t>𝑠</m:t>
                    </m:r>
                  </m:oMath>
                </a14:m>
                <a:r>
                  <a:rPr lang="en-US" sz="3400" dirty="0"/>
                  <a:t> and a period of 150</a:t>
                </a:r>
                <a14:m>
                  <m:oMath xmlns:m="http://schemas.openxmlformats.org/officeDocument/2006/math">
                    <m:r>
                      <a:rPr lang="en-US" sz="3400" b="0" i="1" smtClean="0">
                        <a:latin typeface="Cambria Math" panose="02040503050406030204" pitchFamily="18" charset="0"/>
                      </a:rPr>
                      <m:t>𝜇</m:t>
                    </m:r>
                    <m:r>
                      <a:rPr lang="en-US" sz="3400" b="0" i="1" smtClean="0">
                        <a:latin typeface="Cambria Math" panose="02040503050406030204" pitchFamily="18" charset="0"/>
                      </a:rPr>
                      <m:t>𝑠</m:t>
                    </m:r>
                  </m:oMath>
                </a14:m>
                <a:r>
                  <a:rPr lang="en-US" sz="3400" dirty="0"/>
                  <a:t>. What will be the frequency and duty cycle?</a:t>
                </a:r>
              </a:p>
              <a:p>
                <a:pPr>
                  <a:buFont typeface="Wingdings" panose="05000000000000000000" pitchFamily="2" charset="2"/>
                  <a:buChar char="§"/>
                </a:pPr>
                <a14:m>
                  <m:oMath xmlns:m="http://schemas.openxmlformats.org/officeDocument/2006/math">
                    <m:r>
                      <a:rPr lang="en-US" sz="3400" b="0" i="1" smtClean="0">
                        <a:latin typeface="Cambria Math" panose="02040503050406030204" pitchFamily="18" charset="0"/>
                      </a:rPr>
                      <m:t>𝐷𝑢𝑡𝑦</m:t>
                    </m:r>
                    <m:r>
                      <a:rPr lang="en-US" sz="3400" b="0" i="1" smtClean="0">
                        <a:latin typeface="Cambria Math" panose="02040503050406030204" pitchFamily="18" charset="0"/>
                      </a:rPr>
                      <m:t> </m:t>
                    </m:r>
                    <m:r>
                      <a:rPr lang="en-US" sz="3400" b="0" i="1" smtClean="0">
                        <a:latin typeface="Cambria Math" panose="02040503050406030204" pitchFamily="18" charset="0"/>
                      </a:rPr>
                      <m:t>𝐶𝑦𝑐𝑙𝑒</m:t>
                    </m:r>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𝑡</m:t>
                            </m:r>
                          </m:e>
                          <m:sub>
                            <m:r>
                              <a:rPr lang="en-US" sz="3400" b="0" i="1" smtClean="0">
                                <a:latin typeface="Cambria Math" panose="02040503050406030204" pitchFamily="18" charset="0"/>
                              </a:rPr>
                              <m:t>𝑊</m:t>
                            </m:r>
                          </m:sub>
                        </m:sSub>
                      </m:num>
                      <m:den>
                        <m:r>
                          <a:rPr lang="en-US" sz="3400" b="0" i="1" smtClean="0">
                            <a:latin typeface="Cambria Math" panose="02040503050406030204" pitchFamily="18" charset="0"/>
                          </a:rPr>
                          <m:t>𝑇</m:t>
                        </m:r>
                      </m:den>
                    </m:f>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25</m:t>
                        </m:r>
                      </m:num>
                      <m:den>
                        <m:r>
                          <a:rPr lang="en-US" sz="3400" b="0" i="1" smtClean="0">
                            <a:latin typeface="Cambria Math" panose="02040503050406030204" pitchFamily="18" charset="0"/>
                          </a:rPr>
                          <m:t>150</m:t>
                        </m:r>
                      </m:den>
                    </m:f>
                    <m:r>
                      <a:rPr lang="en-US" sz="3400" b="0" i="1" smtClean="0">
                        <a:latin typeface="Cambria Math" panose="02040503050406030204" pitchFamily="18" charset="0"/>
                      </a:rPr>
                      <m:t>=</m:t>
                    </m:r>
                    <m:r>
                      <a:rPr lang="en-US" sz="3400" b="0" i="1" smtClean="0">
                        <a:latin typeface="Cambria Math" panose="02040503050406030204" pitchFamily="18" charset="0"/>
                      </a:rPr>
                      <m:t>16</m:t>
                    </m:r>
                    <m:r>
                      <a:rPr lang="en-US" sz="3400" b="0" i="1" smtClean="0">
                        <a:latin typeface="Cambria Math" panose="02040503050406030204" pitchFamily="18" charset="0"/>
                      </a:rPr>
                      <m:t>.</m:t>
                    </m:r>
                    <m:r>
                      <a:rPr lang="en-US" sz="3400" b="0" i="1" smtClean="0">
                        <a:latin typeface="Cambria Math" panose="02040503050406030204" pitchFamily="18" charset="0"/>
                      </a:rPr>
                      <m:t>67</m:t>
                    </m:r>
                    <m:r>
                      <a:rPr lang="en-US" sz="3400" b="0" i="1" smtClean="0">
                        <a:latin typeface="Cambria Math" panose="02040503050406030204" pitchFamily="18" charset="0"/>
                      </a:rPr>
                      <m:t>%</m:t>
                    </m:r>
                  </m:oMath>
                </a14:m>
                <a:endParaRPr lang="en-US" sz="3400" b="0" i="1" dirty="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𝑇</m:t>
                        </m:r>
                      </m:den>
                    </m:f>
                    <m:r>
                      <a:rPr lang="en-US" sz="3400" b="0" i="1" smtClean="0">
                        <a:latin typeface="Cambria Math" panose="02040503050406030204" pitchFamily="18" charset="0"/>
                      </a:rPr>
                      <m:t>=</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1</m:t>
                        </m:r>
                      </m:num>
                      <m:den>
                        <m:r>
                          <a:rPr lang="en-US" sz="3400" b="0" i="1" smtClean="0">
                            <a:latin typeface="Cambria Math" panose="02040503050406030204" pitchFamily="18" charset="0"/>
                          </a:rPr>
                          <m:t>150</m:t>
                        </m:r>
                      </m:den>
                    </m:f>
                    <m:r>
                      <a:rPr lang="en-US" sz="3400" b="0" i="1" smtClean="0">
                        <a:latin typeface="Cambria Math" panose="02040503050406030204" pitchFamily="18" charset="0"/>
                      </a:rPr>
                      <m:t>=</m:t>
                    </m:r>
                    <m:r>
                      <a:rPr lang="en-US" sz="3400" b="0" i="1" smtClean="0">
                        <a:latin typeface="Cambria Math" panose="02040503050406030204" pitchFamily="18" charset="0"/>
                      </a:rPr>
                      <m:t>0</m:t>
                    </m:r>
                    <m:r>
                      <a:rPr lang="en-US" sz="3400" b="0" i="1" smtClean="0">
                        <a:latin typeface="Cambria Math" panose="02040503050406030204" pitchFamily="18" charset="0"/>
                      </a:rPr>
                      <m:t>.</m:t>
                    </m:r>
                    <m:r>
                      <a:rPr lang="en-US" sz="3400" b="0" i="1" smtClean="0">
                        <a:latin typeface="Cambria Math" panose="02040503050406030204" pitchFamily="18" charset="0"/>
                      </a:rPr>
                      <m:t>00667</m:t>
                    </m:r>
                    <m:r>
                      <a:rPr lang="en-US" sz="3400" b="0" i="1" smtClean="0">
                        <a:latin typeface="Cambria Math" panose="02040503050406030204" pitchFamily="18" charset="0"/>
                      </a:rPr>
                      <m:t>𝜇</m:t>
                    </m:r>
                    <m:r>
                      <a:rPr lang="en-US" sz="3400" b="0" i="1" smtClean="0">
                        <a:latin typeface="Cambria Math" panose="02040503050406030204" pitchFamily="18" charset="0"/>
                      </a:rPr>
                      <m:t>𝐻𝑧</m:t>
                    </m:r>
                    <m:r>
                      <a:rPr lang="en-US" sz="3400" b="0" i="1" smtClean="0">
                        <a:latin typeface="Cambria Math" panose="02040503050406030204" pitchFamily="18" charset="0"/>
                      </a:rPr>
                      <m:t>=</m:t>
                    </m:r>
                    <m:r>
                      <a:rPr lang="en-US" sz="3400" b="0" i="1" smtClean="0">
                        <a:latin typeface="Cambria Math" panose="02040503050406030204" pitchFamily="18" charset="0"/>
                      </a:rPr>
                      <m:t>6</m:t>
                    </m:r>
                    <m:r>
                      <a:rPr lang="en-US" sz="3400" b="0" i="1" smtClean="0">
                        <a:latin typeface="Cambria Math" panose="02040503050406030204" pitchFamily="18" charset="0"/>
                      </a:rPr>
                      <m:t>.</m:t>
                    </m:r>
                    <m:r>
                      <a:rPr lang="en-US" sz="3400" b="0" i="1" smtClean="0">
                        <a:latin typeface="Cambria Math" panose="02040503050406030204" pitchFamily="18" charset="0"/>
                      </a:rPr>
                      <m:t>67</m:t>
                    </m:r>
                    <m:r>
                      <a:rPr lang="en-US" sz="3400" b="0" i="1" smtClean="0">
                        <a:latin typeface="Cambria Math" panose="02040503050406030204" pitchFamily="18" charset="0"/>
                      </a:rPr>
                      <m:t>𝐾𝐻𝑧</m:t>
                    </m:r>
                  </m:oMath>
                </a14:m>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297"/>
                </a:stretch>
              </a:blipFill>
            </p:spPr>
            <p:txBody>
              <a:bodyPr/>
              <a:lstStyle/>
              <a:p>
                <a:r>
                  <a:rPr lang="en-PK">
                    <a:noFill/>
                  </a:rPr>
                  <a:t> </a:t>
                </a:r>
              </a:p>
            </p:txBody>
          </p:sp>
        </mc:Fallback>
      </mc:AlternateContent>
    </p:spTree>
    <p:extLst>
      <p:ext uri="{BB962C8B-B14F-4D97-AF65-F5344CB8AC3E}">
        <p14:creationId xmlns:p14="http://schemas.microsoft.com/office/powerpoint/2010/main" val="299598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By the way…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numCol="3">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 8 bits = 1 byte </a:t>
            </a:r>
          </a:p>
          <a:p>
            <a:pPr>
              <a:buFont typeface="Wingdings" panose="05000000000000000000" pitchFamily="2" charset="2"/>
              <a:buChar char="§"/>
            </a:pPr>
            <a:r>
              <a:rPr lang="en-US" sz="3400" dirty="0"/>
              <a:t> 1024 Bytes = 1 KB</a:t>
            </a:r>
          </a:p>
          <a:p>
            <a:pPr>
              <a:buFont typeface="Wingdings" panose="05000000000000000000" pitchFamily="2" charset="2"/>
              <a:buChar char="§"/>
            </a:pPr>
            <a:r>
              <a:rPr lang="en-US" sz="3400" dirty="0"/>
              <a:t> 1024 Kilobytes = 1MB (megabyte) </a:t>
            </a:r>
          </a:p>
          <a:p>
            <a:pPr>
              <a:buFont typeface="Wingdings" panose="05000000000000000000" pitchFamily="2" charset="2"/>
              <a:buChar char="§"/>
            </a:pPr>
            <a:r>
              <a:rPr lang="en-US" sz="3400" dirty="0"/>
              <a:t> 1024 Megabytes = 1GB (gigabyte) </a:t>
            </a:r>
          </a:p>
          <a:p>
            <a:pPr>
              <a:buFont typeface="Wingdings" panose="05000000000000000000" pitchFamily="2" charset="2"/>
              <a:buChar char="§"/>
            </a:pPr>
            <a:r>
              <a:rPr lang="en-US" sz="3400" dirty="0"/>
              <a:t> 1024 Gigabytes = 1TB (Terabyte)</a:t>
            </a:r>
          </a:p>
          <a:p>
            <a:pPr>
              <a:buFont typeface="Wingdings" panose="05000000000000000000" pitchFamily="2" charset="2"/>
              <a:buChar char="§"/>
            </a:pPr>
            <a:r>
              <a:rPr lang="en-US" sz="3400" dirty="0"/>
              <a:t>10</a:t>
            </a:r>
            <a:r>
              <a:rPr lang="en-US" sz="3400" baseline="30000" dirty="0"/>
              <a:t>3</a:t>
            </a:r>
            <a:r>
              <a:rPr lang="en-US" sz="3400" dirty="0"/>
              <a:t> Hz =1kHz (kilohertz)</a:t>
            </a:r>
          </a:p>
          <a:p>
            <a:pPr>
              <a:buFont typeface="Wingdings" panose="05000000000000000000" pitchFamily="2" charset="2"/>
              <a:buChar char="§"/>
            </a:pPr>
            <a:r>
              <a:rPr lang="en-US" sz="3400" dirty="0"/>
              <a:t>10</a:t>
            </a:r>
            <a:r>
              <a:rPr lang="en-US" sz="3400" baseline="30000" dirty="0"/>
              <a:t>6</a:t>
            </a:r>
            <a:r>
              <a:rPr lang="en-US" sz="3400" dirty="0"/>
              <a:t> Hz =1MHz (megahertz) </a:t>
            </a:r>
          </a:p>
          <a:p>
            <a:pPr>
              <a:buFont typeface="Wingdings" panose="05000000000000000000" pitchFamily="2" charset="2"/>
              <a:buChar char="§"/>
            </a:pPr>
            <a:r>
              <a:rPr lang="en-US" sz="3400" dirty="0"/>
              <a:t>10</a:t>
            </a:r>
            <a:r>
              <a:rPr lang="en-US" sz="3400" baseline="30000" dirty="0"/>
              <a:t>9</a:t>
            </a:r>
            <a:r>
              <a:rPr lang="en-US" sz="3400" dirty="0"/>
              <a:t> Hz =1GHz (gigahertz)</a:t>
            </a:r>
          </a:p>
          <a:p>
            <a:pPr>
              <a:buFont typeface="Wingdings" panose="05000000000000000000" pitchFamily="2" charset="2"/>
              <a:buChar char="§"/>
            </a:pPr>
            <a:r>
              <a:rPr lang="en-US" sz="3400" dirty="0"/>
              <a:t>10</a:t>
            </a:r>
            <a:r>
              <a:rPr lang="en-US" sz="3400" baseline="30000" dirty="0"/>
              <a:t>12</a:t>
            </a:r>
            <a:r>
              <a:rPr lang="en-US" sz="3400" dirty="0"/>
              <a:t> Hz =1THz (terahertz)</a:t>
            </a:r>
          </a:p>
          <a:p>
            <a:pPr>
              <a:buFont typeface="Wingdings" panose="05000000000000000000" pitchFamily="2" charset="2"/>
              <a:buChar char="§"/>
            </a:pPr>
            <a:r>
              <a:rPr lang="en-US" sz="3400" dirty="0"/>
              <a:t>A picosecond is 10</a:t>
            </a:r>
            <a:r>
              <a:rPr lang="en-US" sz="3400" baseline="30000" dirty="0"/>
              <a:t>−12</a:t>
            </a:r>
            <a:r>
              <a:rPr lang="en-US" sz="3400" dirty="0"/>
              <a:t> of a second</a:t>
            </a:r>
          </a:p>
          <a:p>
            <a:pPr>
              <a:buFont typeface="Wingdings" panose="05000000000000000000" pitchFamily="2" charset="2"/>
              <a:buChar char="§"/>
            </a:pPr>
            <a:r>
              <a:rPr lang="en-US" sz="3400" dirty="0"/>
              <a:t>10</a:t>
            </a:r>
            <a:r>
              <a:rPr lang="en-US" sz="3400" baseline="30000" dirty="0"/>
              <a:t>−3</a:t>
            </a:r>
            <a:r>
              <a:rPr lang="en-US" sz="3400" dirty="0"/>
              <a:t>s =1ms (millisecond)</a:t>
            </a:r>
          </a:p>
          <a:p>
            <a:pPr>
              <a:buFont typeface="Wingdings" panose="05000000000000000000" pitchFamily="2" charset="2"/>
              <a:buChar char="§"/>
            </a:pPr>
            <a:r>
              <a:rPr lang="en-US" sz="3400" dirty="0"/>
              <a:t>10</a:t>
            </a:r>
            <a:r>
              <a:rPr lang="en-US" sz="3400" baseline="30000" dirty="0"/>
              <a:t>3</a:t>
            </a:r>
            <a:r>
              <a:rPr lang="en-US" sz="3400" dirty="0"/>
              <a:t> s =1ks (</a:t>
            </a:r>
            <a:r>
              <a:rPr lang="en-US" sz="3400" dirty="0" err="1"/>
              <a:t>kilosecond</a:t>
            </a:r>
            <a:r>
              <a:rPr lang="en-US" sz="3400" dirty="0"/>
              <a:t>) </a:t>
            </a:r>
          </a:p>
          <a:p>
            <a:pPr>
              <a:buFont typeface="Wingdings" panose="05000000000000000000" pitchFamily="2" charset="2"/>
              <a:buChar char="§"/>
            </a:pPr>
            <a:r>
              <a:rPr lang="en-US" sz="3400" dirty="0"/>
              <a:t>10</a:t>
            </a:r>
            <a:r>
              <a:rPr lang="en-US" sz="3400" baseline="30000" dirty="0"/>
              <a:t>−6</a:t>
            </a:r>
            <a:r>
              <a:rPr lang="en-US" sz="3400" dirty="0"/>
              <a:t> s=1 µs (microsecond) </a:t>
            </a:r>
          </a:p>
          <a:p>
            <a:pPr>
              <a:buFont typeface="Wingdings" panose="05000000000000000000" pitchFamily="2" charset="2"/>
              <a:buChar char="§"/>
            </a:pPr>
            <a:r>
              <a:rPr lang="en-US" sz="3400" dirty="0"/>
              <a:t>10</a:t>
            </a:r>
            <a:r>
              <a:rPr lang="en-US" sz="3400" baseline="30000" dirty="0"/>
              <a:t>6</a:t>
            </a:r>
            <a:r>
              <a:rPr lang="en-US" sz="3400" dirty="0"/>
              <a:t> s =1 </a:t>
            </a:r>
            <a:r>
              <a:rPr lang="en-US" sz="3400" dirty="0" err="1"/>
              <a:t>Ms</a:t>
            </a:r>
            <a:r>
              <a:rPr lang="en-US" sz="3400" dirty="0"/>
              <a:t> (</a:t>
            </a:r>
            <a:r>
              <a:rPr lang="en-US" sz="3400" dirty="0" err="1"/>
              <a:t>megasecond</a:t>
            </a:r>
            <a:r>
              <a:rPr lang="en-US" sz="3400" dirty="0"/>
              <a:t>)</a:t>
            </a:r>
          </a:p>
          <a:p>
            <a:pPr>
              <a:buFont typeface="Wingdings" panose="05000000000000000000" pitchFamily="2" charset="2"/>
              <a:buChar char="§"/>
            </a:pPr>
            <a:r>
              <a:rPr lang="en-US" sz="3400" dirty="0"/>
              <a:t> 10</a:t>
            </a:r>
            <a:r>
              <a:rPr lang="en-US" sz="3400" baseline="30000" dirty="0"/>
              <a:t>−9</a:t>
            </a:r>
            <a:r>
              <a:rPr lang="en-US" sz="3400" dirty="0"/>
              <a:t> s=1 ns (nanosecond) </a:t>
            </a:r>
          </a:p>
          <a:p>
            <a:pPr>
              <a:buFont typeface="Wingdings" panose="05000000000000000000" pitchFamily="2" charset="2"/>
              <a:buChar char="§"/>
            </a:pPr>
            <a:r>
              <a:rPr lang="en-US" sz="3400" dirty="0"/>
              <a:t>10</a:t>
            </a:r>
            <a:r>
              <a:rPr lang="en-US" sz="3400" baseline="30000" dirty="0"/>
              <a:t>9</a:t>
            </a:r>
            <a:r>
              <a:rPr lang="en-US" sz="3400" dirty="0"/>
              <a:t> s =1 </a:t>
            </a:r>
            <a:r>
              <a:rPr lang="en-US" sz="3400" dirty="0" err="1"/>
              <a:t>Gs</a:t>
            </a:r>
            <a:r>
              <a:rPr lang="en-US" sz="3400" dirty="0"/>
              <a:t> (</a:t>
            </a:r>
            <a:r>
              <a:rPr lang="en-US" sz="3400" dirty="0" err="1"/>
              <a:t>gigasecond</a:t>
            </a:r>
            <a:r>
              <a:rPr lang="en-US" sz="3400" dirty="0"/>
              <a:t>) </a:t>
            </a:r>
          </a:p>
          <a:p>
            <a:pPr>
              <a:buFont typeface="Wingdings" panose="05000000000000000000" pitchFamily="2" charset="2"/>
              <a:buChar char="§"/>
            </a:pPr>
            <a:r>
              <a:rPr lang="en-US" sz="3400" dirty="0"/>
              <a:t>10</a:t>
            </a:r>
            <a:r>
              <a:rPr lang="en-US" sz="3400" baseline="30000" dirty="0"/>
              <a:t>−12</a:t>
            </a:r>
            <a:r>
              <a:rPr lang="en-US" sz="3400" dirty="0"/>
              <a:t> s=1 </a:t>
            </a:r>
            <a:r>
              <a:rPr lang="en-US" sz="3400" dirty="0" err="1"/>
              <a:t>ps</a:t>
            </a:r>
            <a:r>
              <a:rPr lang="en-US" sz="3400" dirty="0"/>
              <a:t> (picosecond)</a:t>
            </a:r>
          </a:p>
          <a:p>
            <a:pPr>
              <a:buFont typeface="Wingdings" panose="05000000000000000000" pitchFamily="2" charset="2"/>
              <a:buChar char="§"/>
            </a:pPr>
            <a:r>
              <a:rPr lang="en-US" sz="3400" dirty="0"/>
              <a:t> 10</a:t>
            </a:r>
            <a:r>
              <a:rPr lang="en-US" sz="3400" baseline="30000" dirty="0"/>
              <a:t>12</a:t>
            </a:r>
            <a:r>
              <a:rPr lang="en-US" sz="3400" dirty="0"/>
              <a:t> s =1Ts (</a:t>
            </a:r>
            <a:r>
              <a:rPr lang="en-US" sz="3400" dirty="0" err="1"/>
              <a:t>terasecond</a:t>
            </a:r>
            <a:r>
              <a:rPr lang="en-US" sz="3400" dirty="0"/>
              <a:t>)</a:t>
            </a:r>
          </a:p>
          <a:p>
            <a:pPr marL="0" indent="0">
              <a:buNone/>
            </a:pPr>
            <a:endParaRPr lang="en-US" sz="3400" dirty="0"/>
          </a:p>
        </p:txBody>
      </p:sp>
    </p:spTree>
    <p:extLst>
      <p:ext uri="{BB962C8B-B14F-4D97-AF65-F5344CB8AC3E}">
        <p14:creationId xmlns:p14="http://schemas.microsoft.com/office/powerpoint/2010/main" val="1088870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Digital and Analog World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557455"/>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The timing diagrams show relationship of a digital waveform with clock. For example, if the clock is 1MHz, then the time </a:t>
                </a:r>
                <a14:m>
                  <m:oMath xmlns:m="http://schemas.openxmlformats.org/officeDocument/2006/math">
                    <m:r>
                      <a:rPr lang="en-US" sz="3400" i="1" dirty="0" smtClean="0">
                        <a:latin typeface="Cambria Math" panose="02040503050406030204" pitchFamily="18" charset="0"/>
                      </a:rPr>
                      <m:t>𝑇</m:t>
                    </m:r>
                  </m:oMath>
                </a14:m>
                <a:r>
                  <a:rPr lang="en-US" sz="3400" dirty="0"/>
                  <a:t> required to transport any of these waves will be </a:t>
                </a:r>
                <a14:m>
                  <m:oMath xmlns:m="http://schemas.openxmlformats.org/officeDocument/2006/math">
                    <m:r>
                      <a:rPr lang="en-US" sz="3400" i="1" dirty="0" smtClean="0">
                        <a:latin typeface="Cambria Math" panose="02040503050406030204" pitchFamily="18" charset="0"/>
                      </a:rPr>
                      <m:t>𝑇</m:t>
                    </m:r>
                    <m:r>
                      <a:rPr lang="en-US" sz="3400" i="1" dirty="0" smtClean="0">
                        <a:latin typeface="Cambria Math" panose="02040503050406030204" pitchFamily="18" charset="0"/>
                      </a:rPr>
                      <m:t>=</m:t>
                    </m:r>
                    <m:f>
                      <m:fPr>
                        <m:ctrlPr>
                          <a:rPr lang="en-US" sz="3400" i="1" dirty="0" smtClean="0">
                            <a:latin typeface="Cambria Math" panose="02040503050406030204" pitchFamily="18" charset="0"/>
                          </a:rPr>
                        </m:ctrlPr>
                      </m:fPr>
                      <m:num>
                        <m:r>
                          <a:rPr lang="en-US" sz="3400" i="1" dirty="0" smtClean="0">
                            <a:latin typeface="Cambria Math" panose="02040503050406030204" pitchFamily="18" charset="0"/>
                          </a:rPr>
                          <m:t>1</m:t>
                        </m:r>
                      </m:num>
                      <m:den>
                        <m:r>
                          <a:rPr lang="en-US" sz="3400" i="1" dirty="0" smtClean="0">
                            <a:latin typeface="Cambria Math" panose="02040503050406030204" pitchFamily="18" charset="0"/>
                          </a:rPr>
                          <m:t>1</m:t>
                        </m:r>
                        <m:r>
                          <a:rPr lang="en-US" sz="3400" i="1" dirty="0" smtClean="0">
                            <a:latin typeface="Cambria Math" panose="02040503050406030204" pitchFamily="18" charset="0"/>
                          </a:rPr>
                          <m:t>𝑀𝐻𝑧</m:t>
                        </m:r>
                      </m:den>
                    </m:f>
                    <m:r>
                      <a:rPr lang="en-US" sz="3400" b="0" i="1" dirty="0" smtClean="0">
                        <a:latin typeface="Cambria Math" panose="02040503050406030204" pitchFamily="18" charset="0"/>
                      </a:rPr>
                      <m:t>=1</m:t>
                    </m:r>
                    <m:r>
                      <a:rPr lang="en-US" sz="3400" b="0" i="1" dirty="0" smtClean="0">
                        <a:latin typeface="Cambria Math" panose="02040503050406030204" pitchFamily="18" charset="0"/>
                      </a:rPr>
                      <m:t>𝜇</m:t>
                    </m:r>
                    <m:r>
                      <a:rPr lang="en-US" sz="3400" b="0" i="1" dirty="0" smtClean="0">
                        <a:latin typeface="Cambria Math" panose="02040503050406030204" pitchFamily="18" charset="0"/>
                      </a:rPr>
                      <m:t>𝑠</m:t>
                    </m:r>
                    <m:r>
                      <a:rPr lang="en-US" sz="3400" b="0" i="1" dirty="0" smtClean="0">
                        <a:latin typeface="Cambria Math" panose="02040503050406030204" pitchFamily="18" charset="0"/>
                      </a:rPr>
                      <m:t>×8</m:t>
                    </m:r>
                    <m:r>
                      <a:rPr lang="en-US" sz="3400" b="0" i="1" dirty="0" smtClean="0">
                        <a:latin typeface="Cambria Math" panose="02040503050406030204" pitchFamily="18" charset="0"/>
                      </a:rPr>
                      <m:t>𝑏𝑖𝑡𝑠</m:t>
                    </m:r>
                    <m:r>
                      <a:rPr lang="en-US" sz="3400" b="0" i="1" dirty="0" smtClean="0">
                        <a:latin typeface="Cambria Math" panose="02040503050406030204" pitchFamily="18" charset="0"/>
                      </a:rPr>
                      <m:t>=8</m:t>
                    </m:r>
                    <m:r>
                      <a:rPr lang="en-US" sz="3400" b="0" i="1" dirty="0" smtClean="0">
                        <a:latin typeface="Cambria Math" panose="02040503050406030204" pitchFamily="18" charset="0"/>
                      </a:rPr>
                      <m:t>𝜇</m:t>
                    </m:r>
                    <m:r>
                      <a:rPr lang="en-US" sz="3400" b="0" i="1" dirty="0" smtClean="0">
                        <a:latin typeface="Cambria Math" panose="02040503050406030204" pitchFamily="18" charset="0"/>
                      </a:rPr>
                      <m:t>𝑠</m:t>
                    </m:r>
                  </m:oMath>
                </a14:m>
                <a:endParaRPr lang="en-US" sz="3400" dirty="0"/>
              </a:p>
              <a:p>
                <a:pPr>
                  <a:buFont typeface="Wingdings" panose="05000000000000000000" pitchFamily="2" charset="2"/>
                  <a:buChar char="§"/>
                </a:pPr>
                <a:r>
                  <a:rPr lang="en-US" sz="3400" dirty="0"/>
                  <a:t>QQ: If the data was being transferred in parallel on an 8-channel medium, how much time will it take?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1557455"/>
              </a:xfrm>
              <a:prstGeom prst="rect">
                <a:avLst/>
              </a:prstGeom>
              <a:blipFill>
                <a:blip r:embed="rId3"/>
                <a:stretch>
                  <a:fillRect l="-363" b="-1172"/>
                </a:stretch>
              </a:blipFill>
            </p:spPr>
            <p:txBody>
              <a:bodyPr/>
              <a:lstStyle/>
              <a:p>
                <a:r>
                  <a:rPr lang="en-PK">
                    <a:noFill/>
                  </a:rPr>
                  <a:t> </a:t>
                </a:r>
              </a:p>
            </p:txBody>
          </p:sp>
        </mc:Fallback>
      </mc:AlternateContent>
      <p:graphicFrame>
        <p:nvGraphicFramePr>
          <p:cNvPr id="4" name="Object 11">
            <a:extLst>
              <a:ext uri="{FF2B5EF4-FFF2-40B4-BE49-F238E27FC236}">
                <a16:creationId xmlns:a16="http://schemas.microsoft.com/office/drawing/2014/main" id="{B20B5C78-0431-0648-1A9D-66005AC79585}"/>
              </a:ext>
            </a:extLst>
          </p:cNvPr>
          <p:cNvGraphicFramePr>
            <a:graphicFrameLocks noChangeAspect="1"/>
          </p:cNvGraphicFramePr>
          <p:nvPr>
            <p:extLst>
              <p:ext uri="{D42A27DB-BD31-4B8C-83A1-F6EECF244321}">
                <p14:modId xmlns:p14="http://schemas.microsoft.com/office/powerpoint/2010/main" val="1937989605"/>
              </p:ext>
            </p:extLst>
          </p:nvPr>
        </p:nvGraphicFramePr>
        <p:xfrm>
          <a:off x="1602827" y="3093365"/>
          <a:ext cx="8018236" cy="3382051"/>
        </p:xfrm>
        <a:graphic>
          <a:graphicData uri="http://schemas.openxmlformats.org/presentationml/2006/ole">
            <mc:AlternateContent xmlns:mc="http://schemas.openxmlformats.org/markup-compatibility/2006">
              <mc:Choice xmlns:v="urn:schemas-microsoft-com:vml" Requires="v">
                <p:oleObj name="CorelDRAW" r:id="rId4" imgW="3017199" imgH="1273170" progId="CorelDRAW.Graphic.13">
                  <p:embed/>
                </p:oleObj>
              </mc:Choice>
              <mc:Fallback>
                <p:oleObj name="CorelDRAW" r:id="rId4" imgW="3017199" imgH="1273170" progId="CorelDRAW.Graphic.13">
                  <p:embed/>
                  <p:pic>
                    <p:nvPicPr>
                      <p:cNvPr id="4" name="Object 11">
                        <a:extLst>
                          <a:ext uri="{FF2B5EF4-FFF2-40B4-BE49-F238E27FC236}">
                            <a16:creationId xmlns:a16="http://schemas.microsoft.com/office/drawing/2014/main" id="{B20B5C78-0431-0648-1A9D-66005AC795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2827" y="3093365"/>
                        <a:ext cx="8018236" cy="338205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5373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22" presetClass="entr" presetSubtype="8"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Basic Logic Functions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AND: True only if all input values are True</a:t>
            </a:r>
          </a:p>
          <a:p>
            <a:pPr>
              <a:buFont typeface="Wingdings" panose="05000000000000000000" pitchFamily="2" charset="2"/>
              <a:buChar char="§"/>
            </a:pPr>
            <a:r>
              <a:rPr lang="en-US" sz="3400" dirty="0"/>
              <a:t>OR: True if at least one input value is True</a:t>
            </a:r>
          </a:p>
          <a:p>
            <a:pPr>
              <a:buFont typeface="Wingdings" panose="05000000000000000000" pitchFamily="2" charset="2"/>
              <a:buChar char="§"/>
            </a:pPr>
            <a:r>
              <a:rPr lang="en-US" sz="3400" dirty="0"/>
              <a:t>NOT: If input is True, then False, and vice-versa</a:t>
            </a:r>
          </a:p>
        </p:txBody>
      </p:sp>
      <p:pic>
        <p:nvPicPr>
          <p:cNvPr id="4" name="Content Placeholder 9">
            <a:extLst>
              <a:ext uri="{FF2B5EF4-FFF2-40B4-BE49-F238E27FC236}">
                <a16:creationId xmlns:a16="http://schemas.microsoft.com/office/drawing/2014/main" id="{2FB2FA82-BF57-F914-975C-C5DBC8806F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7590" y="1476284"/>
            <a:ext cx="3570911" cy="1440000"/>
          </a:xfrm>
          <a:prstGeom prst="rect">
            <a:avLst/>
          </a:prstGeom>
        </p:spPr>
      </p:pic>
      <p:pic>
        <p:nvPicPr>
          <p:cNvPr id="5" name="Content Placeholder 6">
            <a:extLst>
              <a:ext uri="{FF2B5EF4-FFF2-40B4-BE49-F238E27FC236}">
                <a16:creationId xmlns:a16="http://schemas.microsoft.com/office/drawing/2014/main" id="{1673933C-07C7-2F84-9017-8484D30A66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0435" y="3098752"/>
            <a:ext cx="3485219" cy="1440000"/>
          </a:xfrm>
          <a:prstGeom prst="rect">
            <a:avLst/>
          </a:prstGeom>
        </p:spPr>
      </p:pic>
      <p:pic>
        <p:nvPicPr>
          <p:cNvPr id="6" name="Content Placeholder 4">
            <a:extLst>
              <a:ext uri="{FF2B5EF4-FFF2-40B4-BE49-F238E27FC236}">
                <a16:creationId xmlns:a16="http://schemas.microsoft.com/office/drawing/2014/main" id="{1382AA95-4B26-3C7F-D081-29C805830D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0435" y="4825976"/>
            <a:ext cx="3154605" cy="1440000"/>
          </a:xfrm>
          <a:prstGeom prst="rect">
            <a:avLst/>
          </a:prstGeom>
        </p:spPr>
      </p:pic>
    </p:spTree>
    <p:extLst>
      <p:ext uri="{BB962C8B-B14F-4D97-AF65-F5344CB8AC3E}">
        <p14:creationId xmlns:p14="http://schemas.microsoft.com/office/powerpoint/2010/main" val="63356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Electronics behind Digital Functions/Gates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5804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The underlying electronic circuitry</a:t>
            </a:r>
          </a:p>
        </p:txBody>
      </p:sp>
      <p:pic>
        <p:nvPicPr>
          <p:cNvPr id="5" name="Picture 21" descr="Image result for Basic gates transistorised circuit">
            <a:extLst>
              <a:ext uri="{FF2B5EF4-FFF2-40B4-BE49-F238E27FC236}">
                <a16:creationId xmlns:a16="http://schemas.microsoft.com/office/drawing/2014/main" id="{5A6BCF36-6817-EFD4-1129-7D5CE1797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714" y="2173741"/>
            <a:ext cx="8074572" cy="4279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831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and Sequential Logic</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7241961"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The basic logic functions are combined to construct complex functions:</a:t>
            </a:r>
          </a:p>
          <a:p>
            <a:pPr>
              <a:buFont typeface="Wingdings" panose="05000000000000000000" pitchFamily="2" charset="2"/>
              <a:buChar char="§"/>
            </a:pPr>
            <a:r>
              <a:rPr lang="en-US" sz="3400" dirty="0"/>
              <a:t>Comparator Circuits compare two inputs A and B and tell if A is greater than B; A is less than B; or A and B are equal</a:t>
            </a:r>
          </a:p>
        </p:txBody>
      </p:sp>
      <p:graphicFrame>
        <p:nvGraphicFramePr>
          <p:cNvPr id="4" name="Object 19">
            <a:extLst>
              <a:ext uri="{FF2B5EF4-FFF2-40B4-BE49-F238E27FC236}">
                <a16:creationId xmlns:a16="http://schemas.microsoft.com/office/drawing/2014/main" id="{31FA3D9A-2BB8-CD33-B422-49DC2DF7C247}"/>
              </a:ext>
            </a:extLst>
          </p:cNvPr>
          <p:cNvGraphicFramePr>
            <a:graphicFrameLocks noChangeAspect="1"/>
          </p:cNvGraphicFramePr>
          <p:nvPr>
            <p:extLst>
              <p:ext uri="{D42A27DB-BD31-4B8C-83A1-F6EECF244321}">
                <p14:modId xmlns:p14="http://schemas.microsoft.com/office/powerpoint/2010/main" val="2618973506"/>
              </p:ext>
            </p:extLst>
          </p:nvPr>
        </p:nvGraphicFramePr>
        <p:xfrm>
          <a:off x="7462345" y="2809098"/>
          <a:ext cx="4012324" cy="2389804"/>
        </p:xfrm>
        <a:graphic>
          <a:graphicData uri="http://schemas.openxmlformats.org/presentationml/2006/ole">
            <mc:AlternateContent xmlns:mc="http://schemas.openxmlformats.org/markup-compatibility/2006">
              <mc:Choice xmlns:v="urn:schemas-microsoft-com:vml" Requires="v">
                <p:oleObj name="CorelDRAW" r:id="rId3" imgW="1871151" imgH="1114836" progId="CorelDRAW.Graphic.13">
                  <p:embed/>
                </p:oleObj>
              </mc:Choice>
              <mc:Fallback>
                <p:oleObj name="CorelDRAW" r:id="rId3" imgW="1871151" imgH="1114836" progId="CorelDRAW.Graphic.13">
                  <p:embed/>
                  <p:pic>
                    <p:nvPicPr>
                      <p:cNvPr id="4" name="Object 19">
                        <a:extLst>
                          <a:ext uri="{FF2B5EF4-FFF2-40B4-BE49-F238E27FC236}">
                            <a16:creationId xmlns:a16="http://schemas.microsoft.com/office/drawing/2014/main" id="{31FA3D9A-2BB8-CD33-B422-49DC2DF7C2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2345" y="2809098"/>
                        <a:ext cx="4012324" cy="238980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6846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2" presetClass="entr" presetSubtype="2"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and Sequential Logic</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7241961" cy="4942829"/>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Arithmetic Circuits perform Arithmetic Operations (remember ALU?):</a:t>
                </a:r>
              </a:p>
              <a:p>
                <a:pPr>
                  <a:buFont typeface="Wingdings" panose="05000000000000000000" pitchFamily="2" charset="2"/>
                  <a:buChar char="§"/>
                </a:pPr>
                <a:r>
                  <a:rPr lang="en-US" sz="3400" dirty="0"/>
                  <a:t>Adders: Add two inputs A, B and a Carry input </a:t>
                </a:r>
                <a14:m>
                  <m:oMath xmlns:m="http://schemas.openxmlformats.org/officeDocument/2006/math">
                    <m:sSub>
                      <m:sSubPr>
                        <m:ctrlPr>
                          <a:rPr lang="en-US" sz="3400" b="0" i="1" smtClean="0">
                            <a:latin typeface="Cambria Math" panose="02040503050406030204" pitchFamily="18" charset="0"/>
                          </a:rPr>
                        </m:ctrlPr>
                      </m:sSubPr>
                      <m:e>
                        <m:r>
                          <a:rPr lang="en-US" sz="3400" b="0" i="1" smtClean="0">
                            <a:latin typeface="Cambria Math" panose="02040503050406030204" pitchFamily="18" charset="0"/>
                          </a:rPr>
                          <m:t>𝐶</m:t>
                        </m:r>
                      </m:e>
                      <m:sub>
                        <m:r>
                          <a:rPr lang="en-US" sz="3400" b="0" i="1" smtClean="0">
                            <a:latin typeface="Cambria Math" panose="02040503050406030204" pitchFamily="18" charset="0"/>
                          </a:rPr>
                          <m:t>𝑖𝑛</m:t>
                        </m:r>
                      </m:sub>
                    </m:sSub>
                  </m:oMath>
                </a14:m>
                <a:r>
                  <a:rPr lang="en-US" sz="3200" dirty="0"/>
                  <a:t>. It produces an output sum </a:t>
                </a:r>
                <a14:m>
                  <m:oMath xmlns:m="http://schemas.openxmlformats.org/officeDocument/2006/math">
                    <m:r>
                      <m:rPr>
                        <m:sty m:val="p"/>
                      </m:rPr>
                      <a:rPr lang="en-US" sz="3200" b="0" i="0" smtClean="0">
                        <a:latin typeface="Cambria Math" panose="02040503050406030204" pitchFamily="18" charset="0"/>
                      </a:rPr>
                      <m:t>Σ</m:t>
                    </m:r>
                  </m:oMath>
                </a14:m>
                <a:r>
                  <a:rPr lang="en-US" sz="3200" dirty="0"/>
                  <a:t> and Carry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𝑜𝑢𝑡</m:t>
                        </m:r>
                      </m:sub>
                    </m:sSub>
                  </m:oMath>
                </a14:m>
                <a:endParaRPr lang="en-US" sz="3200" dirty="0"/>
              </a:p>
              <a:p>
                <a:pPr>
                  <a:buFont typeface="Wingdings" panose="05000000000000000000" pitchFamily="2" charset="2"/>
                  <a:buChar char="§"/>
                </a:pPr>
                <a:r>
                  <a:rPr lang="en-US" sz="3200" dirty="0"/>
                  <a:t>Subtractor: Inputs A, B, Borrow in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𝐵</m:t>
                        </m:r>
                      </m:e>
                      <m:sub>
                        <m:r>
                          <a:rPr lang="en-US" sz="3200" b="0" i="1" smtClean="0">
                            <a:latin typeface="Cambria Math" panose="02040503050406030204" pitchFamily="18" charset="0"/>
                          </a:rPr>
                          <m:t>𝑖𝑛</m:t>
                        </m:r>
                      </m:sub>
                    </m:sSub>
                  </m:oMath>
                </a14:m>
                <a:r>
                  <a:rPr lang="en-US" sz="3200" dirty="0"/>
                  <a:t> and returns difference and Borrow out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𝐵</m:t>
                        </m:r>
                      </m:e>
                      <m:sub>
                        <m:r>
                          <a:rPr lang="en-US" sz="3200" b="0" i="1" smtClean="0">
                            <a:latin typeface="Cambria Math" panose="02040503050406030204" pitchFamily="18" charset="0"/>
                          </a:rPr>
                          <m:t>𝑜𝑢𝑡</m:t>
                        </m:r>
                      </m:sub>
                    </m:sSub>
                  </m:oMath>
                </a14:m>
                <a:endParaRPr lang="en-US" sz="3200" dirty="0"/>
              </a:p>
              <a:p>
                <a:pPr>
                  <a:buFont typeface="Wingdings" panose="05000000000000000000" pitchFamily="2" charset="2"/>
                  <a:buChar char="§"/>
                </a:pPr>
                <a:r>
                  <a:rPr lang="en-US" sz="3200" dirty="0"/>
                  <a:t>Multiplier: Inputs A, B, and performs Additions in series to produce product </a:t>
                </a:r>
                <a14:m>
                  <m:oMath xmlns:m="http://schemas.openxmlformats.org/officeDocument/2006/math">
                    <m:r>
                      <a:rPr lang="en-US" sz="3200" i="1" smtClean="0">
                        <a:latin typeface="Cambria Math" panose="02040503050406030204" pitchFamily="18" charset="0"/>
                        <a:ea typeface="Cambria Math" panose="02040503050406030204" pitchFamily="18" charset="0"/>
                      </a:rPr>
                      <m:t>∏</m:t>
                    </m:r>
                  </m:oMath>
                </a14:m>
                <a:r>
                  <a:rPr lang="en-US" sz="3200" dirty="0"/>
                  <a:t>.</a:t>
                </a:r>
              </a:p>
              <a:p>
                <a:pPr>
                  <a:buFont typeface="Wingdings" panose="05000000000000000000" pitchFamily="2" charset="2"/>
                  <a:buChar char="§"/>
                </a:pPr>
                <a:r>
                  <a:rPr lang="en-US" sz="3200" dirty="0"/>
                  <a:t>Division: a complex circuit using Adder, Comparator &amp; Shifts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7241961" cy="4942829"/>
              </a:xfrm>
              <a:prstGeom prst="rect">
                <a:avLst/>
              </a:prstGeom>
              <a:blipFill>
                <a:blip r:embed="rId3"/>
                <a:stretch>
                  <a:fillRect l="-1094" r="-168"/>
                </a:stretch>
              </a:blipFill>
            </p:spPr>
            <p:txBody>
              <a:bodyPr/>
              <a:lstStyle/>
              <a:p>
                <a:r>
                  <a:rPr lang="en-PK">
                    <a:noFill/>
                  </a:rPr>
                  <a:t> </a:t>
                </a:r>
              </a:p>
            </p:txBody>
          </p:sp>
        </mc:Fallback>
      </mc:AlternateContent>
      <p:graphicFrame>
        <p:nvGraphicFramePr>
          <p:cNvPr id="6" name="Object 18">
            <a:extLst>
              <a:ext uri="{FF2B5EF4-FFF2-40B4-BE49-F238E27FC236}">
                <a16:creationId xmlns:a16="http://schemas.microsoft.com/office/drawing/2014/main" id="{1BA909A3-A3B2-E247-B703-DE6F3ADAF314}"/>
              </a:ext>
            </a:extLst>
          </p:cNvPr>
          <p:cNvGraphicFramePr>
            <a:graphicFrameLocks noChangeAspect="1"/>
          </p:cNvGraphicFramePr>
          <p:nvPr>
            <p:extLst>
              <p:ext uri="{D42A27DB-BD31-4B8C-83A1-F6EECF244321}">
                <p14:modId xmlns:p14="http://schemas.microsoft.com/office/powerpoint/2010/main" val="2040465626"/>
              </p:ext>
            </p:extLst>
          </p:nvPr>
        </p:nvGraphicFramePr>
        <p:xfrm>
          <a:off x="7462345" y="2824487"/>
          <a:ext cx="4011612" cy="2359025"/>
        </p:xfrm>
        <a:graphic>
          <a:graphicData uri="http://schemas.openxmlformats.org/presentationml/2006/ole">
            <mc:AlternateContent xmlns:mc="http://schemas.openxmlformats.org/markup-compatibility/2006">
              <mc:Choice xmlns:v="urn:schemas-microsoft-com:vml" Requires="v">
                <p:oleObj name="CorelDRAW" r:id="rId4" imgW="1895535" imgH="1114836" progId="CorelDRAW.Graphic.13">
                  <p:embed/>
                </p:oleObj>
              </mc:Choice>
              <mc:Fallback>
                <p:oleObj name="CorelDRAW" r:id="rId4" imgW="1895535" imgH="1114836" progId="CorelDRAW.Graphic.13">
                  <p:embed/>
                  <p:pic>
                    <p:nvPicPr>
                      <p:cNvPr id="6" name="Object 18">
                        <a:extLst>
                          <a:ext uri="{FF2B5EF4-FFF2-40B4-BE49-F238E27FC236}">
                            <a16:creationId xmlns:a16="http://schemas.microsoft.com/office/drawing/2014/main" id="{1BA909A3-A3B2-E247-B703-DE6F3ADAF3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345" y="2824487"/>
                        <a:ext cx="4011612" cy="23590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4007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2" presetClass="entr" presetSubtype="2"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and Sequential Logic</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5" y="1532586"/>
            <a:ext cx="7144354"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Encoders are for conversion, such as converting Alpha-numeric input into their respective Binary code.</a:t>
            </a:r>
          </a:p>
          <a:p>
            <a:pPr>
              <a:buFont typeface="Wingdings" panose="05000000000000000000" pitchFamily="2" charset="2"/>
              <a:buChar char="§"/>
            </a:pPr>
            <a:r>
              <a:rPr lang="en-US" sz="3400" dirty="0"/>
              <a:t>Decoders convert the coded values back into their original form like Decimal.</a:t>
            </a:r>
          </a:p>
        </p:txBody>
      </p:sp>
      <p:graphicFrame>
        <p:nvGraphicFramePr>
          <p:cNvPr id="5" name="Object 11">
            <a:extLst>
              <a:ext uri="{FF2B5EF4-FFF2-40B4-BE49-F238E27FC236}">
                <a16:creationId xmlns:a16="http://schemas.microsoft.com/office/drawing/2014/main" id="{FBF59BBF-001F-81CF-3D13-E2A4F37D5B57}"/>
              </a:ext>
            </a:extLst>
          </p:cNvPr>
          <p:cNvGraphicFramePr>
            <a:graphicFrameLocks noChangeAspect="1"/>
          </p:cNvGraphicFramePr>
          <p:nvPr>
            <p:extLst>
              <p:ext uri="{D42A27DB-BD31-4B8C-83A1-F6EECF244321}">
                <p14:modId xmlns:p14="http://schemas.microsoft.com/office/powerpoint/2010/main" val="1139727703"/>
              </p:ext>
            </p:extLst>
          </p:nvPr>
        </p:nvGraphicFramePr>
        <p:xfrm>
          <a:off x="7356522" y="1532586"/>
          <a:ext cx="4606878" cy="2601502"/>
        </p:xfrm>
        <a:graphic>
          <a:graphicData uri="http://schemas.openxmlformats.org/presentationml/2006/ole">
            <mc:AlternateContent xmlns:mc="http://schemas.openxmlformats.org/markup-compatibility/2006">
              <mc:Choice xmlns:v="urn:schemas-microsoft-com:vml" Requires="v">
                <p:oleObj name="CorelDRAW" r:id="rId3" imgW="2779776" imgH="1570655" progId="CorelDRAW.Graphic.13">
                  <p:embed/>
                </p:oleObj>
              </mc:Choice>
              <mc:Fallback>
                <p:oleObj name="CorelDRAW" r:id="rId3" imgW="2779776" imgH="1570655" progId="CorelDRAW.Graphic.13">
                  <p:embed/>
                  <p:pic>
                    <p:nvPicPr>
                      <p:cNvPr id="5" name="Object 11">
                        <a:extLst>
                          <a:ext uri="{FF2B5EF4-FFF2-40B4-BE49-F238E27FC236}">
                            <a16:creationId xmlns:a16="http://schemas.microsoft.com/office/drawing/2014/main" id="{FBF59BBF-001F-81CF-3D13-E2A4F37D5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6522" y="1532586"/>
                        <a:ext cx="4606878" cy="2601502"/>
                      </a:xfrm>
                      <a:prstGeom prst="rect">
                        <a:avLst/>
                      </a:prstGeom>
                      <a:noFill/>
                      <a:ln>
                        <a:noFill/>
                      </a:ln>
                      <a:effectLst/>
                    </p:spPr>
                  </p:pic>
                </p:oleObj>
              </mc:Fallback>
            </mc:AlternateContent>
          </a:graphicData>
        </a:graphic>
      </p:graphicFrame>
      <p:graphicFrame>
        <p:nvGraphicFramePr>
          <p:cNvPr id="7" name="Object 10">
            <a:extLst>
              <a:ext uri="{FF2B5EF4-FFF2-40B4-BE49-F238E27FC236}">
                <a16:creationId xmlns:a16="http://schemas.microsoft.com/office/drawing/2014/main" id="{9ACC5CF8-AAAC-44D2-52F3-638AB3CC15F3}"/>
              </a:ext>
            </a:extLst>
          </p:cNvPr>
          <p:cNvGraphicFramePr>
            <a:graphicFrameLocks noChangeAspect="1"/>
          </p:cNvGraphicFramePr>
          <p:nvPr>
            <p:extLst>
              <p:ext uri="{D42A27DB-BD31-4B8C-83A1-F6EECF244321}">
                <p14:modId xmlns:p14="http://schemas.microsoft.com/office/powerpoint/2010/main" val="1732579761"/>
              </p:ext>
            </p:extLst>
          </p:nvPr>
        </p:nvGraphicFramePr>
        <p:xfrm>
          <a:off x="7364739" y="4134087"/>
          <a:ext cx="4469083" cy="1914963"/>
        </p:xfrm>
        <a:graphic>
          <a:graphicData uri="http://schemas.openxmlformats.org/presentationml/2006/ole">
            <mc:AlternateContent xmlns:mc="http://schemas.openxmlformats.org/markup-compatibility/2006">
              <mc:Choice xmlns:v="urn:schemas-microsoft-com:vml" Requires="v">
                <p:oleObj name="CorelDRAW" r:id="rId5" imgW="2601388" imgH="1114836" progId="CorelDRAW.Graphic.13">
                  <p:embed/>
                </p:oleObj>
              </mc:Choice>
              <mc:Fallback>
                <p:oleObj name="CorelDRAW" r:id="rId5" imgW="2601388" imgH="1114836" progId="CorelDRAW.Graphic.13">
                  <p:embed/>
                  <p:pic>
                    <p:nvPicPr>
                      <p:cNvPr id="7" name="Object 10">
                        <a:extLst>
                          <a:ext uri="{FF2B5EF4-FFF2-40B4-BE49-F238E27FC236}">
                            <a16:creationId xmlns:a16="http://schemas.microsoft.com/office/drawing/2014/main" id="{9ACC5CF8-AAAC-44D2-52F3-638AB3CC15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64739" y="4134087"/>
                        <a:ext cx="4469083" cy="19149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0665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2" presetClass="entr" presetSubtype="2"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1+#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and Sequential Logic – Data Selection Circuits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1168573"/>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Multiplexers (mux) switch data from multiple lines into single channel</a:t>
            </a:r>
          </a:p>
          <a:p>
            <a:pPr>
              <a:buFont typeface="Wingdings" panose="05000000000000000000" pitchFamily="2" charset="2"/>
              <a:buChar char="§"/>
            </a:pPr>
            <a:r>
              <a:rPr lang="en-US" sz="3400" dirty="0"/>
              <a:t>Demultiplexers (</a:t>
            </a:r>
            <a:r>
              <a:rPr lang="en-US" sz="3400" dirty="0" err="1"/>
              <a:t>demux</a:t>
            </a:r>
            <a:r>
              <a:rPr lang="en-US" sz="3400" dirty="0"/>
              <a:t>) split data from single channel into multiple lines</a:t>
            </a:r>
          </a:p>
        </p:txBody>
      </p:sp>
      <p:graphicFrame>
        <p:nvGraphicFramePr>
          <p:cNvPr id="4" name="Object 9">
            <a:extLst>
              <a:ext uri="{FF2B5EF4-FFF2-40B4-BE49-F238E27FC236}">
                <a16:creationId xmlns:a16="http://schemas.microsoft.com/office/drawing/2014/main" id="{3F6D9F2C-D557-8EF9-61E4-3893E47AE445}"/>
              </a:ext>
            </a:extLst>
          </p:cNvPr>
          <p:cNvGraphicFramePr>
            <a:graphicFrameLocks noChangeAspect="1"/>
          </p:cNvGraphicFramePr>
          <p:nvPr>
            <p:extLst>
              <p:ext uri="{D42A27DB-BD31-4B8C-83A1-F6EECF244321}">
                <p14:modId xmlns:p14="http://schemas.microsoft.com/office/powerpoint/2010/main" val="3214342492"/>
              </p:ext>
            </p:extLst>
          </p:nvPr>
        </p:nvGraphicFramePr>
        <p:xfrm>
          <a:off x="890929" y="2693276"/>
          <a:ext cx="10410142" cy="3720662"/>
        </p:xfrm>
        <a:graphic>
          <a:graphicData uri="http://schemas.openxmlformats.org/presentationml/2006/ole">
            <mc:AlternateContent xmlns:mc="http://schemas.openxmlformats.org/markup-compatibility/2006">
              <mc:Choice xmlns:v="urn:schemas-microsoft-com:vml" Requires="v">
                <p:oleObj name="CorelDRAW" r:id="rId3" imgW="5644575" imgH="2018345" progId="CorelDRAW.Graphic.13">
                  <p:embed/>
                </p:oleObj>
              </mc:Choice>
              <mc:Fallback>
                <p:oleObj name="CorelDRAW" r:id="rId3" imgW="5644575" imgH="2018345" progId="CorelDRAW.Graphic.13">
                  <p:embed/>
                  <p:pic>
                    <p:nvPicPr>
                      <p:cNvPr id="4" name="Object 9">
                        <a:extLst>
                          <a:ext uri="{FF2B5EF4-FFF2-40B4-BE49-F238E27FC236}">
                            <a16:creationId xmlns:a16="http://schemas.microsoft.com/office/drawing/2014/main" id="{3F6D9F2C-D557-8EF9-61E4-3893E47AE4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929" y="2693276"/>
                        <a:ext cx="10410142" cy="37206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70422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2" presetClass="entr" presetSubtype="4"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Combinational and Sequential Logic</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Storage: circuits that can “memorize” information as bits.</a:t>
            </a:r>
          </a:p>
          <a:p>
            <a:pPr>
              <a:buFont typeface="Wingdings" panose="05000000000000000000" pitchFamily="2" charset="2"/>
              <a:buChar char="§"/>
            </a:pPr>
            <a:r>
              <a:rPr lang="en-US" sz="3400" dirty="0"/>
              <a:t>Flip-Flops: a very-high speed alternative to Capacitors. Each circuit can store 1 bit.</a:t>
            </a:r>
          </a:p>
          <a:p>
            <a:pPr>
              <a:buFont typeface="Wingdings" panose="05000000000000000000" pitchFamily="2" charset="2"/>
              <a:buChar char="§"/>
            </a:pPr>
            <a:r>
              <a:rPr lang="en-US" sz="3400" dirty="0"/>
              <a:t>Registers: Combination of Flip-Flops to store bits (8, 16, 32, …). Additionally, they can </a:t>
            </a:r>
            <a:r>
              <a:rPr lang="en-US" sz="3400" i="1" dirty="0"/>
              <a:t>Shift</a:t>
            </a:r>
            <a:r>
              <a:rPr lang="en-US" sz="3400" dirty="0"/>
              <a:t> bits from one Flip-Flop circuit to another.</a:t>
            </a:r>
          </a:p>
          <a:p>
            <a:pPr>
              <a:buFont typeface="Wingdings" panose="05000000000000000000" pitchFamily="2" charset="2"/>
              <a:buChar char="§"/>
            </a:pPr>
            <a:r>
              <a:rPr lang="en-US" sz="3400" dirty="0"/>
              <a:t>Counters: count the number of input pulses. They generally use Flip-Flops to store the count</a:t>
            </a:r>
          </a:p>
        </p:txBody>
      </p:sp>
    </p:spTree>
    <p:extLst>
      <p:ext uri="{BB962C8B-B14F-4D97-AF65-F5344CB8AC3E}">
        <p14:creationId xmlns:p14="http://schemas.microsoft.com/office/powerpoint/2010/main" val="176990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Fixed Function Logic Devices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These circuits are usually packed into a monolithic IC, i.e., single electronic chip which is made to serve a fixed function.</a:t>
            </a:r>
            <a:endParaRPr lang="ur-PK" sz="3400" dirty="0"/>
          </a:p>
          <a:p>
            <a:pPr>
              <a:buFont typeface="Wingdings" panose="05000000000000000000" pitchFamily="2" charset="2"/>
              <a:buChar char="§"/>
            </a:pPr>
            <a:r>
              <a:rPr lang="en-US" sz="3400" dirty="0"/>
              <a:t>These chips come in different packaging types:</a:t>
            </a:r>
          </a:p>
          <a:p>
            <a:pPr lvl="1">
              <a:buFont typeface="Wingdings" panose="05000000000000000000" pitchFamily="2" charset="2"/>
              <a:buChar char="§"/>
            </a:pPr>
            <a:r>
              <a:rPr lang="en-US" sz="3200" dirty="0"/>
              <a:t>Dual In-line Pins (DIP) are best for Lab experiments</a:t>
            </a:r>
          </a:p>
          <a:p>
            <a:pPr lvl="1">
              <a:buFont typeface="Wingdings" panose="05000000000000000000" pitchFamily="2" charset="2"/>
              <a:buChar char="§"/>
            </a:pPr>
            <a:r>
              <a:rPr lang="en-US" sz="3200" dirty="0"/>
              <a:t>Small Outline IC (SOIC) are soldered on Printed Circuit Boards (PCB)</a:t>
            </a:r>
          </a:p>
          <a:p>
            <a:pPr lvl="1">
              <a:buFont typeface="Wingdings" panose="05000000000000000000" pitchFamily="2" charset="2"/>
              <a:buChar char="§"/>
            </a:pPr>
            <a:r>
              <a:rPr lang="en-US" sz="3200" dirty="0"/>
              <a:t>Flat Pack IC (FPIC) are used by US military. They are mounted on pre-soldered brackets</a:t>
            </a:r>
          </a:p>
          <a:p>
            <a:pPr lvl="1">
              <a:buFont typeface="Wingdings" panose="05000000000000000000" pitchFamily="2" charset="2"/>
              <a:buChar char="§"/>
            </a:pPr>
            <a:r>
              <a:rPr lang="en-US" sz="3200" dirty="0"/>
              <a:t>Plastic-Leaded Chip Carrier (PLCC) can be installed without soldering, yet still provide the durability close to a soldered chip</a:t>
            </a:r>
          </a:p>
          <a:p>
            <a:pPr lvl="1">
              <a:buFont typeface="Wingdings" panose="05000000000000000000" pitchFamily="2" charset="2"/>
              <a:buChar char="§"/>
            </a:pPr>
            <a:r>
              <a:rPr lang="en-US" sz="3200" dirty="0"/>
              <a:t>Leadless Ceramic Chip Carrier have no leads on the chip</a:t>
            </a:r>
          </a:p>
        </p:txBody>
      </p:sp>
    </p:spTree>
    <p:extLst>
      <p:ext uri="{BB962C8B-B14F-4D97-AF65-F5344CB8AC3E}">
        <p14:creationId xmlns:p14="http://schemas.microsoft.com/office/powerpoint/2010/main" val="365837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Fixed Function Logic Devices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3225092"/>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200" dirty="0"/>
              <a:t>Modern Computer Microchips mostly use three types of packaging:</a:t>
            </a:r>
          </a:p>
          <a:p>
            <a:pPr lvl="1">
              <a:buFont typeface="Wingdings" panose="05000000000000000000" pitchFamily="2" charset="2"/>
              <a:buChar char="§"/>
            </a:pPr>
            <a:r>
              <a:rPr lang="en-US" sz="3000" dirty="0"/>
              <a:t>LGA: Land Grid Array is used by Intel in Desktop and Server Processors. AMD’s </a:t>
            </a:r>
            <a:r>
              <a:rPr lang="en-US" sz="3000" dirty="0" err="1"/>
              <a:t>Epyc</a:t>
            </a:r>
            <a:r>
              <a:rPr lang="en-US" sz="3000" dirty="0"/>
              <a:t> and </a:t>
            </a:r>
            <a:r>
              <a:rPr lang="en-US" sz="3000" dirty="0" err="1"/>
              <a:t>Threadripper</a:t>
            </a:r>
            <a:r>
              <a:rPr lang="en-US" sz="3000" dirty="0"/>
              <a:t> series CPU also uses the same packaging.</a:t>
            </a:r>
          </a:p>
          <a:p>
            <a:pPr lvl="1">
              <a:buFont typeface="Wingdings" panose="05000000000000000000" pitchFamily="2" charset="2"/>
              <a:buChar char="§"/>
            </a:pPr>
            <a:r>
              <a:rPr lang="en-US" sz="3000" dirty="0"/>
              <a:t>PGA: Pin Grid Array is used by AMD for their Ryzen Processors. Intel also used this in the past for their Pentium, Celeron and Core series CPUs.</a:t>
            </a:r>
          </a:p>
          <a:p>
            <a:pPr lvl="1">
              <a:buFont typeface="Wingdings" panose="05000000000000000000" pitchFamily="2" charset="2"/>
              <a:buChar char="§"/>
            </a:pPr>
            <a:r>
              <a:rPr lang="en-US" sz="3000" dirty="0"/>
              <a:t>BGA: Ball Grid Array is rarely used these days. They are nearly impossible to upgrade, inspect, or replace once the chip is soldered on the board.</a:t>
            </a:r>
          </a:p>
        </p:txBody>
      </p:sp>
      <p:pic>
        <p:nvPicPr>
          <p:cNvPr id="1026" name="Picture 2" descr="Computers Archives - The HelloTech Blog">
            <a:extLst>
              <a:ext uri="{FF2B5EF4-FFF2-40B4-BE49-F238E27FC236}">
                <a16:creationId xmlns:a16="http://schemas.microsoft.com/office/drawing/2014/main" id="{8DBC71CE-FCFC-758B-CB82-BF3E8407C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9444" y="4835462"/>
            <a:ext cx="6513662" cy="1717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60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Programmable Logic</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94283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Programmable logic devices can be used for multiple purposes, as opposed to fixed circuits.</a:t>
            </a:r>
          </a:p>
          <a:p>
            <a:pPr>
              <a:buFont typeface="Wingdings" panose="05000000000000000000" pitchFamily="2" charset="2"/>
              <a:buChar char="§"/>
            </a:pPr>
            <a:r>
              <a:rPr lang="en-US" sz="3400" dirty="0"/>
              <a:t>Though, it is faster to implement custom logic with PLD’s, they are often not as efficient as fixed-logic devices.</a:t>
            </a:r>
          </a:p>
          <a:p>
            <a:pPr>
              <a:buFont typeface="Wingdings" panose="05000000000000000000" pitchFamily="2" charset="2"/>
              <a:buChar char="§"/>
            </a:pPr>
            <a:r>
              <a:rPr lang="en-US" sz="3400" dirty="0"/>
              <a:t>Simple PLD: can replace up to 10 fixed IC’s. These are generally either PAL (Programmable Logic Array) which can be programmed only once, GAL (Generic Logic Array) which can be programmed multiple times, or PROM (Programmable Read-Only Memory).</a:t>
            </a:r>
          </a:p>
          <a:p>
            <a:pPr>
              <a:buFont typeface="Wingdings" panose="05000000000000000000" pitchFamily="2" charset="2"/>
              <a:buChar char="§"/>
            </a:pPr>
            <a:r>
              <a:rPr lang="en-US" sz="3400" dirty="0"/>
              <a:t>Complex PLD: multiple SPLD circuits bundled into a single chip. They can hold up to 64 LAB (Logic Array Blocks), where each block is essentially a SPLD. A CPLD can be used to implement almost any circuit discussed in this course.</a:t>
            </a:r>
          </a:p>
          <a:p>
            <a:pPr>
              <a:buFont typeface="Wingdings" panose="05000000000000000000" pitchFamily="2" charset="2"/>
              <a:buChar char="§"/>
            </a:pPr>
            <a:r>
              <a:rPr lang="en-US" sz="3400" dirty="0"/>
              <a:t>Field-Programmable Gate Array (FPGA): CPLD’s with separate Programmable Logic blocks and I/O blocks.</a:t>
            </a:r>
          </a:p>
        </p:txBody>
      </p:sp>
    </p:spTree>
    <p:extLst>
      <p:ext uri="{BB962C8B-B14F-4D97-AF65-F5344CB8AC3E}">
        <p14:creationId xmlns:p14="http://schemas.microsoft.com/office/powerpoint/2010/main" val="50243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Measurement Instruments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5" y="1532586"/>
            <a:ext cx="6288152" cy="48666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Oscilloscope: shows a graph of how signal changes over time</a:t>
            </a:r>
          </a:p>
          <a:p>
            <a:pPr>
              <a:buFont typeface="Wingdings" panose="05000000000000000000" pitchFamily="2" charset="2"/>
              <a:buChar char="§"/>
            </a:pPr>
            <a:r>
              <a:rPr lang="en-US" sz="3400" dirty="0"/>
              <a:t>A voltage probe is connected to the source and the oscilloscope shows how the voltage levels are changing on the source.</a:t>
            </a:r>
          </a:p>
          <a:p>
            <a:pPr>
              <a:buFont typeface="Wingdings" panose="05000000000000000000" pitchFamily="2" charset="2"/>
              <a:buChar char="§"/>
            </a:pPr>
            <a:r>
              <a:rPr lang="en-US" sz="3400" dirty="0"/>
              <a:t>Digital oscilloscope uses ADC (Analog-Digital Converter) to convert the signal into digital form and render on the display.</a:t>
            </a:r>
          </a:p>
        </p:txBody>
      </p:sp>
      <p:pic>
        <p:nvPicPr>
          <p:cNvPr id="3078" name="Picture 6" descr="Oscilloscope Basics | The Paleotechnologist">
            <a:extLst>
              <a:ext uri="{FF2B5EF4-FFF2-40B4-BE49-F238E27FC236}">
                <a16:creationId xmlns:a16="http://schemas.microsoft.com/office/drawing/2014/main" id="{FAA109FF-5D40-8692-BD65-902C9FEB4E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536" y="1916626"/>
            <a:ext cx="5463080" cy="4091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28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Measurement Instruments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5" y="1532586"/>
            <a:ext cx="6288152" cy="48666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Logic Analyzer measures multiple digital signals, since Oscilloscope only has 1 to 4 inputs.</a:t>
            </a:r>
          </a:p>
          <a:p>
            <a:pPr>
              <a:buFont typeface="Wingdings" panose="05000000000000000000" pitchFamily="2" charset="2"/>
              <a:buChar char="§"/>
            </a:pPr>
            <a:r>
              <a:rPr lang="en-US" sz="3400" dirty="0"/>
              <a:t>These devices were designed to debug Microprocessors, and have 16 to 136 input probes.</a:t>
            </a:r>
          </a:p>
          <a:p>
            <a:pPr>
              <a:buFont typeface="Wingdings" panose="05000000000000000000" pitchFamily="2" charset="2"/>
              <a:buChar char="§"/>
            </a:pPr>
            <a:r>
              <a:rPr lang="en-US" sz="3400" dirty="0"/>
              <a:t>It offers many functions, but primarily it converts the signals into timing diagrams for analysis.</a:t>
            </a:r>
          </a:p>
        </p:txBody>
      </p:sp>
      <p:pic>
        <p:nvPicPr>
          <p:cNvPr id="8" name="Picture 7">
            <a:extLst>
              <a:ext uri="{FF2B5EF4-FFF2-40B4-BE49-F238E27FC236}">
                <a16:creationId xmlns:a16="http://schemas.microsoft.com/office/drawing/2014/main" id="{2D690B33-8A95-3481-E1DA-0C2846067CC2}"/>
              </a:ext>
            </a:extLst>
          </p:cNvPr>
          <p:cNvPicPr>
            <a:picLocks noChangeAspect="1"/>
          </p:cNvPicPr>
          <p:nvPr/>
        </p:nvPicPr>
        <p:blipFill>
          <a:blip r:embed="rId3"/>
          <a:stretch>
            <a:fillRect/>
          </a:stretch>
        </p:blipFill>
        <p:spPr>
          <a:xfrm>
            <a:off x="7015638" y="1903469"/>
            <a:ext cx="4621232" cy="3309662"/>
          </a:xfrm>
          <a:prstGeom prst="rect">
            <a:avLst/>
          </a:prstGeom>
        </p:spPr>
      </p:pic>
    </p:spTree>
    <p:extLst>
      <p:ext uri="{BB962C8B-B14F-4D97-AF65-F5344CB8AC3E}">
        <p14:creationId xmlns:p14="http://schemas.microsoft.com/office/powerpoint/2010/main" val="395573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Measurement Instruments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8666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Analyzer probes are simply a collection of probes to connect a circuit with digital analyzer.</a:t>
            </a:r>
          </a:p>
          <a:p>
            <a:pPr>
              <a:buFont typeface="Wingdings" panose="05000000000000000000" pitchFamily="2" charset="2"/>
              <a:buChar char="§"/>
            </a:pPr>
            <a:r>
              <a:rPr lang="en-US" sz="3400" dirty="0"/>
              <a:t>A logic pulser produces a pulse wave periodically to any point in the circuit.</a:t>
            </a:r>
          </a:p>
          <a:p>
            <a:pPr>
              <a:buFont typeface="Wingdings" panose="05000000000000000000" pitchFamily="2" charset="2"/>
              <a:buChar char="§"/>
            </a:pPr>
            <a:r>
              <a:rPr lang="en-US" sz="3400" dirty="0"/>
              <a:t>A DC Power Supply is used to provide current to a circuit. It has tuners to control the output volage and current to supply. Your phone and laptop chargers are also DC power supplies with fixed voltage and current.</a:t>
            </a:r>
          </a:p>
          <a:p>
            <a:pPr>
              <a:buFont typeface="Wingdings" panose="05000000000000000000" pitchFamily="2" charset="2"/>
              <a:buChar char="§"/>
            </a:pPr>
            <a:r>
              <a:rPr lang="en-US" sz="3400" dirty="0"/>
              <a:t>A Digital multimeter provides a wide range of functions, including measurement of current, voltage, resistance, testing a transistor, testing circuit closures, checking diodes and capacitors, taking frequency measurements. A DMM is considered the most essential equipment on any workbench.</a:t>
            </a:r>
          </a:p>
        </p:txBody>
      </p:sp>
    </p:spTree>
    <p:extLst>
      <p:ext uri="{BB962C8B-B14F-4D97-AF65-F5344CB8AC3E}">
        <p14:creationId xmlns:p14="http://schemas.microsoft.com/office/powerpoint/2010/main" val="364754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8666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A GPU (Graphic Processing Unit) has 192-bit bus width. It is rendering a 10 second animation at 60 frames/second. Each image is roughly 24KB in size. Assuming the frequency at which the GPU is operating is 1200Mhz, how long will it take for the GPU to transfer all of this data?</a:t>
            </a:r>
          </a:p>
        </p:txBody>
      </p:sp>
    </p:spTree>
    <p:extLst>
      <p:ext uri="{BB962C8B-B14F-4D97-AF65-F5344CB8AC3E}">
        <p14:creationId xmlns:p14="http://schemas.microsoft.com/office/powerpoint/2010/main" val="376957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5" cy="48666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lphaLcParenR"/>
            </a:pPr>
            <a:r>
              <a:rPr lang="en-US" sz="3400" dirty="0"/>
              <a:t>What is CMOS – BIOS Chip? How are these chips programmed and configured in modern computers?</a:t>
            </a:r>
          </a:p>
          <a:p>
            <a:pPr marL="514350" indent="-514350">
              <a:buFont typeface="+mj-lt"/>
              <a:buAutoNum type="alphaLcParenR"/>
            </a:pPr>
            <a:r>
              <a:rPr lang="en-US" sz="3400" dirty="0"/>
              <a:t>What are VLSI and ULSI chips? Which category does an Intel’s Celeron CPU Model N4020 fits in?</a:t>
            </a:r>
          </a:p>
        </p:txBody>
      </p:sp>
    </p:spTree>
    <p:extLst>
      <p:ext uri="{BB962C8B-B14F-4D97-AF65-F5344CB8AC3E}">
        <p14:creationId xmlns:p14="http://schemas.microsoft.com/office/powerpoint/2010/main" val="215042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1683</TotalTime>
  <Words>1982</Words>
  <Application>Microsoft Office PowerPoint</Application>
  <PresentationFormat>Widescreen</PresentationFormat>
  <Paragraphs>192</Paragraphs>
  <Slides>27</Slides>
  <Notes>24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6" baseType="lpstr">
      <vt:lpstr>-apple-system</vt:lpstr>
      <vt:lpstr>Arial</vt:lpstr>
      <vt:lpstr>Calibri</vt:lpstr>
      <vt:lpstr>Calibri Light</vt:lpstr>
      <vt:lpstr>Cambria Math</vt:lpstr>
      <vt:lpstr>Times New Roman</vt:lpstr>
      <vt:lpstr>Wingdings</vt:lpstr>
      <vt:lpstr>Office Theme</vt:lpstr>
      <vt:lpstr>CorelDRAW</vt:lpstr>
      <vt:lpstr>DIGITAL LOGIC DESIGN (111776)</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152</cp:revision>
  <dcterms:created xsi:type="dcterms:W3CDTF">2022-11-22T20:08:03Z</dcterms:created>
  <dcterms:modified xsi:type="dcterms:W3CDTF">2023-06-14T19:03:17Z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