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03" r:id="rId5"/>
    <p:sldId id="2462" r:id="rId6"/>
    <p:sldId id="2600" r:id="rId7"/>
    <p:sldId id="2633" r:id="rId8"/>
    <p:sldId id="2634" r:id="rId9"/>
    <p:sldId id="2637" r:id="rId10"/>
    <p:sldId id="2636" r:id="rId11"/>
    <p:sldId id="2638" r:id="rId12"/>
    <p:sldId id="2639" r:id="rId13"/>
    <p:sldId id="2645" r:id="rId14"/>
    <p:sldId id="2640" r:id="rId15"/>
    <p:sldId id="2641" r:id="rId16"/>
    <p:sldId id="2630" r:id="rId17"/>
    <p:sldId id="2631" r:id="rId18"/>
    <p:sldId id="2632" r:id="rId19"/>
    <p:sldId id="2642" r:id="rId20"/>
    <p:sldId id="2643" r:id="rId21"/>
    <p:sldId id="2644" r:id="rId22"/>
    <p:sldId id="2646" r:id="rId23"/>
    <p:sldId id="2647" r:id="rId24"/>
    <p:sldId id="2649" r:id="rId25"/>
    <p:sldId id="2648" r:id="rId26"/>
    <p:sldId id="2650" r:id="rId27"/>
    <p:sldId id="2651" r:id="rId28"/>
    <p:sldId id="2635" r:id="rId29"/>
    <p:sldId id="2589" r:id="rId30"/>
    <p:sldId id="243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757"/>
    <a:srgbClr val="01023B"/>
    <a:srgbClr val="898989"/>
    <a:srgbClr val="2F3342"/>
    <a:srgbClr val="A53F52"/>
    <a:srgbClr val="2C2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8A889C-5842-F140-9C44-59B59FFC6A90}" v="3" dt="2026-07-10T06:10:59.1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49" autoAdjust="0"/>
    <p:restoredTop sz="94186" autoAdjust="0"/>
  </p:normalViewPr>
  <p:slideViewPr>
    <p:cSldViewPr snapToGrid="0">
      <p:cViewPr varScale="1">
        <p:scale>
          <a:sx n="135" d="100"/>
          <a:sy n="135" d="100"/>
        </p:scale>
        <p:origin x="840" y="160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custSel addSld delSld modSld sldOrd">
      <pc:chgData name="Owais Ahmed" userId="6abc7d4556b3b071" providerId="LiveId" clId="{641304C9-537E-56B8-9D3B-F295291B91EB}" dt="2026-07-10T06:10:59.150" v="5616" actId="20577"/>
      <pc:docMkLst>
        <pc:docMk/>
      </pc:docMkLst>
      <pc:sldChg chg="modSp">
        <pc:chgData name="Owais Ahmed" userId="6abc7d4556b3b071" providerId="LiveId" clId="{641304C9-537E-56B8-9D3B-F295291B91EB}" dt="2026-07-10T06:10:59.150" v="5616" actId="20577"/>
        <pc:sldMkLst>
          <pc:docMk/>
          <pc:sldMk cId="3743691386" sldId="2637"/>
        </pc:sldMkLst>
        <pc:spChg chg="mod">
          <ac:chgData name="Owais Ahmed" userId="6abc7d4556b3b071" providerId="LiveId" clId="{641304C9-537E-56B8-9D3B-F295291B91EB}" dt="2026-07-10T06:10:59.150" v="5616" actId="20577"/>
          <ac:spMkLst>
            <pc:docMk/>
            <pc:sldMk cId="3743691386" sldId="2637"/>
            <ac:spMk id="3" creationId="{1D339C80-B657-3AD9-8BE0-2B2B02991AB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9DF96-CE9A-9B1D-6A04-0F9307FD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90E95-7439-0945-8E67-3C512DAEF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8709D-F6E8-C71B-E7DE-C63543990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740E6-7441-6831-B8F6-5FA130162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52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AC170-0C1F-0599-194C-1F1C42E4D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7019AC-DFBB-0FCA-1706-28B43F4EA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2AC42C-29D0-E26A-7E25-135CDE25F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50BD3-366D-9312-2B36-C1F84C5EDC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48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6F26B-4A3A-E55B-3EF9-EC4C2D2B7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D6979B-8A62-10EE-4F31-02E35AB0D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B4FF50-45AC-EC42-A695-D558DBACB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BD909-B35F-8A28-BCDE-A5EAA254E7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03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69159-5392-2182-55DF-0F24FF789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B3A05-3914-D302-FE7C-FA22E584F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6466E98-3B8F-69FA-FC88-9B60582E5E9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GB" sz="1200" dirty="0"/>
                  <a:t>Volatility: If Omar borrows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i="1" dirty="0" smtClean="0">
                        <a:latin typeface="Cambria Math" panose="02040503050406030204" pitchFamily="18" charset="0"/>
                      </a:rPr>
                      <m:t>𝐸𝑇𝐻</m:t>
                    </m:r>
                  </m:oMath>
                </a14:m>
                <a:r>
                  <a:rPr lang="en-GB" sz="1200" dirty="0"/>
                  <a:t> from Sara and pays back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i="1" dirty="0" smtClean="0">
                        <a:latin typeface="Cambria Math" panose="02040503050406030204" pitchFamily="18" charset="0"/>
                      </a:rPr>
                      <m:t>𝐸𝑇𝐻</m:t>
                    </m:r>
                  </m:oMath>
                </a14:m>
                <a:r>
                  <a:rPr lang="en-GB" sz="1200" dirty="0"/>
                  <a:t> 2 months later, how to calculate</a:t>
                </a:r>
                <a:r>
                  <a:rPr lang="en-GB" sz="1200" baseline="0" dirty="0"/>
                  <a:t> the impact of newly minted ETH and burned ETH?</a:t>
                </a:r>
                <a:endParaRPr lang="en-GB" sz="1200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6466E98-3B8F-69FA-FC88-9B60582E5E9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GB" sz="1200" dirty="0"/>
                  <a:t>Volatility: If Omar borrows </a:t>
                </a:r>
                <a:r>
                  <a:rPr lang="en-GB" sz="1200" i="0" dirty="0">
                    <a:latin typeface="Cambria Math" panose="02040503050406030204" pitchFamily="18" charset="0"/>
                  </a:rPr>
                  <a:t>1𝐸𝑇𝐻</a:t>
                </a:r>
                <a:r>
                  <a:rPr lang="en-GB" sz="1200" dirty="0"/>
                  <a:t> from Sara and pays back </a:t>
                </a:r>
                <a:r>
                  <a:rPr lang="en-GB" sz="1200" i="0" dirty="0">
                    <a:latin typeface="Cambria Math" panose="02040503050406030204" pitchFamily="18" charset="0"/>
                  </a:rPr>
                  <a:t>1𝐸𝑇𝐻</a:t>
                </a:r>
                <a:r>
                  <a:rPr lang="en-GB" sz="1200" dirty="0"/>
                  <a:t> 2 months later, how to calculate</a:t>
                </a:r>
                <a:r>
                  <a:rPr lang="en-GB" sz="1200" baseline="0" dirty="0"/>
                  <a:t> the impact of newly minted ETH and burned ETH?</a:t>
                </a:r>
                <a:endParaRPr lang="en-GB" sz="1200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D5DBF-5C40-FAD2-8D4A-B5E79EE15A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23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A56E9-2E4D-9BD2-0672-B9A93C4D6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AB315-CC68-8369-CA49-B356A4AB0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50AF8-6CE9-C08D-3F9C-F59BA4B0C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E031C-8CB2-CD59-CDF3-D59BB136A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1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D2ED5-AF23-A851-3478-F33FCA2B1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6CDBB-7449-B598-96BC-F4222243D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97948-E5D0-0E1F-7744-4D06522F4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At the time of writing, 185B USDT were in circulation. While Tether Ltd. Had: </a:t>
            </a:r>
            <a:r>
              <a:rPr lang="en-GB" b="0" dirty="0"/>
              <a:t>Cash &amp; equivalents </a:t>
            </a:r>
            <a:r>
              <a:rPr lang="en-GB" dirty="0"/>
              <a:t>~$20-30 billion, Gold &amp; metals ~$8-13, Other assets/loans ~$10-20, BTC &amp; crypto ~$8-10 and $115-130 in govt. bonds</a:t>
            </a: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0997D-11AC-BF2C-75D7-9840942E03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570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9B033-47FD-65BF-9D61-003315EC4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DD91EF-0704-88A6-2ACD-CB620B160A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E4F55-BD76-2B6A-3E36-7FC703357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Bank-run: in 1933, masses demanded cash from Banks, which the banks did not have at the time. To deal with the public anger, US instituted a shutdown for 1 week.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F3E45-4617-D325-95CA-22A7526C9F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43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9920-BBDC-873B-CC37-2F065EF13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12BB9-B33D-5A21-36C4-D5FA0D218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5A858-7815-D3F1-E92E-DA130E832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Over-collateralized mean they </a:t>
            </a:r>
            <a:r>
              <a:rPr lang="en-US" sz="1200" dirty="0"/>
              <a:t>hold more crypto collateral than issued stablecoins.</a:t>
            </a: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F90B2-93E0-794C-B079-568B32E932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15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AE759-6544-C5A0-D8A4-B804F3636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8AABBB-37F0-9B73-D436-964B069E8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02E6A-C186-1F78-834C-9DC01A967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35ABF-03C2-A791-3753-4C5E16CA6C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149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27E13-C9EE-12C3-4606-AC2AEAA17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07454-4835-AF3A-7251-41DD384C4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E2E8F-5577-35AB-DA81-ED96719E2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KYC – Know your customer. Regulatory bodies enforce KYC to mitigate frauds and money laundering.</a:t>
            </a:r>
          </a:p>
          <a:p>
            <a:pPr marL="228600" indent="-228600">
              <a:buAutoNum type="arabicPeriod"/>
            </a:pPr>
            <a:r>
              <a:rPr lang="en-GB" sz="1200" dirty="0"/>
              <a:t>KYB – Know your business. CEX and some DEX require KYB to list Dapps and tokens on their platforms.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72285-71D7-7EC9-DD96-7EDABFF9DD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411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5F1FA-C740-AE63-0B5E-39C6470D8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9BD8B-B8C9-435D-F935-44D630CC7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651B5-0428-2B7D-FCBD-8A25B4690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DDDD0-5198-13BE-CE36-15B8A833D6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791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623EE-8ED2-C45E-57A6-F0D3E0D8D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76B0E-632A-A4E5-8AAF-90C55AA2C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BC54A-46B3-7A39-3D39-968096060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Putting 50% up-font enables trade 24/7 even if buyer or seller is immediately unavailable.</a:t>
            </a:r>
          </a:p>
          <a:p>
            <a:pPr marL="228600" indent="-228600">
              <a:buAutoNum type="arabicPeriod"/>
            </a:pPr>
            <a:r>
              <a:rPr lang="en-GB" sz="1200" dirty="0"/>
              <a:t>Liquidity pool is a place where the assets are reserved in liquid form, i.e. they can be bought and sold instantly.</a:t>
            </a:r>
          </a:p>
          <a:p>
            <a:pPr marL="228600" indent="-228600">
              <a:buAutoNum type="arabicPeriod"/>
            </a:pPr>
            <a:r>
              <a:rPr lang="en-GB" sz="1200" dirty="0"/>
              <a:t>The formula used here is called “Constant Product Automated Market Maker”.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AB865-5A62-CDE4-A393-998D483644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850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45801-492A-DF68-3E4F-C417AE2D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497CB-4B03-7F3A-D73E-BEF48F284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AE043-5936-2602-3C07-E20289D87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552C4-A040-8505-82D6-57C9E2AE3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89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3B204-E960-04AE-4A5C-8AAE94521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95A56-2F4D-1D8B-BD86-044422696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8D4C0B-6E1D-7852-F266-D24A39DD2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B2734-7D78-5724-F587-26FBB737B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796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E6568-E54A-E414-220E-A647E04D5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78A09-7BD1-52D6-61BD-753543020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631B10-B95F-0DC7-7D9B-6C9A43A6C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Slippage is NOT a fee. It is the price you pay to move the market because of your trade. If you are selling something, you are devaluing your own asset a little.</a:t>
            </a:r>
          </a:p>
          <a:p>
            <a:pPr marL="228600" indent="-228600">
              <a:buAutoNum type="arabicPeriod"/>
            </a:pPr>
            <a:r>
              <a:rPr lang="en-GB" sz="1200" dirty="0"/>
              <a:t>Arbitrage is a concept in finance referring to the act of benefiting from small price difference in two different markets for the same asset.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B674C-3018-9CC6-86A1-6570994E3F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785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B8F3A-EFFE-DC6F-E110-E2E4D24D2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AA01D-3304-4062-6D9C-4745BE313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AC978-4561-CEB6-2D2D-68BAE621E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89595-061C-E078-50B6-453083633E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2741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E3F2D-1EF5-5CB7-48BF-E6CBABEED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BF13F-65C1-AD07-B735-393751186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3C143-3DCF-D69C-A988-8513D6DBD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00CB6-DD47-4A47-CE03-87AB814CFF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421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602DC-105E-D84F-F5CA-8F50B8966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CF2CB-DE25-E86E-AEA6-7028AC72A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3CF900-616E-FCEA-DE1D-7EA0C3C68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19F21-0969-E0F3-6AC0-6C78B9240B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105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A0289-9D66-E8A3-5ED5-F4F829F55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1F84E-C5AD-8A8C-0AEF-1A3C0B738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057A1-6BAC-B6D1-686D-FCD655092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C34A9-16B7-069C-2CB3-B75FD2D9A9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943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DDED3-ABB8-C466-1D9C-0359D985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ABBF4-94DD-1E74-CB5F-5B8753528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FF3316-6603-E39C-B91A-087BC7260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FC44C-2B1D-1BB2-3871-E158DC5376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124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D40E5-889B-7370-2A1C-F89C8C353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A9B507-48EA-4308-2DF3-B2DB0607D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F6FF8-2666-2F94-D50C-4512EE1C3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A801F-0A7E-79F0-9FA1-1877235751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084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B822C-325C-7095-FB24-EDBF42424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AA2AB-6420-00F9-416D-76F5655F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9EC493-4E9C-21C8-7AEF-1802384B1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E8CCE-CE65-5E0E-8D0F-1625297A93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519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E1A3A-B64D-4CA2-B04E-F195A3D50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B90B9C-8306-17AB-926B-1E2AB7FCC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15CB1-2EE3-3AE1-85B1-98D15D717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20CF2-E95A-A15C-1647-92B879FA89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3066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C8AA2-6004-3DF6-C8DD-59E9CEE4F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1081E-736D-473B-5B92-1A9C46CF7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3C7FC-428E-08B2-36BD-652F06980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1AFFE-6365-08E9-87F1-F3B96111C7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5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DECENTRALIZED APPLICATION DEVELOPMENT (119389)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114800" cy="4136198"/>
          </a:xfrm>
        </p:spPr>
        <p:txBody>
          <a:bodyPr/>
          <a:lstStyle/>
          <a:p>
            <a:r>
              <a:rPr lang="en-US" dirty="0"/>
              <a:t>Recap</a:t>
            </a:r>
          </a:p>
          <a:p>
            <a:r>
              <a:rPr lang="en-US" dirty="0"/>
              <a:t>Defining DeFi</a:t>
            </a:r>
          </a:p>
          <a:p>
            <a:r>
              <a:rPr lang="en-US" dirty="0"/>
              <a:t>Stablecoins and Exchanges</a:t>
            </a:r>
          </a:p>
          <a:p>
            <a:r>
              <a:rPr lang="en-US" dirty="0"/>
              <a:t>AMMs and Liquidity</a:t>
            </a:r>
          </a:p>
          <a:p>
            <a:r>
              <a:rPr lang="en-US" dirty="0"/>
              <a:t>DAOs</a:t>
            </a:r>
          </a:p>
          <a:p>
            <a:r>
              <a:rPr lang="en-US"/>
              <a:t>Token Standards</a:t>
            </a:r>
            <a:endParaRPr lang="en-US" dirty="0"/>
          </a:p>
          <a:p>
            <a:r>
              <a:rPr lang="en-US" dirty="0"/>
              <a:t>Trading</a:t>
            </a:r>
          </a:p>
          <a:p>
            <a:r>
              <a:rPr lang="en-US" dirty="0"/>
              <a:t>Assignment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9D714-8AA7-1031-916E-96C5F8C6C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439F561-221C-4717-5A02-4B68CA6E5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F597EE9-8CA1-A2AC-BCE4-37EEEA2FD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ADDF1F-53BF-BF04-6755-3D4B0474A43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Recap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8D9EEC2-B0E5-971B-2F7B-F18A179C9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64937B0-3EF6-3D49-3904-B52382123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14122-E486-7AFB-C42F-6774F29A59F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briefly looked into what Full-Stack development conventionally means and how it differs in Dapp development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studied various types of Decentralized Applications and looked at what are mistaken as Dapps.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performed a hands-on Dapp development practical where we designed a simple React app to Login via a Wallet.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Today, we dive into a critical segment of Blockchains, i.e. Decentralized Finance, or shortly, DeFi.</a:t>
            </a:r>
          </a:p>
        </p:txBody>
      </p:sp>
    </p:spTree>
    <p:extLst>
      <p:ext uri="{BB962C8B-B14F-4D97-AF65-F5344CB8AC3E}">
        <p14:creationId xmlns:p14="http://schemas.microsoft.com/office/powerpoint/2010/main" val="405099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428F5-4DF3-664C-0291-33B51E972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4D63695-3574-CBB8-599B-034637AFB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F0810FD-31F9-63DC-05D2-31AFA2FBE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91FB34C-15A0-582A-25AA-8D94E978916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Defining DeFi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D5F164E-F01E-C4CA-130D-792DD11B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67EB13E-B8CF-D50D-DAE7-6E6910019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0630C-19DC-3DF5-FF5C-C206459FFC9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Every Financial institute before Blockchains were centralized.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central authority controls how you access, deposit, withdraw, spend </a:t>
            </a:r>
            <a:r>
              <a:rPr lang="en-GB" sz="3400" u="sng" dirty="0"/>
              <a:t>your own money</a:t>
            </a:r>
            <a:r>
              <a:rPr lang="en-GB" sz="3400" dirty="0"/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bank can deny a transaction; govt. can confiscate an account; court can seize your assets.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On the other hand, that authority can spend, lend, trade, invest your money without your consent or knowledge.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But they also provide you convenience and security… for which they charge considerable money.</a:t>
            </a:r>
          </a:p>
        </p:txBody>
      </p:sp>
    </p:spTree>
    <p:extLst>
      <p:ext uri="{BB962C8B-B14F-4D97-AF65-F5344CB8AC3E}">
        <p14:creationId xmlns:p14="http://schemas.microsoft.com/office/powerpoint/2010/main" val="399216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E681D-F937-A834-0A30-FE86D998E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80210AC-BE22-4803-EADC-B08285CB8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E79C38-915F-ED83-22AE-FC65CDF50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C46482F-7900-FFF1-CBCD-D39F13DE2E2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Defining DeFi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A1EB8D0-77A6-80A7-D285-CD29D9D9E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6F9E0B4-D575-0CB5-4227-9B9B59BF7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C8483-A918-0FF1-2F74-F1F64E85E62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DeFi is decentralized, difficult to censor, resilient to attacks, preserve your privacy, and much cheaper to use.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DeFi uses Cryptography, Blockchains and Smart contracts as building blocks.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DeFi involves plenty of concepts, including (but not limited to) Stablecoins, DEX, CEX, AMM, Liquidity Pool, DAO, ERC Standards, </a:t>
            </a:r>
            <a:r>
              <a:rPr lang="en-GB" sz="3400" dirty="0" err="1"/>
              <a:t>Tokenomics</a:t>
            </a:r>
            <a:r>
              <a:rPr lang="en-GB" sz="3400" dirty="0"/>
              <a:t>, Routers, Bridges, Trading (Spot/Future/Margin), Lending/Borrowing, KYC/KYB, Yield Farming, Staking, …</a:t>
            </a:r>
          </a:p>
        </p:txBody>
      </p:sp>
    </p:spTree>
    <p:extLst>
      <p:ext uri="{BB962C8B-B14F-4D97-AF65-F5344CB8AC3E}">
        <p14:creationId xmlns:p14="http://schemas.microsoft.com/office/powerpoint/2010/main" val="3709269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5BF92-4F9E-8F1B-6DB7-E7FACB5E2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5792148-C5CB-209D-E77E-A6A7073CA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5DF358F-053C-8C50-DBC5-BE7E23CB2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56D8938-173F-1DE2-A3B1-86390DDF213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Stablecoins – Why?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D5E1E42-FD7E-55BB-A7B9-0334B4E92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5159C40-29DE-EA5D-0E66-52E2221AC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339C80-B657-3AD9-8BE0-2B2B02991A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Stablecoins help in representing worth of a crypt asset.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Which of the following is easier to understand?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𝐵𝑇𝐶</m:t>
                        </m:r>
                      </m:num>
                      <m:den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𝐸𝑇𝐻</m:t>
                        </m:r>
                      </m:den>
                    </m:f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=30;</m:t>
                    </m:r>
                    <m:f>
                      <m:fPr>
                        <m:ctrlPr>
                          <a:rPr lang="en-GB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𝐸𝑇𝐻</m:t>
                        </m:r>
                      </m:num>
                      <m:den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𝑋𝑅𝑃</m:t>
                        </m:r>
                      </m:den>
                    </m:f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=1500</m:t>
                    </m:r>
                  </m:oMath>
                </a14:m>
                <a:endParaRPr lang="en-GB" sz="3200" b="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𝐵𝑇𝐶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=$90000;1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𝐸𝑇𝐻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=$3000;1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𝑋𝑅𝑃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=$2</m:t>
                    </m:r>
                  </m:oMath>
                </a14:m>
                <a:endParaRPr lang="en-GB" sz="32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Second </a:t>
                </a:r>
                <a:r>
                  <a:rPr lang="en-GB" sz="3400"/>
                  <a:t>option is easier</a:t>
                </a:r>
                <a:r>
                  <a:rPr lang="en-GB" sz="3400" dirty="0"/>
                  <a:t>. There is one constant helping in assessing the other 3 variable currencies.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The problem becomes two-fold due to volatility.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GB" sz="3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339C80-B657-3AD9-8BE0-2B2B02991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296" t="-1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369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4B4A3-8C60-E9DA-2E9B-14EA42247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A184E2F-58EB-0D59-9D84-F100281F6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3AB1EEF-DF2F-B82D-0D31-D12D5DB14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490AF3D-66D6-E218-5FD6-2F2C360E9C4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Stablecoins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E29781F-57FA-8B6E-B82C-58FC76F99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54CC32E-CE37-C342-E2E8-742A387F6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4F5289-8FA6-12AB-FBC9-B9C322EA88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In real world, paper money is printed, circulated for certain amount of time and discarded.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When state bank destroys a R.1000 bill, it will print another copy of it with a different serial number.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Stablecoins work the same way. E.g. USDT (Tether USD) is </a:t>
                </a:r>
                <a:r>
                  <a:rPr lang="en-GB" sz="3400" i="1" dirty="0"/>
                  <a:t>minted</a:t>
                </a:r>
                <a:r>
                  <a:rPr lang="en-GB" sz="3400" dirty="0"/>
                  <a:t> when required, </a:t>
                </a:r>
                <a:r>
                  <a:rPr lang="en-GB" sz="3400" i="1" dirty="0"/>
                  <a:t>burned</a:t>
                </a:r>
                <a:r>
                  <a:rPr lang="en-GB" sz="3400" dirty="0"/>
                  <a:t> when spent.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b="0" dirty="0">
                    <a:ea typeface="Cambria Math" panose="02040503050406030204" pitchFamily="18" charset="0"/>
                  </a:rPr>
                  <a:t>A Stablecoin is usually pegged to a real-world asset, e.g. </a:t>
                </a:r>
                <a14:m>
                  <m:oMath xmlns:m="http://schemas.openxmlformats.org/officeDocument/2006/math">
                    <m:r>
                      <a:rPr lang="en-GB" sz="3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GB" sz="3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USDT</m:t>
                    </m:r>
                    <m:r>
                      <a:rPr lang="en-GB" sz="3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GB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GB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𝑈𝑆𝐷</m:t>
                    </m:r>
                  </m:oMath>
                </a14:m>
                <a:endParaRPr lang="en-GB" sz="3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Stablecoins can be pegged to a currency, gold, another commodity, or even a real stock.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4F5289-8FA6-12AB-FBC9-B9C322EA8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90" t="-2494" r="-1920" b="-3242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625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94C70-8807-E963-3495-7C357A541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9512441-5AE5-5B23-DCF1-E01C2346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18370C5-7DCF-A1DE-9765-9701BE2DD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D07DF5C-79B4-3324-989E-F44D63FCED5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Stablecoins – The issue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DF2CB71-A9CA-93E4-B907-0656EB886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FE4FD43-FDA0-6B9A-1421-B9E2A50D8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8B1998-886C-7C03-5535-8292C2E4B3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USDT is issued by a company called Tether Ltd. in Britain.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Tether can click a button and issue any number of new USDT to any account. Much like US Federal Reserve Bank.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You and I </a:t>
                </a:r>
                <a:r>
                  <a:rPr lang="en-GB" sz="3400" i="1" dirty="0"/>
                  <a:t>have</a:t>
                </a:r>
                <a:r>
                  <a:rPr lang="en-GB" sz="3400" dirty="0"/>
                  <a:t> to trust Tether Ltd. in a trustless ecosystem.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Tether has never been officially audited.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The BIG risk!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𝑈𝑆𝐷𝑇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𝑈𝑆𝐷</m:t>
                    </m:r>
                  </m:oMath>
                </a14:m>
                <a:r>
                  <a:rPr lang="en-GB" sz="3200" dirty="0"/>
                  <a:t>: loss of trust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𝑈𝑆𝐷𝑇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𝑈𝑆𝐷</m:t>
                    </m:r>
                  </m:oMath>
                </a14:m>
                <a:r>
                  <a:rPr lang="en-GB" sz="3200" dirty="0"/>
                  <a:t>: liquidity demand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GB" sz="3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8B1998-886C-7C03-5535-8292C2E4B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297" t="-1746" b="-261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135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F809D-57DC-B73B-B519-260603B7A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12A6466-B5F2-010B-A1DA-DA79303E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ACD2F94-BC9F-B411-F9BA-44DCFCB68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A87598D-6A6E-455E-67CB-571618FFF3A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Stablecoins – Solution?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9D5B5A5-9153-84CE-BE49-9C1D7B951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F009FB8-525A-8501-8CA8-C711DC763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617CB-1409-436A-53DF-FAEED25D57F9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Stablecoins like USDC and DAI.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Transparent, Audited, 100% backed by hard reserves.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Can still suffer from Bank-run situation.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risk of overvaluation and undervaluation still exists.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No perfect solution exists to date! Diversifying will mitigate the risks.</a:t>
            </a:r>
          </a:p>
        </p:txBody>
      </p:sp>
    </p:spTree>
    <p:extLst>
      <p:ext uri="{BB962C8B-B14F-4D97-AF65-F5344CB8AC3E}">
        <p14:creationId xmlns:p14="http://schemas.microsoft.com/office/powerpoint/2010/main" val="1192183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3B47C-A76F-B1DB-BA37-C6655A8C0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5DAD11F-D7F2-31E5-F66D-ABAC2D587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0D58D69-6F20-B856-E118-260D9AF54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B37CA33-4C31-CACD-C2E8-8E1EB9EBD4A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Stablecoins – Types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A1D483D-D060-D67D-8257-5B46FD3E4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1A362B9-C789-0ECE-B5EE-5B5B9B991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F1C34-395F-93B4-634D-08A5CC91517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Fiat-Collateralized (USDT, USDC)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Backed 1:1 by dollars in bank accounts.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You trust in the issuer to hold equal reserves.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Crypto-Collateralized (DAI)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Over-collateralized.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Smart contracts adjust liquidation to maintain the peg.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Commodity-backed (PAXG)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1 token = 1 oz of gold held in reserve.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They combine crypto with commodities with intrinsic value.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018838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4AED5-0577-FC42-04C2-DEF7A590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66BAEBE-E85E-32F4-FB21-53309A0BA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2DF62DE-525F-54EC-B58A-D03D5EBA1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D0609A1-AE21-1F5E-B99E-3BF9A4F7A7F4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Exchanges - CEX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FEE9ABA-642B-76A8-DA8E-CCB505E60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AC06F3D-F1D6-9D58-F752-5B041C9CE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BEB6C-F383-9438-57B5-46B58D233D0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Centralized Exchanges are run by companies.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They use Custodial wallets and often require KYC.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CEXs offer protection against several attacks.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coins and tokens listed go through KYB.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Best for beginners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Some popular CEXs: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Binance – largest exchange by volume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Coinbase – user-friendly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 err="1"/>
              <a:t>ByBit</a:t>
            </a:r>
            <a:r>
              <a:rPr lang="en-GB" sz="3200" dirty="0"/>
              <a:t> – variety of trading options like derivates and leveraging</a:t>
            </a:r>
          </a:p>
        </p:txBody>
      </p:sp>
    </p:spTree>
    <p:extLst>
      <p:ext uri="{BB962C8B-B14F-4D97-AF65-F5344CB8AC3E}">
        <p14:creationId xmlns:p14="http://schemas.microsoft.com/office/powerpoint/2010/main" val="703685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1626D-702E-B804-E131-33DF764B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9AB3BA3-5A55-23AF-5B01-CFD3BDAFB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C3A0AC7-A15E-34DB-FFDD-6F73CB0BB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BB5CB39-7191-45A6-4DE7-AD56B1FA8E4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Exchanges - DEX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5DAF917-E3C6-AF7E-DA4D-237559991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A812139-6511-8755-F3B3-ADBFD26CD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8561B-56E3-97F1-5DE9-EB5C157F219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Decentralized Exchanges are peer-to-peer trading platforms.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DEXs are non-custodial, i.e. users trade directly from their own wallets through smart contracts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DEX is a smart contract that holds liquidity pools and executes trades automatically.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They typically require no KYC, and basic KYB to allow trading a token anyone has created via </a:t>
            </a:r>
            <a:r>
              <a:rPr lang="en-GB" sz="3200" b="1" dirty="0"/>
              <a:t>AMMs</a:t>
            </a:r>
            <a:r>
              <a:rPr lang="en-GB" sz="3200" dirty="0"/>
              <a:t>. Thus, new tokens or projects can immediately have a market.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Trades are recorded on the blockchain, and funds never pass through a company.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Censorship-resistant: no one can freeze your funds, and anyone can audit trades.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DEXs are prone to several security risks. DYOR is not only a nice option when trading on DEX; you can practically go bankrupt.</a:t>
            </a:r>
          </a:p>
        </p:txBody>
      </p:sp>
    </p:spTree>
    <p:extLst>
      <p:ext uri="{BB962C8B-B14F-4D97-AF65-F5344CB8AC3E}">
        <p14:creationId xmlns:p14="http://schemas.microsoft.com/office/powerpoint/2010/main" val="23790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995B8-8952-4170-5969-3A955F9BB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DC7818E-00B5-2C90-6092-34FA823C0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07695FF-9A3F-7506-C2BD-78AA9B5FE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EE31FB0-7426-4087-796D-E04A4833AE0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What is AMM?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C7C665A-9870-BE5E-9356-BD2AB78D9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D14A996-D0AE-1C26-2CAF-70B178336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A9A81-5714-8307-C58B-6E0793F64175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6417766" cy="502061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dirty="0"/>
              <a:t>Barter system and the value problem.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dirty="0"/>
              <a:t>How much is the “value” of each commodity involved?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dirty="0"/>
              <a:t>The golden rule of demand and supply.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dirty="0"/>
              <a:t>But how to calculate and automate value?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386AA3-112A-CB64-1949-ECD518ABA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150" y="1670836"/>
            <a:ext cx="5553850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3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5CADE-47F3-EA1C-DA62-024EB72F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26FF2BF-8DBB-0816-411D-2ADDCD193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EDC8017-786E-0BAC-BADB-5AD5D6195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88DB7E3-6BDF-B27B-B7D6-D03C0B70A94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What is AMM?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306D648-D07F-3DFD-B18E-5FD786EBF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F0C4FC1-2500-A205-58FB-31986690A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DF0A58-6F94-D7D9-AAEE-AD2899D459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E.g. Omar has 10000 apples and Sara has 10000 carrots.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If Omar gives 200 apples, how much carrots should he receive?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Problem! Omar actually needs carrots; Sara didn’t need apples.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A Market Maker offers them both to put 50% of their produce in a </a:t>
                </a:r>
                <a:r>
                  <a:rPr lang="en-GB" sz="3400" i="1" dirty="0"/>
                  <a:t>liquidity pool</a:t>
                </a:r>
                <a:r>
                  <a:rPr lang="en-GB" sz="3400" dirty="0"/>
                  <a:t> of commodities to enable exchanges.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Therefore, MM has </a:t>
                </a:r>
                <a14:m>
                  <m:oMath xmlns:m="http://schemas.openxmlformats.org/officeDocument/2006/math">
                    <m:r>
                      <a:rPr lang="en-GB" sz="3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3400" b="0" i="1" smtClean="0">
                        <a:latin typeface="Cambria Math" panose="02040503050406030204" pitchFamily="18" charset="0"/>
                      </a:rPr>
                      <m:t>=5000,</m:t>
                    </m:r>
                    <m:r>
                      <a:rPr lang="en-GB" sz="3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sz="3400" b="0" i="1" smtClean="0">
                        <a:latin typeface="Cambria Math" panose="02040503050406030204" pitchFamily="18" charset="0"/>
                      </a:rPr>
                      <m:t>=5000</m:t>
                    </m:r>
                  </m:oMath>
                </a14:m>
                <a:r>
                  <a:rPr lang="en-GB" sz="3400" dirty="0"/>
                  <a:t>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The total </a:t>
                </a:r>
                <a:r>
                  <a:rPr lang="en-GB" sz="3400" i="1" dirty="0"/>
                  <a:t>value</a:t>
                </a:r>
                <a:r>
                  <a:rPr lang="en-GB" sz="3400" dirty="0"/>
                  <a:t> in the pool will be </a:t>
                </a:r>
                <a14:m>
                  <m:oMath xmlns:m="http://schemas.openxmlformats.org/officeDocument/2006/math">
                    <m:r>
                      <a:rPr lang="en-GB" sz="3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GB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=25</m:t>
                    </m:r>
                    <m:r>
                      <a:rPr lang="en-GB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endParaRPr lang="en-GB" sz="34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Now, no matter who buys what, </a:t>
                </a:r>
                <a14:m>
                  <m:oMath xmlns:m="http://schemas.openxmlformats.org/officeDocument/2006/math">
                    <m:r>
                      <a:rPr lang="en-GB" sz="3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3400" dirty="0"/>
                  <a:t> must remain constant.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DF0A58-6F94-D7D9-AAEE-AD2899D45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  <a:blipFill>
                <a:blip r:embed="rId3"/>
                <a:stretch>
                  <a:fillRect l="-1296" t="-1768" r="-1404" b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804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F2166-4173-BC41-3C95-5A51BE8BB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9829377-3A53-4203-7EA3-6143448DA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D40D791-1AE4-5528-F381-04004F4D5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BC14A04-0683-5DCF-96B3-BBDB57F6951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What is AMM?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B2F9B3A-29B8-559E-813E-DC1C695EA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9FE1CA3-5192-2EEE-B401-08A60CD48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89DE97-4190-B77D-28FD-A7768599ED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If Omar gives 200 apples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GB" sz="34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400" dirty="0"/>
                  <a:t>, MM calculates how many carrots to give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sz="34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400" dirty="0"/>
                  <a:t> him based on the same formula.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The pool now has </a:t>
                </a:r>
                <a14:m>
                  <m:oMath xmlns:m="http://schemas.openxmlformats.org/officeDocument/2006/math">
                    <m:r>
                      <a:rPr lang="en-GB" sz="34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34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3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4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3400" b="0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GB" sz="3400" b="0" i="1" dirty="0" smtClean="0">
                        <a:latin typeface="Cambria Math" panose="02040503050406030204" pitchFamily="18" charset="0"/>
                      </a:rPr>
                      <m:t>=5200,</m:t>
                    </m:r>
                    <m:r>
                      <a:rPr lang="en-GB" sz="34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3400" b="0" i="1" dirty="0" smtClean="0">
                        <a:latin typeface="Cambria Math" panose="02040503050406030204" pitchFamily="18" charset="0"/>
                      </a:rPr>
                      <m:t>=25</m:t>
                    </m:r>
                    <m:r>
                      <a:rPr lang="en-GB" sz="3400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GB" sz="3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Question! What should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4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GB" sz="3400" dirty="0"/>
                  <a:t> be so that the pool maintains the value of </a:t>
                </a:r>
                <a14:m>
                  <m:oMath xmlns:m="http://schemas.openxmlformats.org/officeDocument/2006/math"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3400" dirty="0"/>
                  <a:t>?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3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400" b="0" i="1" smtClean="0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GB" sz="3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GB" sz="3400" b="0" i="1" smtClean="0">
                            <a:latin typeface="Cambria Math" panose="02040503050406030204" pitchFamily="18" charset="0"/>
                          </a:rPr>
                          <m:t>5200</m:t>
                        </m:r>
                      </m:den>
                    </m:f>
                    <m:r>
                      <a:rPr lang="en-GB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GB" sz="3400" b="0" i="1" smtClean="0">
                        <a:latin typeface="Cambria Math" panose="02040503050406030204" pitchFamily="18" charset="0"/>
                      </a:rPr>
                      <m:t>4808</m:t>
                    </m:r>
                  </m:oMath>
                </a14:m>
                <a:r>
                  <a:rPr lang="en-GB" sz="3400" dirty="0"/>
                  <a:t> should be the value of </a:t>
                </a:r>
                <a14:m>
                  <m:oMath xmlns:m="http://schemas.openxmlformats.org/officeDocument/2006/math">
                    <m:r>
                      <a:rPr lang="en-GB" sz="3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3400" dirty="0"/>
                  <a:t> after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4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GB" sz="3400" dirty="0"/>
                  <a:t> is removed from the pool.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Therefore,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34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GB" sz="3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GB" sz="3400" b="0" i="1" smtClean="0">
                        <a:latin typeface="Cambria Math" panose="02040503050406030204" pitchFamily="18" charset="0"/>
                      </a:rPr>
                      <m:t>192</m:t>
                    </m:r>
                  </m:oMath>
                </a14:m>
                <a:r>
                  <a:rPr lang="en-GB" sz="3400" dirty="0"/>
                  <a:t> is what Omar receives to satisfy demand-supply based value.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AMMs </a:t>
                </a:r>
                <a:r>
                  <a:rPr lang="en-GB" sz="3400" b="1" dirty="0"/>
                  <a:t>automate</a:t>
                </a:r>
                <a:r>
                  <a:rPr lang="en-GB" sz="3400" dirty="0"/>
                  <a:t> the same concept. Standardizing per unit price, if an apple was $1 before the transaction, it will drop to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GB" sz="3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400" b="0" i="1" smtClean="0">
                            <a:latin typeface="Cambria Math" panose="02040503050406030204" pitchFamily="18" charset="0"/>
                          </a:rPr>
                          <m:t>5000</m:t>
                        </m:r>
                      </m:num>
                      <m:den>
                        <m:r>
                          <a:rPr lang="en-GB" sz="3400" b="0" i="1" smtClean="0">
                            <a:latin typeface="Cambria Math" panose="02040503050406030204" pitchFamily="18" charset="0"/>
                          </a:rPr>
                          <m:t>5200</m:t>
                        </m:r>
                      </m:den>
                    </m:f>
                    <m:r>
                      <a:rPr lang="en-GB" sz="3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GB" sz="3400" b="0" i="1" smtClean="0">
                        <a:latin typeface="Cambria Math" panose="02040503050406030204" pitchFamily="18" charset="0"/>
                      </a:rPr>
                      <m:t>0.961</m:t>
                    </m:r>
                  </m:oMath>
                </a14:m>
                <a:r>
                  <a:rPr lang="en-GB" sz="3400" dirty="0"/>
                  <a:t> after.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That reduction of </a:t>
                </a:r>
                <a14:m>
                  <m:oMath xmlns:m="http://schemas.openxmlformats.org/officeDocument/2006/math"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0.039</m:t>
                    </m:r>
                  </m:oMath>
                </a14:m>
                <a:r>
                  <a:rPr lang="en-GB" sz="3400" dirty="0"/>
                  <a:t> per unit price is referred to as Slippage.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89DE97-4190-B77D-28FD-A7768599E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  <a:blipFill>
                <a:blip r:embed="rId3"/>
                <a:stretch>
                  <a:fillRect l="-986" t="-2791" r="-1764" b="-1214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488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58422-6C47-CE86-9295-F51EDA4AA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05E10EE-73F2-0FA0-EB03-6409611AF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6C7D2AD-898F-8DCD-CD5F-11064D34B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34C8D25-7C12-859E-8471-1023898E203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AMM Complexity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281E8B5-4959-D336-6236-593C96D23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58C1DF9-ED27-D456-0476-E6E0D872F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23DF6-C1A3-7170-CCDC-B10EB2A108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What if there were 3 assets?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→1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endParaRPr lang="en-GB" sz="3200" b="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→2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endParaRPr lang="en-GB" sz="3200" b="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𝑎𝑠𝑠𝑒𝑡𝑠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GB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𝑑𝑖𝑚𝑒𝑛𝑠𝑖𝑜𝑛</m:t>
                    </m:r>
                    <m:r>
                      <m:rPr>
                        <m:sty m:val="p"/>
                      </m:rPr>
                      <a:rPr lang="en-GB" sz="3200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GB" sz="32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Say A (apples) are exchanged for B (bananas), without touching C (carrots).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3200" dirty="0"/>
                  <a:t> changes;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3200" dirty="0"/>
                  <a:t> changes;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3200" dirty="0"/>
                  <a:t> and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3200" dirty="0"/>
                  <a:t> remain unchanged.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Therefore: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GB" sz="32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GB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GB" sz="32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sz="32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Meaning third asset still bends the surface even without involvement in trade.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23DF6-C1A3-7170-CCDC-B10EB2A10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  <a:blipFill>
                <a:blip r:embed="rId3"/>
                <a:stretch>
                  <a:fillRect l="-1090" t="-2427" b="-169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045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5834A-1DFC-B43C-D188-C03E49A8F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C9A8307-A0F3-185A-78DC-DF51ECCED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2398F01-8C74-84E9-9CFA-FE25BCF05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33D472F-2FCB-992B-D0B8-F8EB1A2BBF2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AMM Complexity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028E38E-CC89-9EB7-CD9F-8D6CC814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437248B-DDE1-17BA-AE1C-DFC5AAF3D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1D4E14-5CF9-6685-DB29-1BFAA2C17F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This model creates 3 problems: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000" dirty="0"/>
                  <a:t>Liquidity dilution: liquidity is spread across all three axes.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000" dirty="0"/>
                  <a:t>Slippage explosion: large trades move you across a curved surface faster than expects.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000" dirty="0"/>
                  <a:t>Arbitrage complexity: market must sync 3 prices instead of one ratio.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Solution? A Balancer, which allocates a weight to each asset. More stable assets have more weight.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Essentially, if the assets now have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=0.5;</m:t>
                    </m:r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=0.1;</m:t>
                    </m:r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=0.4</m:t>
                    </m:r>
                  </m:oMath>
                </a14:m>
                <a:endParaRPr lang="en-GB" sz="32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Then in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3200" dirty="0"/>
                  <a:t>, a large trade of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3200" dirty="0"/>
                  <a:t> will have little impact on the value balance.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1D4E14-5CF9-6685-DB29-1BFAA2C17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  <a:blipFill>
                <a:blip r:embed="rId3"/>
                <a:stretch>
                  <a:fillRect l="-1090" t="-2427" r="-129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41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497D5-9BF1-8271-9FE8-FDFB50416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E8ADEF7-77F8-F251-13BC-B4BC3C85A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5981E8C-7EDF-435F-009D-A0218A3C6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42B1E1A-26CF-DC92-821A-223231B8D66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AMM Exercise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7BEAAC9-500C-2F22-9BCC-AEAE61B04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90FCADD-B31C-DA33-707D-217725F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7CDD47-B57C-C678-F2D5-1F352BD400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Omar, Ali and Sara have balances of 1000 Apples, Bananas and Carrots each in a liquidity pool.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Balancer assigns weights 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sz="3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GB" sz="3400" b="0" i="1" smtClean="0">
                        <a:latin typeface="Cambria Math" panose="02040503050406030204" pitchFamily="18" charset="0"/>
                      </a:rPr>
                      <m:t>=0.45;</m:t>
                    </m:r>
                    <m:sSub>
                      <m:sSubPr>
                        <m:ctrlPr>
                          <a:rPr lang="en-GB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sz="3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GB" sz="3400" b="0" i="1" smtClean="0">
                        <a:latin typeface="Cambria Math" panose="02040503050406030204" pitchFamily="18" charset="0"/>
                      </a:rPr>
                      <m:t>=0.2;</m:t>
                    </m:r>
                    <m:sSub>
                      <m:sSubPr>
                        <m:ctrlPr>
                          <a:rPr lang="en-GB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sz="3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GB" sz="3400" b="0" i="1" smtClean="0">
                        <a:latin typeface="Cambria Math" panose="02040503050406030204" pitchFamily="18" charset="0"/>
                      </a:rPr>
                      <m:t>=0.35</m:t>
                    </m:r>
                  </m:oMath>
                </a14:m>
                <a:endParaRPr lang="en-GB" sz="32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Three transactions are made sequentially: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000" dirty="0"/>
                  <a:t>Ali sells 20 Bananas to buy Carrots. How many Carrots will he get?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000" dirty="0"/>
                  <a:t>Sara sells 10 Carrots to buy Apples. How many Apples will she get?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000" dirty="0"/>
                  <a:t>Omar sells 200 Apples to buy Bananas. How many Bananas will he get?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Note down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32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GB" sz="3200" dirty="0"/>
                  <a:t> for each </a:t>
                </a:r>
                <a:r>
                  <a:rPr lang="en-GB" sz="3200"/>
                  <a:t>commodity.</a:t>
                </a:r>
                <a:endParaRPr lang="en-GB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7CDD47-B57C-C678-F2D5-1F352BD40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5020613"/>
              </a:xfrm>
              <a:prstGeom prst="rect">
                <a:avLst/>
              </a:prstGeom>
              <a:blipFill>
                <a:blip r:embed="rId3"/>
                <a:stretch>
                  <a:fillRect l="-1297" t="-267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259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5C701-3F37-3CA3-3BF2-541D08123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8846C95-47C7-9095-0E38-E566706C5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5B98023-5C6B-1F60-46A8-387B1F0B3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7E02404-39DF-5375-773F-7DEEF978B10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DAO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1036159-FAE8-9890-C984-195BE587C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654E773-5DBF-EB27-C909-D304A739F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860CC-0BF4-5986-2A8B-3EF15B2EB369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Decentralized Autonomous Organizations are: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Trustless, self-sustained, fully autonomous, open-source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Run by members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No single leader or board of directors.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Members lock their Tokens </a:t>
            </a:r>
            <a:r>
              <a:rPr lang="en-GB" sz="3400" dirty="0" err="1"/>
              <a:t>i</a:t>
            </a:r>
            <a:r>
              <a:rPr lang="en-US" sz="3600" dirty="0"/>
              <a:t>n governance contracts to vote on proposals to make changes to rules (code).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E.g. </a:t>
            </a:r>
            <a:r>
              <a:rPr lang="en-US" sz="3600" dirty="0" err="1"/>
              <a:t>MakerDAO</a:t>
            </a:r>
            <a:r>
              <a:rPr lang="en-US" sz="3600" dirty="0"/>
              <a:t> (MKR) holders govern the DAI stablecoin.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However, big token holders have a higher leverage. Thus, creating a threat of Dictatorship in a Democratized system.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Test! The DAO should still operate even if the original owner/deployer is removed from the Organization.</a:t>
            </a:r>
          </a:p>
        </p:txBody>
      </p:sp>
    </p:spTree>
    <p:extLst>
      <p:ext uri="{BB962C8B-B14F-4D97-AF65-F5344CB8AC3E}">
        <p14:creationId xmlns:p14="http://schemas.microsoft.com/office/powerpoint/2010/main" val="3500823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211EE-BD19-04D1-D106-4933A4547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C7CC0ED-0564-7A18-180F-A69C9BC9E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0D53FB0-7C95-E051-D68F-7BD840E69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1233909-D70A-630B-F264-937AAD2857BB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DAO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78A1671-4213-B275-7ECF-6FDF566C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FC03B7A-E27A-0EB8-6A96-9E4DE1F22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562E1-CD55-C2E4-2347-481A6E430A1C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Let’s say Omar deploys a smart contract in which his address is genesis owner.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Through contract functions, he can impose a rule of membership like: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Genesis address cannot participate in any activity.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Anyone can apply for membership by staking 0.15ETH.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If the joining fee is to be reduced or increased, 2/3 of existing members must vote for it.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One address equals one membership.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Members can be exit and forcefully removed.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If membership is revoked, or disallowed, or exited, the original fee is refunded.</a:t>
            </a:r>
          </a:p>
        </p:txBody>
      </p:sp>
    </p:spTree>
    <p:extLst>
      <p:ext uri="{BB962C8B-B14F-4D97-AF65-F5344CB8AC3E}">
        <p14:creationId xmlns:p14="http://schemas.microsoft.com/office/powerpoint/2010/main" val="270257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0363E-3C72-AA8A-FCDB-E852D3348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A96D4A3-902D-B183-5843-746D2435D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46FDD46-D472-C7CB-1C8E-D76A7CA005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2AADE8C-72FF-274E-39AA-312E3943305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DAO – Issues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8CA1C47-52C3-B1F9-44DC-303FC2E25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58DB665-78B2-3902-8D4C-1AF43EF8F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3AE4E-EE8E-AAD5-5CA9-31AB76C32400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On paper, DAOs seem to be a perfect solution for all problems. But…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 DAO cannot have business secrets due to transparency.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DAOs are open-source. You can read the code, so can the attackers.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The most (in)famous DAO, </a:t>
            </a:r>
            <a:r>
              <a:rPr lang="en-US" sz="3400" i="1" dirty="0"/>
              <a:t>The DAO</a:t>
            </a:r>
            <a:r>
              <a:rPr lang="en-US" sz="3400" dirty="0"/>
              <a:t> was a VC fund created in 2016.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Out of $150M, an attacker successfully drained $50M.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This massive heist resulted in split of Ethereum and Ethereum classic.</a:t>
            </a:r>
          </a:p>
        </p:txBody>
      </p:sp>
    </p:spTree>
    <p:extLst>
      <p:ext uri="{BB962C8B-B14F-4D97-AF65-F5344CB8AC3E}">
        <p14:creationId xmlns:p14="http://schemas.microsoft.com/office/powerpoint/2010/main" val="123714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D1B61-F1AD-56ED-B589-AE5CE77BC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BA243A7-6B6A-4145-371D-CFC738570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DC39CD8-D7F1-E087-ACFD-DED9B7270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3F4D99B-9321-2D38-846F-C2BBE122AF9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Ethereum Token Standards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70D38F4-E2E6-7F4A-E6CE-EB5F099C4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18C7261-1A17-95DC-9575-6BFAB3E4A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8DF36-6A0E-2EA8-4A85-F18963D3FD9F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ERC-20 (Ethereum Request for Comments # 2)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Standard for fungible token, i.e. value is interchangeable.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Implements a common set of functions like t</a:t>
            </a:r>
            <a:r>
              <a:rPr lang="en-US" sz="3200" dirty="0" err="1"/>
              <a:t>otalSupply</a:t>
            </a:r>
            <a:r>
              <a:rPr lang="en-US" sz="3200" dirty="0"/>
              <a:t>, transfer, approve, etc.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Virtually every DeFi token is an ERC-20 token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 err="1"/>
              <a:t>OpenZeppelin’s</a:t>
            </a:r>
            <a:r>
              <a:rPr lang="en-US" sz="3400" dirty="0"/>
              <a:t> ERC20 contract can be imported to create your own token.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Ensures tokens can be freely exchanged and integrated across the ecosystem.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Examples: USDC, USDT, </a:t>
            </a:r>
            <a:r>
              <a:rPr lang="en-US" sz="3600" dirty="0" err="1"/>
              <a:t>MakerDAO</a:t>
            </a:r>
            <a:r>
              <a:rPr lang="en-US" sz="3600" dirty="0"/>
              <a:t>, Uniswap, </a:t>
            </a:r>
            <a:r>
              <a:rPr lang="en-US" sz="3600" dirty="0" err="1"/>
              <a:t>Chainlink</a:t>
            </a:r>
            <a:r>
              <a:rPr lang="en-US" sz="3600" dirty="0"/>
              <a:t>, DAI, …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325324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ECAC2-87B0-A78E-D1BB-67298BECC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52D2061-3A37-04AA-F52C-59061FEB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671D749-CBB9-3214-34C8-40DF1F704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1566EDF-E484-338B-6052-52111CD317A5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Ethereum Token Standards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6F9265C-1029-9302-B0BC-5418A6BAF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F55996C-46EA-09BA-8784-B6683A89C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23950-7055-01D4-A52A-FBD467B61949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ERC-721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Standard for non-fungible token, i.e. unique one-of-a-kind tokens.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Cannot be swapped in 1-1 fashion.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Best for collectibles, art, game artifacts and indivisible assets.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 err="1"/>
              <a:t>OpenZeppelin’s</a:t>
            </a:r>
            <a:r>
              <a:rPr lang="en-US" sz="3400" dirty="0"/>
              <a:t> ERC721 contract can be imported to create your own unique token.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They implement complex functions like award, </a:t>
            </a:r>
            <a:r>
              <a:rPr lang="en-US" sz="3400" dirty="0" err="1"/>
              <a:t>tokenURI</a:t>
            </a:r>
            <a:r>
              <a:rPr lang="en-US" sz="3400" dirty="0"/>
              <a:t>, etc.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Examples: </a:t>
            </a:r>
            <a:r>
              <a:rPr lang="en-US" sz="3600" dirty="0" err="1"/>
              <a:t>CryptoKitties</a:t>
            </a:r>
            <a:r>
              <a:rPr lang="en-US" sz="3600" dirty="0"/>
              <a:t>, Bored Ape Yacht Club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16761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0E89E-114A-F753-BA8E-F5444BD09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6C2370A-C38C-6680-54DC-A5B0678EB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75CD432-CA41-9F53-8A9B-761A5BB7B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2BE8231-E7DA-34B1-629B-21174AFBE56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Ethereum Token Standards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BF65E41-CF5A-C347-1205-1C673B8E6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A5E442D-5B62-C79E-6990-716B4A2F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C14E3-0D59-12B0-7A35-B3D3BCC0977B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ERC-1155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 multi-token standard for both fungible and non-fungible tokens.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Useful for games or collections where you have 1 million fungible “gold coins” and a few unique “swords,” all in one contract.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Highly gas-optimized due to batch transfers.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This is quite recent and used primarily in games.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091090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539CC-F128-2419-8B9C-52B6B0FBB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B00A884-C226-64E6-60F4-D9F5D0B38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8022BE9-7F03-E4A1-7C39-7DD32B3F2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DC31307-E769-F6AF-2189-FE1585D02B2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Trading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D827ACD-9F65-492C-E7E6-B924D4EDE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8522FEF-524C-618E-666E-234303D58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9670B-C5A1-4E01-662A-ADCBA8B0B0C9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3400" i="1" dirty="0"/>
              <a:t>DIY! You will be provided notes on this topic. Please study, but at this point, I would advise you to refrain from practical trading.</a:t>
            </a:r>
          </a:p>
        </p:txBody>
      </p:sp>
    </p:spTree>
    <p:extLst>
      <p:ext uri="{BB962C8B-B14F-4D97-AF65-F5344CB8AC3E}">
        <p14:creationId xmlns:p14="http://schemas.microsoft.com/office/powerpoint/2010/main" val="32809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53FDE-01C4-31C9-6840-D06B6D559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E0EFBA7-025F-740A-625E-703D57EFE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6971249-3503-E348-73E4-428615A55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0FE282B-A8E5-9667-3952-11D8E2AEBDD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Assignment 3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BA2329B-8D3A-D601-AD55-88A265A99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84EB53B-CEE2-3122-2186-D0E4E6C76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92D59-559F-841E-6F2C-7A803969B81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5020613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Based on your SID’s last digit, pick one of the concepts and explain in  </a:t>
            </a:r>
            <a:r>
              <a:rPr lang="ur-PK" sz="3400" dirty="0"/>
              <a:t>اردو</a:t>
            </a:r>
            <a:r>
              <a:rPr lang="en-US" sz="3400" dirty="0"/>
              <a:t> in 1 page.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lphaLcPeriod"/>
            </a:pPr>
            <a:r>
              <a:rPr lang="en-US" sz="3200" dirty="0"/>
              <a:t>SID ending with 2: Book-order vs AMM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lphaLcPeriod"/>
            </a:pPr>
            <a:r>
              <a:rPr lang="en-US" sz="3200" dirty="0"/>
              <a:t>SID ending with 5: Why Algorithmic Stablecoins failed?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lphaLcPeriod"/>
            </a:pPr>
            <a:r>
              <a:rPr lang="en-US" sz="3200" dirty="0"/>
              <a:t>SID ending with 6: CEX, its advantages and compromise on privacy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lphaLcPeriod"/>
            </a:pPr>
            <a:r>
              <a:rPr lang="en-US" sz="3200" dirty="0"/>
              <a:t>SID ending with 7: DEX and success behind Uniswap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lphaLcPeriod"/>
            </a:pPr>
            <a:r>
              <a:rPr lang="en-US" sz="3200" dirty="0"/>
              <a:t>SID ending with 9: How </a:t>
            </a:r>
            <a:r>
              <a:rPr lang="en-US" sz="3200" i="1" dirty="0"/>
              <a:t>The DAO</a:t>
            </a:r>
            <a:r>
              <a:rPr lang="en-US" sz="3200" dirty="0"/>
              <a:t> caused first Ethereum hard fork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lphaLcPeriod"/>
            </a:pPr>
            <a:r>
              <a:rPr lang="en-US" sz="3200" dirty="0"/>
              <a:t>Others: Free to choose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400" dirty="0">
                <a:solidFill>
                  <a:srgbClr val="FF0000"/>
                </a:solidFill>
              </a:rPr>
              <a:t>Using AI is strictly forbidden for this assignment. You are not allowed to use it even for learning. Any such attempt will be counted as plagiarism.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3400" i="1" dirty="0"/>
              <a:t>I recommend learning from YouTube channel “Whiteboard Crypto”</a:t>
            </a:r>
          </a:p>
        </p:txBody>
      </p:sp>
    </p:spTree>
    <p:extLst>
      <p:ext uri="{BB962C8B-B14F-4D97-AF65-F5344CB8AC3E}">
        <p14:creationId xmlns:p14="http://schemas.microsoft.com/office/powerpoint/2010/main" val="1581582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2195</TotalTime>
  <Words>2449</Words>
  <Application>Microsoft Macintosh PowerPoint</Application>
  <PresentationFormat>Widescreen</PresentationFormat>
  <Paragraphs>253</Paragraphs>
  <Slides>27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Biome Light</vt:lpstr>
      <vt:lpstr>Calibri</vt:lpstr>
      <vt:lpstr>Calibri Light</vt:lpstr>
      <vt:lpstr>Cambria Math</vt:lpstr>
      <vt:lpstr>Wingdings</vt:lpstr>
      <vt:lpstr>Office Theme</vt:lpstr>
      <vt:lpstr>DECENTRALIZED APPLICATION DEVELOPMENT (119389)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Rabeeba Batool</cp:lastModifiedBy>
  <cp:revision>3</cp:revision>
  <dcterms:created xsi:type="dcterms:W3CDTF">2022-11-22T20:08:03Z</dcterms:created>
  <dcterms:modified xsi:type="dcterms:W3CDTF">2026-07-10T06:11:01Z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