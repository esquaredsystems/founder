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handoutMasterIdLst>
    <p:handoutMasterId r:id="rId37"/>
  </p:handoutMasterIdLst>
  <p:sldIdLst>
    <p:sldId id="2503" r:id="rId5"/>
    <p:sldId id="2462" r:id="rId6"/>
    <p:sldId id="2508" r:id="rId7"/>
    <p:sldId id="2546" r:id="rId8"/>
    <p:sldId id="2547" r:id="rId9"/>
    <p:sldId id="2549" r:id="rId10"/>
    <p:sldId id="2550" r:id="rId11"/>
    <p:sldId id="2556" r:id="rId12"/>
    <p:sldId id="2573" r:id="rId13"/>
    <p:sldId id="2574" r:id="rId14"/>
    <p:sldId id="2576" r:id="rId15"/>
    <p:sldId id="2575" r:id="rId16"/>
    <p:sldId id="2535" r:id="rId17"/>
    <p:sldId id="2548" r:id="rId18"/>
    <p:sldId id="2557" r:id="rId19"/>
    <p:sldId id="2559" r:id="rId20"/>
    <p:sldId id="2558" r:id="rId21"/>
    <p:sldId id="2560" r:id="rId22"/>
    <p:sldId id="2561" r:id="rId23"/>
    <p:sldId id="2562" r:id="rId24"/>
    <p:sldId id="2572" r:id="rId25"/>
    <p:sldId id="2571" r:id="rId26"/>
    <p:sldId id="2564" r:id="rId27"/>
    <p:sldId id="2552" r:id="rId28"/>
    <p:sldId id="2566" r:id="rId29"/>
    <p:sldId id="2568" r:id="rId30"/>
    <p:sldId id="2565" r:id="rId31"/>
    <p:sldId id="2563" r:id="rId32"/>
    <p:sldId id="2567" r:id="rId33"/>
    <p:sldId id="2570" r:id="rId34"/>
    <p:sldId id="243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2288" autoAdjust="0"/>
  </p:normalViewPr>
  <p:slideViewPr>
    <p:cSldViewPr snapToGrid="0">
      <p:cViewPr varScale="1">
        <p:scale>
          <a:sx n="76" d="100"/>
          <a:sy n="76" d="100"/>
        </p:scale>
        <p:origin x="730"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0577D98B-C5DD-421E-AB63-1BC2B2B46ADA}"/>
    <pc:docChg chg="undo redo custSel addSld delSld modSld sldOrd">
      <pc:chgData name="Owais Ahmed" userId="6abc7d4556b3b071" providerId="LiveId" clId="{0577D98B-C5DD-421E-AB63-1BC2B2B46ADA}" dt="2023-08-17T05:22:07.771" v="13343" actId="20577"/>
      <pc:docMkLst>
        <pc:docMk/>
      </pc:docMkLst>
      <pc:sldChg chg="modSp mod">
        <pc:chgData name="Owais Ahmed" userId="6abc7d4556b3b071" providerId="LiveId" clId="{0577D98B-C5DD-421E-AB63-1BC2B2B46ADA}" dt="2023-08-10T06:52:37.637" v="12972" actId="20577"/>
        <pc:sldMkLst>
          <pc:docMk/>
          <pc:sldMk cId="1649098948" sldId="2462"/>
        </pc:sldMkLst>
        <pc:spChg chg="mod">
          <ac:chgData name="Owais Ahmed" userId="6abc7d4556b3b071" providerId="LiveId" clId="{0577D98B-C5DD-421E-AB63-1BC2B2B46ADA}" dt="2023-08-10T06:52:37.637" v="12972" actId="20577"/>
          <ac:spMkLst>
            <pc:docMk/>
            <pc:sldMk cId="1649098948" sldId="2462"/>
            <ac:spMk id="6" creationId="{F3C89A40-EEAA-43AB-9A3A-B2CFDE450F1B}"/>
          </ac:spMkLst>
        </pc:spChg>
      </pc:sldChg>
      <pc:sldChg chg="modSp mod modAnim">
        <pc:chgData name="Owais Ahmed" userId="6abc7d4556b3b071" providerId="LiveId" clId="{0577D98B-C5DD-421E-AB63-1BC2B2B46ADA}" dt="2023-08-08T04:53:48.719" v="1544" actId="20577"/>
        <pc:sldMkLst>
          <pc:docMk/>
          <pc:sldMk cId="296501705" sldId="2557"/>
        </pc:sldMkLst>
        <pc:spChg chg="mod">
          <ac:chgData name="Owais Ahmed" userId="6abc7d4556b3b071" providerId="LiveId" clId="{0577D98B-C5DD-421E-AB63-1BC2B2B46ADA}" dt="2023-08-08T04:53:48.719" v="1544" actId="20577"/>
          <ac:spMkLst>
            <pc:docMk/>
            <pc:sldMk cId="296501705" sldId="2557"/>
            <ac:spMk id="3" creationId="{4A1C0383-58FE-E486-295E-B33B8683B938}"/>
          </ac:spMkLst>
        </pc:spChg>
        <pc:spChg chg="mod">
          <ac:chgData name="Owais Ahmed" userId="6abc7d4556b3b071" providerId="LiveId" clId="{0577D98B-C5DD-421E-AB63-1BC2B2B46ADA}" dt="2023-08-08T04:30:12.140" v="248" actId="20577"/>
          <ac:spMkLst>
            <pc:docMk/>
            <pc:sldMk cId="296501705" sldId="2557"/>
            <ac:spMk id="215" creationId="{00000000-0000-0000-0000-000000000000}"/>
          </ac:spMkLst>
        </pc:spChg>
      </pc:sldChg>
      <pc:sldChg chg="modSp add mod modAnim">
        <pc:chgData name="Owais Ahmed" userId="6abc7d4556b3b071" providerId="LiveId" clId="{0577D98B-C5DD-421E-AB63-1BC2B2B46ADA}" dt="2023-08-08T06:09:17.859" v="5437" actId="20577"/>
        <pc:sldMkLst>
          <pc:docMk/>
          <pc:sldMk cId="53512322" sldId="2558"/>
        </pc:sldMkLst>
        <pc:spChg chg="mod">
          <ac:chgData name="Owais Ahmed" userId="6abc7d4556b3b071" providerId="LiveId" clId="{0577D98B-C5DD-421E-AB63-1BC2B2B46ADA}" dt="2023-08-08T06:09:17.859" v="5437" actId="20577"/>
          <ac:spMkLst>
            <pc:docMk/>
            <pc:sldMk cId="53512322" sldId="2558"/>
            <ac:spMk id="3" creationId="{4A1C0383-58FE-E486-295E-B33B8683B938}"/>
          </ac:spMkLst>
        </pc:spChg>
      </pc:sldChg>
      <pc:sldChg chg="del">
        <pc:chgData name="Owais Ahmed" userId="6abc7d4556b3b071" providerId="LiveId" clId="{0577D98B-C5DD-421E-AB63-1BC2B2B46ADA}" dt="2023-08-08T04:30:01.815" v="224" actId="47"/>
        <pc:sldMkLst>
          <pc:docMk/>
          <pc:sldMk cId="3909667495" sldId="2558"/>
        </pc:sldMkLst>
      </pc:sldChg>
      <pc:sldChg chg="addSp modSp add mod ord modAnim modNotesTx">
        <pc:chgData name="Owais Ahmed" userId="6abc7d4556b3b071" providerId="LiveId" clId="{0577D98B-C5DD-421E-AB63-1BC2B2B46ADA}" dt="2023-08-08T06:04:48.445" v="5079"/>
        <pc:sldMkLst>
          <pc:docMk/>
          <pc:sldMk cId="1566808580" sldId="2559"/>
        </pc:sldMkLst>
        <pc:spChg chg="mod">
          <ac:chgData name="Owais Ahmed" userId="6abc7d4556b3b071" providerId="LiveId" clId="{0577D98B-C5DD-421E-AB63-1BC2B2B46ADA}" dt="2023-08-08T05:48:34.035" v="4439" actId="20577"/>
          <ac:spMkLst>
            <pc:docMk/>
            <pc:sldMk cId="1566808580" sldId="2559"/>
            <ac:spMk id="3" creationId="{4A1C0383-58FE-E486-295E-B33B8683B938}"/>
          </ac:spMkLst>
        </pc:spChg>
        <pc:graphicFrameChg chg="add mod modGraphic">
          <ac:chgData name="Owais Ahmed" userId="6abc7d4556b3b071" providerId="LiveId" clId="{0577D98B-C5DD-421E-AB63-1BC2B2B46ADA}" dt="2023-08-08T05:28:00.811" v="3618" actId="404"/>
          <ac:graphicFrameMkLst>
            <pc:docMk/>
            <pc:sldMk cId="1566808580" sldId="2559"/>
            <ac:graphicFrameMk id="4" creationId="{3BD80CFA-71B3-B1D4-C38D-511EF67DF039}"/>
          </ac:graphicFrameMkLst>
        </pc:graphicFrameChg>
      </pc:sldChg>
      <pc:sldChg chg="del">
        <pc:chgData name="Owais Ahmed" userId="6abc7d4556b3b071" providerId="LiveId" clId="{0577D98B-C5DD-421E-AB63-1BC2B2B46ADA}" dt="2023-08-08T04:30:01.815" v="224" actId="47"/>
        <pc:sldMkLst>
          <pc:docMk/>
          <pc:sldMk cId="3856755703" sldId="2559"/>
        </pc:sldMkLst>
      </pc:sldChg>
      <pc:sldChg chg="modSp add mod ord modAnim">
        <pc:chgData name="Owais Ahmed" userId="6abc7d4556b3b071" providerId="LiveId" clId="{0577D98B-C5DD-421E-AB63-1BC2B2B46ADA}" dt="2023-08-17T04:36:39.056" v="13321" actId="20577"/>
        <pc:sldMkLst>
          <pc:docMk/>
          <pc:sldMk cId="3737636412" sldId="2560"/>
        </pc:sldMkLst>
        <pc:spChg chg="mod">
          <ac:chgData name="Owais Ahmed" userId="6abc7d4556b3b071" providerId="LiveId" clId="{0577D98B-C5DD-421E-AB63-1BC2B2B46ADA}" dt="2023-08-17T04:36:39.056" v="13321" actId="20577"/>
          <ac:spMkLst>
            <pc:docMk/>
            <pc:sldMk cId="3737636412" sldId="2560"/>
            <ac:spMk id="3" creationId="{4A1C0383-58FE-E486-295E-B33B8683B938}"/>
          </ac:spMkLst>
        </pc:spChg>
      </pc:sldChg>
      <pc:sldChg chg="del">
        <pc:chgData name="Owais Ahmed" userId="6abc7d4556b3b071" providerId="LiveId" clId="{0577D98B-C5DD-421E-AB63-1BC2B2B46ADA}" dt="2023-08-08T04:30:01.815" v="224" actId="47"/>
        <pc:sldMkLst>
          <pc:docMk/>
          <pc:sldMk cId="3846338403" sldId="2560"/>
        </pc:sldMkLst>
      </pc:sldChg>
      <pc:sldChg chg="modSp add mod modAnim">
        <pc:chgData name="Owais Ahmed" userId="6abc7d4556b3b071" providerId="LiveId" clId="{0577D98B-C5DD-421E-AB63-1BC2B2B46ADA}" dt="2023-08-08T06:28:01.622" v="6269" actId="20577"/>
        <pc:sldMkLst>
          <pc:docMk/>
          <pc:sldMk cId="1476977656" sldId="2561"/>
        </pc:sldMkLst>
        <pc:spChg chg="mod">
          <ac:chgData name="Owais Ahmed" userId="6abc7d4556b3b071" providerId="LiveId" clId="{0577D98B-C5DD-421E-AB63-1BC2B2B46ADA}" dt="2023-08-08T06:28:01.622" v="6269" actId="20577"/>
          <ac:spMkLst>
            <pc:docMk/>
            <pc:sldMk cId="1476977656" sldId="2561"/>
            <ac:spMk id="3" creationId="{4A1C0383-58FE-E486-295E-B33B8683B938}"/>
          </ac:spMkLst>
        </pc:spChg>
      </pc:sldChg>
      <pc:sldChg chg="modSp add mod modAnim">
        <pc:chgData name="Owais Ahmed" userId="6abc7d4556b3b071" providerId="LiveId" clId="{0577D98B-C5DD-421E-AB63-1BC2B2B46ADA}" dt="2023-08-08T06:19:08.356" v="5786" actId="27636"/>
        <pc:sldMkLst>
          <pc:docMk/>
          <pc:sldMk cId="1305422422" sldId="2562"/>
        </pc:sldMkLst>
        <pc:spChg chg="mod">
          <ac:chgData name="Owais Ahmed" userId="6abc7d4556b3b071" providerId="LiveId" clId="{0577D98B-C5DD-421E-AB63-1BC2B2B46ADA}" dt="2023-08-08T06:19:08.356" v="5786" actId="27636"/>
          <ac:spMkLst>
            <pc:docMk/>
            <pc:sldMk cId="1305422422" sldId="2562"/>
            <ac:spMk id="3" creationId="{4A1C0383-58FE-E486-295E-B33B8683B938}"/>
          </ac:spMkLst>
        </pc:spChg>
      </pc:sldChg>
      <pc:sldChg chg="del">
        <pc:chgData name="Owais Ahmed" userId="6abc7d4556b3b071" providerId="LiveId" clId="{0577D98B-C5DD-421E-AB63-1BC2B2B46ADA}" dt="2023-08-08T04:30:01.815" v="224" actId="47"/>
        <pc:sldMkLst>
          <pc:docMk/>
          <pc:sldMk cId="1835063850" sldId="2562"/>
        </pc:sldMkLst>
      </pc:sldChg>
      <pc:sldChg chg="del">
        <pc:chgData name="Owais Ahmed" userId="6abc7d4556b3b071" providerId="LiveId" clId="{0577D98B-C5DD-421E-AB63-1BC2B2B46ADA}" dt="2023-08-08T04:30:01.815" v="224" actId="47"/>
        <pc:sldMkLst>
          <pc:docMk/>
          <pc:sldMk cId="150925741" sldId="2563"/>
        </pc:sldMkLst>
      </pc:sldChg>
      <pc:sldChg chg="modSp add mod modAnim modNotesTx">
        <pc:chgData name="Owais Ahmed" userId="6abc7d4556b3b071" providerId="LiveId" clId="{0577D98B-C5DD-421E-AB63-1BC2B2B46ADA}" dt="2023-08-17T05:20:49.702" v="13327" actId="20577"/>
        <pc:sldMkLst>
          <pc:docMk/>
          <pc:sldMk cId="4071666753" sldId="2563"/>
        </pc:sldMkLst>
        <pc:spChg chg="mod">
          <ac:chgData name="Owais Ahmed" userId="6abc7d4556b3b071" providerId="LiveId" clId="{0577D98B-C5DD-421E-AB63-1BC2B2B46ADA}" dt="2023-08-17T05:20:49.702" v="13327" actId="20577"/>
          <ac:spMkLst>
            <pc:docMk/>
            <pc:sldMk cId="4071666753" sldId="2563"/>
            <ac:spMk id="3" creationId="{4A1C0383-58FE-E486-295E-B33B8683B938}"/>
          </ac:spMkLst>
        </pc:spChg>
        <pc:spChg chg="mod">
          <ac:chgData name="Owais Ahmed" userId="6abc7d4556b3b071" providerId="LiveId" clId="{0577D98B-C5DD-421E-AB63-1BC2B2B46ADA}" dt="2023-08-08T06:42:29.550" v="7538" actId="20577"/>
          <ac:spMkLst>
            <pc:docMk/>
            <pc:sldMk cId="4071666753" sldId="2563"/>
            <ac:spMk id="215" creationId="{00000000-0000-0000-0000-000000000000}"/>
          </ac:spMkLst>
        </pc:spChg>
      </pc:sldChg>
      <pc:sldChg chg="modSp add ord modAnim">
        <pc:chgData name="Owais Ahmed" userId="6abc7d4556b3b071" providerId="LiveId" clId="{0577D98B-C5DD-421E-AB63-1BC2B2B46ADA}" dt="2023-08-08T06:42:16.212" v="7530"/>
        <pc:sldMkLst>
          <pc:docMk/>
          <pc:sldMk cId="2526141006" sldId="2564"/>
        </pc:sldMkLst>
        <pc:spChg chg="mod">
          <ac:chgData name="Owais Ahmed" userId="6abc7d4556b3b071" providerId="LiveId" clId="{0577D98B-C5DD-421E-AB63-1BC2B2B46ADA}" dt="2023-08-08T06:41:39.010" v="7528" actId="20577"/>
          <ac:spMkLst>
            <pc:docMk/>
            <pc:sldMk cId="2526141006" sldId="2564"/>
            <ac:spMk id="3" creationId="{4A1C0383-58FE-E486-295E-B33B8683B938}"/>
          </ac:spMkLst>
        </pc:spChg>
      </pc:sldChg>
      <pc:sldChg chg="del">
        <pc:chgData name="Owais Ahmed" userId="6abc7d4556b3b071" providerId="LiveId" clId="{0577D98B-C5DD-421E-AB63-1BC2B2B46ADA}" dt="2023-08-08T04:30:01.815" v="224" actId="47"/>
        <pc:sldMkLst>
          <pc:docMk/>
          <pc:sldMk cId="3164841762" sldId="2564"/>
        </pc:sldMkLst>
      </pc:sldChg>
      <pc:sldChg chg="modSp add mod modAnim">
        <pc:chgData name="Owais Ahmed" userId="6abc7d4556b3b071" providerId="LiveId" clId="{0577D98B-C5DD-421E-AB63-1BC2B2B46ADA}" dt="2023-08-09T05:49:12.930" v="11759" actId="20577"/>
        <pc:sldMkLst>
          <pc:docMk/>
          <pc:sldMk cId="2724244378" sldId="2565"/>
        </pc:sldMkLst>
        <pc:spChg chg="mod">
          <ac:chgData name="Owais Ahmed" userId="6abc7d4556b3b071" providerId="LiveId" clId="{0577D98B-C5DD-421E-AB63-1BC2B2B46ADA}" dt="2023-08-09T05:49:12.930" v="11759" actId="20577"/>
          <ac:spMkLst>
            <pc:docMk/>
            <pc:sldMk cId="2724244378" sldId="2565"/>
            <ac:spMk id="3" creationId="{4A1C0383-58FE-E486-295E-B33B8683B938}"/>
          </ac:spMkLst>
        </pc:spChg>
        <pc:spChg chg="mod">
          <ac:chgData name="Owais Ahmed" userId="6abc7d4556b3b071" providerId="LiveId" clId="{0577D98B-C5DD-421E-AB63-1BC2B2B46ADA}" dt="2023-08-08T07:01:34.677" v="8701" actId="20577"/>
          <ac:spMkLst>
            <pc:docMk/>
            <pc:sldMk cId="2724244378" sldId="2565"/>
            <ac:spMk id="215" creationId="{00000000-0000-0000-0000-000000000000}"/>
          </ac:spMkLst>
        </pc:spChg>
      </pc:sldChg>
      <pc:sldChg chg="del">
        <pc:chgData name="Owais Ahmed" userId="6abc7d4556b3b071" providerId="LiveId" clId="{0577D98B-C5DD-421E-AB63-1BC2B2B46ADA}" dt="2023-08-08T04:30:01.815" v="224" actId="47"/>
        <pc:sldMkLst>
          <pc:docMk/>
          <pc:sldMk cId="4253636147" sldId="2565"/>
        </pc:sldMkLst>
      </pc:sldChg>
      <pc:sldChg chg="modSp add mod modAnim">
        <pc:chgData name="Owais Ahmed" userId="6abc7d4556b3b071" providerId="LiveId" clId="{0577D98B-C5DD-421E-AB63-1BC2B2B46ADA}" dt="2023-08-08T07:07:10.128" v="9166" actId="20577"/>
        <pc:sldMkLst>
          <pc:docMk/>
          <pc:sldMk cId="1651103511" sldId="2566"/>
        </pc:sldMkLst>
        <pc:spChg chg="mod">
          <ac:chgData name="Owais Ahmed" userId="6abc7d4556b3b071" providerId="LiveId" clId="{0577D98B-C5DD-421E-AB63-1BC2B2B46ADA}" dt="2023-08-08T07:07:10.128" v="9166" actId="20577"/>
          <ac:spMkLst>
            <pc:docMk/>
            <pc:sldMk cId="1651103511" sldId="2566"/>
            <ac:spMk id="3" creationId="{4A1C0383-58FE-E486-295E-B33B8683B938}"/>
          </ac:spMkLst>
        </pc:spChg>
        <pc:spChg chg="mod">
          <ac:chgData name="Owais Ahmed" userId="6abc7d4556b3b071" providerId="LiveId" clId="{0577D98B-C5DD-421E-AB63-1BC2B2B46ADA}" dt="2023-08-08T06:59:36.886" v="8517" actId="20577"/>
          <ac:spMkLst>
            <pc:docMk/>
            <pc:sldMk cId="1651103511" sldId="2566"/>
            <ac:spMk id="215" creationId="{00000000-0000-0000-0000-000000000000}"/>
          </ac:spMkLst>
        </pc:spChg>
      </pc:sldChg>
      <pc:sldChg chg="del">
        <pc:chgData name="Owais Ahmed" userId="6abc7d4556b3b071" providerId="LiveId" clId="{0577D98B-C5DD-421E-AB63-1BC2B2B46ADA}" dt="2023-08-08T04:30:01.815" v="224" actId="47"/>
        <pc:sldMkLst>
          <pc:docMk/>
          <pc:sldMk cId="2684752333" sldId="2566"/>
        </pc:sldMkLst>
      </pc:sldChg>
      <pc:sldChg chg="del">
        <pc:chgData name="Owais Ahmed" userId="6abc7d4556b3b071" providerId="LiveId" clId="{0577D98B-C5DD-421E-AB63-1BC2B2B46ADA}" dt="2023-08-08T04:30:01.815" v="224" actId="47"/>
        <pc:sldMkLst>
          <pc:docMk/>
          <pc:sldMk cId="138900574" sldId="2567"/>
        </pc:sldMkLst>
      </pc:sldChg>
      <pc:sldChg chg="modSp add mod ord modAnim">
        <pc:chgData name="Owais Ahmed" userId="6abc7d4556b3b071" providerId="LiveId" clId="{0577D98B-C5DD-421E-AB63-1BC2B2B46ADA}" dt="2023-08-09T04:46:06.639" v="11469" actId="14100"/>
        <pc:sldMkLst>
          <pc:docMk/>
          <pc:sldMk cId="1966528427" sldId="2567"/>
        </pc:sldMkLst>
        <pc:spChg chg="mod">
          <ac:chgData name="Owais Ahmed" userId="6abc7d4556b3b071" providerId="LiveId" clId="{0577D98B-C5DD-421E-AB63-1BC2B2B46ADA}" dt="2023-08-09T04:46:06.639" v="11469" actId="14100"/>
          <ac:spMkLst>
            <pc:docMk/>
            <pc:sldMk cId="1966528427" sldId="2567"/>
            <ac:spMk id="3" creationId="{4A1C0383-58FE-E486-295E-B33B8683B938}"/>
          </ac:spMkLst>
        </pc:spChg>
      </pc:sldChg>
      <pc:sldChg chg="modSp add mod modAnim">
        <pc:chgData name="Owais Ahmed" userId="6abc7d4556b3b071" providerId="LiveId" clId="{0577D98B-C5DD-421E-AB63-1BC2B2B46ADA}" dt="2023-08-09T03:58:25.881" v="10100" actId="20577"/>
        <pc:sldMkLst>
          <pc:docMk/>
          <pc:sldMk cId="146458992" sldId="2568"/>
        </pc:sldMkLst>
        <pc:spChg chg="mod">
          <ac:chgData name="Owais Ahmed" userId="6abc7d4556b3b071" providerId="LiveId" clId="{0577D98B-C5DD-421E-AB63-1BC2B2B46ADA}" dt="2023-08-09T03:58:25.881" v="10100" actId="20577"/>
          <ac:spMkLst>
            <pc:docMk/>
            <pc:sldMk cId="146458992" sldId="2568"/>
            <ac:spMk id="3" creationId="{4A1C0383-58FE-E486-295E-B33B8683B938}"/>
          </ac:spMkLst>
        </pc:spChg>
      </pc:sldChg>
      <pc:sldChg chg="del">
        <pc:chgData name="Owais Ahmed" userId="6abc7d4556b3b071" providerId="LiveId" clId="{0577D98B-C5DD-421E-AB63-1BC2B2B46ADA}" dt="2023-08-08T04:30:01.815" v="224" actId="47"/>
        <pc:sldMkLst>
          <pc:docMk/>
          <pc:sldMk cId="1329531230" sldId="2568"/>
        </pc:sldMkLst>
      </pc:sldChg>
      <pc:sldChg chg="del">
        <pc:chgData name="Owais Ahmed" userId="6abc7d4556b3b071" providerId="LiveId" clId="{0577D98B-C5DD-421E-AB63-1BC2B2B46ADA}" dt="2023-08-08T04:30:01.815" v="224" actId="47"/>
        <pc:sldMkLst>
          <pc:docMk/>
          <pc:sldMk cId="213204764" sldId="2569"/>
        </pc:sldMkLst>
      </pc:sldChg>
      <pc:sldChg chg="modSp add mod ord modAnim">
        <pc:chgData name="Owais Ahmed" userId="6abc7d4556b3b071" providerId="LiveId" clId="{0577D98B-C5DD-421E-AB63-1BC2B2B46ADA}" dt="2023-08-17T05:22:07.771" v="13343" actId="20577"/>
        <pc:sldMkLst>
          <pc:docMk/>
          <pc:sldMk cId="3185756575" sldId="2569"/>
        </pc:sldMkLst>
        <pc:spChg chg="mod">
          <ac:chgData name="Owais Ahmed" userId="6abc7d4556b3b071" providerId="LiveId" clId="{0577D98B-C5DD-421E-AB63-1BC2B2B46ADA}" dt="2023-08-17T05:22:07.771" v="13343" actId="20577"/>
          <ac:spMkLst>
            <pc:docMk/>
            <pc:sldMk cId="3185756575" sldId="2569"/>
            <ac:spMk id="3" creationId="{4A1C0383-58FE-E486-295E-B33B8683B938}"/>
          </ac:spMkLst>
        </pc:spChg>
        <pc:spChg chg="mod">
          <ac:chgData name="Owais Ahmed" userId="6abc7d4556b3b071" providerId="LiveId" clId="{0577D98B-C5DD-421E-AB63-1BC2B2B46ADA}" dt="2023-08-09T04:48:00.107" v="11489" actId="20577"/>
          <ac:spMkLst>
            <pc:docMk/>
            <pc:sldMk cId="3185756575" sldId="2569"/>
            <ac:spMk id="215" creationId="{00000000-0000-0000-0000-000000000000}"/>
          </ac:spMkLst>
        </pc:spChg>
      </pc:sldChg>
      <pc:sldChg chg="add del ord">
        <pc:chgData name="Owais Ahmed" userId="6abc7d4556b3b071" providerId="LiveId" clId="{0577D98B-C5DD-421E-AB63-1BC2B2B46ADA}" dt="2023-08-09T03:58:43.100" v="10104" actId="47"/>
        <pc:sldMkLst>
          <pc:docMk/>
          <pc:sldMk cId="3582719364" sldId="2569"/>
        </pc:sldMkLst>
      </pc:sldChg>
      <pc:sldChg chg="modSp add mod modAnim">
        <pc:chgData name="Owais Ahmed" userId="6abc7d4556b3b071" providerId="LiveId" clId="{0577D98B-C5DD-421E-AB63-1BC2B2B46ADA}" dt="2023-08-10T06:51:02.280" v="12937" actId="20577"/>
        <pc:sldMkLst>
          <pc:docMk/>
          <pc:sldMk cId="1158033807" sldId="2570"/>
        </pc:sldMkLst>
        <pc:spChg chg="mod">
          <ac:chgData name="Owais Ahmed" userId="6abc7d4556b3b071" providerId="LiveId" clId="{0577D98B-C5DD-421E-AB63-1BC2B2B46ADA}" dt="2023-08-10T06:51:02.280" v="12937" actId="20577"/>
          <ac:spMkLst>
            <pc:docMk/>
            <pc:sldMk cId="1158033807" sldId="2570"/>
            <ac:spMk id="3" creationId="{4A1C0383-58FE-E486-295E-B33B8683B938}"/>
          </ac:spMkLst>
        </pc:spChg>
        <pc:spChg chg="mod">
          <ac:chgData name="Owais Ahmed" userId="6abc7d4556b3b071" providerId="LiveId" clId="{0577D98B-C5DD-421E-AB63-1BC2B2B46ADA}" dt="2023-08-09T06:11:51.509" v="12495"/>
          <ac:spMkLst>
            <pc:docMk/>
            <pc:sldMk cId="1158033807" sldId="2570"/>
            <ac:spMk id="215" creationId="{00000000-0000-0000-0000-000000000000}"/>
          </ac:spMkLst>
        </pc:spChg>
      </pc:sldChg>
      <pc:sldChg chg="del">
        <pc:chgData name="Owais Ahmed" userId="6abc7d4556b3b071" providerId="LiveId" clId="{0577D98B-C5DD-421E-AB63-1BC2B2B46ADA}" dt="2023-08-08T04:30:01.815" v="224" actId="47"/>
        <pc:sldMkLst>
          <pc:docMk/>
          <pc:sldMk cId="3970414602" sldId="2570"/>
        </pc:sldMkLst>
      </pc:sldChg>
      <pc:sldChg chg="del">
        <pc:chgData name="Owais Ahmed" userId="6abc7d4556b3b071" providerId="LiveId" clId="{0577D98B-C5DD-421E-AB63-1BC2B2B46ADA}" dt="2023-08-08T04:30:01.815" v="224" actId="47"/>
        <pc:sldMkLst>
          <pc:docMk/>
          <pc:sldMk cId="1201433262" sldId="2571"/>
        </pc:sldMkLst>
      </pc:sldChg>
      <pc:sldChg chg="modSp add mod ord modAnim">
        <pc:chgData name="Owais Ahmed" userId="6abc7d4556b3b071" providerId="LiveId" clId="{0577D98B-C5DD-421E-AB63-1BC2B2B46ADA}" dt="2023-08-10T06:54:27.409" v="13315" actId="20577"/>
        <pc:sldMkLst>
          <pc:docMk/>
          <pc:sldMk cId="4070300407" sldId="2571"/>
        </pc:sldMkLst>
        <pc:spChg chg="mod">
          <ac:chgData name="Owais Ahmed" userId="6abc7d4556b3b071" providerId="LiveId" clId="{0577D98B-C5DD-421E-AB63-1BC2B2B46ADA}" dt="2023-08-10T06:54:25.107" v="13313" actId="14"/>
          <ac:spMkLst>
            <pc:docMk/>
            <pc:sldMk cId="4070300407" sldId="2571"/>
            <ac:spMk id="3" creationId="{4A1C0383-58FE-E486-295E-B33B8683B938}"/>
          </ac:spMkLst>
        </pc:spChg>
        <pc:spChg chg="mod">
          <ac:chgData name="Owais Ahmed" userId="6abc7d4556b3b071" providerId="LiveId" clId="{0577D98B-C5DD-421E-AB63-1BC2B2B46ADA}" dt="2023-08-10T06:52:50.993" v="12983" actId="20577"/>
          <ac:spMkLst>
            <pc:docMk/>
            <pc:sldMk cId="4070300407" sldId="2571"/>
            <ac:spMk id="215" creationId="{00000000-0000-0000-0000-000000000000}"/>
          </ac:spMkLst>
        </pc:spChg>
      </pc:sldChg>
      <pc:sldChg chg="del">
        <pc:chgData name="Owais Ahmed" userId="6abc7d4556b3b071" providerId="LiveId" clId="{0577D98B-C5DD-421E-AB63-1BC2B2B46ADA}" dt="2023-08-08T04:30:01.815" v="224" actId="47"/>
        <pc:sldMkLst>
          <pc:docMk/>
          <pc:sldMk cId="2285914733" sldId="2573"/>
        </pc:sldMkLst>
      </pc:sldChg>
      <pc:sldChg chg="del">
        <pc:chgData name="Owais Ahmed" userId="6abc7d4556b3b071" providerId="LiveId" clId="{0577D98B-C5DD-421E-AB63-1BC2B2B46ADA}" dt="2023-08-08T04:30:01.815" v="224" actId="47"/>
        <pc:sldMkLst>
          <pc:docMk/>
          <pc:sldMk cId="1728240852" sldId="2574"/>
        </pc:sldMkLst>
      </pc:sldChg>
      <pc:sldChg chg="del">
        <pc:chgData name="Owais Ahmed" userId="6abc7d4556b3b071" providerId="LiveId" clId="{0577D98B-C5DD-421E-AB63-1BC2B2B46ADA}" dt="2023-08-08T04:30:01.815" v="224" actId="47"/>
        <pc:sldMkLst>
          <pc:docMk/>
          <pc:sldMk cId="3271818871" sldId="2575"/>
        </pc:sldMkLst>
      </pc:sldChg>
      <pc:sldChg chg="del">
        <pc:chgData name="Owais Ahmed" userId="6abc7d4556b3b071" providerId="LiveId" clId="{0577D98B-C5DD-421E-AB63-1BC2B2B46ADA}" dt="2023-08-08T04:30:01.815" v="224" actId="47"/>
        <pc:sldMkLst>
          <pc:docMk/>
          <pc:sldMk cId="1747158155" sldId="2576"/>
        </pc:sldMkLst>
      </pc:sldChg>
    </pc:docChg>
  </pc:docChgLst>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73F2085F-781B-4692-9EDE-FCF79FC38DFD}"/>
    <pc:docChg chg="undo custSel modSld">
      <pc:chgData name="Owais Ahmed" userId="6abc7d4556b3b071" providerId="LiveId" clId="{73F2085F-781B-4692-9EDE-FCF79FC38DFD}" dt="2023-08-25T05:49:57.605" v="7" actId="20577"/>
      <pc:docMkLst>
        <pc:docMk/>
      </pc:docMkLst>
      <pc:sldChg chg="modSp mod modAnim">
        <pc:chgData name="Owais Ahmed" userId="6abc7d4556b3b071" providerId="LiveId" clId="{73F2085F-781B-4692-9EDE-FCF79FC38DFD}" dt="2023-08-25T05:49:57.605" v="7" actId="20577"/>
        <pc:sldMkLst>
          <pc:docMk/>
          <pc:sldMk cId="1566808580" sldId="2559"/>
        </pc:sldMkLst>
        <pc:spChg chg="mod">
          <ac:chgData name="Owais Ahmed" userId="6abc7d4556b3b071" providerId="LiveId" clId="{73F2085F-781B-4692-9EDE-FCF79FC38DFD}" dt="2023-08-25T05:49:57.605" v="7" actId="20577"/>
          <ac:spMkLst>
            <pc:docMk/>
            <pc:sldMk cId="1566808580" sldId="2559"/>
            <ac:spMk id="3" creationId="{4A1C0383-58FE-E486-295E-B33B8683B938}"/>
          </ac:spMkLst>
        </pc:sp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07T07:34:47.032" v="13823" actId="2057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07T06:03:08.934" v="10384" actId="20577"/>
        <pc:sldMkLst>
          <pc:docMk/>
          <pc:sldMk cId="3970414602" sldId="2570"/>
        </pc:sldMkLst>
        <pc:spChg chg="mod">
          <ac:chgData name="Owais Ahmed" userId="6abc7d4556b3b071" providerId="LiveId" clId="{8CBEAB62-A728-450D-B4C0-9368924550F8}" dt="2023-08-07T06:03:08.934" v="10384"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mod modAnim">
        <pc:chgData name="Owais Ahmed" userId="6abc7d4556b3b071" providerId="LiveId" clId="{8CBEAB62-A728-450D-B4C0-9368924550F8}" dt="2023-08-07T07:06:18.484" v="13104" actId="2057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mod modAnim">
        <pc:chgData name="Owais Ahmed" userId="6abc7d4556b3b071" providerId="LiveId" clId="{8CBEAB62-A728-450D-B4C0-9368924550F8}" dt="2023-08-07T07:18:50.265" v="13589" actId="2057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docChgLst>
    <pc:chgData name="Owais Ahmed" userId="6abc7d4556b3b071" providerId="LiveId" clId="{1489239A-C382-4C42-B7E7-425F156C53FC}"/>
    <pc:docChg chg="undo redo custSel addSld delSld modSld sldOrd">
      <pc:chgData name="Owais Ahmed" userId="6abc7d4556b3b071" providerId="LiveId" clId="{1489239A-C382-4C42-B7E7-425F156C53FC}" dt="2023-10-12T04:32:40.967" v="3888" actId="20578"/>
      <pc:docMkLst>
        <pc:docMk/>
      </pc:docMkLst>
      <pc:sldChg chg="modSp mod">
        <pc:chgData name="Owais Ahmed" userId="6abc7d4556b3b071" providerId="LiveId" clId="{1489239A-C382-4C42-B7E7-425F156C53FC}" dt="2023-10-04T10:47:11.519" v="2903"/>
        <pc:sldMkLst>
          <pc:docMk/>
          <pc:sldMk cId="1319355793" sldId="2508"/>
        </pc:sldMkLst>
        <pc:spChg chg="mod">
          <ac:chgData name="Owais Ahmed" userId="6abc7d4556b3b071" providerId="LiveId" clId="{1489239A-C382-4C42-B7E7-425F156C53FC}" dt="2023-10-04T10:47:11.519" v="2903"/>
          <ac:spMkLst>
            <pc:docMk/>
            <pc:sldMk cId="1319355793" sldId="2508"/>
            <ac:spMk id="215" creationId="{00000000-0000-0000-0000-000000000000}"/>
          </ac:spMkLst>
        </pc:spChg>
      </pc:sldChg>
      <pc:sldChg chg="modSp add del mod">
        <pc:chgData name="Owais Ahmed" userId="6abc7d4556b3b071" providerId="LiveId" clId="{1489239A-C382-4C42-B7E7-425F156C53FC}" dt="2023-10-04T11:00:12.244" v="3035" actId="47"/>
        <pc:sldMkLst>
          <pc:docMk/>
          <pc:sldMk cId="3861901057" sldId="2545"/>
        </pc:sldMkLst>
        <pc:spChg chg="mod">
          <ac:chgData name="Owais Ahmed" userId="6abc7d4556b3b071" providerId="LiveId" clId="{1489239A-C382-4C42-B7E7-425F156C53FC}" dt="2023-10-04T10:53:38.815" v="2916" actId="20577"/>
          <ac:spMkLst>
            <pc:docMk/>
            <pc:sldMk cId="3861901057" sldId="2545"/>
            <ac:spMk id="215" creationId="{00000000-0000-0000-0000-000000000000}"/>
          </ac:spMkLst>
        </pc:spChg>
      </pc:sldChg>
      <pc:sldChg chg="modSp add mod">
        <pc:chgData name="Owais Ahmed" userId="6abc7d4556b3b071" providerId="LiveId" clId="{1489239A-C382-4C42-B7E7-425F156C53FC}" dt="2023-10-04T10:47:14.456" v="2904"/>
        <pc:sldMkLst>
          <pc:docMk/>
          <pc:sldMk cId="2289039328" sldId="2546"/>
        </pc:sldMkLst>
        <pc:spChg chg="mod">
          <ac:chgData name="Owais Ahmed" userId="6abc7d4556b3b071" providerId="LiveId" clId="{1489239A-C382-4C42-B7E7-425F156C53FC}" dt="2023-10-04T10:47:14.456" v="2904"/>
          <ac:spMkLst>
            <pc:docMk/>
            <pc:sldMk cId="2289039328" sldId="2546"/>
            <ac:spMk id="215" creationId="{00000000-0000-0000-0000-000000000000}"/>
          </ac:spMkLst>
        </pc:spChg>
      </pc:sldChg>
      <pc:sldChg chg="modSp add mod">
        <pc:chgData name="Owais Ahmed" userId="6abc7d4556b3b071" providerId="LiveId" clId="{1489239A-C382-4C42-B7E7-425F156C53FC}" dt="2023-10-04T10:47:18.077" v="2905"/>
        <pc:sldMkLst>
          <pc:docMk/>
          <pc:sldMk cId="1852311179" sldId="2547"/>
        </pc:sldMkLst>
        <pc:spChg chg="mod">
          <ac:chgData name="Owais Ahmed" userId="6abc7d4556b3b071" providerId="LiveId" clId="{1489239A-C382-4C42-B7E7-425F156C53FC}" dt="2023-10-04T10:47:18.077" v="2905"/>
          <ac:spMkLst>
            <pc:docMk/>
            <pc:sldMk cId="1852311179" sldId="2547"/>
            <ac:spMk id="215" creationId="{00000000-0000-0000-0000-000000000000}"/>
          </ac:spMkLst>
        </pc:spChg>
      </pc:sldChg>
      <pc:sldChg chg="modSp add mod">
        <pc:chgData name="Owais Ahmed" userId="6abc7d4556b3b071" providerId="LiveId" clId="{1489239A-C382-4C42-B7E7-425F156C53FC}" dt="2023-10-04T10:53:41.841" v="2917"/>
        <pc:sldMkLst>
          <pc:docMk/>
          <pc:sldMk cId="661648438" sldId="2549"/>
        </pc:sldMkLst>
        <pc:spChg chg="mod">
          <ac:chgData name="Owais Ahmed" userId="6abc7d4556b3b071" providerId="LiveId" clId="{1489239A-C382-4C42-B7E7-425F156C53FC}" dt="2023-10-04T10:53:41.841" v="2917"/>
          <ac:spMkLst>
            <pc:docMk/>
            <pc:sldMk cId="661648438" sldId="2549"/>
            <ac:spMk id="215" creationId="{00000000-0000-0000-0000-000000000000}"/>
          </ac:spMkLst>
        </pc:spChg>
      </pc:sldChg>
      <pc:sldChg chg="modSp add mod modAnim">
        <pc:chgData name="Owais Ahmed" userId="6abc7d4556b3b071" providerId="LiveId" clId="{1489239A-C382-4C42-B7E7-425F156C53FC}" dt="2023-10-12T04:32:40.967" v="3888" actId="20578"/>
        <pc:sldMkLst>
          <pc:docMk/>
          <pc:sldMk cId="1909818167" sldId="2550"/>
        </pc:sldMkLst>
        <pc:spChg chg="mod">
          <ac:chgData name="Owais Ahmed" userId="6abc7d4556b3b071" providerId="LiveId" clId="{1489239A-C382-4C42-B7E7-425F156C53FC}" dt="2023-10-12T04:32:40.967" v="3888" actId="20578"/>
          <ac:spMkLst>
            <pc:docMk/>
            <pc:sldMk cId="1909818167" sldId="2550"/>
            <ac:spMk id="3" creationId="{4A1C0383-58FE-E486-295E-B33B8683B938}"/>
          </ac:spMkLst>
        </pc:spChg>
        <pc:spChg chg="mod">
          <ac:chgData name="Owais Ahmed" userId="6abc7d4556b3b071" providerId="LiveId" clId="{1489239A-C382-4C42-B7E7-425F156C53FC}" dt="2023-10-04T10:53:44.610" v="2918"/>
          <ac:spMkLst>
            <pc:docMk/>
            <pc:sldMk cId="1909818167" sldId="2550"/>
            <ac:spMk id="215" creationId="{00000000-0000-0000-0000-000000000000}"/>
          </ac:spMkLst>
        </pc:spChg>
      </pc:sldChg>
      <pc:sldChg chg="modSp mod modAnim">
        <pc:chgData name="Owais Ahmed" userId="6abc7d4556b3b071" providerId="LiveId" clId="{1489239A-C382-4C42-B7E7-425F156C53FC}" dt="2023-10-05T08:46:06.860" v="3300" actId="20577"/>
        <pc:sldMkLst>
          <pc:docMk/>
          <pc:sldMk cId="508579768" sldId="2552"/>
        </pc:sldMkLst>
        <pc:spChg chg="mod">
          <ac:chgData name="Owais Ahmed" userId="6abc7d4556b3b071" providerId="LiveId" clId="{1489239A-C382-4C42-B7E7-425F156C53FC}" dt="2023-10-05T08:46:06.860" v="3300" actId="20577"/>
          <ac:spMkLst>
            <pc:docMk/>
            <pc:sldMk cId="508579768" sldId="2552"/>
            <ac:spMk id="3" creationId="{4A1C0383-58FE-E486-295E-B33B8683B938}"/>
          </ac:spMkLst>
        </pc:spChg>
      </pc:sldChg>
      <pc:sldChg chg="modSp add mod modAnim">
        <pc:chgData name="Owais Ahmed" userId="6abc7d4556b3b071" providerId="LiveId" clId="{1489239A-C382-4C42-B7E7-425F156C53FC}" dt="2023-10-04T11:00:20.518" v="3047" actId="27636"/>
        <pc:sldMkLst>
          <pc:docMk/>
          <pc:sldMk cId="3935542565" sldId="2556"/>
        </pc:sldMkLst>
        <pc:spChg chg="mod">
          <ac:chgData name="Owais Ahmed" userId="6abc7d4556b3b071" providerId="LiveId" clId="{1489239A-C382-4C42-B7E7-425F156C53FC}" dt="2023-10-04T11:00:20.518" v="3047" actId="27636"/>
          <ac:spMkLst>
            <pc:docMk/>
            <pc:sldMk cId="3935542565" sldId="2556"/>
            <ac:spMk id="3" creationId="{4A1C0383-58FE-E486-295E-B33B8683B938}"/>
          </ac:spMkLst>
        </pc:spChg>
      </pc:sldChg>
      <pc:sldChg chg="modSp mod modAnim">
        <pc:chgData name="Owais Ahmed" userId="6abc7d4556b3b071" providerId="LiveId" clId="{1489239A-C382-4C42-B7E7-425F156C53FC}" dt="2023-10-04T09:21:10.366" v="2896" actId="20577"/>
        <pc:sldMkLst>
          <pc:docMk/>
          <pc:sldMk cId="296501705" sldId="2557"/>
        </pc:sldMkLst>
        <pc:spChg chg="mod">
          <ac:chgData name="Owais Ahmed" userId="6abc7d4556b3b071" providerId="LiveId" clId="{1489239A-C382-4C42-B7E7-425F156C53FC}" dt="2023-10-04T09:21:10.366" v="2896" actId="20577"/>
          <ac:spMkLst>
            <pc:docMk/>
            <pc:sldMk cId="296501705" sldId="2557"/>
            <ac:spMk id="3" creationId="{4A1C0383-58FE-E486-295E-B33B8683B938}"/>
          </ac:spMkLst>
        </pc:spChg>
      </pc:sldChg>
      <pc:sldChg chg="modNotesTx">
        <pc:chgData name="Owais Ahmed" userId="6abc7d4556b3b071" providerId="LiveId" clId="{1489239A-C382-4C42-B7E7-425F156C53FC}" dt="2023-09-27T05:42:29.549" v="101" actId="20577"/>
        <pc:sldMkLst>
          <pc:docMk/>
          <pc:sldMk cId="1305422422" sldId="2562"/>
        </pc:sldMkLst>
      </pc:sldChg>
      <pc:sldChg chg="modSp mod modAnim">
        <pc:chgData name="Owais Ahmed" userId="6abc7d4556b3b071" providerId="LiveId" clId="{1489239A-C382-4C42-B7E7-425F156C53FC}" dt="2023-10-04T09:23:29.179" v="2899" actId="20577"/>
        <pc:sldMkLst>
          <pc:docMk/>
          <pc:sldMk cId="3262471340" sldId="2563"/>
        </pc:sldMkLst>
        <pc:spChg chg="mod">
          <ac:chgData name="Owais Ahmed" userId="6abc7d4556b3b071" providerId="LiveId" clId="{1489239A-C382-4C42-B7E7-425F156C53FC}" dt="2023-10-04T09:23:29.179" v="2899" actId="20577"/>
          <ac:spMkLst>
            <pc:docMk/>
            <pc:sldMk cId="3262471340" sldId="2563"/>
            <ac:spMk id="3" creationId="{4A1C0383-58FE-E486-295E-B33B8683B938}"/>
          </ac:spMkLst>
        </pc:spChg>
      </pc:sldChg>
      <pc:sldChg chg="modSp mod">
        <pc:chgData name="Owais Ahmed" userId="6abc7d4556b3b071" providerId="LiveId" clId="{1489239A-C382-4C42-B7E7-425F156C53FC}" dt="2023-09-27T09:23:58.919" v="2737" actId="27636"/>
        <pc:sldMkLst>
          <pc:docMk/>
          <pc:sldMk cId="3558952087" sldId="2567"/>
        </pc:sldMkLst>
        <pc:spChg chg="mod">
          <ac:chgData name="Owais Ahmed" userId="6abc7d4556b3b071" providerId="LiveId" clId="{1489239A-C382-4C42-B7E7-425F156C53FC}" dt="2023-09-27T09:23:58.919" v="2737" actId="27636"/>
          <ac:spMkLst>
            <pc:docMk/>
            <pc:sldMk cId="3558952087" sldId="2567"/>
            <ac:spMk id="3" creationId="{4A1C0383-58FE-E486-295E-B33B8683B938}"/>
          </ac:spMkLst>
        </pc:spChg>
      </pc:sldChg>
      <pc:sldChg chg="modSp add del mod">
        <pc:chgData name="Owais Ahmed" userId="6abc7d4556b3b071" providerId="LiveId" clId="{1489239A-C382-4C42-B7E7-425F156C53FC}" dt="2023-10-05T08:46:24.925" v="3301" actId="47"/>
        <pc:sldMkLst>
          <pc:docMk/>
          <pc:sldMk cId="3801873674" sldId="2569"/>
        </pc:sldMkLst>
        <pc:spChg chg="mod">
          <ac:chgData name="Owais Ahmed" userId="6abc7d4556b3b071" providerId="LiveId" clId="{1489239A-C382-4C42-B7E7-425F156C53FC}" dt="2023-09-27T05:45:19.889" v="120" actId="20577"/>
          <ac:spMkLst>
            <pc:docMk/>
            <pc:sldMk cId="3801873674" sldId="2569"/>
            <ac:spMk id="215" creationId="{00000000-0000-0000-0000-000000000000}"/>
          </ac:spMkLst>
        </pc:spChg>
      </pc:sldChg>
      <pc:sldChg chg="modSp add mod modAnim">
        <pc:chgData name="Owais Ahmed" userId="6abc7d4556b3b071" providerId="LiveId" clId="{1489239A-C382-4C42-B7E7-425F156C53FC}" dt="2023-10-07T06:40:07.328" v="3884" actId="20577"/>
        <pc:sldMkLst>
          <pc:docMk/>
          <pc:sldMk cId="4228354605" sldId="2570"/>
        </pc:sldMkLst>
        <pc:spChg chg="mod">
          <ac:chgData name="Owais Ahmed" userId="6abc7d4556b3b071" providerId="LiveId" clId="{1489239A-C382-4C42-B7E7-425F156C53FC}" dt="2023-10-07T06:40:07.328" v="3884" actId="20577"/>
          <ac:spMkLst>
            <pc:docMk/>
            <pc:sldMk cId="4228354605" sldId="2570"/>
            <ac:spMk id="3" creationId="{4A1C0383-58FE-E486-295E-B33B8683B938}"/>
          </ac:spMkLst>
        </pc:spChg>
        <pc:spChg chg="mod">
          <ac:chgData name="Owais Ahmed" userId="6abc7d4556b3b071" providerId="LiveId" clId="{1489239A-C382-4C42-B7E7-425F156C53FC}" dt="2023-09-27T05:45:45.607" v="148" actId="20577"/>
          <ac:spMkLst>
            <pc:docMk/>
            <pc:sldMk cId="4228354605" sldId="2570"/>
            <ac:spMk id="215" creationId="{00000000-0000-0000-0000-000000000000}"/>
          </ac:spMkLst>
        </pc:spChg>
      </pc:sldChg>
      <pc:sldChg chg="modSp add mod modAnim modNotesTx">
        <pc:chgData name="Owais Ahmed" userId="6abc7d4556b3b071" providerId="LiveId" clId="{1489239A-C382-4C42-B7E7-425F156C53FC}" dt="2023-09-27T08:03:24.039" v="1752" actId="20577"/>
        <pc:sldMkLst>
          <pc:docMk/>
          <pc:sldMk cId="1762944996" sldId="2571"/>
        </pc:sldMkLst>
        <pc:spChg chg="mod">
          <ac:chgData name="Owais Ahmed" userId="6abc7d4556b3b071" providerId="LiveId" clId="{1489239A-C382-4C42-B7E7-425F156C53FC}" dt="2023-09-27T08:03:24.039" v="1752" actId="20577"/>
          <ac:spMkLst>
            <pc:docMk/>
            <pc:sldMk cId="1762944996" sldId="2571"/>
            <ac:spMk id="3" creationId="{4A1C0383-58FE-E486-295E-B33B8683B938}"/>
          </ac:spMkLst>
        </pc:spChg>
        <pc:spChg chg="mod">
          <ac:chgData name="Owais Ahmed" userId="6abc7d4556b3b071" providerId="LiveId" clId="{1489239A-C382-4C42-B7E7-425F156C53FC}" dt="2023-09-27T06:58:02.075" v="805" actId="20577"/>
          <ac:spMkLst>
            <pc:docMk/>
            <pc:sldMk cId="1762944996" sldId="2571"/>
            <ac:spMk id="215" creationId="{00000000-0000-0000-0000-000000000000}"/>
          </ac:spMkLst>
        </pc:spChg>
      </pc:sldChg>
      <pc:sldChg chg="modSp add mod ord modAnim">
        <pc:chgData name="Owais Ahmed" userId="6abc7d4556b3b071" providerId="LiveId" clId="{1489239A-C382-4C42-B7E7-425F156C53FC}" dt="2023-09-27T08:35:08.918" v="2421" actId="20577"/>
        <pc:sldMkLst>
          <pc:docMk/>
          <pc:sldMk cId="3562309107" sldId="2572"/>
        </pc:sldMkLst>
        <pc:spChg chg="mod">
          <ac:chgData name="Owais Ahmed" userId="6abc7d4556b3b071" providerId="LiveId" clId="{1489239A-C382-4C42-B7E7-425F156C53FC}" dt="2023-09-27T08:35:08.918" v="2421" actId="20577"/>
          <ac:spMkLst>
            <pc:docMk/>
            <pc:sldMk cId="3562309107" sldId="2572"/>
            <ac:spMk id="3" creationId="{4A1C0383-58FE-E486-295E-B33B8683B938}"/>
          </ac:spMkLst>
        </pc:spChg>
        <pc:spChg chg="mod">
          <ac:chgData name="Owais Ahmed" userId="6abc7d4556b3b071" providerId="LiveId" clId="{1489239A-C382-4C42-B7E7-425F156C53FC}" dt="2023-09-27T08:30:18.327" v="2078"/>
          <ac:spMkLst>
            <pc:docMk/>
            <pc:sldMk cId="3562309107" sldId="2572"/>
            <ac:spMk id="215" creationId="{00000000-0000-0000-0000-000000000000}"/>
          </ac:spMkLst>
        </pc:spChg>
      </pc:sldChg>
      <pc:sldChg chg="add">
        <pc:chgData name="Owais Ahmed" userId="6abc7d4556b3b071" providerId="LiveId" clId="{1489239A-C382-4C42-B7E7-425F156C53FC}" dt="2023-10-04T10:47:59.554" v="2910"/>
        <pc:sldMkLst>
          <pc:docMk/>
          <pc:sldMk cId="801684800" sldId="2573"/>
        </pc:sldMkLst>
      </pc:sldChg>
      <pc:sldChg chg="add modAnim">
        <pc:chgData name="Owais Ahmed" userId="6abc7d4556b3b071" providerId="LiveId" clId="{1489239A-C382-4C42-B7E7-425F156C53FC}" dt="2023-10-05T08:07:46.891" v="3125"/>
        <pc:sldMkLst>
          <pc:docMk/>
          <pc:sldMk cId="3519223234" sldId="2574"/>
        </pc:sldMkLst>
      </pc:sldChg>
      <pc:sldChg chg="modSp add mod modAnim">
        <pc:chgData name="Owais Ahmed" userId="6abc7d4556b3b071" providerId="LiveId" clId="{1489239A-C382-4C42-B7E7-425F156C53FC}" dt="2023-10-05T08:54:15.151" v="3354" actId="20577"/>
        <pc:sldMkLst>
          <pc:docMk/>
          <pc:sldMk cId="3415906960" sldId="2575"/>
        </pc:sldMkLst>
        <pc:spChg chg="mod">
          <ac:chgData name="Owais Ahmed" userId="6abc7d4556b3b071" providerId="LiveId" clId="{1489239A-C382-4C42-B7E7-425F156C53FC}" dt="2023-10-05T08:54:15.151" v="3354" actId="20577"/>
          <ac:spMkLst>
            <pc:docMk/>
            <pc:sldMk cId="3415906960" sldId="2575"/>
            <ac:spMk id="3" creationId="{4A1C0383-58FE-E486-295E-B33B8683B938}"/>
          </ac:spMkLst>
        </pc:spChg>
        <pc:graphicFrameChg chg="mod modGraphic">
          <ac:chgData name="Owais Ahmed" userId="6abc7d4556b3b071" providerId="LiveId" clId="{1489239A-C382-4C42-B7E7-425F156C53FC}" dt="2023-10-05T08:52:36.076" v="3318" actId="14100"/>
          <ac:graphicFrameMkLst>
            <pc:docMk/>
            <pc:sldMk cId="3415906960" sldId="2575"/>
            <ac:graphicFrameMk id="5" creationId="{33863AAE-FAFA-4931-FB78-C6A184FC9B57}"/>
          </ac:graphicFrameMkLst>
        </pc:graphicFrameChg>
      </pc:sldChg>
      <pc:sldChg chg="add ord modAnim">
        <pc:chgData name="Owais Ahmed" userId="6abc7d4556b3b071" providerId="LiveId" clId="{1489239A-C382-4C42-B7E7-425F156C53FC}" dt="2023-10-05T08:42:14.515" v="3242"/>
        <pc:sldMkLst>
          <pc:docMk/>
          <pc:sldMk cId="4020471286" sldId="2576"/>
        </pc:sldMkLst>
      </pc:sldChg>
    </pc:docChg>
  </pc:docChgLst>
  <pc:docChgLst>
    <pc:chgData name="Owais Ahmed" userId="6abc7d4556b3b071" providerId="LiveId" clId="{A31CE356-2E88-4315-B8BD-D894C251767D}"/>
    <pc:docChg chg="undo custSel addSld delSld modSld">
      <pc:chgData name="Owais Ahmed" userId="6abc7d4556b3b071" providerId="LiveId" clId="{A31CE356-2E88-4315-B8BD-D894C251767D}" dt="2023-12-06T11:03:43.829" v="445"/>
      <pc:docMkLst>
        <pc:docMk/>
      </pc:docMkLst>
      <pc:sldChg chg="modSp mod">
        <pc:chgData name="Owais Ahmed" userId="6abc7d4556b3b071" providerId="LiveId" clId="{A31CE356-2E88-4315-B8BD-D894C251767D}" dt="2023-09-24T17:51:19.166" v="411" actId="20577"/>
        <pc:sldMkLst>
          <pc:docMk/>
          <pc:sldMk cId="1649098948" sldId="2462"/>
        </pc:sldMkLst>
        <pc:spChg chg="mod">
          <ac:chgData name="Owais Ahmed" userId="6abc7d4556b3b071" providerId="LiveId" clId="{A31CE356-2E88-4315-B8BD-D894C251767D}" dt="2023-09-24T17:51:19.166" v="411" actId="20577"/>
          <ac:spMkLst>
            <pc:docMk/>
            <pc:sldMk cId="1649098948" sldId="2462"/>
            <ac:spMk id="6" creationId="{F3C89A40-EEAA-43AB-9A3A-B2CFDE450F1B}"/>
          </ac:spMkLst>
        </pc:spChg>
      </pc:sldChg>
      <pc:sldChg chg="modSp mod">
        <pc:chgData name="Owais Ahmed" userId="6abc7d4556b3b071" providerId="LiveId" clId="{A31CE356-2E88-4315-B8BD-D894C251767D}" dt="2023-12-06T11:03:43.829" v="445"/>
        <pc:sldMkLst>
          <pc:docMk/>
          <pc:sldMk cId="146856052" sldId="2503"/>
        </pc:sldMkLst>
        <pc:spChg chg="mod">
          <ac:chgData name="Owais Ahmed" userId="6abc7d4556b3b071" providerId="LiveId" clId="{A31CE356-2E88-4315-B8BD-D894C251767D}" dt="2023-12-06T11:03:43.829" v="445"/>
          <ac:spMkLst>
            <pc:docMk/>
            <pc:sldMk cId="146856052" sldId="2503"/>
            <ac:spMk id="9" creationId="{79DC1498-E692-42BA-B69F-6D37E6CFACA0}"/>
          </ac:spMkLst>
        </pc:spChg>
      </pc:sldChg>
      <pc:sldChg chg="add del">
        <pc:chgData name="Owais Ahmed" userId="6abc7d4556b3b071" providerId="LiveId" clId="{A31CE356-2E88-4315-B8BD-D894C251767D}" dt="2023-09-24T17:49:37.373" v="286" actId="47"/>
        <pc:sldMkLst>
          <pc:docMk/>
          <pc:sldMk cId="1273923384" sldId="2533"/>
        </pc:sldMkLst>
      </pc:sldChg>
      <pc:sldChg chg="add">
        <pc:chgData name="Owais Ahmed" userId="6abc7d4556b3b071" providerId="LiveId" clId="{A31CE356-2E88-4315-B8BD-D894C251767D}" dt="2023-09-24T17:48:54.587" v="285"/>
        <pc:sldMkLst>
          <pc:docMk/>
          <pc:sldMk cId="490713207" sldId="2535"/>
        </pc:sldMkLst>
      </pc:sldChg>
      <pc:sldChg chg="modSp add mod">
        <pc:chgData name="Owais Ahmed" userId="6abc7d4556b3b071" providerId="LiveId" clId="{A31CE356-2E88-4315-B8BD-D894C251767D}" dt="2023-09-24T17:51:05.978" v="398" actId="20577"/>
        <pc:sldMkLst>
          <pc:docMk/>
          <pc:sldMk cId="3426982848" sldId="2548"/>
        </pc:sldMkLst>
        <pc:spChg chg="mod">
          <ac:chgData name="Owais Ahmed" userId="6abc7d4556b3b071" providerId="LiveId" clId="{A31CE356-2E88-4315-B8BD-D894C251767D}" dt="2023-09-24T17:51:05.978" v="398" actId="20577"/>
          <ac:spMkLst>
            <pc:docMk/>
            <pc:sldMk cId="3426982848" sldId="2548"/>
            <ac:spMk id="215" creationId="{00000000-0000-0000-0000-000000000000}"/>
          </ac:spMkLst>
        </pc:spChg>
      </pc:sldChg>
      <pc:sldChg chg="modSp add mod">
        <pc:chgData name="Owais Ahmed" userId="6abc7d4556b3b071" providerId="LiveId" clId="{A31CE356-2E88-4315-B8BD-D894C251767D}" dt="2023-09-24T17:51:37.207" v="427" actId="20577"/>
        <pc:sldMkLst>
          <pc:docMk/>
          <pc:sldMk cId="508579768" sldId="2552"/>
        </pc:sldMkLst>
        <pc:spChg chg="mod">
          <ac:chgData name="Owais Ahmed" userId="6abc7d4556b3b071" providerId="LiveId" clId="{A31CE356-2E88-4315-B8BD-D894C251767D}" dt="2023-09-24T17:51:37.207" v="427" actId="20577"/>
          <ac:spMkLst>
            <pc:docMk/>
            <pc:sldMk cId="508579768" sldId="2552"/>
            <ac:spMk id="215" creationId="{00000000-0000-0000-0000-000000000000}"/>
          </ac:spMkLst>
        </pc:spChg>
      </pc:sldChg>
      <pc:sldChg chg="modSp mod">
        <pc:chgData name="Owais Ahmed" userId="6abc7d4556b3b071" providerId="LiveId" clId="{A31CE356-2E88-4315-B8BD-D894C251767D}" dt="2023-09-24T17:50:17.176" v="385" actId="20577"/>
        <pc:sldMkLst>
          <pc:docMk/>
          <pc:sldMk cId="296501705" sldId="2557"/>
        </pc:sldMkLst>
        <pc:spChg chg="mod">
          <ac:chgData name="Owais Ahmed" userId="6abc7d4556b3b071" providerId="LiveId" clId="{A31CE356-2E88-4315-B8BD-D894C251767D}" dt="2023-09-24T17:50:17.176" v="385" actId="20577"/>
          <ac:spMkLst>
            <pc:docMk/>
            <pc:sldMk cId="296501705" sldId="2557"/>
            <ac:spMk id="3" creationId="{4A1C0383-58FE-E486-295E-B33B8683B938}"/>
          </ac:spMkLst>
        </pc:spChg>
        <pc:spChg chg="mod">
          <ac:chgData name="Owais Ahmed" userId="6abc7d4556b3b071" providerId="LiveId" clId="{A31CE356-2E88-4315-B8BD-D894C251767D}" dt="2023-09-24T17:39:56.887" v="41" actId="20577"/>
          <ac:spMkLst>
            <pc:docMk/>
            <pc:sldMk cId="296501705" sldId="2557"/>
            <ac:spMk id="215" creationId="{00000000-0000-0000-0000-000000000000}"/>
          </ac:spMkLst>
        </pc:spChg>
      </pc:sldChg>
      <pc:sldChg chg="modSp mod">
        <pc:chgData name="Owais Ahmed" userId="6abc7d4556b3b071" providerId="LiveId" clId="{A31CE356-2E88-4315-B8BD-D894C251767D}" dt="2023-09-24T17:46:23.649" v="212" actId="6549"/>
        <pc:sldMkLst>
          <pc:docMk/>
          <pc:sldMk cId="53512322" sldId="2558"/>
        </pc:sldMkLst>
        <pc:spChg chg="mod">
          <ac:chgData name="Owais Ahmed" userId="6abc7d4556b3b071" providerId="LiveId" clId="{A31CE356-2E88-4315-B8BD-D894C251767D}" dt="2023-09-24T17:46:23.649" v="212" actId="6549"/>
          <ac:spMkLst>
            <pc:docMk/>
            <pc:sldMk cId="53512322" sldId="2558"/>
            <ac:spMk id="215" creationId="{00000000-0000-0000-0000-000000000000}"/>
          </ac:spMkLst>
        </pc:spChg>
      </pc:sldChg>
      <pc:sldChg chg="modSp mod">
        <pc:chgData name="Owais Ahmed" userId="6abc7d4556b3b071" providerId="LiveId" clId="{A31CE356-2E88-4315-B8BD-D894C251767D}" dt="2023-09-24T17:40:45.861" v="63" actId="20577"/>
        <pc:sldMkLst>
          <pc:docMk/>
          <pc:sldMk cId="1566808580" sldId="2559"/>
        </pc:sldMkLst>
        <pc:spChg chg="mod">
          <ac:chgData name="Owais Ahmed" userId="6abc7d4556b3b071" providerId="LiveId" clId="{A31CE356-2E88-4315-B8BD-D894C251767D}" dt="2023-09-24T17:40:45.861" v="63" actId="20577"/>
          <ac:spMkLst>
            <pc:docMk/>
            <pc:sldMk cId="1566808580" sldId="2559"/>
            <ac:spMk id="215" creationId="{00000000-0000-0000-0000-000000000000}"/>
          </ac:spMkLst>
        </pc:spChg>
      </pc:sldChg>
      <pc:sldChg chg="modSp mod">
        <pc:chgData name="Owais Ahmed" userId="6abc7d4556b3b071" providerId="LiveId" clId="{A31CE356-2E88-4315-B8BD-D894C251767D}" dt="2023-09-24T17:46:20.137" v="211" actId="20577"/>
        <pc:sldMkLst>
          <pc:docMk/>
          <pc:sldMk cId="3737636412" sldId="2560"/>
        </pc:sldMkLst>
        <pc:spChg chg="mod">
          <ac:chgData name="Owais Ahmed" userId="6abc7d4556b3b071" providerId="LiveId" clId="{A31CE356-2E88-4315-B8BD-D894C251767D}" dt="2023-09-24T17:46:20.137" v="211" actId="20577"/>
          <ac:spMkLst>
            <pc:docMk/>
            <pc:sldMk cId="3737636412" sldId="2560"/>
            <ac:spMk id="215" creationId="{00000000-0000-0000-0000-000000000000}"/>
          </ac:spMkLst>
        </pc:spChg>
      </pc:sldChg>
      <pc:sldChg chg="modSp mod">
        <pc:chgData name="Owais Ahmed" userId="6abc7d4556b3b071" providerId="LiveId" clId="{A31CE356-2E88-4315-B8BD-D894C251767D}" dt="2023-09-24T17:46:47.291" v="217" actId="20577"/>
        <pc:sldMkLst>
          <pc:docMk/>
          <pc:sldMk cId="1476977656" sldId="2561"/>
        </pc:sldMkLst>
        <pc:spChg chg="mod">
          <ac:chgData name="Owais Ahmed" userId="6abc7d4556b3b071" providerId="LiveId" clId="{A31CE356-2E88-4315-B8BD-D894C251767D}" dt="2023-09-24T17:46:47.291" v="217" actId="20577"/>
          <ac:spMkLst>
            <pc:docMk/>
            <pc:sldMk cId="1476977656" sldId="2561"/>
            <ac:spMk id="215" creationId="{00000000-0000-0000-0000-000000000000}"/>
          </ac:spMkLst>
        </pc:spChg>
      </pc:sldChg>
      <pc:sldChg chg="modSp mod">
        <pc:chgData name="Owais Ahmed" userId="6abc7d4556b3b071" providerId="LiveId" clId="{A31CE356-2E88-4315-B8BD-D894C251767D}" dt="2023-09-24T17:40:32.691" v="47"/>
        <pc:sldMkLst>
          <pc:docMk/>
          <pc:sldMk cId="1305422422" sldId="2562"/>
        </pc:sldMkLst>
        <pc:spChg chg="mod">
          <ac:chgData name="Owais Ahmed" userId="6abc7d4556b3b071" providerId="LiveId" clId="{A31CE356-2E88-4315-B8BD-D894C251767D}" dt="2023-09-24T17:40:32.691" v="47"/>
          <ac:spMkLst>
            <pc:docMk/>
            <pc:sldMk cId="1305422422" sldId="2562"/>
            <ac:spMk id="215" creationId="{00000000-0000-0000-0000-000000000000}"/>
          </ac:spMkLst>
        </pc:spChg>
      </pc:sldChg>
      <pc:sldChg chg="del">
        <pc:chgData name="Owais Ahmed" userId="6abc7d4556b3b071" providerId="LiveId" clId="{A31CE356-2E88-4315-B8BD-D894C251767D}" dt="2023-09-24T17:37:43.949" v="13" actId="47"/>
        <pc:sldMkLst>
          <pc:docMk/>
          <pc:sldMk cId="4071666753" sldId="2563"/>
        </pc:sldMkLst>
      </pc:sldChg>
      <pc:sldChg chg="del">
        <pc:chgData name="Owais Ahmed" userId="6abc7d4556b3b071" providerId="LiveId" clId="{A31CE356-2E88-4315-B8BD-D894C251767D}" dt="2023-09-24T17:41:21.526" v="82" actId="47"/>
        <pc:sldMkLst>
          <pc:docMk/>
          <pc:sldMk cId="2526141006" sldId="2564"/>
        </pc:sldMkLst>
      </pc:sldChg>
      <pc:sldChg chg="add del">
        <pc:chgData name="Owais Ahmed" userId="6abc7d4556b3b071" providerId="LiveId" clId="{A31CE356-2E88-4315-B8BD-D894C251767D}" dt="2023-09-24T17:40:03.320" v="42" actId="47"/>
        <pc:sldMkLst>
          <pc:docMk/>
          <pc:sldMk cId="1856511232" sldId="2565"/>
        </pc:sldMkLst>
      </pc:sldChg>
      <pc:sldChg chg="del">
        <pc:chgData name="Owais Ahmed" userId="6abc7d4556b3b071" providerId="LiveId" clId="{A31CE356-2E88-4315-B8BD-D894C251767D}" dt="2023-09-24T17:37:44.230" v="14" actId="47"/>
        <pc:sldMkLst>
          <pc:docMk/>
          <pc:sldMk cId="2724244378" sldId="2565"/>
        </pc:sldMkLst>
      </pc:sldChg>
      <pc:sldChg chg="del">
        <pc:chgData name="Owais Ahmed" userId="6abc7d4556b3b071" providerId="LiveId" clId="{A31CE356-2E88-4315-B8BD-D894C251767D}" dt="2023-09-24T17:37:44.652" v="15" actId="47"/>
        <pc:sldMkLst>
          <pc:docMk/>
          <pc:sldMk cId="1651103511" sldId="2566"/>
        </pc:sldMkLst>
      </pc:sldChg>
      <pc:sldChg chg="del">
        <pc:chgData name="Owais Ahmed" userId="6abc7d4556b3b071" providerId="LiveId" clId="{A31CE356-2E88-4315-B8BD-D894C251767D}" dt="2023-09-24T17:37:47.263" v="17" actId="47"/>
        <pc:sldMkLst>
          <pc:docMk/>
          <pc:sldMk cId="1966528427" sldId="2567"/>
        </pc:sldMkLst>
      </pc:sldChg>
      <pc:sldChg chg="del">
        <pc:chgData name="Owais Ahmed" userId="6abc7d4556b3b071" providerId="LiveId" clId="{A31CE356-2E88-4315-B8BD-D894C251767D}" dt="2023-09-24T17:37:46.904" v="16" actId="47"/>
        <pc:sldMkLst>
          <pc:docMk/>
          <pc:sldMk cId="146458992" sldId="2568"/>
        </pc:sldMkLst>
      </pc:sldChg>
      <pc:sldChg chg="del">
        <pc:chgData name="Owais Ahmed" userId="6abc7d4556b3b071" providerId="LiveId" clId="{A31CE356-2E88-4315-B8BD-D894C251767D}" dt="2023-09-24T17:37:48.030" v="18" actId="47"/>
        <pc:sldMkLst>
          <pc:docMk/>
          <pc:sldMk cId="3185756575" sldId="2569"/>
        </pc:sldMkLst>
      </pc:sldChg>
      <pc:sldChg chg="del">
        <pc:chgData name="Owais Ahmed" userId="6abc7d4556b3b071" providerId="LiveId" clId="{A31CE356-2E88-4315-B8BD-D894C251767D}" dt="2023-09-24T17:37:48.686" v="19" actId="47"/>
        <pc:sldMkLst>
          <pc:docMk/>
          <pc:sldMk cId="1158033807" sldId="2570"/>
        </pc:sldMkLst>
      </pc:sldChg>
      <pc:sldChg chg="del">
        <pc:chgData name="Owais Ahmed" userId="6abc7d4556b3b071" providerId="LiveId" clId="{A31CE356-2E88-4315-B8BD-D894C251767D}" dt="2023-09-24T17:37:52.048" v="20" actId="47"/>
        <pc:sldMkLst>
          <pc:docMk/>
          <pc:sldMk cId="4070300407" sldId="2571"/>
        </pc:sldMkLst>
      </pc:sldChg>
      <pc:sldChg chg="modSp">
        <pc:chgData name="Owais Ahmed" userId="6abc7d4556b3b071" providerId="LiveId" clId="{A31CE356-2E88-4315-B8BD-D894C251767D}" dt="2023-10-06T05:31:13.432" v="444" actId="20577"/>
        <pc:sldMkLst>
          <pc:docMk/>
          <pc:sldMk cId="3415906960" sldId="2575"/>
        </pc:sldMkLst>
        <pc:spChg chg="mod">
          <ac:chgData name="Owais Ahmed" userId="6abc7d4556b3b071" providerId="LiveId" clId="{A31CE356-2E88-4315-B8BD-D894C251767D}" dt="2023-10-06T05:31:13.432" v="444" actId="20577"/>
          <ac:spMkLst>
            <pc:docMk/>
            <pc:sldMk cId="3415906960" sldId="2575"/>
            <ac:spMk id="3" creationId="{4A1C0383-58FE-E486-295E-B33B8683B938}"/>
          </ac:spMkLst>
        </pc:spChg>
      </pc:sldChg>
    </pc:docChg>
  </pc:docChgLst>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12/6/2023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12/6/2023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308129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2845130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718759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3197190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813471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774938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77695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368893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At this point, recommend the video on time complexity by Abdul Bari: https://www.youtube.com/watch?v=9SgLBjXqwd4&amp;t=1s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506743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759961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Animation credit: Michael </a:t>
            </a:r>
            <a:r>
              <a:rPr lang="en-US" dirty="0" err="1"/>
              <a:t>Sambol</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3443159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The swap operation takes 3 statements, thus a constant. Same goes with other statements.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612366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546985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376456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41248529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1930042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1533308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Recommended read: Chapter 3 from “Introduction to Algorithms” by Thomas Cormen.</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19249458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2126451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1087591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702811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6266250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198749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26</a:t>
            </a:fld>
            <a:endParaRPr lang="en-US" dirty="0"/>
          </a:p>
        </p:txBody>
      </p:sp>
    </p:spTree>
    <p:extLst>
      <p:ext uri="{BB962C8B-B14F-4D97-AF65-F5344CB8AC3E}">
        <p14:creationId xmlns:p14="http://schemas.microsoft.com/office/powerpoint/2010/main" val="20230321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27</a:t>
            </a:fld>
            <a:endParaRPr lang="en-US" dirty="0"/>
          </a:p>
        </p:txBody>
      </p:sp>
    </p:spTree>
    <p:extLst>
      <p:ext uri="{BB962C8B-B14F-4D97-AF65-F5344CB8AC3E}">
        <p14:creationId xmlns:p14="http://schemas.microsoft.com/office/powerpoint/2010/main" val="20737788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28</a:t>
            </a:fld>
            <a:endParaRPr lang="en-US" dirty="0"/>
          </a:p>
        </p:txBody>
      </p:sp>
    </p:spTree>
    <p:extLst>
      <p:ext uri="{BB962C8B-B14F-4D97-AF65-F5344CB8AC3E}">
        <p14:creationId xmlns:p14="http://schemas.microsoft.com/office/powerpoint/2010/main" val="7256612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29</a:t>
            </a:fld>
            <a:endParaRPr lang="en-US" dirty="0"/>
          </a:p>
        </p:txBody>
      </p:sp>
    </p:spTree>
    <p:extLst>
      <p:ext uri="{BB962C8B-B14F-4D97-AF65-F5344CB8AC3E}">
        <p14:creationId xmlns:p14="http://schemas.microsoft.com/office/powerpoint/2010/main" val="4500979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30</a:t>
            </a:fld>
            <a:endParaRPr lang="en-US" dirty="0"/>
          </a:p>
        </p:txBody>
      </p:sp>
    </p:spTree>
    <p:extLst>
      <p:ext uri="{BB962C8B-B14F-4D97-AF65-F5344CB8AC3E}">
        <p14:creationId xmlns:p14="http://schemas.microsoft.com/office/powerpoint/2010/main" val="2706671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30.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70.png"/></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2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50.png"/></Relationships>
</file>

<file path=ppt/slides/_rels/slide2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07/relationships/hdphoto" Target="../media/hdphoto1.wdp"/><Relationship Id="rId7"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a:t>DESIGN AND ANALYSIS OF ALGORITHMS (113939)</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Asymptotic Notations</a:t>
                </a:r>
              </a:p>
              <a:p>
                <a:r>
                  <a:rPr lang="en-US" dirty="0"/>
                  <a:t>Analysis of Bubble Sort</a:t>
                </a:r>
              </a:p>
              <a:p>
                <a:r>
                  <a:rPr lang="en-US" dirty="0"/>
                  <a:t>Growth Functions</a:t>
                </a:r>
              </a:p>
              <a:p>
                <a:r>
                  <a:rPr lang="en-US" dirty="0"/>
                  <a:t>Big-O Notation</a:t>
                </a:r>
              </a:p>
              <a:p>
                <a14:m>
                  <m:oMath xmlns:m="http://schemas.openxmlformats.org/officeDocument/2006/math">
                    <m:r>
                      <m:rPr>
                        <m:sty m:val="p"/>
                      </m:rPr>
                      <a:rPr lang="en-US" b="0" i="0" smtClean="0">
                        <a:latin typeface="Cambria Math" panose="02040503050406030204" pitchFamily="18" charset="0"/>
                      </a:rPr>
                      <m:t>Ω</m:t>
                    </m:r>
                  </m:oMath>
                </a14:m>
                <a:r>
                  <a:rPr lang="en-US" dirty="0"/>
                  <a:t> Notation</a:t>
                </a:r>
              </a:p>
              <a:p>
                <a14:m>
                  <m:oMath xmlns:m="http://schemas.openxmlformats.org/officeDocument/2006/math">
                    <m:r>
                      <m:rPr>
                        <m:sty m:val="p"/>
                      </m:rPr>
                      <a:rPr lang="en-US" sz="1800" b="0" i="0" smtClean="0">
                        <a:latin typeface="Cambria Math" panose="02040503050406030204" pitchFamily="18" charset="0"/>
                      </a:rPr>
                      <m:t>Θ</m:t>
                    </m:r>
                  </m:oMath>
                </a14:m>
                <a:r>
                  <a:rPr lang="en-US" dirty="0"/>
                  <a:t> Notation</a:t>
                </a:r>
              </a:p>
              <a:p>
                <a:r>
                  <a:rPr lang="en-US" dirty="0"/>
                  <a:t>Ideal Assumptions</a:t>
                </a:r>
              </a:p>
              <a:p>
                <a:r>
                  <a:rPr lang="en-US" dirty="0"/>
                  <a:t>Analysis of Selection Sort</a:t>
                </a:r>
              </a:p>
            </p:txBody>
          </p:sp>
        </mc:Choice>
        <mc:Fallback xmlns="">
          <p:sp>
            <p:nvSpPr>
              <p:cNvPr id="6" name="Text Placeholder 5">
                <a:extLst>
                  <a:ext uri="{FF2B5EF4-FFF2-40B4-BE49-F238E27FC236}">
                    <a16:creationId xmlns:a16="http://schemas.microsoft.com/office/drawing/2014/main" id="{F3C89A40-EEAA-43AB-9A3A-B2CFDE450F1B}"/>
                  </a:ext>
                </a:extLst>
              </p:cNvPr>
              <p:cNvSpPr>
                <a:spLocks noGrp="1" noRot="1" noChangeAspect="1" noMove="1" noResize="1" noEditPoints="1" noAdjustHandles="1" noChangeArrowheads="1" noChangeShapeType="1" noTextEdit="1"/>
              </p:cNvSpPr>
              <p:nvPr>
                <p:ph type="body" sz="quarter" idx="15"/>
              </p:nvPr>
            </p:nvSpPr>
            <p:spPr>
              <a:xfrm>
                <a:off x="7068819" y="2078874"/>
                <a:ext cx="4114800" cy="4136198"/>
              </a:xfrm>
              <a:blipFill>
                <a:blip r:embed="rId4"/>
                <a:stretch>
                  <a:fillRect l="-1333" b="-4566"/>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Asymptotic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b="1" dirty="0"/>
                  <a:t>Best case: </a:t>
                </a:r>
                <a14:m>
                  <m:oMath xmlns:m="http://schemas.openxmlformats.org/officeDocument/2006/math">
                    <m:r>
                      <a:rPr lang="en-US" sz="3400" b="1" i="0" smtClean="0">
                        <a:latin typeface="Cambria Math" panose="02040503050406030204" pitchFamily="18" charset="0"/>
                      </a:rPr>
                      <m:t>𝛀</m:t>
                    </m:r>
                  </m:oMath>
                </a14:m>
                <a:r>
                  <a:rPr lang="en-US" sz="3400" b="1" dirty="0"/>
                  <a:t> (Omega)</a:t>
                </a:r>
              </a:p>
              <a:p>
                <a:pPr marL="0" indent="0">
                  <a:lnSpc>
                    <a:spcPct val="120000"/>
                  </a:lnSpc>
                  <a:buNone/>
                </a:pPr>
                <a:r>
                  <a:rPr lang="en-US" sz="3400" dirty="0"/>
                  <a:t>E.g., we are looking for a student with a calculator and the first student has it. It tells us the least number of possible operations needed at least.</a:t>
                </a:r>
              </a:p>
              <a:p>
                <a:pPr>
                  <a:lnSpc>
                    <a:spcPct val="120000"/>
                  </a:lnSpc>
                  <a:buFont typeface="Wingdings" panose="05000000000000000000" pitchFamily="2" charset="2"/>
                  <a:buChar char="§"/>
                </a:pPr>
                <a:r>
                  <a:rPr lang="en-US" sz="3400" b="1" dirty="0"/>
                  <a:t>Average case: </a:t>
                </a:r>
                <a14:m>
                  <m:oMath xmlns:m="http://schemas.openxmlformats.org/officeDocument/2006/math">
                    <m:r>
                      <a:rPr lang="en-US" sz="3400" b="1" i="0" smtClean="0">
                        <a:latin typeface="Cambria Math" panose="02040503050406030204" pitchFamily="18" charset="0"/>
                      </a:rPr>
                      <m:t>𝚯</m:t>
                    </m:r>
                  </m:oMath>
                </a14:m>
                <a:r>
                  <a:rPr lang="en-US" sz="3400" b="1" dirty="0"/>
                  <a:t> (Theta)</a:t>
                </a:r>
              </a:p>
              <a:p>
                <a:pPr marL="0" indent="0">
                  <a:lnSpc>
                    <a:spcPct val="120000"/>
                  </a:lnSpc>
                  <a:buNone/>
                </a:pPr>
                <a:r>
                  <a:rPr lang="en-US" sz="3600" dirty="0"/>
                  <a:t>E.g., if in a class of 10 students, only one has a calculator, then we’ll have to ask 5 students on average.</a:t>
                </a:r>
                <a:endParaRPr lang="en-US" sz="3400" dirty="0"/>
              </a:p>
              <a:p>
                <a:pPr>
                  <a:lnSpc>
                    <a:spcPct val="120000"/>
                  </a:lnSpc>
                  <a:buFont typeface="Wingdings" panose="05000000000000000000" pitchFamily="2" charset="2"/>
                  <a:buChar char="§"/>
                </a:pPr>
                <a:r>
                  <a:rPr lang="en-US" sz="3400" b="1" dirty="0"/>
                  <a:t>Worst case: </a:t>
                </a:r>
                <a14:m>
                  <m:oMath xmlns:m="http://schemas.openxmlformats.org/officeDocument/2006/math">
                    <m:r>
                      <a:rPr lang="en-US" sz="3400" b="1" i="1" smtClean="0">
                        <a:latin typeface="Cambria Math" panose="02040503050406030204" pitchFamily="18" charset="0"/>
                      </a:rPr>
                      <m:t>𝑶</m:t>
                    </m:r>
                  </m:oMath>
                </a14:m>
                <a:r>
                  <a:rPr lang="en-US" sz="3400" b="1" dirty="0"/>
                  <a:t> (Big-O)</a:t>
                </a:r>
              </a:p>
              <a:p>
                <a:pPr marL="0" indent="0">
                  <a:lnSpc>
                    <a:spcPct val="120000"/>
                  </a:lnSpc>
                  <a:buNone/>
                </a:pPr>
                <a:r>
                  <a:rPr lang="en-US" sz="3400" dirty="0"/>
                  <a:t>This </a:t>
                </a:r>
                <a:r>
                  <a:rPr lang="en-US" sz="3600" dirty="0"/>
                  <a:t>is the most used notation and tells us the worst-case scenario. E.g., we keep asking students for a calculator and the last student has it. It tells us the upper bound of an algorithm.</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998" r="-1713" b="-2618"/>
                </a:stretch>
              </a:blipFill>
            </p:spPr>
            <p:txBody>
              <a:bodyPr/>
              <a:lstStyle/>
              <a:p>
                <a:r>
                  <a:rPr lang="en-PK">
                    <a:noFill/>
                  </a:rPr>
                  <a:t> </a:t>
                </a:r>
              </a:p>
            </p:txBody>
          </p:sp>
        </mc:Fallback>
      </mc:AlternateContent>
    </p:spTree>
    <p:extLst>
      <p:ext uri="{BB962C8B-B14F-4D97-AF65-F5344CB8AC3E}">
        <p14:creationId xmlns:p14="http://schemas.microsoft.com/office/powerpoint/2010/main" val="131935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Asymptotic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There are some general rules we need to consider when analyzing time complexity of an algorithm.</a:t>
                </a:r>
              </a:p>
              <a:p>
                <a:pPr marL="514350" indent="-514350">
                  <a:lnSpc>
                    <a:spcPct val="120000"/>
                  </a:lnSpc>
                  <a:buFont typeface="+mj-lt"/>
                  <a:buAutoNum type="arabicPeriod"/>
                </a:pPr>
                <a:r>
                  <a:rPr lang="en-US" sz="3200" dirty="0"/>
                  <a:t>Input size is denoted as </a:t>
                </a:r>
                <a14:m>
                  <m:oMath xmlns:m="http://schemas.openxmlformats.org/officeDocument/2006/math">
                    <m:r>
                      <a:rPr lang="en-US" sz="3200" b="0" i="1" smtClean="0">
                        <a:latin typeface="Cambria Math" panose="02040503050406030204" pitchFamily="18" charset="0"/>
                      </a:rPr>
                      <m:t>𝑛</m:t>
                    </m:r>
                  </m:oMath>
                </a14:m>
                <a:r>
                  <a:rPr lang="en-US" sz="3200" dirty="0"/>
                  <a:t>; time to run one statement is denoted as </a:t>
                </a:r>
                <a14:m>
                  <m:oMath xmlns:m="http://schemas.openxmlformats.org/officeDocument/2006/math">
                    <m:r>
                      <a:rPr lang="en-US" sz="3200" b="0" i="1" smtClean="0">
                        <a:latin typeface="Cambria Math" panose="02040503050406030204" pitchFamily="18" charset="0"/>
                      </a:rPr>
                      <m:t>𝑐</m:t>
                    </m:r>
                  </m:oMath>
                </a14:m>
                <a:r>
                  <a:rPr lang="en-US" sz="3200" dirty="0"/>
                  <a:t>.</a:t>
                </a:r>
              </a:p>
              <a:p>
                <a:pPr marL="514350" indent="-514350">
                  <a:lnSpc>
                    <a:spcPct val="120000"/>
                  </a:lnSpc>
                  <a:buFont typeface="+mj-lt"/>
                  <a:buAutoNum type="arabicPeriod"/>
                </a:pPr>
                <a:r>
                  <a:rPr lang="en-US" sz="3200" dirty="0"/>
                  <a:t>Constants are ignored. For example, </a:t>
                </a:r>
                <a14:m>
                  <m:oMath xmlns:m="http://schemas.openxmlformats.org/officeDocument/2006/math">
                    <m:r>
                      <m:rPr>
                        <m:sty m:val="p"/>
                      </m:rPr>
                      <a:rPr lang="en-US" sz="3200" b="0" i="0" dirty="0" smtClean="0">
                        <a:latin typeface="Cambria Math" panose="02040503050406030204" pitchFamily="18" charset="0"/>
                      </a:rPr>
                      <m:t>O</m:t>
                    </m:r>
                    <m:d>
                      <m:dPr>
                        <m:ctrlPr>
                          <a:rPr lang="en-US" sz="3200" b="0" i="1" dirty="0" smtClean="0">
                            <a:latin typeface="Cambria Math" panose="02040503050406030204" pitchFamily="18" charset="0"/>
                          </a:rPr>
                        </m:ctrlPr>
                      </m:dPr>
                      <m:e>
                        <m:r>
                          <a:rPr lang="en-US" sz="3200" i="1" dirty="0" smtClean="0">
                            <a:latin typeface="Cambria Math" panose="02040503050406030204" pitchFamily="18" charset="0"/>
                          </a:rPr>
                          <m:t>𝑛</m:t>
                        </m:r>
                        <m:r>
                          <a:rPr lang="en-US" sz="3200" i="1" dirty="0" smtClean="0">
                            <a:latin typeface="Cambria Math" panose="02040503050406030204" pitchFamily="18" charset="0"/>
                          </a:rPr>
                          <m:t>+3</m:t>
                        </m:r>
                      </m:e>
                    </m:d>
                    <m:r>
                      <a:rPr lang="en-US" sz="3200" b="0" i="1" dirty="0" smtClean="0">
                        <a:latin typeface="Cambria Math" panose="02040503050406030204" pitchFamily="18" charset="0"/>
                      </a:rPr>
                      <m:t>=</m:t>
                    </m:r>
                    <m:r>
                      <a:rPr lang="en-US" sz="3200" b="0" i="1" dirty="0" smtClean="0">
                        <a:latin typeface="Cambria Math" panose="02040503050406030204" pitchFamily="18" charset="0"/>
                      </a:rPr>
                      <m:t>𝑂</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r>
                      <a:rPr lang="en-US" sz="3200" b="0" i="1" dirty="0" smtClean="0">
                        <a:latin typeface="Cambria Math" panose="02040503050406030204" pitchFamily="18" charset="0"/>
                      </a:rPr>
                      <m:t>)</m:t>
                    </m:r>
                  </m:oMath>
                </a14:m>
                <a:r>
                  <a:rPr lang="en-US" sz="3200" dirty="0"/>
                  <a:t> because for high values of </a:t>
                </a:r>
                <a14:m>
                  <m:oMath xmlns:m="http://schemas.openxmlformats.org/officeDocument/2006/math">
                    <m:r>
                      <a:rPr lang="en-US" sz="3200" b="0" i="1" smtClean="0">
                        <a:latin typeface="Cambria Math" panose="02040503050406030204" pitchFamily="18" charset="0"/>
                      </a:rPr>
                      <m:t>𝑛</m:t>
                    </m:r>
                  </m:oMath>
                </a14:m>
                <a:r>
                  <a:rPr lang="en-US" sz="3200" dirty="0"/>
                  <a:t> (like 1000), the constant 3 will not matter.</a:t>
                </a:r>
              </a:p>
              <a:p>
                <a:pPr marL="514350" indent="-514350">
                  <a:lnSpc>
                    <a:spcPct val="120000"/>
                  </a:lnSpc>
                  <a:buFont typeface="+mj-lt"/>
                  <a:buAutoNum type="arabicPeriod"/>
                </a:pPr>
                <a:r>
                  <a:rPr lang="en-US" sz="3200" dirty="0"/>
                  <a:t>In case there are multiple terms, only the highest order term is considered. E.g.,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3</m:t>
                            </m:r>
                          </m:sup>
                        </m:sSup>
                        <m:r>
                          <a:rPr lang="en-US" sz="3200" b="0" i="1" smtClean="0">
                            <a:latin typeface="Cambria Math" panose="02040503050406030204" pitchFamily="18" charset="0"/>
                          </a:rPr>
                          <m:t>+3</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+11</m:t>
                        </m:r>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3</m:t>
                        </m:r>
                      </m:sup>
                    </m:sSup>
                    <m:r>
                      <a:rPr lang="en-US" sz="3200" b="0" i="1" smtClean="0">
                        <a:latin typeface="Cambria Math" panose="02040503050406030204" pitchFamily="18" charset="0"/>
                      </a:rPr>
                      <m:t>)</m:t>
                    </m:r>
                  </m:oMath>
                </a14:m>
                <a:r>
                  <a:rPr lang="en-US" sz="3200" dirty="0"/>
                  <a:t>. This is because in presence of a cubic term, the lower order terms are negligible.</a:t>
                </a:r>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r>
                      <a:rPr lang="en-US" sz="3200" b="0" i="1" smtClean="0">
                        <a:latin typeface="Cambria Math" panose="02040503050406030204" pitchFamily="18" charset="0"/>
                      </a:rPr>
                      <m:t>&lt;</m:t>
                    </m:r>
                    <m:r>
                      <a:rPr lang="en-US" sz="3200" i="1">
                        <a:latin typeface="Cambria Math" panose="02040503050406030204" pitchFamily="18" charset="0"/>
                      </a:rPr>
                      <m:t>𝑂</m:t>
                    </m:r>
                    <m:d>
                      <m:dPr>
                        <m:ctrlPr>
                          <a:rPr lang="en-US" sz="3200" i="1">
                            <a:latin typeface="Cambria Math" panose="02040503050406030204" pitchFamily="18" charset="0"/>
                          </a:rPr>
                        </m:ctrlPr>
                      </m:dPr>
                      <m:e>
                        <m:r>
                          <a:rPr lang="en-US" sz="3200" i="1">
                            <a:latin typeface="Cambria Math" panose="02040503050406030204" pitchFamily="18" charset="0"/>
                          </a:rPr>
                          <m:t>𝑙𝑜𝑔</m:t>
                        </m:r>
                        <m:r>
                          <a:rPr lang="en-US" sz="3200" i="1">
                            <a:latin typeface="Cambria Math" panose="02040503050406030204" pitchFamily="18" charset="0"/>
                          </a:rPr>
                          <m:t>.</m:t>
                        </m:r>
                        <m:r>
                          <a:rPr lang="en-US" sz="3200" i="1">
                            <a:latin typeface="Cambria Math" panose="02040503050406030204" pitchFamily="18" charset="0"/>
                          </a:rPr>
                          <m:t>𝑛</m:t>
                        </m:r>
                      </m:e>
                    </m:d>
                    <m:r>
                      <a:rPr lang="en-US" sz="3200" i="1">
                        <a:latin typeface="Cambria Math" panose="02040503050406030204" pitchFamily="18" charset="0"/>
                      </a:rPr>
                      <m:t>&lt;</m:t>
                    </m:r>
                    <m:r>
                      <a:rPr lang="en-US" sz="3200" i="1">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&lt;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m:t>
                        </m:r>
                        <m:r>
                          <a:rPr lang="en-US" sz="3200" b="0" i="1" smtClean="0">
                            <a:latin typeface="Cambria Math" panose="02040503050406030204" pitchFamily="18" charset="0"/>
                          </a:rPr>
                          <m:t>𝑙𝑜𝑔</m:t>
                        </m:r>
                        <m:r>
                          <a:rPr lang="en-US" sz="3200" b="0" i="1" smtClean="0">
                            <a:latin typeface="Cambria Math" panose="02040503050406030204" pitchFamily="18" charset="0"/>
                          </a:rPr>
                          <m:t>.</m:t>
                        </m:r>
                        <m:r>
                          <a:rPr lang="en-US" sz="3200" b="0" i="1" smtClean="0">
                            <a:latin typeface="Cambria Math" panose="02040503050406030204" pitchFamily="18" charset="0"/>
                          </a:rPr>
                          <m:t>𝑛</m:t>
                        </m:r>
                      </m:e>
                    </m:d>
                    <m:r>
                      <a:rPr lang="en-US" sz="3200" b="0" i="1" smtClean="0">
                        <a:latin typeface="Cambria Math" panose="02040503050406030204" pitchFamily="18" charset="0"/>
                      </a:rPr>
                      <m:t>&lt;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𝑐</m:t>
                            </m:r>
                          </m:sup>
                        </m:sSup>
                      </m:e>
                    </m:d>
                    <m:r>
                      <a:rPr lang="en-US" sz="3200" b="0" i="1" smtClean="0">
                        <a:latin typeface="Cambria Math" panose="02040503050406030204" pitchFamily="18" charset="0"/>
                      </a:rPr>
                      <m:t>&lt;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𝑐</m:t>
                            </m:r>
                          </m:e>
                          <m:sup>
                            <m:r>
                              <a:rPr lang="en-US" sz="3200" b="0" i="1" smtClean="0">
                                <a:latin typeface="Cambria Math" panose="02040503050406030204" pitchFamily="18" charset="0"/>
                              </a:rPr>
                              <m:t>𝑛</m:t>
                            </m:r>
                          </m:sup>
                        </m:sSup>
                      </m:e>
                    </m:d>
                    <m:r>
                      <a:rPr lang="en-US" sz="3200" b="0" i="1" smtClean="0">
                        <a:latin typeface="Cambria Math" panose="02040503050406030204" pitchFamily="18" charset="0"/>
                      </a:rPr>
                      <m:t>&lt;</m:t>
                    </m:r>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oMath>
                </a14:m>
                <a:endParaRPr lang="en-US" sz="3200" dirty="0"/>
              </a:p>
              <a:p>
                <a:pPr marL="514350" indent="-514350">
                  <a:lnSpc>
                    <a:spcPct val="120000"/>
                  </a:lnSpc>
                  <a:buFont typeface="+mj-lt"/>
                  <a:buAutoNum type="arabicPeriod"/>
                </a:pP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1245" t="-1480" r="-1868"/>
                </a:stretch>
              </a:blipFill>
            </p:spPr>
            <p:txBody>
              <a:bodyPr/>
              <a:lstStyle/>
              <a:p>
                <a:r>
                  <a:rPr lang="en-US">
                    <a:noFill/>
                  </a:rPr>
                  <a:t> </a:t>
                </a:r>
              </a:p>
            </p:txBody>
          </p:sp>
        </mc:Fallback>
      </mc:AlternateContent>
    </p:spTree>
    <p:extLst>
      <p:ext uri="{BB962C8B-B14F-4D97-AF65-F5344CB8AC3E}">
        <p14:creationId xmlns:p14="http://schemas.microsoft.com/office/powerpoint/2010/main" val="228903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Asymptotic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7" name="Picture 6">
            <a:extLst>
              <a:ext uri="{FF2B5EF4-FFF2-40B4-BE49-F238E27FC236}">
                <a16:creationId xmlns:a16="http://schemas.microsoft.com/office/drawing/2014/main" id="{ACD6C1E7-EBF3-73F9-83D2-8BA8D4433D75}"/>
              </a:ext>
            </a:extLst>
          </p:cNvPr>
          <p:cNvPicPr>
            <a:picLocks noChangeAspect="1"/>
          </p:cNvPicPr>
          <p:nvPr/>
        </p:nvPicPr>
        <p:blipFill>
          <a:blip r:embed="rId3"/>
          <a:stretch>
            <a:fillRect/>
          </a:stretch>
        </p:blipFill>
        <p:spPr>
          <a:xfrm>
            <a:off x="2033787" y="1371600"/>
            <a:ext cx="8104975" cy="5181600"/>
          </a:xfrm>
          <a:prstGeom prst="rect">
            <a:avLst/>
          </a:prstGeom>
        </p:spPr>
      </p:pic>
    </p:spTree>
    <p:extLst>
      <p:ext uri="{BB962C8B-B14F-4D97-AF65-F5344CB8AC3E}">
        <p14:creationId xmlns:p14="http://schemas.microsoft.com/office/powerpoint/2010/main" val="1852311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Examples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An Algorithm that calculates time period of a pendulum.</a:t>
                </a:r>
              </a:p>
              <a:p>
                <a:pPr marL="0" indent="0">
                  <a:lnSpc>
                    <a:spcPct val="100000"/>
                  </a:lnSpc>
                  <a:buNone/>
                </a:pPr>
                <a:r>
                  <a:rPr lang="en-US" sz="2600" dirty="0">
                    <a:latin typeface="Cascadia Code" panose="020B0609020000020004" pitchFamily="49" charset="0"/>
                    <a:ea typeface="Cascadia Code" panose="020B0609020000020004" pitchFamily="49" charset="0"/>
                    <a:cs typeface="Cascadia Code" panose="020B0609020000020004" pitchFamily="49" charset="0"/>
                  </a:rPr>
                  <a:t>TIME_OF_PENDULUM</a:t>
                </a:r>
                <a:r>
                  <a:rPr lang="en-US" sz="2600" dirty="0">
                    <a:latin typeface="Cascadia Code" panose="020B0609020000020004" pitchFamily="49" charset="0"/>
                    <a:cs typeface="Cascadia Code" panose="020B0609020000020004" pitchFamily="49" charset="0"/>
                  </a:rPr>
                  <a:t>(L</a:t>
                </a:r>
                <a:r>
                  <a:rPr lang="en-US" sz="2600" dirty="0">
                    <a:latin typeface="Cascadia Code" panose="020B0609020000020004" pitchFamily="49" charset="0"/>
                    <a:ea typeface="Cascadia Code" panose="020B0609020000020004" pitchFamily="49" charset="0"/>
                    <a:cs typeface="Cascadia Code" panose="020B0609020000020004" pitchFamily="49" charset="0"/>
                  </a:rPr>
                  <a:t>), where ‘L’ is the length of pendulum’s string.</a:t>
                </a:r>
                <a:endParaRPr lang="en-US" sz="26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𝑃𝐼</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:=3.143</m:t>
                    </m:r>
                  </m:oMath>
                </a14:m>
                <a:endParaRPr lang="en-US" sz="2600" b="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𝑔</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≔9.8</m:t>
                    </m:r>
                  </m:oMath>
                </a14:m>
                <a:endParaRPr lang="en-US" sz="2600" b="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𝑇𝑃</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≔2∗</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𝑃𝐼</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𝑠𝑞𝑟𝑡</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r>
                      <a:rPr lang="en-US" sz="2600" i="1" dirty="0">
                        <a:latin typeface="Cambria Math" panose="02040503050406030204" pitchFamily="18" charset="0"/>
                        <a:ea typeface="Cascadia Code" panose="020B0609020000020004" pitchFamily="49" charset="0"/>
                        <a:cs typeface="Cascadia Code" panose="020B0609020000020004" pitchFamily="49" charset="0"/>
                      </a:rPr>
                      <m:t>𝐿</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𝑔</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6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a:latin typeface="Cambria Math" panose="02040503050406030204" pitchFamily="18" charset="0"/>
                        <a:ea typeface="Cascadia Code" panose="020B0609020000020004" pitchFamily="49" charset="0"/>
                        <a:cs typeface="Cascadia Code" panose="020B0609020000020004" pitchFamily="49" charset="0"/>
                      </a:rPr>
                      <m:t>𝑅𝐸𝑇</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𝑈𝑅𝑁</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dirty="0" smtClean="0">
                        <a:latin typeface="Cambria Math" panose="02040503050406030204" pitchFamily="18" charset="0"/>
                        <a:ea typeface="Cascadia Code" panose="020B0609020000020004" pitchFamily="49" charset="0"/>
                        <a:cs typeface="Cascadia Code" panose="020B0609020000020004" pitchFamily="49" charset="0"/>
                      </a:rPr>
                      <m:t>𝑇𝑃</m:t>
                    </m:r>
                  </m:oMath>
                </a14:m>
                <a:endParaRPr lang="en-US" sz="2600" dirty="0">
                  <a:latin typeface="Cascadia Code" panose="020B0609020000020004" pitchFamily="49" charset="0"/>
                  <a:ea typeface="Cascadia Code" panose="020B0609020000020004" pitchFamily="49" charset="0"/>
                  <a:cs typeface="Cascadia Code" panose="020B0609020000020004" pitchFamily="49" charset="0"/>
                </a:endParaRPr>
              </a:p>
              <a:p>
                <a:pPr>
                  <a:lnSpc>
                    <a:spcPct val="120000"/>
                  </a:lnSpc>
                  <a:buFont typeface="Wingdings" panose="05000000000000000000" pitchFamily="2" charset="2"/>
                  <a:buChar char="§"/>
                </a:pPr>
                <a:r>
                  <a:rPr lang="en-US" sz="3200" dirty="0"/>
                  <a:t>There are 3 statements in this algorithm. Line 1 takes </a:t>
                </a:r>
                <a14:m>
                  <m:oMath xmlns:m="http://schemas.openxmlformats.org/officeDocument/2006/math">
                    <m:r>
                      <a:rPr lang="en-US" sz="3200" b="0" i="1" smtClean="0">
                        <a:latin typeface="Cambria Math" panose="02040503050406030204" pitchFamily="18" charset="0"/>
                      </a:rPr>
                      <m:t>𝑐</m:t>
                    </m:r>
                  </m:oMath>
                </a14:m>
                <a:r>
                  <a:rPr lang="en-US" sz="3200" dirty="0"/>
                  <a:t> time; line 2 takes </a:t>
                </a:r>
                <a14:m>
                  <m:oMath xmlns:m="http://schemas.openxmlformats.org/officeDocument/2006/math">
                    <m:r>
                      <a:rPr lang="en-US" sz="3200" b="0" i="1" smtClean="0">
                        <a:latin typeface="Cambria Math" panose="02040503050406030204" pitchFamily="18" charset="0"/>
                      </a:rPr>
                      <m:t>𝑐</m:t>
                    </m:r>
                  </m:oMath>
                </a14:m>
                <a:r>
                  <a:rPr lang="en-US" sz="3200" dirty="0"/>
                  <a:t> time; line 3 takes </a:t>
                </a:r>
                <a14:m>
                  <m:oMath xmlns:m="http://schemas.openxmlformats.org/officeDocument/2006/math">
                    <m:r>
                      <a:rPr lang="en-US" sz="3200" b="0" i="1" dirty="0" smtClean="0">
                        <a:latin typeface="Cambria Math" panose="02040503050406030204" pitchFamily="18" charset="0"/>
                      </a:rPr>
                      <m:t>3</m:t>
                    </m:r>
                    <m:r>
                      <a:rPr lang="en-US" sz="3200" i="1" dirty="0" smtClean="0">
                        <a:latin typeface="Cambria Math" panose="02040503050406030204" pitchFamily="18" charset="0"/>
                      </a:rPr>
                      <m:t>𝑐</m:t>
                    </m:r>
                    <m:r>
                      <a:rPr lang="en-US" sz="3200" b="0" i="1" dirty="0" smtClean="0">
                        <a:latin typeface="Cambria Math" panose="02040503050406030204" pitchFamily="18" charset="0"/>
                      </a:rPr>
                      <m:t>+</m:t>
                    </m:r>
                    <m:r>
                      <a:rPr lang="en-US" sz="3200" b="0" i="1" dirty="0" smtClean="0">
                        <a:latin typeface="Cambria Math" panose="02040503050406030204" pitchFamily="18" charset="0"/>
                      </a:rPr>
                      <m:t>𝑠</m:t>
                    </m:r>
                  </m:oMath>
                </a14:m>
                <a:r>
                  <a:rPr lang="en-US" sz="3200" dirty="0"/>
                  <a:t> time if we consider </a:t>
                </a:r>
                <a14:m>
                  <m:oMath xmlns:m="http://schemas.openxmlformats.org/officeDocument/2006/math">
                    <m:r>
                      <a:rPr lang="en-US" sz="3200" i="1" dirty="0" smtClean="0">
                        <a:latin typeface="Cambria Math" panose="02040503050406030204" pitchFamily="18" charset="0"/>
                      </a:rPr>
                      <m:t>𝑠𝑞𝑟𝑡</m:t>
                    </m:r>
                  </m:oMath>
                </a14:m>
                <a:r>
                  <a:rPr lang="en-US" sz="3200" dirty="0"/>
                  <a:t> function to take </a:t>
                </a:r>
                <a14:m>
                  <m:oMath xmlns:m="http://schemas.openxmlformats.org/officeDocument/2006/math">
                    <m:r>
                      <a:rPr lang="en-US" sz="3200" b="0" i="1" smtClean="0">
                        <a:latin typeface="Cambria Math" panose="02040503050406030204" pitchFamily="18" charset="0"/>
                      </a:rPr>
                      <m:t>𝑠</m:t>
                    </m:r>
                  </m:oMath>
                </a14:m>
                <a:r>
                  <a:rPr lang="en-US" sz="3200" dirty="0"/>
                  <a:t> time. This means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(5</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𝑠</m:t>
                    </m:r>
                    <m:r>
                      <a:rPr lang="en-US" sz="3200" b="0" i="1" smtClean="0">
                        <a:latin typeface="Cambria Math" panose="02040503050406030204" pitchFamily="18" charset="0"/>
                      </a:rPr>
                      <m:t>)</m:t>
                    </m:r>
                  </m:oMath>
                </a14:m>
                <a:r>
                  <a:rPr lang="en-US" sz="3200" dirty="0"/>
                  <a:t>.</a:t>
                </a:r>
              </a:p>
              <a:p>
                <a:pPr>
                  <a:lnSpc>
                    <a:spcPct val="120000"/>
                  </a:lnSpc>
                  <a:buFont typeface="Wingdings" panose="05000000000000000000" pitchFamily="2" charset="2"/>
                  <a:buChar char="§"/>
                </a:pPr>
                <a:r>
                  <a:rPr lang="en-US" sz="3200" dirty="0"/>
                  <a:t>But if we look carefully, the </a:t>
                </a:r>
                <a14:m>
                  <m:oMath xmlns:m="http://schemas.openxmlformats.org/officeDocument/2006/math">
                    <m:r>
                      <a:rPr lang="en-US" sz="3200" i="1" dirty="0" smtClean="0">
                        <a:latin typeface="Cambria Math" panose="02040503050406030204" pitchFamily="18" charset="0"/>
                      </a:rPr>
                      <m:t>𝑠𝑞𝑟𝑡</m:t>
                    </m:r>
                  </m:oMath>
                </a14:m>
                <a:r>
                  <a:rPr lang="en-US" sz="3200" dirty="0"/>
                  <a:t> will take more time for a very high value of </a:t>
                </a:r>
                <a14:m>
                  <m:oMath xmlns:m="http://schemas.openxmlformats.org/officeDocument/2006/math">
                    <m:r>
                      <a:rPr lang="en-US" sz="3200" b="0" i="1" smtClean="0">
                        <a:latin typeface="Cambria Math" panose="02040503050406030204" pitchFamily="18" charset="0"/>
                      </a:rPr>
                      <m:t>𝐿</m:t>
                    </m:r>
                  </m:oMath>
                </a14:m>
                <a:r>
                  <a:rPr lang="en-US" sz="3200" dirty="0"/>
                  <a:t>. Which is why we ignore </a:t>
                </a:r>
                <a14:m>
                  <m:oMath xmlns:m="http://schemas.openxmlformats.org/officeDocument/2006/math">
                    <m:r>
                      <a:rPr lang="en-US" sz="3200" b="0" i="1" smtClean="0">
                        <a:latin typeface="Cambria Math" panose="02040503050406030204" pitchFamily="18" charset="0"/>
                      </a:rPr>
                      <m:t>5</m:t>
                    </m:r>
                    <m:r>
                      <a:rPr lang="en-US" sz="3200" b="0" i="1" smtClean="0">
                        <a:latin typeface="Cambria Math" panose="02040503050406030204" pitchFamily="18" charset="0"/>
                      </a:rPr>
                      <m:t>𝑐</m:t>
                    </m:r>
                  </m:oMath>
                </a14:m>
                <a:r>
                  <a:rPr lang="en-US" sz="3200" dirty="0"/>
                  <a:t> and say that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𝑠</m:t>
                    </m:r>
                    <m:r>
                      <a:rPr lang="en-US" sz="3200" b="0" i="1" smtClean="0">
                        <a:latin typeface="Cambria Math" panose="02040503050406030204" pitchFamily="18" charset="0"/>
                      </a:rPr>
                      <m:t>)</m:t>
                    </m:r>
                  </m:oMath>
                </a14:m>
                <a:r>
                  <a:rPr lang="en-US" sz="3200" dirty="0"/>
                  <a:t> is the time complexity.</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830" t="-986" b="-247"/>
                </a:stretch>
              </a:blipFill>
            </p:spPr>
            <p:txBody>
              <a:bodyPr/>
              <a:lstStyle/>
              <a:p>
                <a:r>
                  <a:rPr lang="en-PK">
                    <a:noFill/>
                  </a:rPr>
                  <a:t> </a:t>
                </a:r>
              </a:p>
            </p:txBody>
          </p:sp>
        </mc:Fallback>
      </mc:AlternateContent>
    </p:spTree>
    <p:extLst>
      <p:ext uri="{BB962C8B-B14F-4D97-AF65-F5344CB8AC3E}">
        <p14:creationId xmlns:p14="http://schemas.microsoft.com/office/powerpoint/2010/main" val="66164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Examples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An Algorithm that calculates average marks in a semester.</a:t>
                </a:r>
              </a:p>
              <a:p>
                <a:pPr marL="0" indent="0">
                  <a:lnSpc>
                    <a:spcPct val="100000"/>
                  </a:lnSpc>
                  <a:buNone/>
                </a:pPr>
                <a:r>
                  <a:rPr lang="en-US" sz="2600" dirty="0">
                    <a:latin typeface="Cascadia Code" panose="020B0609020000020004" pitchFamily="49" charset="0"/>
                    <a:ea typeface="Cascadia Code" panose="020B0609020000020004" pitchFamily="49" charset="0"/>
                    <a:cs typeface="Cascadia Code" panose="020B0609020000020004" pitchFamily="49" charset="0"/>
                  </a:rPr>
                  <a:t>CALC_AVERAGE</a:t>
                </a:r>
                <a:r>
                  <a:rPr lang="en-US" sz="2600" dirty="0">
                    <a:latin typeface="Cascadia Code" panose="020B0609020000020004" pitchFamily="49" charset="0"/>
                    <a:cs typeface="Cascadia Code" panose="020B0609020000020004" pitchFamily="49" charset="0"/>
                  </a:rPr>
                  <a:t>(A, n</a:t>
                </a:r>
                <a:r>
                  <a:rPr lang="en-US" sz="2600" dirty="0">
                    <a:latin typeface="Cascadia Code" panose="020B0609020000020004" pitchFamily="49" charset="0"/>
                    <a:ea typeface="Cascadia Code" panose="020B0609020000020004" pitchFamily="49" charset="0"/>
                    <a:cs typeface="Cascadia Code" panose="020B0609020000020004" pitchFamily="49" charset="0"/>
                  </a:rPr>
                  <a:t>), where ‘A’ is a linear array of positive integers of size ‘n’.</a:t>
                </a:r>
                <a:endParaRPr lang="en-US" sz="26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i="1" dirty="0">
                        <a:latin typeface="Cambria Math" panose="02040503050406030204" pitchFamily="18" charset="0"/>
                        <a:ea typeface="Cascadia Code" panose="020B0609020000020004" pitchFamily="49" charset="0"/>
                        <a:cs typeface="Cascadia Code" panose="020B0609020000020004" pitchFamily="49" charset="0"/>
                      </a:rPr>
                      <m:t> </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𝑠𝑢𝑚</m:t>
                    </m:r>
                    <m:r>
                      <a:rPr lang="en-US" sz="2600" i="1" dirty="0">
                        <a:latin typeface="Cambria Math" panose="02040503050406030204" pitchFamily="18" charset="0"/>
                        <a:ea typeface="Cascadia Code" panose="020B0609020000020004" pitchFamily="49" charset="0"/>
                        <a:cs typeface="Cascadia Code" panose="020B0609020000020004" pitchFamily="49" charset="0"/>
                      </a:rPr>
                      <m:t>≔0, </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600" i="1" dirty="0">
                        <a:latin typeface="Cambria Math" panose="02040503050406030204" pitchFamily="18" charset="0"/>
                        <a:ea typeface="Cascadia Code" panose="020B0609020000020004" pitchFamily="49" charset="0"/>
                        <a:cs typeface="Cascadia Code" panose="020B0609020000020004" pitchFamily="49" charset="0"/>
                      </a:rPr>
                      <m:t>≔0</m:t>
                    </m:r>
                  </m:oMath>
                </a14:m>
                <a:endParaRPr lang="en-US" sz="26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600" i="1" dirty="0">
                        <a:latin typeface="Cambria Math" panose="02040503050406030204" pitchFamily="18" charset="0"/>
                        <a:ea typeface="Cascadia Code" panose="020B0609020000020004" pitchFamily="49" charset="0"/>
                        <a:cs typeface="Cascadia Code" panose="020B0609020000020004" pitchFamily="49" charset="0"/>
                      </a:rPr>
                      <m:t> </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600" i="1" dirty="0">
                        <a:latin typeface="Cambria Math" panose="02040503050406030204" pitchFamily="18" charset="0"/>
                        <a:ea typeface="Cascadia Code" panose="020B0609020000020004" pitchFamily="49" charset="0"/>
                        <a:cs typeface="Cascadia Code" panose="020B0609020000020004" pitchFamily="49" charset="0"/>
                      </a:rPr>
                      <m:t> </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600" i="1" dirty="0">
                        <a:latin typeface="Cambria Math" panose="02040503050406030204" pitchFamily="18" charset="0"/>
                        <a:ea typeface="Cascadia Code" panose="020B0609020000020004" pitchFamily="49" charset="0"/>
                        <a:cs typeface="Cascadia Code" panose="020B0609020000020004" pitchFamily="49" charset="0"/>
                      </a:rPr>
                      <m:t>&lt;</m:t>
                    </m:r>
                    <m:r>
                      <a:rPr lang="en-US" sz="2600" i="1" dirty="0">
                        <a:latin typeface="Cambria Math" panose="02040503050406030204" pitchFamily="18" charset="0"/>
                        <a:ea typeface="Cascadia Code" panose="020B0609020000020004" pitchFamily="49" charset="0"/>
                        <a:cs typeface="Cascadia Code" panose="020B0609020000020004" pitchFamily="49" charset="0"/>
                      </a:rPr>
                      <m:t>𝑛</m:t>
                    </m:r>
                    <m:r>
                      <a:rPr lang="en-US" sz="2600" i="1"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6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300" i="1" dirty="0">
                        <a:latin typeface="Cambria Math" panose="02040503050406030204" pitchFamily="18" charset="0"/>
                        <a:ea typeface="Cascadia Code" panose="020B0609020000020004" pitchFamily="49" charset="0"/>
                        <a:cs typeface="Cascadia Code" panose="020B0609020000020004" pitchFamily="49" charset="0"/>
                      </a:rPr>
                      <m:t>𝑠𝑢𝑚</m:t>
                    </m:r>
                    <m:r>
                      <a:rPr lang="en-US" sz="2300" i="1" dirty="0">
                        <a:latin typeface="Cambria Math" panose="02040503050406030204" pitchFamily="18" charset="0"/>
                        <a:ea typeface="Cascadia Code" panose="020B0609020000020004" pitchFamily="49" charset="0"/>
                        <a:cs typeface="Cascadia Code" panose="020B0609020000020004" pitchFamily="49" charset="0"/>
                      </a:rPr>
                      <m:t>≔</m:t>
                    </m:r>
                    <m:r>
                      <a:rPr lang="en-US" sz="2300" i="1" dirty="0">
                        <a:latin typeface="Cambria Math" panose="02040503050406030204" pitchFamily="18" charset="0"/>
                        <a:ea typeface="Cascadia Code" panose="020B0609020000020004" pitchFamily="49" charset="0"/>
                        <a:cs typeface="Cascadia Code" panose="020B0609020000020004" pitchFamily="49" charset="0"/>
                      </a:rPr>
                      <m:t>𝑠𝑢𝑚</m:t>
                    </m:r>
                    <m:r>
                      <a:rPr lang="en-US" sz="2300" i="1" dirty="0">
                        <a:latin typeface="Cambria Math" panose="02040503050406030204" pitchFamily="18" charset="0"/>
                        <a:ea typeface="Cascadia Code" panose="020B0609020000020004" pitchFamily="49" charset="0"/>
                        <a:cs typeface="Cascadia Code" panose="020B0609020000020004" pitchFamily="49" charset="0"/>
                      </a:rPr>
                      <m:t>+</m:t>
                    </m:r>
                    <m:r>
                      <a:rPr lang="en-US" sz="2300" i="1" dirty="0">
                        <a:latin typeface="Cambria Math" panose="02040503050406030204" pitchFamily="18" charset="0"/>
                        <a:ea typeface="Cascadia Code" panose="020B0609020000020004" pitchFamily="49" charset="0"/>
                        <a:cs typeface="Cascadia Code" panose="020B0609020000020004" pitchFamily="49" charset="0"/>
                      </a:rPr>
                      <m:t>𝐴</m:t>
                    </m:r>
                    <m:r>
                      <a:rPr lang="en-US" sz="2300" i="1" dirty="0">
                        <a:latin typeface="Cambria Math" panose="02040503050406030204" pitchFamily="18" charset="0"/>
                        <a:ea typeface="Cascadia Code" panose="020B0609020000020004" pitchFamily="49" charset="0"/>
                        <a:cs typeface="Cascadia Code" panose="020B0609020000020004" pitchFamily="49" charset="0"/>
                      </a:rPr>
                      <m:t>[</m:t>
                    </m:r>
                    <m:r>
                      <a:rPr lang="en-US" sz="23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300" i="1"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3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a:latin typeface="Cambria Math" panose="02040503050406030204" pitchFamily="18" charset="0"/>
                        <a:ea typeface="Cascadia Code" panose="020B0609020000020004" pitchFamily="49" charset="0"/>
                        <a:cs typeface="Cascadia Code" panose="020B0609020000020004" pitchFamily="49" charset="0"/>
                      </a:rPr>
                      <m:t>𝑆𝐸𝑇</m:t>
                    </m:r>
                    <m:r>
                      <a:rPr lang="en-US" sz="2600" i="1">
                        <a:latin typeface="Cambria Math" panose="02040503050406030204" pitchFamily="18" charset="0"/>
                        <a:ea typeface="Cascadia Code" panose="020B0609020000020004" pitchFamily="49" charset="0"/>
                        <a:cs typeface="Cascadia Code" panose="020B0609020000020004" pitchFamily="49" charset="0"/>
                      </a:rPr>
                      <m:t> </m:t>
                    </m:r>
                    <m:r>
                      <a:rPr lang="en-US" sz="2600" i="1">
                        <a:latin typeface="Cambria Math" panose="02040503050406030204" pitchFamily="18" charset="0"/>
                        <a:ea typeface="Cascadia Code" panose="020B0609020000020004" pitchFamily="49" charset="0"/>
                        <a:cs typeface="Cascadia Code" panose="020B0609020000020004" pitchFamily="49" charset="0"/>
                      </a:rPr>
                      <m:t>𝑎𝑣𝑒𝑟𝑎𝑔𝑒</m:t>
                    </m:r>
                    <m:r>
                      <a:rPr lang="en-US" sz="2600" i="1">
                        <a:latin typeface="Cambria Math" panose="02040503050406030204" pitchFamily="18" charset="0"/>
                        <a:ea typeface="Cascadia Code" panose="020B0609020000020004" pitchFamily="49" charset="0"/>
                        <a:cs typeface="Cascadia Code" panose="020B0609020000020004" pitchFamily="49" charset="0"/>
                      </a:rPr>
                      <m:t>≔</m:t>
                    </m:r>
                    <m:f>
                      <m:fPr>
                        <m:ctrlPr>
                          <a:rPr lang="en-US" sz="2600" i="1" smtClean="0">
                            <a:latin typeface="Cambria Math" panose="02040503050406030204" pitchFamily="18" charset="0"/>
                            <a:ea typeface="Cascadia Code" panose="020B0609020000020004" pitchFamily="49" charset="0"/>
                            <a:cs typeface="Cascadia Code" panose="020B0609020000020004" pitchFamily="49" charset="0"/>
                          </a:rPr>
                        </m:ctrlPr>
                      </m:fPr>
                      <m:num>
                        <m:r>
                          <a:rPr lang="en-US" sz="2600" i="1">
                            <a:latin typeface="Cambria Math" panose="02040503050406030204" pitchFamily="18" charset="0"/>
                            <a:ea typeface="Cascadia Code" panose="020B0609020000020004" pitchFamily="49" charset="0"/>
                            <a:cs typeface="Cascadia Code" panose="020B0609020000020004" pitchFamily="49" charset="0"/>
                          </a:rPr>
                          <m:t>𝑠𝑢𝑚</m:t>
                        </m:r>
                      </m:num>
                      <m:den>
                        <m:r>
                          <a:rPr lang="en-US" sz="2600" i="1">
                            <a:latin typeface="Cambria Math" panose="02040503050406030204" pitchFamily="18" charset="0"/>
                            <a:ea typeface="Cascadia Code" panose="020B0609020000020004" pitchFamily="49" charset="0"/>
                            <a:cs typeface="Cascadia Code" panose="020B0609020000020004" pitchFamily="49" charset="0"/>
                          </a:rPr>
                          <m:t>𝑛</m:t>
                        </m:r>
                      </m:den>
                    </m:f>
                  </m:oMath>
                </a14:m>
                <a:endParaRPr lang="en-US" sz="26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a:latin typeface="Cambria Math" panose="02040503050406030204" pitchFamily="18" charset="0"/>
                        <a:ea typeface="Cascadia Code" panose="020B0609020000020004" pitchFamily="49" charset="0"/>
                        <a:cs typeface="Cascadia Code" panose="020B0609020000020004" pitchFamily="49" charset="0"/>
                      </a:rPr>
                      <m:t>𝑅𝐸𝑇𝑈𝑅𝑁</m:t>
                    </m:r>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𝑎𝑣𝑒𝑟𝑎𝑔𝑒</m:t>
                    </m:r>
                  </m:oMath>
                </a14:m>
                <a:endParaRPr lang="en-US" sz="2600" dirty="0">
                  <a:latin typeface="Cascadia Code" panose="020B0609020000020004" pitchFamily="49" charset="0"/>
                  <a:ea typeface="Cascadia Code" panose="020B0609020000020004" pitchFamily="49" charset="0"/>
                  <a:cs typeface="Cascadia Code" panose="020B0609020000020004" pitchFamily="49" charset="0"/>
                </a:endParaRPr>
              </a:p>
              <a:p>
                <a:pPr>
                  <a:lnSpc>
                    <a:spcPct val="120000"/>
                  </a:lnSpc>
                  <a:buFont typeface="Wingdings" panose="05000000000000000000" pitchFamily="2" charset="2"/>
                  <a:buChar char="§"/>
                </a:pPr>
                <a:r>
                  <a:rPr lang="en-US" sz="3200" dirty="0"/>
                  <a:t>Our key focus here is the loop, because in this example, the number of operations depend on the size of </a:t>
                </a:r>
                <a14:m>
                  <m:oMath xmlns:m="http://schemas.openxmlformats.org/officeDocument/2006/math">
                    <m:r>
                      <a:rPr lang="en-US" sz="3200" i="1" dirty="0" smtClean="0">
                        <a:latin typeface="Cambria Math" panose="02040503050406030204" pitchFamily="18" charset="0"/>
                      </a:rPr>
                      <m:t>𝑛</m:t>
                    </m:r>
                  </m:oMath>
                </a14:m>
                <a:r>
                  <a:rPr lang="en-US" sz="3200" dirty="0"/>
                  <a:t>. The complexity will be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𝑛𝑐</m:t>
                        </m:r>
                        <m:r>
                          <a:rPr lang="en-US" sz="3200" b="0" i="1" smtClean="0">
                            <a:latin typeface="Cambria Math" panose="02040503050406030204" pitchFamily="18" charset="0"/>
                          </a:rPr>
                          <m:t>+1</m:t>
                        </m:r>
                        <m:r>
                          <a:rPr lang="en-US" sz="3200" b="0" i="1" smtClean="0">
                            <a:latin typeface="Cambria Math" panose="02040503050406030204" pitchFamily="18" charset="0"/>
                          </a:rPr>
                          <m:t>𝑐</m:t>
                        </m:r>
                      </m:e>
                    </m:d>
                  </m:oMath>
                </a14:m>
                <a:r>
                  <a:rPr lang="en-US" sz="3200" dirty="0"/>
                  <a:t> in this case. Since </a:t>
                </a:r>
                <a14:m>
                  <m:oMath xmlns:m="http://schemas.openxmlformats.org/officeDocument/2006/math">
                    <m:r>
                      <a:rPr lang="en-US" sz="3200" b="0" i="1" smtClean="0">
                        <a:latin typeface="Cambria Math" panose="02040503050406030204" pitchFamily="18" charset="0"/>
                      </a:rPr>
                      <m:t>1</m:t>
                    </m:r>
                    <m:r>
                      <a:rPr lang="en-US" sz="3200" b="0" i="1" smtClean="0">
                        <a:latin typeface="Cambria Math" panose="02040503050406030204" pitchFamily="18" charset="0"/>
                      </a:rPr>
                      <m:t>𝑐</m:t>
                    </m:r>
                  </m:oMath>
                </a14:m>
                <a:r>
                  <a:rPr lang="en-US" sz="3200" dirty="0"/>
                  <a:t> is low order term, it will be neglected. Also assume </a:t>
                </a:r>
                <a14:m>
                  <m:oMath xmlns:m="http://schemas.openxmlformats.org/officeDocument/2006/math">
                    <m:r>
                      <a:rPr lang="en-US" sz="3200" b="0" i="1" smtClean="0">
                        <a:latin typeface="Cambria Math" panose="02040503050406030204" pitchFamily="18" charset="0"/>
                      </a:rPr>
                      <m:t>𝑐</m:t>
                    </m:r>
                    <m:r>
                      <a:rPr lang="en-US" sz="3200" b="0" i="1" smtClean="0">
                        <a:latin typeface="Cambria Math" panose="02040503050406030204" pitchFamily="18" charset="0"/>
                      </a:rPr>
                      <m:t>=1 </m:t>
                    </m:r>
                    <m:r>
                      <a:rPr lang="en-US" sz="3200" b="0" i="1" smtClean="0">
                        <a:latin typeface="Cambria Math" panose="02040503050406030204" pitchFamily="18" charset="0"/>
                      </a:rPr>
                      <m:t>𝑢𝑛𝑖𝑡</m:t>
                    </m:r>
                    <m:r>
                      <a:rPr lang="en-US" sz="3200" b="0" i="1" smtClean="0">
                        <a:latin typeface="Cambria Math" panose="02040503050406030204" pitchFamily="18" charset="0"/>
                      </a:rPr>
                      <m:t> </m:t>
                    </m:r>
                    <m:r>
                      <a:rPr lang="en-US" sz="3200" b="0" i="1" smtClean="0">
                        <a:latin typeface="Cambria Math" panose="02040503050406030204" pitchFamily="18" charset="0"/>
                      </a:rPr>
                      <m:t>𝑡𝑖𝑚𝑒</m:t>
                    </m:r>
                  </m:oMath>
                </a14:m>
                <a:r>
                  <a:rPr lang="en-US" sz="3200" dirty="0"/>
                  <a:t>. Hence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830" t="-986" b="-2836"/>
                </a:stretch>
              </a:blipFill>
            </p:spPr>
            <p:txBody>
              <a:bodyPr/>
              <a:lstStyle/>
              <a:p>
                <a:r>
                  <a:rPr lang="en-US">
                    <a:noFill/>
                  </a:rPr>
                  <a:t> </a:t>
                </a:r>
              </a:p>
            </p:txBody>
          </p:sp>
        </mc:Fallback>
      </mc:AlternateContent>
    </p:spTree>
    <p:extLst>
      <p:ext uri="{BB962C8B-B14F-4D97-AF65-F5344CB8AC3E}">
        <p14:creationId xmlns:p14="http://schemas.microsoft.com/office/powerpoint/2010/main" val="190981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We’ll look at several examples to understand how complexity of an algorithm can be determined.</a:t>
                </a:r>
              </a:p>
              <a:p>
                <a:pPr marL="514350" indent="-514350">
                  <a:lnSpc>
                    <a:spcPct val="120000"/>
                  </a:lnSpc>
                  <a:buFont typeface="+mj-lt"/>
                  <a:buAutoNum type="arabicPeriod"/>
                </a:pP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err="1">
                        <a:latin typeface="Cambria Math" panose="02040503050406030204" pitchFamily="18" charset="0"/>
                      </a:rPr>
                      <m:t>𝑖</m:t>
                    </m:r>
                    <m:r>
                      <a:rPr lang="en-US" sz="3200" b="0" i="1" dirty="0" smtClean="0">
                        <a:latin typeface="Cambria Math" panose="02040503050406030204" pitchFamily="18" charset="0"/>
                      </a:rPr>
                      <m:t>≔</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10</m:t>
                    </m:r>
                  </m:oMath>
                </a14:m>
                <a:endParaRPr lang="en-US" sz="32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i="1" dirty="0" err="1">
                        <a:latin typeface="Cambria Math" panose="02040503050406030204" pitchFamily="18" charset="0"/>
                      </a:rPr>
                      <m:t>𝑖</m:t>
                    </m:r>
                  </m:oMath>
                </a14:m>
                <a:r>
                  <a:rPr lang="en-US" sz="3000" dirty="0"/>
                  <a:t>	(Repeats 10 times)</a:t>
                </a:r>
              </a:p>
              <a:p>
                <a:pPr marL="457200" lvl="1" indent="0">
                  <a:lnSpc>
                    <a:spcPct val="120000"/>
                  </a:lnSpc>
                  <a:buNone/>
                </a:pPr>
                <a:r>
                  <a:rPr lang="en-US" sz="3000" dirty="0"/>
                  <a:t>	</a:t>
                </a:r>
                <a14:m>
                  <m:oMath xmlns:m="http://schemas.openxmlformats.org/officeDocument/2006/math">
                    <m:r>
                      <a:rPr lang="en-US" sz="3000" i="1" dirty="0" smtClean="0">
                        <a:latin typeface="Cambria Math" panose="02040503050406030204" pitchFamily="18" charset="0"/>
                      </a:rPr>
                      <m:t>𝑖</m:t>
                    </m:r>
                    <m:r>
                      <a:rPr lang="en-US" sz="3000" b="0" i="1" dirty="0" smtClean="0">
                        <a:latin typeface="Cambria Math" panose="02040503050406030204" pitchFamily="18" charset="0"/>
                      </a:rPr>
                      <m:t>≔</m:t>
                    </m:r>
                    <m:r>
                      <a:rPr lang="en-US" sz="3000" b="0" i="1" dirty="0" smtClean="0">
                        <a:latin typeface="Cambria Math" panose="02040503050406030204" pitchFamily="18" charset="0"/>
                      </a:rPr>
                      <m:t>𝑖</m:t>
                    </m:r>
                    <m:r>
                      <a:rPr lang="en-US" sz="3000" b="0" i="1" dirty="0" smtClean="0">
                        <a:latin typeface="Cambria Math" panose="02040503050406030204" pitchFamily="18" charset="0"/>
                      </a:rPr>
                      <m:t>+1</m:t>
                    </m:r>
                  </m:oMath>
                </a14:m>
                <a:endParaRPr lang="en-US" sz="3000" dirty="0"/>
              </a:p>
              <a:p>
                <a:pPr marL="514350" indent="-514350">
                  <a:lnSpc>
                    <a:spcPct val="120000"/>
                  </a:lnSpc>
                  <a:buFont typeface="+mj-lt"/>
                  <a:buAutoNum type="arabicPeriod"/>
                </a:pP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err="1">
                        <a:latin typeface="Cambria Math" panose="02040503050406030204" pitchFamily="18" charset="0"/>
                      </a:rPr>
                      <m:t>𝑖</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r>
                      <a:rPr lang="en-US" sz="3200" i="1" dirty="0">
                        <a:latin typeface="Cambria Math" panose="02040503050406030204" pitchFamily="18" charset="0"/>
                      </a:rPr>
                      <m:t> </m:t>
                    </m:r>
                    <m:r>
                      <a:rPr lang="en-US" sz="3200" i="1" dirty="0">
                        <a:latin typeface="Cambria Math" panose="02040503050406030204" pitchFamily="18" charset="0"/>
                      </a:rPr>
                      <m:t>𝑡𝑜</m:t>
                    </m:r>
                    <m:r>
                      <a:rPr lang="en-US" sz="3200" i="1" dirty="0">
                        <a:latin typeface="Cambria Math" panose="02040503050406030204" pitchFamily="18" charset="0"/>
                      </a:rPr>
                      <m:t> 0</m:t>
                    </m:r>
                  </m:oMath>
                </a14:m>
                <a:r>
                  <a:rPr lang="en-US" sz="3200" dirty="0"/>
                  <a:t>	(Repeats </a:t>
                </a:r>
                <a14:m>
                  <m:oMath xmlns:m="http://schemas.openxmlformats.org/officeDocument/2006/math">
                    <m:r>
                      <a:rPr lang="en-US" sz="3200" i="1" dirty="0" smtClean="0">
                        <a:latin typeface="Cambria Math" panose="02040503050406030204" pitchFamily="18" charset="0"/>
                      </a:rPr>
                      <m:t>𝑛</m:t>
                    </m:r>
                  </m:oMath>
                </a14:m>
                <a:r>
                  <a:rPr lang="en-US" sz="3200" dirty="0"/>
                  <a:t> times)</a:t>
                </a:r>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i="1" dirty="0" err="1">
                        <a:latin typeface="Cambria Math" panose="02040503050406030204" pitchFamily="18" charset="0"/>
                      </a:rPr>
                      <m:t>𝑖</m:t>
                    </m:r>
                  </m:oMath>
                </a14:m>
                <a:endParaRPr lang="en-US" sz="3000" dirty="0"/>
              </a:p>
              <a:p>
                <a:pPr marL="457200" lvl="1" indent="0">
                  <a:lnSpc>
                    <a:spcPct val="120000"/>
                  </a:lnSpc>
                  <a:buNone/>
                </a:pPr>
                <a:r>
                  <a:rPr lang="en-US" sz="3000" b="0" dirty="0"/>
                  <a:t>	</a:t>
                </a:r>
                <a14:m>
                  <m:oMath xmlns:m="http://schemas.openxmlformats.org/officeDocument/2006/math">
                    <m:r>
                      <a:rPr lang="en-US" sz="3000" b="0" i="1" smtClean="0">
                        <a:latin typeface="Cambria Math" panose="02040503050406030204" pitchFamily="18" charset="0"/>
                      </a:rPr>
                      <m:t>𝑖</m:t>
                    </m:r>
                    <m:r>
                      <a:rPr lang="en-US" sz="3000" b="0" i="1" smtClean="0">
                        <a:latin typeface="Cambria Math" panose="02040503050406030204" pitchFamily="18" charset="0"/>
                      </a:rPr>
                      <m:t>≔</m:t>
                    </m:r>
                    <m:r>
                      <a:rPr lang="en-US" sz="3000" b="0" i="1" smtClean="0">
                        <a:latin typeface="Cambria Math" panose="02040503050406030204" pitchFamily="18" charset="0"/>
                      </a:rPr>
                      <m:t>𝑖</m:t>
                    </m:r>
                    <m:r>
                      <a:rPr lang="en-US" sz="3000" b="0" i="1" smtClean="0">
                        <a:latin typeface="Cambria Math" panose="02040503050406030204" pitchFamily="18" charset="0"/>
                      </a:rPr>
                      <m:t>−1</m:t>
                    </m:r>
                  </m:oMath>
                </a14:m>
                <a:endParaRPr lang="en-US" sz="3000" b="0" dirty="0"/>
              </a:p>
              <a:p>
                <a:pPr marL="514350" indent="-514350">
                  <a:lnSpc>
                    <a:spcPct val="120000"/>
                  </a:lnSpc>
                  <a:buFont typeface="+mj-lt"/>
                  <a:buAutoNum type="arabicPeriod"/>
                </a:pP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rPr>
                      <m:t>≔</m:t>
                    </m:r>
                    <m:r>
                      <a:rPr lang="en-US" sz="3200" b="0" i="1" dirty="0" smtClean="0">
                        <a:latin typeface="Cambria Math" panose="02040503050406030204" pitchFamily="18" charset="0"/>
                      </a:rPr>
                      <m:t>1</m:t>
                    </m:r>
                    <m:r>
                      <a:rPr lang="en-US" sz="3200" i="1" dirty="0">
                        <a:latin typeface="Cambria Math" panose="02040503050406030204" pitchFamily="18" charset="0"/>
                      </a:rPr>
                      <m:t>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r>
                  <a:rPr lang="en-US" sz="3200" dirty="0"/>
                  <a:t>	(Repeats half the number </a:t>
                </a:r>
                <a14:m>
                  <m:oMath xmlns:m="http://schemas.openxmlformats.org/officeDocument/2006/math">
                    <m:r>
                      <a:rPr lang="en-US" sz="3200" i="1" dirty="0">
                        <a:latin typeface="Cambria Math" panose="02040503050406030204" pitchFamily="18" charset="0"/>
                      </a:rPr>
                      <m:t>𝑛</m:t>
                    </m:r>
                  </m:oMath>
                </a14:m>
                <a:r>
                  <a:rPr lang="en-US" sz="3200" dirty="0"/>
                  <a:t> times)</a:t>
                </a:r>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i="1" dirty="0" err="1">
                        <a:latin typeface="Cambria Math" panose="02040503050406030204" pitchFamily="18" charset="0"/>
                      </a:rPr>
                      <m:t>𝑖</m:t>
                    </m:r>
                  </m:oMath>
                </a14:m>
                <a:endParaRPr lang="en-US" sz="3000" dirty="0"/>
              </a:p>
              <a:p>
                <a:pPr marL="457200" lvl="1" indent="0">
                  <a:lnSpc>
                    <a:spcPct val="120000"/>
                  </a:lnSpc>
                  <a:buNone/>
                </a:pPr>
                <a:r>
                  <a:rPr lang="en-US" sz="3000" dirty="0"/>
                  <a:t>	</a:t>
                </a:r>
                <a14:m>
                  <m:oMath xmlns:m="http://schemas.openxmlformats.org/officeDocument/2006/math">
                    <m:r>
                      <a:rPr lang="en-US" sz="3000" i="1">
                        <a:latin typeface="Cambria Math" panose="02040503050406030204" pitchFamily="18" charset="0"/>
                      </a:rPr>
                      <m:t>𝑖</m:t>
                    </m:r>
                    <m:r>
                      <a:rPr lang="en-US" sz="3000" i="1">
                        <a:latin typeface="Cambria Math" panose="02040503050406030204" pitchFamily="18" charset="0"/>
                      </a:rPr>
                      <m:t>≔</m:t>
                    </m:r>
                    <m:r>
                      <a:rPr lang="en-US" sz="3000" i="1">
                        <a:latin typeface="Cambria Math" panose="02040503050406030204" pitchFamily="18" charset="0"/>
                      </a:rPr>
                      <m:t>𝑖</m:t>
                    </m:r>
                    <m:r>
                      <a:rPr lang="en-US" sz="3000" b="0" i="1" smtClean="0">
                        <a:latin typeface="Cambria Math" panose="02040503050406030204" pitchFamily="18" charset="0"/>
                      </a:rPr>
                      <m:t>+2</m:t>
                    </m:r>
                  </m:oMath>
                </a14:m>
                <a:endParaRPr lang="en-US" sz="3000" dirty="0"/>
              </a:p>
              <a:p>
                <a:pPr marL="457200" lvl="1" indent="0">
                  <a:lnSpc>
                    <a:spcPct val="120000"/>
                  </a:lnSpc>
                  <a:buNone/>
                </a:pPr>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830" t="-863"/>
                </a:stretch>
              </a:blipFill>
            </p:spPr>
            <p:txBody>
              <a:bodyPr/>
              <a:lstStyle/>
              <a:p>
                <a:r>
                  <a:rPr lang="en-US">
                    <a:noFill/>
                  </a:rPr>
                  <a:t> </a:t>
                </a:r>
              </a:p>
            </p:txBody>
          </p:sp>
        </mc:Fallback>
      </mc:AlternateContent>
    </p:spTree>
    <p:extLst>
      <p:ext uri="{BB962C8B-B14F-4D97-AF65-F5344CB8AC3E}">
        <p14:creationId xmlns:p14="http://schemas.microsoft.com/office/powerpoint/2010/main" val="393554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2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14:m>
                  <m:oMath xmlns:m="http://schemas.openxmlformats.org/officeDocument/2006/math">
                    <m:r>
                      <a:rPr lang="en-US" sz="3200" i="1" dirty="0" smtClean="0">
                        <a:latin typeface="Cambria Math" panose="02040503050406030204" pitchFamily="18" charset="0"/>
                      </a:rPr>
                      <m:t>𝐹𝑂𝑅</m:t>
                    </m:r>
                    <m:r>
                      <a:rPr lang="en-US" sz="3200" i="1" dirty="0" smtClean="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endParaRPr lang="en-US" sz="3200" dirty="0"/>
              </a:p>
              <a:p>
                <a:pPr marL="0" indent="0">
                  <a:lnSpc>
                    <a:spcPct val="120000"/>
                  </a:lnSpc>
                  <a:buNone/>
                </a:pPr>
                <a:r>
                  <a:rPr lang="en-US" sz="3200" dirty="0"/>
                  <a:t>	</a:t>
                </a: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a:latin typeface="Cambria Math" panose="02040503050406030204" pitchFamily="18" charset="0"/>
                      </a:rPr>
                      <m:t>𝑗</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endParaRPr lang="en-US" sz="32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i="1" dirty="0" err="1">
                        <a:latin typeface="Cambria Math" panose="02040503050406030204" pitchFamily="18" charset="0"/>
                      </a:rPr>
                      <m:t>𝑖</m:t>
                    </m:r>
                  </m:oMath>
                </a14:m>
                <a:r>
                  <a:rPr lang="en-US" sz="3000" dirty="0"/>
                  <a:t>	(Repeats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rPr>
                      <m:t>𝑛</m:t>
                    </m:r>
                  </m:oMath>
                </a14:m>
                <a:r>
                  <a:rPr lang="en-US" sz="3000" dirty="0"/>
                  <a:t> times)</a:t>
                </a:r>
              </a:p>
              <a:p>
                <a:pPr marL="457200" lvl="1" indent="0">
                  <a:lnSpc>
                    <a:spcPct val="120000"/>
                  </a:lnSpc>
                  <a:buNone/>
                </a:pPr>
                <a:r>
                  <a:rPr lang="en-US" sz="3000" dirty="0"/>
                  <a:t>		</a:t>
                </a:r>
                <a14:m>
                  <m:oMath xmlns:m="http://schemas.openxmlformats.org/officeDocument/2006/math">
                    <m:r>
                      <a:rPr lang="en-US" sz="3000" i="1">
                        <a:latin typeface="Cambria Math" panose="02040503050406030204" pitchFamily="18" charset="0"/>
                      </a:rPr>
                      <m:t>𝑗</m:t>
                    </m:r>
                    <m:r>
                      <a:rPr lang="en-US" sz="3000" i="1">
                        <a:latin typeface="Cambria Math" panose="02040503050406030204" pitchFamily="18" charset="0"/>
                      </a:rPr>
                      <m:t>≔</m:t>
                    </m:r>
                    <m:r>
                      <a:rPr lang="en-US" sz="3000" i="1">
                        <a:latin typeface="Cambria Math" panose="02040503050406030204" pitchFamily="18" charset="0"/>
                      </a:rPr>
                      <m:t>𝑗</m:t>
                    </m:r>
                    <m:r>
                      <a:rPr lang="en-US" sz="3000" i="1">
                        <a:latin typeface="Cambria Math" panose="02040503050406030204" pitchFamily="18" charset="0"/>
                      </a:rPr>
                      <m:t>+1</m:t>
                    </m:r>
                  </m:oMath>
                </a14:m>
                <a:endParaRPr lang="en-US" sz="30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𝑖</m:t>
                    </m:r>
                    <m:r>
                      <a:rPr lang="en-US" sz="3000" i="1" dirty="0">
                        <a:latin typeface="Cambria Math" panose="02040503050406030204" pitchFamily="18" charset="0"/>
                      </a:rPr>
                      <m:t>≔</m:t>
                    </m:r>
                    <m:r>
                      <a:rPr lang="en-US" sz="3000" i="1" dirty="0">
                        <a:latin typeface="Cambria Math" panose="02040503050406030204" pitchFamily="18" charset="0"/>
                      </a:rPr>
                      <m:t>𝑖</m:t>
                    </m:r>
                    <m:r>
                      <a:rPr lang="en-US" sz="3000" i="1" dirty="0">
                        <a:latin typeface="Cambria Math" panose="02040503050406030204" pitchFamily="18" charset="0"/>
                      </a:rPr>
                      <m:t>+1</m:t>
                    </m:r>
                  </m:oMath>
                </a14:m>
                <a:endParaRPr lang="en-US" sz="3000" dirty="0"/>
              </a:p>
              <a:p>
                <a:pPr>
                  <a:lnSpc>
                    <a:spcPct val="120000"/>
                  </a:lnSpc>
                  <a:buFont typeface="Wingdings" panose="05000000000000000000" pitchFamily="2" charset="2"/>
                  <a:buChar char="§"/>
                </a:pPr>
                <a:r>
                  <a:rPr lang="en-US" sz="3200" dirty="0"/>
                  <a:t>In this case, the </a:t>
                </a:r>
                <a14:m>
                  <m:oMath xmlns:m="http://schemas.openxmlformats.org/officeDocument/2006/math">
                    <m:r>
                      <a:rPr lang="en-US" sz="3200" b="0" i="1" smtClean="0">
                        <a:latin typeface="Cambria Math" panose="02040503050406030204" pitchFamily="18" charset="0"/>
                      </a:rPr>
                      <m:t>𝑤𝑟𝑖𝑡𝑒</m:t>
                    </m:r>
                  </m:oMath>
                </a14:m>
                <a:r>
                  <a:rPr lang="en-US" sz="3200" dirty="0"/>
                  <a:t> statement runs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times. If we added another nested loop that runs from </a:t>
                </a:r>
                <a14:m>
                  <m:oMath xmlns:m="http://schemas.openxmlformats.org/officeDocument/2006/math">
                    <m:r>
                      <a:rPr lang="en-US" sz="3200" b="0" i="1" smtClean="0">
                        <a:latin typeface="Cambria Math" panose="02040503050406030204" pitchFamily="18" charset="0"/>
                      </a:rPr>
                      <m:t>𝑘</m:t>
                    </m:r>
                    <m:r>
                      <a:rPr lang="en-US" sz="3200" b="0" i="1" smtClean="0">
                        <a:latin typeface="Cambria Math" panose="02040503050406030204" pitchFamily="18" charset="0"/>
                      </a:rPr>
                      <m:t>≔1 </m:t>
                    </m:r>
                    <m:r>
                      <a:rPr lang="en-US" sz="3200" b="0" i="1" smtClean="0">
                        <a:latin typeface="Cambria Math" panose="02040503050406030204" pitchFamily="18" charset="0"/>
                      </a:rPr>
                      <m:t>𝑡𝑜</m:t>
                    </m:r>
                    <m:r>
                      <a:rPr lang="en-US" sz="3200" b="0" i="1" smtClean="0">
                        <a:latin typeface="Cambria Math" panose="02040503050406030204" pitchFamily="18" charset="0"/>
                      </a:rPr>
                      <m:t> </m:t>
                    </m:r>
                    <m:r>
                      <a:rPr lang="en-US" sz="3200" b="0" i="1" smtClean="0">
                        <a:latin typeface="Cambria Math" panose="02040503050406030204" pitchFamily="18" charset="0"/>
                      </a:rPr>
                      <m:t>𝑛</m:t>
                    </m:r>
                  </m:oMath>
                </a14:m>
                <a:r>
                  <a:rPr lang="en-US" sz="3200" dirty="0"/>
                  <a:t>, then the </a:t>
                </a:r>
                <a14:m>
                  <m:oMath xmlns:m="http://schemas.openxmlformats.org/officeDocument/2006/math">
                    <m:r>
                      <a:rPr lang="en-US" sz="3200" b="0" i="1" smtClean="0">
                        <a:latin typeface="Cambria Math" panose="02040503050406030204" pitchFamily="18" charset="0"/>
                      </a:rPr>
                      <m:t>𝑤𝑟𝑖𝑡𝑒</m:t>
                    </m:r>
                  </m:oMath>
                </a14:m>
                <a:r>
                  <a:rPr lang="en-US" sz="3200" dirty="0"/>
                  <a:t> statement will run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3</m:t>
                        </m:r>
                      </m:sup>
                    </m:sSup>
                  </m:oMath>
                </a14:m>
                <a:r>
                  <a:rPr lang="en-US" sz="3200" dirty="0"/>
                  <a:t> times. Therefore, the polynomial power increases with the depth of nested loops.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29"/>
              </a:xfrm>
              <a:prstGeom prst="rect">
                <a:avLst/>
              </a:prstGeom>
              <a:blipFill>
                <a:blip r:embed="rId3"/>
                <a:stretch>
                  <a:fillRect l="-1038" r="-363" b="-3699"/>
                </a:stretch>
              </a:blipFill>
            </p:spPr>
            <p:txBody>
              <a:bodyPr/>
              <a:lstStyle/>
              <a:p>
                <a:r>
                  <a:rPr lang="en-PK">
                    <a:noFill/>
                  </a:rPr>
                  <a:t> </a:t>
                </a:r>
              </a:p>
            </p:txBody>
          </p:sp>
        </mc:Fallback>
      </mc:AlternateContent>
    </p:spTree>
    <p:extLst>
      <p:ext uri="{BB962C8B-B14F-4D97-AF65-F5344CB8AC3E}">
        <p14:creationId xmlns:p14="http://schemas.microsoft.com/office/powerpoint/2010/main" val="80168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5875616" cy="4942829"/>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14:m>
                  <m:oMath xmlns:m="http://schemas.openxmlformats.org/officeDocument/2006/math">
                    <m:r>
                      <a:rPr lang="en-US" sz="3200" i="1" dirty="0" smtClean="0">
                        <a:latin typeface="Cambria Math" panose="02040503050406030204" pitchFamily="18" charset="0"/>
                      </a:rPr>
                      <m:t>𝐹𝑂𝑅</m:t>
                    </m:r>
                    <m:r>
                      <a:rPr lang="en-US" sz="3200" i="1" dirty="0" smtClean="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endParaRPr lang="en-US" sz="3200" dirty="0"/>
              </a:p>
              <a:p>
                <a:pPr marL="0" indent="0">
                  <a:lnSpc>
                    <a:spcPct val="120000"/>
                  </a:lnSpc>
                  <a:buNone/>
                </a:pPr>
                <a:r>
                  <a:rPr lang="en-US" sz="3200" dirty="0"/>
                  <a:t>	</a:t>
                </a:r>
                <a14:m>
                  <m:oMath xmlns:m="http://schemas.openxmlformats.org/officeDocument/2006/math">
                    <m:r>
                      <a:rPr lang="en-US" sz="3200" i="1" dirty="0">
                        <a:latin typeface="Cambria Math" panose="02040503050406030204" pitchFamily="18" charset="0"/>
                      </a:rPr>
                      <m:t>𝐹𝑂𝑅</m:t>
                    </m:r>
                    <m:r>
                      <a:rPr lang="en-US" sz="3200" i="1" dirty="0">
                        <a:latin typeface="Cambria Math" panose="02040503050406030204" pitchFamily="18" charset="0"/>
                      </a:rPr>
                      <m:t> </m:t>
                    </m:r>
                    <m:r>
                      <a:rPr lang="en-US" sz="3200" i="1" dirty="0">
                        <a:latin typeface="Cambria Math" panose="02040503050406030204" pitchFamily="18" charset="0"/>
                      </a:rPr>
                      <m:t>𝑗</m:t>
                    </m:r>
                    <m:r>
                      <a:rPr lang="en-US" sz="3200" i="1" dirty="0">
                        <a:latin typeface="Cambria Math" panose="02040503050406030204" pitchFamily="18" charset="0"/>
                      </a:rPr>
                      <m:t>≔0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𝑖</m:t>
                    </m:r>
                  </m:oMath>
                </a14:m>
                <a:endParaRPr lang="en-US" sz="32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𝑊𝑟𝑖𝑡𝑒</m:t>
                    </m:r>
                    <m:r>
                      <a:rPr lang="en-US" sz="3000" i="1" dirty="0">
                        <a:latin typeface="Cambria Math" panose="02040503050406030204" pitchFamily="18" charset="0"/>
                      </a:rPr>
                      <m:t> </m:t>
                    </m:r>
                    <m:r>
                      <a:rPr lang="en-US" sz="3000" b="0" i="1" dirty="0" smtClean="0">
                        <a:latin typeface="Cambria Math" panose="02040503050406030204" pitchFamily="18" charset="0"/>
                      </a:rPr>
                      <m:t>𝑗</m:t>
                    </m:r>
                  </m:oMath>
                </a14:m>
                <a:endParaRPr lang="en-US" sz="3000" dirty="0"/>
              </a:p>
              <a:p>
                <a:pPr marL="457200" lvl="1" indent="0">
                  <a:lnSpc>
                    <a:spcPct val="120000"/>
                  </a:lnSpc>
                  <a:buNone/>
                </a:pPr>
                <a:r>
                  <a:rPr lang="en-US" sz="3000" dirty="0"/>
                  <a:t>		</a:t>
                </a:r>
                <a14:m>
                  <m:oMath xmlns:m="http://schemas.openxmlformats.org/officeDocument/2006/math">
                    <m:r>
                      <a:rPr lang="en-US" sz="3000" i="1">
                        <a:latin typeface="Cambria Math" panose="02040503050406030204" pitchFamily="18" charset="0"/>
                      </a:rPr>
                      <m:t>𝑗</m:t>
                    </m:r>
                    <m:r>
                      <a:rPr lang="en-US" sz="3000" i="1">
                        <a:latin typeface="Cambria Math" panose="02040503050406030204" pitchFamily="18" charset="0"/>
                      </a:rPr>
                      <m:t>≔</m:t>
                    </m:r>
                    <m:r>
                      <a:rPr lang="en-US" sz="3000" i="1">
                        <a:latin typeface="Cambria Math" panose="02040503050406030204" pitchFamily="18" charset="0"/>
                      </a:rPr>
                      <m:t>𝑗</m:t>
                    </m:r>
                    <m:r>
                      <a:rPr lang="en-US" sz="3000" i="1">
                        <a:latin typeface="Cambria Math" panose="02040503050406030204" pitchFamily="18" charset="0"/>
                      </a:rPr>
                      <m:t>+1</m:t>
                    </m:r>
                  </m:oMath>
                </a14:m>
                <a:endParaRPr lang="en-US" sz="3000" dirty="0"/>
              </a:p>
              <a:p>
                <a:pPr marL="457200" lvl="1" indent="0">
                  <a:lnSpc>
                    <a:spcPct val="120000"/>
                  </a:lnSpc>
                  <a:buNone/>
                </a:pPr>
                <a:r>
                  <a:rPr lang="en-US" sz="3000" dirty="0"/>
                  <a:t>	</a:t>
                </a:r>
                <a14:m>
                  <m:oMath xmlns:m="http://schemas.openxmlformats.org/officeDocument/2006/math">
                    <m:r>
                      <a:rPr lang="en-US" sz="3000" i="1" dirty="0">
                        <a:latin typeface="Cambria Math" panose="02040503050406030204" pitchFamily="18" charset="0"/>
                      </a:rPr>
                      <m:t>𝑖</m:t>
                    </m:r>
                    <m:r>
                      <a:rPr lang="en-US" sz="3000" i="1" dirty="0">
                        <a:latin typeface="Cambria Math" panose="02040503050406030204" pitchFamily="18" charset="0"/>
                      </a:rPr>
                      <m:t>≔</m:t>
                    </m:r>
                    <m:r>
                      <a:rPr lang="en-US" sz="3000" i="1" dirty="0">
                        <a:latin typeface="Cambria Math" panose="02040503050406030204" pitchFamily="18" charset="0"/>
                      </a:rPr>
                      <m:t>𝑖</m:t>
                    </m:r>
                    <m:r>
                      <a:rPr lang="en-US" sz="3000" i="1" dirty="0">
                        <a:latin typeface="Cambria Math" panose="02040503050406030204" pitchFamily="18" charset="0"/>
                      </a:rPr>
                      <m:t>+1</m:t>
                    </m:r>
                  </m:oMath>
                </a14:m>
                <a:endParaRPr lang="en-US" sz="3000" dirty="0"/>
              </a:p>
              <a:p>
                <a:pPr>
                  <a:lnSpc>
                    <a:spcPct val="120000"/>
                  </a:lnSpc>
                  <a:buFont typeface="Wingdings" panose="05000000000000000000" pitchFamily="2" charset="2"/>
                  <a:buChar char="§"/>
                </a:pPr>
                <a:r>
                  <a:rPr lang="en-US" sz="3200" dirty="0"/>
                  <a:t>Let’s make a table and see how many times the </a:t>
                </a:r>
                <a14:m>
                  <m:oMath xmlns:m="http://schemas.openxmlformats.org/officeDocument/2006/math">
                    <m:r>
                      <a:rPr lang="en-US" sz="3200" b="0" i="1" smtClean="0">
                        <a:latin typeface="Cambria Math" panose="02040503050406030204" pitchFamily="18" charset="0"/>
                      </a:rPr>
                      <m:t>𝑤𝑟𝑖𝑡𝑒</m:t>
                    </m:r>
                  </m:oMath>
                </a14:m>
                <a:r>
                  <a:rPr lang="en-US" sz="3200" dirty="0"/>
                  <a:t> statement executes.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5875616" cy="4942829"/>
              </a:xfrm>
              <a:prstGeom prst="rect">
                <a:avLst/>
              </a:prstGeom>
              <a:blipFill>
                <a:blip r:embed="rId3"/>
                <a:stretch>
                  <a:fillRect l="-2282" r="-3631"/>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7AFABD42-D8C4-F925-3979-2DBCC4449B67}"/>
              </a:ext>
            </a:extLst>
          </p:cNvPr>
          <p:cNvSpPr txBox="1">
            <a:spLocks/>
          </p:cNvSpPr>
          <p:nvPr/>
        </p:nvSpPr>
        <p:spPr>
          <a:xfrm>
            <a:off x="6086275" y="1532586"/>
            <a:ext cx="58756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sz="3200"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nvGraphicFramePr>
            <p:xfrm>
              <a:off x="6086274" y="1532586"/>
              <a:ext cx="5875617" cy="4226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gridCol w="1958539">
                      <a:extLst>
                        <a:ext uri="{9D8B030D-6E8A-4147-A177-3AD203B41FA5}">
                          <a16:colId xmlns:a16="http://schemas.microsoft.com/office/drawing/2014/main" val="3470333519"/>
                        </a:ext>
                      </a:extLst>
                    </a:gridCol>
                    <a:gridCol w="1958539">
                      <a:extLst>
                        <a:ext uri="{9D8B030D-6E8A-4147-A177-3AD203B41FA5}">
                          <a16:colId xmlns:a16="http://schemas.microsoft.com/office/drawing/2014/main" val="2347684489"/>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𝒊</m:t>
                                </m:r>
                              </m:oMath>
                            </m:oMathPara>
                          </a14:m>
                          <a:endParaRPr lang="en-PK"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𝒋</m:t>
                                </m:r>
                              </m:oMath>
                            </m:oMathPara>
                          </a14:m>
                          <a:endParaRPr lang="en-PK"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𝑬𝒙𝒆𝒄𝒖𝒕𝒊𝒐𝒏𝒔</m:t>
                                </m:r>
                              </m:oMath>
                            </m:oMathPara>
                          </a14:m>
                          <a:endParaRPr lang="en-PK" dirty="0"/>
                        </a:p>
                      </a:txBody>
                      <a:tcPr/>
                    </a:tc>
                    <a:extLst>
                      <a:ext uri="{0D108BD9-81ED-4DB2-BD59-A6C34878D82A}">
                        <a16:rowId xmlns:a16="http://schemas.microsoft.com/office/drawing/2014/main" val="23180178"/>
                      </a:ext>
                    </a:extLst>
                  </a:tr>
                  <a:tr h="370840">
                    <a:tc>
                      <a:txBody>
                        <a:bodyPr/>
                        <a:lstStyle/>
                        <a:p>
                          <a:pPr algn="ctr"/>
                          <a:r>
                            <a:rPr lang="en-US" dirty="0"/>
                            <a:t>1</a:t>
                          </a:r>
                          <a:endParaRPr lang="en-PK" dirty="0"/>
                        </a:p>
                      </a:txBody>
                      <a:tcPr/>
                    </a:tc>
                    <a:tc>
                      <a:txBody>
                        <a:bodyPr/>
                        <a:lstStyle/>
                        <a:p>
                          <a:pPr algn="ctr"/>
                          <a:r>
                            <a:rPr lang="en-US" dirty="0"/>
                            <a:t>0</a:t>
                          </a:r>
                          <a:endParaRPr lang="en-PK" dirty="0"/>
                        </a:p>
                      </a:txBody>
                      <a:tcPr/>
                    </a:tc>
                    <a:tc>
                      <a:txBody>
                        <a:bodyPr/>
                        <a:lstStyle/>
                        <a:p>
                          <a:pPr algn="ctr"/>
                          <a:r>
                            <a:rPr lang="en-US" dirty="0"/>
                            <a:t>1</a:t>
                          </a:r>
                          <a:endParaRPr lang="en-PK" dirty="0"/>
                        </a:p>
                      </a:txBody>
                      <a:tcPr/>
                    </a:tc>
                    <a:extLst>
                      <a:ext uri="{0D108BD9-81ED-4DB2-BD59-A6C34878D82A}">
                        <a16:rowId xmlns:a16="http://schemas.microsoft.com/office/drawing/2014/main" val="2401292263"/>
                      </a:ext>
                    </a:extLst>
                  </a:tr>
                  <a:tr h="370840">
                    <a:tc>
                      <a:txBody>
                        <a:bodyPr/>
                        <a:lstStyle/>
                        <a:p>
                          <a:pPr algn="ctr"/>
                          <a:r>
                            <a:rPr lang="en-US" dirty="0"/>
                            <a:t>2</a:t>
                          </a:r>
                          <a:endParaRPr lang="en-PK" dirty="0"/>
                        </a:p>
                      </a:txBody>
                      <a:tcPr/>
                    </a:tc>
                    <a:tc>
                      <a:txBody>
                        <a:bodyPr/>
                        <a:lstStyle/>
                        <a:p>
                          <a:pPr algn="ctr"/>
                          <a:r>
                            <a:rPr lang="en-US" dirty="0"/>
                            <a:t>0</a:t>
                          </a:r>
                        </a:p>
                        <a:p>
                          <a:pPr algn="ctr"/>
                          <a:r>
                            <a:rPr lang="en-US" dirty="0"/>
                            <a:t>1</a:t>
                          </a:r>
                          <a:endParaRPr lang="en-PK" dirty="0"/>
                        </a:p>
                      </a:txBody>
                      <a:tcPr/>
                    </a:tc>
                    <a:tc>
                      <a:txBody>
                        <a:bodyPr/>
                        <a:lstStyle/>
                        <a:p>
                          <a:pPr algn="ctr"/>
                          <a:r>
                            <a:rPr lang="en-US" dirty="0"/>
                            <a:t>2</a:t>
                          </a:r>
                          <a:endParaRPr lang="en-PK" dirty="0"/>
                        </a:p>
                      </a:txBody>
                      <a:tcPr/>
                    </a:tc>
                    <a:extLst>
                      <a:ext uri="{0D108BD9-81ED-4DB2-BD59-A6C34878D82A}">
                        <a16:rowId xmlns:a16="http://schemas.microsoft.com/office/drawing/2014/main" val="146293780"/>
                      </a:ext>
                    </a:extLst>
                  </a:tr>
                  <a:tr h="370840">
                    <a:tc>
                      <a:txBody>
                        <a:bodyPr/>
                        <a:lstStyle/>
                        <a:p>
                          <a:pPr algn="ctr"/>
                          <a:r>
                            <a:rPr lang="en-US" dirty="0"/>
                            <a:t>3</a:t>
                          </a:r>
                          <a:endParaRPr lang="en-PK" dirty="0"/>
                        </a:p>
                      </a:txBody>
                      <a:tcPr/>
                    </a:tc>
                    <a:tc>
                      <a:txBody>
                        <a:bodyPr/>
                        <a:lstStyle/>
                        <a:p>
                          <a:pPr algn="ctr"/>
                          <a:r>
                            <a:rPr lang="en-US" dirty="0"/>
                            <a:t>0</a:t>
                          </a:r>
                        </a:p>
                        <a:p>
                          <a:pPr algn="ctr"/>
                          <a:r>
                            <a:rPr lang="en-US" dirty="0"/>
                            <a:t>1</a:t>
                          </a:r>
                        </a:p>
                        <a:p>
                          <a:pPr algn="ctr"/>
                          <a:r>
                            <a:rPr lang="en-US" dirty="0"/>
                            <a:t>2</a:t>
                          </a:r>
                          <a:endParaRPr lang="en-PK" dirty="0"/>
                        </a:p>
                      </a:txBody>
                      <a:tcPr/>
                    </a:tc>
                    <a:tc>
                      <a:txBody>
                        <a:bodyPr/>
                        <a:lstStyle/>
                        <a:p>
                          <a:pPr algn="ctr"/>
                          <a:r>
                            <a:rPr lang="en-US" dirty="0"/>
                            <a:t>3</a:t>
                          </a:r>
                          <a:endParaRPr lang="en-PK" dirty="0"/>
                        </a:p>
                      </a:txBody>
                      <a:tcPr/>
                    </a:tc>
                    <a:extLst>
                      <a:ext uri="{0D108BD9-81ED-4DB2-BD59-A6C34878D82A}">
                        <a16:rowId xmlns:a16="http://schemas.microsoft.com/office/drawing/2014/main" val="1757395884"/>
                      </a:ext>
                    </a:extLst>
                  </a:tr>
                  <a:tr h="370840">
                    <a:tc>
                      <a:txBody>
                        <a:bodyPr/>
                        <a:lstStyle/>
                        <a:p>
                          <a:pPr algn="ctr"/>
                          <a:r>
                            <a:rPr lang="en-US" dirty="0"/>
                            <a:t>4</a:t>
                          </a:r>
                          <a:endParaRPr lang="en-PK" dirty="0"/>
                        </a:p>
                      </a:txBody>
                      <a:tcPr/>
                    </a:tc>
                    <a:tc>
                      <a:txBody>
                        <a:bodyPr/>
                        <a:lstStyle/>
                        <a:p>
                          <a:pPr algn="ctr"/>
                          <a:r>
                            <a:rPr lang="en-US" dirty="0"/>
                            <a:t>0</a:t>
                          </a:r>
                        </a:p>
                        <a:p>
                          <a:pPr algn="ctr"/>
                          <a:r>
                            <a:rPr lang="en-US" dirty="0"/>
                            <a:t>1</a:t>
                          </a:r>
                        </a:p>
                        <a:p>
                          <a:pPr algn="ctr"/>
                          <a:r>
                            <a:rPr lang="en-US" dirty="0"/>
                            <a:t>2</a:t>
                          </a:r>
                        </a:p>
                        <a:p>
                          <a:pPr algn="ctr"/>
                          <a:r>
                            <a:rPr lang="en-US" dirty="0"/>
                            <a:t>3</a:t>
                          </a:r>
                          <a:endParaRPr lang="en-PK" dirty="0"/>
                        </a:p>
                      </a:txBody>
                      <a:tcPr/>
                    </a:tc>
                    <a:tc>
                      <a:txBody>
                        <a:bodyPr/>
                        <a:lstStyle/>
                        <a:p>
                          <a:pPr algn="ctr"/>
                          <a:r>
                            <a:rPr lang="en-US"/>
                            <a:t>4</a:t>
                          </a:r>
                          <a:endParaRPr lang="en-PK" dirty="0"/>
                        </a:p>
                      </a:txBody>
                      <a:tcPr/>
                    </a:tc>
                    <a:extLst>
                      <a:ext uri="{0D108BD9-81ED-4DB2-BD59-A6C34878D82A}">
                        <a16:rowId xmlns:a16="http://schemas.microsoft.com/office/drawing/2014/main" val="167416246"/>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1913716473"/>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𝑛</m:t>
                                </m:r>
                              </m:oMath>
                            </m:oMathPara>
                          </a14:m>
                          <a:endParaRPr lang="en-PK"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PK"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PK" dirty="0"/>
                        </a:p>
                      </a:txBody>
                      <a:tcPr/>
                    </a:tc>
                    <a:extLst>
                      <a:ext uri="{0D108BD9-81ED-4DB2-BD59-A6C34878D82A}">
                        <a16:rowId xmlns:a16="http://schemas.microsoft.com/office/drawing/2014/main" val="1882269746"/>
                      </a:ext>
                    </a:extLst>
                  </a:tr>
                </a:tbl>
              </a:graphicData>
            </a:graphic>
          </p:graphicFrame>
        </mc:Choice>
        <mc:Fallback xmlns="">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nvGraphicFramePr>
            <p:xfrm>
              <a:off x="6086274" y="1532586"/>
              <a:ext cx="5875617" cy="4226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gridCol w="1958539">
                      <a:extLst>
                        <a:ext uri="{9D8B030D-6E8A-4147-A177-3AD203B41FA5}">
                          <a16:colId xmlns:a16="http://schemas.microsoft.com/office/drawing/2014/main" val="3470333519"/>
                        </a:ext>
                      </a:extLst>
                    </a:gridCol>
                    <a:gridCol w="1958539">
                      <a:extLst>
                        <a:ext uri="{9D8B030D-6E8A-4147-A177-3AD203B41FA5}">
                          <a16:colId xmlns:a16="http://schemas.microsoft.com/office/drawing/2014/main" val="2347684489"/>
                        </a:ext>
                      </a:extLst>
                    </a:gridCol>
                  </a:tblGrid>
                  <a:tr h="370840">
                    <a:tc>
                      <a:txBody>
                        <a:bodyPr/>
                        <a:lstStyle/>
                        <a:p>
                          <a:endParaRPr lang="en-US"/>
                        </a:p>
                      </a:txBody>
                      <a:tcPr>
                        <a:blipFill>
                          <a:blip r:embed="rId4"/>
                          <a:stretch>
                            <a:fillRect l="-311" t="-1639" r="-200932" b="-1040984"/>
                          </a:stretch>
                        </a:blipFill>
                      </a:tcPr>
                    </a:tc>
                    <a:tc>
                      <a:txBody>
                        <a:bodyPr/>
                        <a:lstStyle/>
                        <a:p>
                          <a:endParaRPr lang="en-US"/>
                        </a:p>
                      </a:txBody>
                      <a:tcPr>
                        <a:blipFill>
                          <a:blip r:embed="rId4"/>
                          <a:stretch>
                            <a:fillRect l="-100623" t="-1639" r="-101558" b="-1040984"/>
                          </a:stretch>
                        </a:blipFill>
                      </a:tcPr>
                    </a:tc>
                    <a:tc>
                      <a:txBody>
                        <a:bodyPr/>
                        <a:lstStyle/>
                        <a:p>
                          <a:endParaRPr lang="en-US"/>
                        </a:p>
                      </a:txBody>
                      <a:tcPr>
                        <a:blipFill>
                          <a:blip r:embed="rId4"/>
                          <a:stretch>
                            <a:fillRect l="-200000" t="-1639" r="-1242" b="-1040984"/>
                          </a:stretch>
                        </a:blipFill>
                      </a:tcPr>
                    </a:tc>
                    <a:extLst>
                      <a:ext uri="{0D108BD9-81ED-4DB2-BD59-A6C34878D82A}">
                        <a16:rowId xmlns:a16="http://schemas.microsoft.com/office/drawing/2014/main" val="23180178"/>
                      </a:ext>
                    </a:extLst>
                  </a:tr>
                  <a:tr h="370840">
                    <a:tc>
                      <a:txBody>
                        <a:bodyPr/>
                        <a:lstStyle/>
                        <a:p>
                          <a:pPr algn="ctr"/>
                          <a:r>
                            <a:rPr lang="en-US" dirty="0"/>
                            <a:t>1</a:t>
                          </a:r>
                          <a:endParaRPr lang="en-PK" dirty="0"/>
                        </a:p>
                      </a:txBody>
                      <a:tcPr/>
                    </a:tc>
                    <a:tc>
                      <a:txBody>
                        <a:bodyPr/>
                        <a:lstStyle/>
                        <a:p>
                          <a:pPr algn="ctr"/>
                          <a:r>
                            <a:rPr lang="en-US" dirty="0"/>
                            <a:t>0</a:t>
                          </a:r>
                          <a:endParaRPr lang="en-PK" dirty="0"/>
                        </a:p>
                      </a:txBody>
                      <a:tcPr/>
                    </a:tc>
                    <a:tc>
                      <a:txBody>
                        <a:bodyPr/>
                        <a:lstStyle/>
                        <a:p>
                          <a:pPr algn="ctr"/>
                          <a:r>
                            <a:rPr lang="en-US" dirty="0"/>
                            <a:t>1</a:t>
                          </a:r>
                          <a:endParaRPr lang="en-PK" dirty="0"/>
                        </a:p>
                      </a:txBody>
                      <a:tcPr/>
                    </a:tc>
                    <a:extLst>
                      <a:ext uri="{0D108BD9-81ED-4DB2-BD59-A6C34878D82A}">
                        <a16:rowId xmlns:a16="http://schemas.microsoft.com/office/drawing/2014/main" val="2401292263"/>
                      </a:ext>
                    </a:extLst>
                  </a:tr>
                  <a:tr h="640080">
                    <a:tc>
                      <a:txBody>
                        <a:bodyPr/>
                        <a:lstStyle/>
                        <a:p>
                          <a:pPr algn="ctr"/>
                          <a:r>
                            <a:rPr lang="en-US" dirty="0"/>
                            <a:t>2</a:t>
                          </a:r>
                          <a:endParaRPr lang="en-PK" dirty="0"/>
                        </a:p>
                      </a:txBody>
                      <a:tcPr/>
                    </a:tc>
                    <a:tc>
                      <a:txBody>
                        <a:bodyPr/>
                        <a:lstStyle/>
                        <a:p>
                          <a:pPr algn="ctr"/>
                          <a:r>
                            <a:rPr lang="en-US" dirty="0"/>
                            <a:t>0</a:t>
                          </a:r>
                        </a:p>
                        <a:p>
                          <a:pPr algn="ctr"/>
                          <a:r>
                            <a:rPr lang="en-US" dirty="0"/>
                            <a:t>1</a:t>
                          </a:r>
                          <a:endParaRPr lang="en-PK" dirty="0"/>
                        </a:p>
                      </a:txBody>
                      <a:tcPr/>
                    </a:tc>
                    <a:tc>
                      <a:txBody>
                        <a:bodyPr/>
                        <a:lstStyle/>
                        <a:p>
                          <a:pPr algn="ctr"/>
                          <a:r>
                            <a:rPr lang="en-US" dirty="0"/>
                            <a:t>2</a:t>
                          </a:r>
                          <a:endParaRPr lang="en-PK" dirty="0"/>
                        </a:p>
                      </a:txBody>
                      <a:tcPr/>
                    </a:tc>
                    <a:extLst>
                      <a:ext uri="{0D108BD9-81ED-4DB2-BD59-A6C34878D82A}">
                        <a16:rowId xmlns:a16="http://schemas.microsoft.com/office/drawing/2014/main" val="146293780"/>
                      </a:ext>
                    </a:extLst>
                  </a:tr>
                  <a:tr h="914400">
                    <a:tc>
                      <a:txBody>
                        <a:bodyPr/>
                        <a:lstStyle/>
                        <a:p>
                          <a:pPr algn="ctr"/>
                          <a:r>
                            <a:rPr lang="en-US" dirty="0"/>
                            <a:t>3</a:t>
                          </a:r>
                          <a:endParaRPr lang="en-PK" dirty="0"/>
                        </a:p>
                      </a:txBody>
                      <a:tcPr/>
                    </a:tc>
                    <a:tc>
                      <a:txBody>
                        <a:bodyPr/>
                        <a:lstStyle/>
                        <a:p>
                          <a:pPr algn="ctr"/>
                          <a:r>
                            <a:rPr lang="en-US" dirty="0"/>
                            <a:t>0</a:t>
                          </a:r>
                        </a:p>
                        <a:p>
                          <a:pPr algn="ctr"/>
                          <a:r>
                            <a:rPr lang="en-US" dirty="0"/>
                            <a:t>1</a:t>
                          </a:r>
                        </a:p>
                        <a:p>
                          <a:pPr algn="ctr"/>
                          <a:r>
                            <a:rPr lang="en-US" dirty="0"/>
                            <a:t>2</a:t>
                          </a:r>
                          <a:endParaRPr lang="en-PK" dirty="0"/>
                        </a:p>
                      </a:txBody>
                      <a:tcPr/>
                    </a:tc>
                    <a:tc>
                      <a:txBody>
                        <a:bodyPr/>
                        <a:lstStyle/>
                        <a:p>
                          <a:pPr algn="ctr"/>
                          <a:r>
                            <a:rPr lang="en-US" dirty="0"/>
                            <a:t>3</a:t>
                          </a:r>
                          <a:endParaRPr lang="en-PK" dirty="0"/>
                        </a:p>
                      </a:txBody>
                      <a:tcPr/>
                    </a:tc>
                    <a:extLst>
                      <a:ext uri="{0D108BD9-81ED-4DB2-BD59-A6C34878D82A}">
                        <a16:rowId xmlns:a16="http://schemas.microsoft.com/office/drawing/2014/main" val="1757395884"/>
                      </a:ext>
                    </a:extLst>
                  </a:tr>
                  <a:tr h="1188720">
                    <a:tc>
                      <a:txBody>
                        <a:bodyPr/>
                        <a:lstStyle/>
                        <a:p>
                          <a:pPr algn="ctr"/>
                          <a:r>
                            <a:rPr lang="en-US" dirty="0"/>
                            <a:t>4</a:t>
                          </a:r>
                          <a:endParaRPr lang="en-PK" dirty="0"/>
                        </a:p>
                      </a:txBody>
                      <a:tcPr/>
                    </a:tc>
                    <a:tc>
                      <a:txBody>
                        <a:bodyPr/>
                        <a:lstStyle/>
                        <a:p>
                          <a:pPr algn="ctr"/>
                          <a:r>
                            <a:rPr lang="en-US" dirty="0"/>
                            <a:t>0</a:t>
                          </a:r>
                        </a:p>
                        <a:p>
                          <a:pPr algn="ctr"/>
                          <a:r>
                            <a:rPr lang="en-US" dirty="0"/>
                            <a:t>1</a:t>
                          </a:r>
                        </a:p>
                        <a:p>
                          <a:pPr algn="ctr"/>
                          <a:r>
                            <a:rPr lang="en-US" dirty="0"/>
                            <a:t>2</a:t>
                          </a:r>
                        </a:p>
                        <a:p>
                          <a:pPr algn="ctr"/>
                          <a:r>
                            <a:rPr lang="en-US" dirty="0"/>
                            <a:t>3</a:t>
                          </a:r>
                          <a:endParaRPr lang="en-PK" dirty="0"/>
                        </a:p>
                      </a:txBody>
                      <a:tcPr/>
                    </a:tc>
                    <a:tc>
                      <a:txBody>
                        <a:bodyPr/>
                        <a:lstStyle/>
                        <a:p>
                          <a:pPr algn="ctr"/>
                          <a:r>
                            <a:rPr lang="en-US"/>
                            <a:t>4</a:t>
                          </a:r>
                          <a:endParaRPr lang="en-PK" dirty="0"/>
                        </a:p>
                      </a:txBody>
                      <a:tcPr/>
                    </a:tc>
                    <a:extLst>
                      <a:ext uri="{0D108BD9-81ED-4DB2-BD59-A6C34878D82A}">
                        <a16:rowId xmlns:a16="http://schemas.microsoft.com/office/drawing/2014/main" val="167416246"/>
                      </a:ext>
                    </a:extLst>
                  </a:tr>
                  <a:tr h="370840">
                    <a:tc>
                      <a:txBody>
                        <a:bodyPr/>
                        <a:lstStyle/>
                        <a:p>
                          <a:pPr algn="ctr"/>
                          <a:r>
                            <a:rPr lang="en-US" dirty="0"/>
                            <a:t>.</a:t>
                          </a:r>
                          <a:endParaRPr lang="en-PK" dirty="0"/>
                        </a:p>
                      </a:txBody>
                      <a:tcPr/>
                    </a:tc>
                    <a:tc>
                      <a:txBody>
                        <a:bodyPr/>
                        <a:lstStyle/>
                        <a:p>
                          <a:pPr algn="ctr"/>
                          <a:r>
                            <a:rPr lang="en-US" dirty="0"/>
                            <a:t>.</a:t>
                          </a:r>
                          <a:endParaRPr lang="en-PK" dirty="0"/>
                        </a:p>
                      </a:txBody>
                      <a:tcPr/>
                    </a:tc>
                    <a:tc>
                      <a:txBody>
                        <a:bodyPr/>
                        <a:lstStyle/>
                        <a:p>
                          <a:pPr algn="ctr"/>
                          <a:r>
                            <a:rPr lang="en-US" dirty="0"/>
                            <a:t>.</a:t>
                          </a:r>
                          <a:endParaRPr lang="en-PK" dirty="0"/>
                        </a:p>
                      </a:txBody>
                      <a:tcPr/>
                    </a:tc>
                    <a:extLst>
                      <a:ext uri="{0D108BD9-81ED-4DB2-BD59-A6C34878D82A}">
                        <a16:rowId xmlns:a16="http://schemas.microsoft.com/office/drawing/2014/main" val="1913716473"/>
                      </a:ext>
                    </a:extLst>
                  </a:tr>
                  <a:tr h="370840">
                    <a:tc>
                      <a:txBody>
                        <a:bodyPr/>
                        <a:lstStyle/>
                        <a:p>
                          <a:endParaRPr lang="en-US"/>
                        </a:p>
                      </a:txBody>
                      <a:tcPr>
                        <a:blipFill>
                          <a:blip r:embed="rId4"/>
                          <a:stretch>
                            <a:fillRect l="-311" t="-1039344" r="-200932" b="-3279"/>
                          </a:stretch>
                        </a:blipFill>
                      </a:tcPr>
                    </a:tc>
                    <a:tc>
                      <a:txBody>
                        <a:bodyPr/>
                        <a:lstStyle/>
                        <a:p>
                          <a:endParaRPr lang="en-US"/>
                        </a:p>
                      </a:txBody>
                      <a:tcPr>
                        <a:blipFill>
                          <a:blip r:embed="rId4"/>
                          <a:stretch>
                            <a:fillRect l="-100623" t="-1039344" r="-101558" b="-3279"/>
                          </a:stretch>
                        </a:blipFill>
                      </a:tcPr>
                    </a:tc>
                    <a:tc>
                      <a:txBody>
                        <a:bodyPr/>
                        <a:lstStyle/>
                        <a:p>
                          <a:endParaRPr lang="en-US"/>
                        </a:p>
                      </a:txBody>
                      <a:tcPr>
                        <a:blipFill>
                          <a:blip r:embed="rId4"/>
                          <a:stretch>
                            <a:fillRect l="-200000" t="-1039344" r="-1242" b="-3279"/>
                          </a:stretch>
                        </a:blipFill>
                      </a:tcPr>
                    </a:tc>
                    <a:extLst>
                      <a:ext uri="{0D108BD9-81ED-4DB2-BD59-A6C34878D82A}">
                        <a16:rowId xmlns:a16="http://schemas.microsoft.com/office/drawing/2014/main" val="1882269746"/>
                      </a:ext>
                    </a:extLst>
                  </a:tr>
                </a:tbl>
              </a:graphicData>
            </a:graphic>
          </p:graphicFrame>
        </mc:Fallback>
      </mc:AlternateContent>
    </p:spTree>
    <p:extLst>
      <p:ext uri="{BB962C8B-B14F-4D97-AF65-F5344CB8AC3E}">
        <p14:creationId xmlns:p14="http://schemas.microsoft.com/office/powerpoint/2010/main" val="351922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nodePh="1">
                                  <p:stCondLst>
                                    <p:cond delay="0"/>
                                  </p:stCondLst>
                                  <p:endCondLst>
                                    <p:cond evt="begin" delay="0">
                                      <p:tn val="29"/>
                                    </p:cond>
                                  </p:end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6"/>
                <a:ext cx="8486581" cy="494282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14:m>
                  <m:oMath xmlns:m="http://schemas.openxmlformats.org/officeDocument/2006/math">
                    <m:r>
                      <a:rPr lang="en-US" sz="3200" b="0" i="1" dirty="0" smtClean="0">
                        <a:latin typeface="Cambria Math" panose="02040503050406030204" pitchFamily="18" charset="0"/>
                      </a:rPr>
                      <m:t>𝑊h𝑖𝑙𝑒</m:t>
                    </m:r>
                    <m:r>
                      <a:rPr lang="en-US" sz="3200" i="1" dirty="0" smtClean="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ea typeface="Cambria Math" panose="02040503050406030204" pitchFamily="18" charset="0"/>
                      </a:rPr>
                      <m:t>×</m:t>
                    </m:r>
                    <m:r>
                      <a:rPr lang="en-US" sz="3200" i="1" dirty="0">
                        <a:latin typeface="Cambria Math" panose="02040503050406030204" pitchFamily="18" charset="0"/>
                      </a:rPr>
                      <m:t>𝑖</m:t>
                    </m:r>
                    <m:r>
                      <a:rPr lang="en-US" sz="3200" b="0" i="1" dirty="0" smtClean="0">
                        <a:latin typeface="Cambria Math" panose="02040503050406030204" pitchFamily="18" charset="0"/>
                      </a:rPr>
                      <m:t>&lt;</m:t>
                    </m:r>
                    <m:r>
                      <a:rPr lang="en-US" sz="3200" b="0" i="1" dirty="0" smtClean="0">
                        <a:latin typeface="Cambria Math" panose="02040503050406030204" pitchFamily="18" charset="0"/>
                      </a:rPr>
                      <m:t>𝑛</m:t>
                    </m:r>
                  </m:oMath>
                </a14:m>
                <a:endParaRPr lang="en-US" sz="3200" b="0" i="1" dirty="0">
                  <a:latin typeface="Cambria Math" panose="02040503050406030204" pitchFamily="18" charset="0"/>
                </a:endParaRPr>
              </a:p>
              <a:p>
                <a:pPr marL="457200" lvl="1" indent="0">
                  <a:lnSpc>
                    <a:spcPct val="120000"/>
                  </a:lnSpc>
                  <a:buNone/>
                </a:pPr>
                <a:r>
                  <a:rPr lang="en-US" sz="3000" dirty="0"/>
                  <a:t>	</a:t>
                </a:r>
                <a14:m>
                  <m:oMath xmlns:m="http://schemas.openxmlformats.org/officeDocument/2006/math">
                    <m:r>
                      <a:rPr lang="en-US" sz="3000" b="0" i="1" dirty="0" smtClean="0">
                        <a:latin typeface="Cambria Math" panose="02040503050406030204" pitchFamily="18" charset="0"/>
                      </a:rPr>
                      <m:t>𝑊𝑟𝑖𝑡𝑒</m:t>
                    </m:r>
                    <m:r>
                      <a:rPr lang="en-US" sz="3000" b="0" i="1" dirty="0" smtClean="0">
                        <a:latin typeface="Cambria Math" panose="02040503050406030204" pitchFamily="18" charset="0"/>
                      </a:rPr>
                      <m:t> </m:t>
                    </m:r>
                    <m:r>
                      <a:rPr lang="en-US" sz="3000" i="1" dirty="0">
                        <a:latin typeface="Cambria Math" panose="02040503050406030204" pitchFamily="18" charset="0"/>
                      </a:rPr>
                      <m:t>𝑖</m:t>
                    </m:r>
                  </m:oMath>
                </a14:m>
                <a:endParaRPr lang="en-US" sz="3000" dirty="0"/>
              </a:p>
              <a:p>
                <a:pPr marL="0" indent="0">
                  <a:lnSpc>
                    <a:spcPct val="120000"/>
                  </a:lnSpc>
                  <a:buNone/>
                </a:pPr>
                <a:r>
                  <a:rPr lang="en-US" sz="3200" dirty="0"/>
                  <a:t>	</a:t>
                </a:r>
                <a14:m>
                  <m:oMath xmlns:m="http://schemas.openxmlformats.org/officeDocument/2006/math">
                    <m:r>
                      <a:rPr lang="en-US" sz="3200" i="1" dirty="0">
                        <a:latin typeface="Cambria Math" panose="02040503050406030204" pitchFamily="18" charset="0"/>
                      </a:rPr>
                      <m:t>𝑖</m:t>
                    </m:r>
                    <m:r>
                      <a:rPr lang="en-US" sz="3200" i="1" dirty="0">
                        <a:latin typeface="Cambria Math" panose="02040503050406030204" pitchFamily="18" charset="0"/>
                      </a:rPr>
                      <m:t>≔</m:t>
                    </m:r>
                    <m:r>
                      <a:rPr lang="en-US" sz="3200" b="0" i="1" dirty="0" smtClean="0">
                        <a:latin typeface="Cambria Math" panose="02040503050406030204" pitchFamily="18" charset="0"/>
                      </a:rPr>
                      <m:t>𝑖</m:t>
                    </m:r>
                    <m:r>
                      <a:rPr lang="en-US" sz="3200" b="0" i="1" dirty="0" smtClean="0">
                        <a:latin typeface="Cambria Math" panose="02040503050406030204" pitchFamily="18" charset="0"/>
                      </a:rPr>
                      <m:t>+1</m:t>
                    </m:r>
                  </m:oMath>
                </a14:m>
                <a:endParaRPr lang="en-US" sz="3200" dirty="0"/>
              </a:p>
              <a:p>
                <a:pPr>
                  <a:lnSpc>
                    <a:spcPct val="120000"/>
                  </a:lnSpc>
                  <a:buFont typeface="Wingdings" panose="05000000000000000000" pitchFamily="2" charset="2"/>
                  <a:buChar char="§"/>
                </a:pPr>
                <a:r>
                  <a:rPr lang="en-US" sz="3200" dirty="0"/>
                  <a:t>Looking at the values of </a:t>
                </a:r>
                <a14:m>
                  <m:oMath xmlns:m="http://schemas.openxmlformats.org/officeDocument/2006/math">
                    <m:r>
                      <a:rPr lang="en-US" sz="3200" b="0" i="1" smtClean="0">
                        <a:latin typeface="Cambria Math" panose="02040503050406030204" pitchFamily="18" charset="0"/>
                      </a:rPr>
                      <m:t>𝑖</m:t>
                    </m:r>
                  </m:oMath>
                </a14:m>
                <a:r>
                  <a:rPr lang="en-US" sz="3200" dirty="0"/>
                  <a:t>, we get </a:t>
                </a:r>
                <a14:m>
                  <m:oMath xmlns:m="http://schemas.openxmlformats.org/officeDocument/2006/math">
                    <m:r>
                      <a:rPr lang="en-US" sz="3200" i="1" dirty="0" smtClean="0">
                        <a:latin typeface="Cambria Math" panose="02040503050406030204" pitchFamily="18" charset="0"/>
                      </a:rPr>
                      <m:t>1,2,</m:t>
                    </m:r>
                    <m:r>
                      <a:rPr lang="en-US" sz="3200" b="0" i="1" dirty="0" smtClean="0">
                        <a:latin typeface="Cambria Math" panose="02040503050406030204" pitchFamily="18" charset="0"/>
                      </a:rPr>
                      <m:t>3</m:t>
                    </m:r>
                    <m:r>
                      <a:rPr lang="en-US" sz="3200" i="1" dirty="0" smtClean="0">
                        <a:latin typeface="Cambria Math" panose="02040503050406030204" pitchFamily="18" charset="0"/>
                      </a:rPr>
                      <m:t>,</m:t>
                    </m:r>
                    <m:r>
                      <a:rPr lang="en-US" sz="3200" b="0" i="1" dirty="0" smtClean="0">
                        <a:latin typeface="Cambria Math" panose="02040503050406030204" pitchFamily="18" charset="0"/>
                      </a:rPr>
                      <m:t>4</m:t>
                    </m:r>
                    <m:r>
                      <a:rPr lang="en-US" sz="3200" i="1" dirty="0" smtClean="0">
                        <a:latin typeface="Cambria Math" panose="02040503050406030204" pitchFamily="18" charset="0"/>
                      </a:rPr>
                      <m:t>,…</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oMath>
                </a14:m>
                <a:r>
                  <a:rPr lang="en-US" sz="3200" dirty="0"/>
                  <a:t>.</a:t>
                </a:r>
              </a:p>
              <a:p>
                <a:pPr>
                  <a:lnSpc>
                    <a:spcPct val="120000"/>
                  </a:lnSpc>
                  <a:buFont typeface="Wingdings" panose="05000000000000000000" pitchFamily="2" charset="2"/>
                  <a:buChar char="§"/>
                </a:pPr>
                <a:r>
                  <a:rPr lang="en-US" sz="3200" dirty="0"/>
                  <a:t>But the way we are matching </a:t>
                </a:r>
                <a14:m>
                  <m:oMath xmlns:m="http://schemas.openxmlformats.org/officeDocument/2006/math">
                    <m:r>
                      <a:rPr lang="en-US" sz="3200" b="0" i="1" smtClean="0">
                        <a:latin typeface="Cambria Math" panose="02040503050406030204" pitchFamily="18" charset="0"/>
                      </a:rPr>
                      <m:t>𝑖</m:t>
                    </m:r>
                  </m:oMath>
                </a14:m>
                <a:r>
                  <a:rPr lang="en-US" sz="3200" dirty="0"/>
                  <a:t> is not the same. The loop will terminate when </a:t>
                </a:r>
                <a14:m>
                  <m:oMath xmlns:m="http://schemas.openxmlformats.org/officeDocument/2006/math">
                    <m:r>
                      <a:rPr lang="en-US" sz="3200" b="0" i="1" smtClean="0">
                        <a:latin typeface="Cambria Math" panose="02040503050406030204" pitchFamily="18" charset="0"/>
                      </a:rPr>
                      <m:t>𝑖</m:t>
                    </m:r>
                    <m:r>
                      <a:rPr lang="en-US" sz="3200" i="1" dirty="0">
                        <a:latin typeface="Cambria Math" panose="02040503050406030204" pitchFamily="18" charset="0"/>
                        <a:ea typeface="Cambria Math" panose="02040503050406030204" pitchFamily="18" charset="0"/>
                      </a:rPr>
                      <m:t>×</m:t>
                    </m:r>
                    <m:r>
                      <a:rPr lang="en-US" sz="3200" i="1" dirty="0">
                        <a:latin typeface="Cambria Math" panose="02040503050406030204" pitchFamily="18" charset="0"/>
                      </a:rPr>
                      <m:t>𝑖</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oMath>
                </a14:m>
                <a:r>
                  <a:rPr lang="en-US" sz="3200" dirty="0"/>
                  <a:t>.</a:t>
                </a:r>
              </a:p>
              <a:p>
                <a:pPr>
                  <a:lnSpc>
                    <a:spcPct val="120000"/>
                  </a:lnSpc>
                  <a:buFont typeface="Wingdings" panose="05000000000000000000" pitchFamily="2" charset="2"/>
                  <a:buChar char="§"/>
                </a:pPr>
                <a:r>
                  <a:rPr lang="en-US" sz="3200" dirty="0"/>
                  <a:t>Therefore,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𝑖</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r>
                      <a:rPr lang="en-US" sz="3200" b="0" i="1" smtClean="0">
                        <a:latin typeface="Cambria Math" panose="02040503050406030204" pitchFamily="18" charset="0"/>
                      </a:rPr>
                      <m:t>𝑖</m:t>
                    </m:r>
                    <m:r>
                      <a:rPr lang="en-US" sz="3200" b="0" i="1" smtClean="0">
                        <a:latin typeface="Cambria Math" panose="02040503050406030204" pitchFamily="18" charset="0"/>
                      </a:rPr>
                      <m:t>=</m:t>
                    </m:r>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𝑛</m:t>
                        </m:r>
                      </m:e>
                    </m:rad>
                  </m:oMath>
                </a14:m>
                <a:endParaRPr lang="en-US" sz="3200" dirty="0"/>
              </a:p>
              <a:p>
                <a:pPr>
                  <a:lnSpc>
                    <a:spcPct val="120000"/>
                  </a:lnSpc>
                  <a:buFont typeface="Wingdings" panose="05000000000000000000" pitchFamily="2" charset="2"/>
                  <a:buChar char="§"/>
                </a:pPr>
                <a:r>
                  <a:rPr lang="en-US" sz="3200"/>
                  <a:t>So, </a:t>
                </a:r>
                <a:r>
                  <a:rPr lang="en-US" sz="3200" dirty="0"/>
                  <a:t>the complexity will be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𝑛</m:t>
                            </m:r>
                          </m:e>
                        </m:rad>
                      </m:e>
                    </m:d>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3" y="1532586"/>
                <a:ext cx="8486581" cy="4942829"/>
              </a:xfrm>
              <a:prstGeom prst="rect">
                <a:avLst/>
              </a:prstGeom>
              <a:blipFill>
                <a:blip r:embed="rId3"/>
                <a:stretch>
                  <a:fillRect l="-1437" r="-862" b="-247"/>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7AFABD42-D8C4-F925-3979-2DBCC4449B67}"/>
              </a:ext>
            </a:extLst>
          </p:cNvPr>
          <p:cNvSpPr txBox="1">
            <a:spLocks/>
          </p:cNvSpPr>
          <p:nvPr/>
        </p:nvSpPr>
        <p:spPr>
          <a:xfrm>
            <a:off x="6086275" y="1532586"/>
            <a:ext cx="58756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sz="3200"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nvGraphicFramePr>
            <p:xfrm>
              <a:off x="9355158" y="1987854"/>
              <a:ext cx="1958539" cy="3337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𝒊</m:t>
                                </m:r>
                              </m:oMath>
                            </m:oMathPara>
                          </a14:m>
                          <a:endParaRPr lang="en-PK" dirty="0"/>
                        </a:p>
                      </a:txBody>
                      <a:tcPr/>
                    </a:tc>
                    <a:extLst>
                      <a:ext uri="{0D108BD9-81ED-4DB2-BD59-A6C34878D82A}">
                        <a16:rowId xmlns:a16="http://schemas.microsoft.com/office/drawing/2014/main" val="23180178"/>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PK" dirty="0"/>
                        </a:p>
                      </a:txBody>
                      <a:tcPr/>
                    </a:tc>
                    <a:extLst>
                      <a:ext uri="{0D108BD9-81ED-4DB2-BD59-A6C34878D82A}">
                        <a16:rowId xmlns:a16="http://schemas.microsoft.com/office/drawing/2014/main" val="2401292263"/>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2</m:t>
                                </m:r>
                              </m:oMath>
                            </m:oMathPara>
                          </a14:m>
                          <a:endParaRPr lang="en-PK" dirty="0"/>
                        </a:p>
                      </a:txBody>
                      <a:tcPr/>
                    </a:tc>
                    <a:extLst>
                      <a:ext uri="{0D108BD9-81ED-4DB2-BD59-A6C34878D82A}">
                        <a16:rowId xmlns:a16="http://schemas.microsoft.com/office/drawing/2014/main" val="146293780"/>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m:t>
                                </m:r>
                              </m:oMath>
                            </m:oMathPara>
                          </a14:m>
                          <a:endParaRPr lang="en-PK" dirty="0"/>
                        </a:p>
                      </a:txBody>
                      <a:tcPr/>
                    </a:tc>
                    <a:extLst>
                      <a:ext uri="{0D108BD9-81ED-4DB2-BD59-A6C34878D82A}">
                        <a16:rowId xmlns:a16="http://schemas.microsoft.com/office/drawing/2014/main" val="1757395884"/>
                      </a:ext>
                    </a:extLst>
                  </a:tr>
                  <a:tr h="370840">
                    <a:tc>
                      <a:txBody>
                        <a:bodyPr/>
                        <a:lstStyle/>
                        <a:p>
                          <a:pPr algn="ctr"/>
                          <a:r>
                            <a:rPr lang="en-US" dirty="0"/>
                            <a:t>4</a:t>
                          </a:r>
                          <a:endParaRPr lang="en-PK" dirty="0"/>
                        </a:p>
                      </a:txBody>
                      <a:tcPr/>
                    </a:tc>
                    <a:extLst>
                      <a:ext uri="{0D108BD9-81ED-4DB2-BD59-A6C34878D82A}">
                        <a16:rowId xmlns:a16="http://schemas.microsoft.com/office/drawing/2014/main" val="167416246"/>
                      </a:ext>
                    </a:extLst>
                  </a:tr>
                  <a:tr h="370840">
                    <a:tc>
                      <a:txBody>
                        <a:bodyPr/>
                        <a:lstStyle/>
                        <a:p>
                          <a:pPr algn="ctr"/>
                          <a:r>
                            <a:rPr lang="en-US" dirty="0"/>
                            <a:t>5</a:t>
                          </a:r>
                          <a:endParaRPr lang="en-PK" dirty="0"/>
                        </a:p>
                      </a:txBody>
                      <a:tcPr/>
                    </a:tc>
                    <a:extLst>
                      <a:ext uri="{0D108BD9-81ED-4DB2-BD59-A6C34878D82A}">
                        <a16:rowId xmlns:a16="http://schemas.microsoft.com/office/drawing/2014/main" val="3994719607"/>
                      </a:ext>
                    </a:extLst>
                  </a:tr>
                  <a:tr h="370840">
                    <a:tc>
                      <a:txBody>
                        <a:bodyPr/>
                        <a:lstStyle/>
                        <a:p>
                          <a:pPr algn="ctr"/>
                          <a:r>
                            <a:rPr lang="en-US" dirty="0"/>
                            <a:t>6</a:t>
                          </a:r>
                          <a:endParaRPr lang="en-PK" dirty="0"/>
                        </a:p>
                      </a:txBody>
                      <a:tcPr/>
                    </a:tc>
                    <a:extLst>
                      <a:ext uri="{0D108BD9-81ED-4DB2-BD59-A6C34878D82A}">
                        <a16:rowId xmlns:a16="http://schemas.microsoft.com/office/drawing/2014/main" val="1656648759"/>
                      </a:ext>
                    </a:extLst>
                  </a:tr>
                  <a:tr h="370840">
                    <a:tc>
                      <a:txBody>
                        <a:bodyPr/>
                        <a:lstStyle/>
                        <a:p>
                          <a:pPr algn="ctr"/>
                          <a:r>
                            <a:rPr lang="en-US" dirty="0"/>
                            <a:t>.</a:t>
                          </a:r>
                          <a:endParaRPr lang="en-PK" dirty="0"/>
                        </a:p>
                      </a:txBody>
                      <a:tcPr/>
                    </a:tc>
                    <a:extLst>
                      <a:ext uri="{0D108BD9-81ED-4DB2-BD59-A6C34878D82A}">
                        <a16:rowId xmlns:a16="http://schemas.microsoft.com/office/drawing/2014/main" val="2913841510"/>
                      </a:ext>
                    </a:extLst>
                  </a:tr>
                  <a:tr h="370840">
                    <a:tc>
                      <a:txBody>
                        <a:bodyPr/>
                        <a:lstStyle/>
                        <a:p>
                          <a:pPr algn="ct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ea typeface="Cambria Math" panose="02040503050406030204" pitchFamily="18" charset="0"/>
                                  </a:rPr>
                                  <m:t>𝑖</m:t>
                                </m:r>
                                <m:r>
                                  <a:rPr lang="en-US" sz="1800" i="1" dirty="0" smtClean="0">
                                    <a:latin typeface="Cambria Math" panose="02040503050406030204" pitchFamily="18" charset="0"/>
                                    <a:ea typeface="Cambria Math" panose="02040503050406030204" pitchFamily="18" charset="0"/>
                                  </a:rPr>
                                  <m:t>×</m:t>
                                </m:r>
                                <m:r>
                                  <a:rPr lang="en-US" sz="1800" b="0" i="1" dirty="0" smtClean="0">
                                    <a:latin typeface="Cambria Math" panose="02040503050406030204" pitchFamily="18" charset="0"/>
                                  </a:rPr>
                                  <m:t>𝑖</m:t>
                                </m:r>
                              </m:oMath>
                            </m:oMathPara>
                          </a14:m>
                          <a:endParaRPr lang="en-PK" dirty="0"/>
                        </a:p>
                      </a:txBody>
                      <a:tcPr/>
                    </a:tc>
                    <a:extLst>
                      <a:ext uri="{0D108BD9-81ED-4DB2-BD59-A6C34878D82A}">
                        <a16:rowId xmlns:a16="http://schemas.microsoft.com/office/drawing/2014/main" val="4262335712"/>
                      </a:ext>
                    </a:extLst>
                  </a:tr>
                </a:tbl>
              </a:graphicData>
            </a:graphic>
          </p:graphicFrame>
        </mc:Choice>
        <mc:Fallback xmlns="">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nvGraphicFramePr>
            <p:xfrm>
              <a:off x="9355158" y="1987854"/>
              <a:ext cx="1958539" cy="3337560"/>
            </p:xfrm>
            <a:graphic>
              <a:graphicData uri="http://schemas.openxmlformats.org/drawingml/2006/table">
                <a:tbl>
                  <a:tblPr firstRow="1" bandRow="1">
                    <a:tableStyleId>{073A0DAA-6AF3-43AB-8588-CEC1D06C72B9}</a:tableStyleId>
                  </a:tblPr>
                  <a:tblGrid>
                    <a:gridCol w="1958539">
                      <a:extLst>
                        <a:ext uri="{9D8B030D-6E8A-4147-A177-3AD203B41FA5}">
                          <a16:colId xmlns:a16="http://schemas.microsoft.com/office/drawing/2014/main" val="1044860251"/>
                        </a:ext>
                      </a:extLst>
                    </a:gridCol>
                  </a:tblGrid>
                  <a:tr h="370840">
                    <a:tc>
                      <a:txBody>
                        <a:bodyPr/>
                        <a:lstStyle/>
                        <a:p>
                          <a:endParaRPr lang="en-US"/>
                        </a:p>
                      </a:txBody>
                      <a:tcPr>
                        <a:blipFill>
                          <a:blip r:embed="rId4"/>
                          <a:stretch>
                            <a:fillRect l="-311" t="-1639" r="-1553" b="-801639"/>
                          </a:stretch>
                        </a:blipFill>
                      </a:tcPr>
                    </a:tc>
                    <a:extLst>
                      <a:ext uri="{0D108BD9-81ED-4DB2-BD59-A6C34878D82A}">
                        <a16:rowId xmlns:a16="http://schemas.microsoft.com/office/drawing/2014/main" val="23180178"/>
                      </a:ext>
                    </a:extLst>
                  </a:tr>
                  <a:tr h="370840">
                    <a:tc>
                      <a:txBody>
                        <a:bodyPr/>
                        <a:lstStyle/>
                        <a:p>
                          <a:endParaRPr lang="en-US"/>
                        </a:p>
                      </a:txBody>
                      <a:tcPr>
                        <a:blipFill>
                          <a:blip r:embed="rId4"/>
                          <a:stretch>
                            <a:fillRect l="-311" t="-101639" r="-1553" b="-701639"/>
                          </a:stretch>
                        </a:blipFill>
                      </a:tcPr>
                    </a:tc>
                    <a:extLst>
                      <a:ext uri="{0D108BD9-81ED-4DB2-BD59-A6C34878D82A}">
                        <a16:rowId xmlns:a16="http://schemas.microsoft.com/office/drawing/2014/main" val="2401292263"/>
                      </a:ext>
                    </a:extLst>
                  </a:tr>
                  <a:tr h="370840">
                    <a:tc>
                      <a:txBody>
                        <a:bodyPr/>
                        <a:lstStyle/>
                        <a:p>
                          <a:endParaRPr lang="en-US"/>
                        </a:p>
                      </a:txBody>
                      <a:tcPr>
                        <a:blipFill>
                          <a:blip r:embed="rId4"/>
                          <a:stretch>
                            <a:fillRect l="-311" t="-201639" r="-1553" b="-601639"/>
                          </a:stretch>
                        </a:blipFill>
                      </a:tcPr>
                    </a:tc>
                    <a:extLst>
                      <a:ext uri="{0D108BD9-81ED-4DB2-BD59-A6C34878D82A}">
                        <a16:rowId xmlns:a16="http://schemas.microsoft.com/office/drawing/2014/main" val="146293780"/>
                      </a:ext>
                    </a:extLst>
                  </a:tr>
                  <a:tr h="370840">
                    <a:tc>
                      <a:txBody>
                        <a:bodyPr/>
                        <a:lstStyle/>
                        <a:p>
                          <a:endParaRPr lang="en-US"/>
                        </a:p>
                      </a:txBody>
                      <a:tcPr>
                        <a:blipFill>
                          <a:blip r:embed="rId4"/>
                          <a:stretch>
                            <a:fillRect l="-311" t="-301639" r="-1553" b="-501639"/>
                          </a:stretch>
                        </a:blipFill>
                      </a:tcPr>
                    </a:tc>
                    <a:extLst>
                      <a:ext uri="{0D108BD9-81ED-4DB2-BD59-A6C34878D82A}">
                        <a16:rowId xmlns:a16="http://schemas.microsoft.com/office/drawing/2014/main" val="1757395884"/>
                      </a:ext>
                    </a:extLst>
                  </a:tr>
                  <a:tr h="370840">
                    <a:tc>
                      <a:txBody>
                        <a:bodyPr/>
                        <a:lstStyle/>
                        <a:p>
                          <a:pPr algn="ctr"/>
                          <a:r>
                            <a:rPr lang="en-US" dirty="0"/>
                            <a:t>4</a:t>
                          </a:r>
                          <a:endParaRPr lang="en-PK" dirty="0"/>
                        </a:p>
                      </a:txBody>
                      <a:tcPr/>
                    </a:tc>
                    <a:extLst>
                      <a:ext uri="{0D108BD9-81ED-4DB2-BD59-A6C34878D82A}">
                        <a16:rowId xmlns:a16="http://schemas.microsoft.com/office/drawing/2014/main" val="167416246"/>
                      </a:ext>
                    </a:extLst>
                  </a:tr>
                  <a:tr h="370840">
                    <a:tc>
                      <a:txBody>
                        <a:bodyPr/>
                        <a:lstStyle/>
                        <a:p>
                          <a:pPr algn="ctr"/>
                          <a:r>
                            <a:rPr lang="en-US" dirty="0"/>
                            <a:t>5</a:t>
                          </a:r>
                          <a:endParaRPr lang="en-PK" dirty="0"/>
                        </a:p>
                      </a:txBody>
                      <a:tcPr/>
                    </a:tc>
                    <a:extLst>
                      <a:ext uri="{0D108BD9-81ED-4DB2-BD59-A6C34878D82A}">
                        <a16:rowId xmlns:a16="http://schemas.microsoft.com/office/drawing/2014/main" val="3994719607"/>
                      </a:ext>
                    </a:extLst>
                  </a:tr>
                  <a:tr h="370840">
                    <a:tc>
                      <a:txBody>
                        <a:bodyPr/>
                        <a:lstStyle/>
                        <a:p>
                          <a:pPr algn="ctr"/>
                          <a:r>
                            <a:rPr lang="en-US" dirty="0"/>
                            <a:t>6</a:t>
                          </a:r>
                          <a:endParaRPr lang="en-PK" dirty="0"/>
                        </a:p>
                      </a:txBody>
                      <a:tcPr/>
                    </a:tc>
                    <a:extLst>
                      <a:ext uri="{0D108BD9-81ED-4DB2-BD59-A6C34878D82A}">
                        <a16:rowId xmlns:a16="http://schemas.microsoft.com/office/drawing/2014/main" val="1656648759"/>
                      </a:ext>
                    </a:extLst>
                  </a:tr>
                  <a:tr h="370840">
                    <a:tc>
                      <a:txBody>
                        <a:bodyPr/>
                        <a:lstStyle/>
                        <a:p>
                          <a:pPr algn="ctr"/>
                          <a:r>
                            <a:rPr lang="en-US" dirty="0"/>
                            <a:t>.</a:t>
                          </a:r>
                          <a:endParaRPr lang="en-PK" dirty="0"/>
                        </a:p>
                      </a:txBody>
                      <a:tcPr/>
                    </a:tc>
                    <a:extLst>
                      <a:ext uri="{0D108BD9-81ED-4DB2-BD59-A6C34878D82A}">
                        <a16:rowId xmlns:a16="http://schemas.microsoft.com/office/drawing/2014/main" val="2913841510"/>
                      </a:ext>
                    </a:extLst>
                  </a:tr>
                  <a:tr h="370840">
                    <a:tc>
                      <a:txBody>
                        <a:bodyPr/>
                        <a:lstStyle/>
                        <a:p>
                          <a:endParaRPr lang="en-US"/>
                        </a:p>
                      </a:txBody>
                      <a:tcPr>
                        <a:blipFill>
                          <a:blip r:embed="rId4"/>
                          <a:stretch>
                            <a:fillRect l="-311" t="-800000" r="-1553" b="-3279"/>
                          </a:stretch>
                        </a:blipFill>
                      </a:tcPr>
                    </a:tc>
                    <a:extLst>
                      <a:ext uri="{0D108BD9-81ED-4DB2-BD59-A6C34878D82A}">
                        <a16:rowId xmlns:a16="http://schemas.microsoft.com/office/drawing/2014/main" val="4262335712"/>
                      </a:ext>
                    </a:extLst>
                  </a:tr>
                </a:tbl>
              </a:graphicData>
            </a:graphic>
          </p:graphicFrame>
        </mc:Fallback>
      </mc:AlternateContent>
    </p:spTree>
    <p:extLst>
      <p:ext uri="{BB962C8B-B14F-4D97-AF65-F5344CB8AC3E}">
        <p14:creationId xmlns:p14="http://schemas.microsoft.com/office/powerpoint/2010/main" val="402047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nodePh="1">
                                  <p:stCondLst>
                                    <p:cond delay="0"/>
                                  </p:stCondLst>
                                  <p:endCondLst>
                                    <p:cond evt="begin" delay="0">
                                      <p:tn val="37"/>
                                    </p:cond>
                                  </p:endCondLst>
                                  <p:childTnLst>
                                    <p:set>
                                      <p:cBhvr>
                                        <p:cTn id="3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Calculate?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6"/>
                <a:ext cx="8486581" cy="494282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14:m>
                  <m:oMath xmlns:m="http://schemas.openxmlformats.org/officeDocument/2006/math">
                    <m:r>
                      <a:rPr lang="en-US" sz="3200" i="1" dirty="0" smtClean="0">
                        <a:latin typeface="Cambria Math" panose="02040503050406030204" pitchFamily="18" charset="0"/>
                      </a:rPr>
                      <m:t>𝐹𝑂𝑅</m:t>
                    </m:r>
                    <m:r>
                      <a:rPr lang="en-US" sz="3200" i="1" dirty="0" smtClean="0">
                        <a:latin typeface="Cambria Math" panose="02040503050406030204" pitchFamily="18" charset="0"/>
                      </a:rPr>
                      <m:t> </m:t>
                    </m:r>
                    <m:r>
                      <a:rPr lang="en-US" sz="3200" i="1" dirty="0" err="1">
                        <a:latin typeface="Cambria Math" panose="02040503050406030204" pitchFamily="18" charset="0"/>
                      </a:rPr>
                      <m:t>𝑖</m:t>
                    </m:r>
                    <m:r>
                      <a:rPr lang="en-US" sz="3200" i="1" dirty="0">
                        <a:latin typeface="Cambria Math" panose="02040503050406030204" pitchFamily="18" charset="0"/>
                      </a:rPr>
                      <m:t>≔1 </m:t>
                    </m:r>
                    <m:r>
                      <a:rPr lang="en-US" sz="3200" i="1" dirty="0">
                        <a:latin typeface="Cambria Math" panose="02040503050406030204" pitchFamily="18" charset="0"/>
                      </a:rPr>
                      <m:t>𝑡𝑜</m:t>
                    </m:r>
                    <m:r>
                      <a:rPr lang="en-US" sz="3200" i="1" dirty="0">
                        <a:latin typeface="Cambria Math" panose="02040503050406030204" pitchFamily="18" charset="0"/>
                      </a:rPr>
                      <m:t> </m:t>
                    </m:r>
                    <m:r>
                      <a:rPr lang="en-US" sz="3200" b="0" i="1" dirty="0" smtClean="0">
                        <a:latin typeface="Cambria Math" panose="02040503050406030204" pitchFamily="18" charset="0"/>
                      </a:rPr>
                      <m:t>𝑛</m:t>
                    </m:r>
                  </m:oMath>
                </a14:m>
                <a:endParaRPr lang="en-US" sz="3200" b="0" i="1" dirty="0">
                  <a:latin typeface="Cambria Math" panose="02040503050406030204" pitchFamily="18" charset="0"/>
                </a:endParaRPr>
              </a:p>
              <a:p>
                <a:pPr marL="457200" lvl="1" indent="0">
                  <a:lnSpc>
                    <a:spcPct val="120000"/>
                  </a:lnSpc>
                  <a:buNone/>
                </a:pPr>
                <a:r>
                  <a:rPr lang="en-US" sz="3000" dirty="0"/>
                  <a:t>	</a:t>
                </a:r>
                <a14:m>
                  <m:oMath xmlns:m="http://schemas.openxmlformats.org/officeDocument/2006/math">
                    <m:r>
                      <a:rPr lang="en-US" sz="3000" b="0" i="1" dirty="0" smtClean="0">
                        <a:latin typeface="Cambria Math" panose="02040503050406030204" pitchFamily="18" charset="0"/>
                      </a:rPr>
                      <m:t>𝑊𝑟𝑖𝑡𝑒</m:t>
                    </m:r>
                    <m:r>
                      <a:rPr lang="en-US" sz="3000" b="0" i="1" dirty="0" smtClean="0">
                        <a:latin typeface="Cambria Math" panose="02040503050406030204" pitchFamily="18" charset="0"/>
                      </a:rPr>
                      <m:t> </m:t>
                    </m:r>
                    <m:r>
                      <a:rPr lang="en-US" sz="3000" i="1" dirty="0">
                        <a:latin typeface="Cambria Math" panose="02040503050406030204" pitchFamily="18" charset="0"/>
                      </a:rPr>
                      <m:t>𝑖</m:t>
                    </m:r>
                  </m:oMath>
                </a14:m>
                <a:endParaRPr lang="en-US" sz="3000" dirty="0"/>
              </a:p>
              <a:p>
                <a:pPr marL="0" indent="0">
                  <a:lnSpc>
                    <a:spcPct val="120000"/>
                  </a:lnSpc>
                  <a:buNone/>
                </a:pPr>
                <a:r>
                  <a:rPr lang="en-US" sz="3200" dirty="0"/>
                  <a:t>	</a:t>
                </a:r>
                <a14:m>
                  <m:oMath xmlns:m="http://schemas.openxmlformats.org/officeDocument/2006/math">
                    <m:r>
                      <a:rPr lang="en-US" sz="3200" i="1" dirty="0">
                        <a:latin typeface="Cambria Math" panose="02040503050406030204" pitchFamily="18" charset="0"/>
                      </a:rPr>
                      <m:t>𝑖</m:t>
                    </m:r>
                    <m:r>
                      <a:rPr lang="en-US" sz="3200" i="1" dirty="0">
                        <a:latin typeface="Cambria Math" panose="02040503050406030204" pitchFamily="18" charset="0"/>
                      </a:rPr>
                      <m:t>≔</m:t>
                    </m:r>
                    <m:r>
                      <a:rPr lang="en-US" sz="3200" i="1" dirty="0">
                        <a:latin typeface="Cambria Math" panose="02040503050406030204" pitchFamily="18" charset="0"/>
                      </a:rPr>
                      <m:t>𝑖</m:t>
                    </m:r>
                    <m:r>
                      <a:rPr lang="en-US" sz="3200" i="1" dirty="0">
                        <a:latin typeface="Cambria Math" panose="02040503050406030204" pitchFamily="18" charset="0"/>
                        <a:ea typeface="Cambria Math" panose="02040503050406030204" pitchFamily="18" charset="0"/>
                      </a:rPr>
                      <m:t>×</m:t>
                    </m:r>
                    <m:r>
                      <a:rPr lang="en-US" sz="3200" i="1" dirty="0">
                        <a:latin typeface="Cambria Math" panose="02040503050406030204" pitchFamily="18" charset="0"/>
                      </a:rPr>
                      <m:t>2</m:t>
                    </m:r>
                  </m:oMath>
                </a14:m>
                <a:endParaRPr lang="en-US" sz="3200" dirty="0"/>
              </a:p>
              <a:p>
                <a:pPr>
                  <a:lnSpc>
                    <a:spcPct val="120000"/>
                  </a:lnSpc>
                  <a:buFont typeface="Wingdings" panose="05000000000000000000" pitchFamily="2" charset="2"/>
                  <a:buChar char="§"/>
                </a:pPr>
                <a:r>
                  <a:rPr lang="en-US" sz="3200" dirty="0"/>
                  <a:t>Looking at the values of </a:t>
                </a:r>
                <a14:m>
                  <m:oMath xmlns:m="http://schemas.openxmlformats.org/officeDocument/2006/math">
                    <m:r>
                      <a:rPr lang="en-US" sz="3200" b="0" i="1" smtClean="0">
                        <a:latin typeface="Cambria Math" panose="02040503050406030204" pitchFamily="18" charset="0"/>
                      </a:rPr>
                      <m:t>𝑖</m:t>
                    </m:r>
                  </m:oMath>
                </a14:m>
                <a:r>
                  <a:rPr lang="en-US" sz="3200" dirty="0"/>
                  <a:t>, we get </a:t>
                </a:r>
                <a14:m>
                  <m:oMath xmlns:m="http://schemas.openxmlformats.org/officeDocument/2006/math">
                    <m:r>
                      <a:rPr lang="en-US" sz="3200" i="1" dirty="0" smtClean="0">
                        <a:latin typeface="Cambria Math" panose="02040503050406030204" pitchFamily="18" charset="0"/>
                      </a:rPr>
                      <m:t>1,2,4,8,16,…</m:t>
                    </m:r>
                    <m:r>
                      <a:rPr lang="en-US" sz="3200" b="0" i="1" dirty="0" smtClean="0">
                        <a:latin typeface="Cambria Math" panose="02040503050406030204" pitchFamily="18" charset="0"/>
                      </a:rPr>
                      <m:t>,</m:t>
                    </m:r>
                    <m:r>
                      <a:rPr lang="en-US" sz="3200" b="0" i="1" dirty="0" smtClean="0">
                        <a:latin typeface="Cambria Math" panose="02040503050406030204" pitchFamily="18" charset="0"/>
                      </a:rPr>
                      <m:t>𝑛</m:t>
                    </m:r>
                  </m:oMath>
                </a14:m>
                <a:r>
                  <a:rPr lang="en-US" sz="3200" dirty="0"/>
                  <a:t>.</a:t>
                </a:r>
              </a:p>
              <a:p>
                <a:pPr>
                  <a:lnSpc>
                    <a:spcPct val="120000"/>
                  </a:lnSpc>
                  <a:buFont typeface="Wingdings" panose="05000000000000000000" pitchFamily="2" charset="2"/>
                  <a:buChar char="§"/>
                </a:pPr>
                <a:r>
                  <a:rPr lang="en-US" sz="3200" dirty="0"/>
                  <a:t>When </a:t>
                </a:r>
                <a14:m>
                  <m:oMath xmlns:m="http://schemas.openxmlformats.org/officeDocument/2006/math">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𝑛</m:t>
                    </m:r>
                  </m:oMath>
                </a14:m>
                <a:r>
                  <a:rPr lang="en-US" sz="3200" dirty="0"/>
                  <a:t>, the loop terminates.</a:t>
                </a:r>
              </a:p>
              <a:p>
                <a:pPr>
                  <a:lnSpc>
                    <a:spcPct val="120000"/>
                  </a:lnSpc>
                  <a:buFont typeface="Wingdings" panose="05000000000000000000" pitchFamily="2" charset="2"/>
                  <a:buChar char="§"/>
                </a:pPr>
                <a:r>
                  <a:rPr lang="en-US" sz="3200"/>
                  <a:t>In other words, </a:t>
                </a:r>
                <a:r>
                  <a:rPr lang="en-US" sz="3200" dirty="0"/>
                  <a:t>the function will stop at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𝑖</m:t>
                        </m:r>
                      </m:sup>
                    </m:sSup>
                    <m:r>
                      <a:rPr lang="en-US" sz="3200" b="0" i="1" smtClean="0">
                        <a:latin typeface="Cambria Math" panose="02040503050406030204" pitchFamily="18" charset="0"/>
                      </a:rPr>
                      <m:t>=</m:t>
                    </m:r>
                    <m:r>
                      <a:rPr lang="en-US" sz="3200" b="0" i="1" smtClean="0">
                        <a:latin typeface="Cambria Math" panose="02040503050406030204" pitchFamily="18" charset="0"/>
                      </a:rPr>
                      <m:t>𝑛</m:t>
                    </m:r>
                  </m:oMath>
                </a14:m>
                <a:endParaRPr lang="en-US" sz="3200" b="0" i="1" dirty="0">
                  <a:latin typeface="Cambria Math" panose="02040503050406030204" pitchFamily="18" charset="0"/>
                </a:endParaRPr>
              </a:p>
              <a:p>
                <a:pPr>
                  <a:lnSpc>
                    <a:spcPct val="120000"/>
                  </a:lnSpc>
                  <a:buFont typeface="Wingdings" panose="05000000000000000000" pitchFamily="2" charset="2"/>
                  <a:buChar char="§"/>
                </a:pPr>
                <a:r>
                  <a:rPr lang="en-US" sz="3200" b="0" dirty="0"/>
                  <a:t>Taking log on both sides, we get </a:t>
                </a:r>
                <a14:m>
                  <m:oMath xmlns:m="http://schemas.openxmlformats.org/officeDocument/2006/math">
                    <m:r>
                      <a:rPr lang="en-US" sz="3200" i="1">
                        <a:latin typeface="Cambria Math" panose="02040503050406030204" pitchFamily="18" charset="0"/>
                      </a:rPr>
                      <m:t>𝑖</m:t>
                    </m:r>
                    <m:r>
                      <a:rPr lang="en-US" sz="3200" b="0" i="0" smtClean="0">
                        <a:latin typeface="Cambria Math" panose="02040503050406030204" pitchFamily="18" charset="0"/>
                      </a:rPr>
                      <m:t>=</m:t>
                    </m:r>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oMath>
                </a14:m>
                <a:endParaRPr lang="en-US" sz="3200" b="0" i="1" dirty="0">
                  <a:latin typeface="Cambria Math" panose="02040503050406030204" pitchFamily="18" charset="0"/>
                </a:endParaRPr>
              </a:p>
              <a:p>
                <a:pPr>
                  <a:lnSpc>
                    <a:spcPct val="120000"/>
                  </a:lnSpc>
                  <a:buFont typeface="Wingdings" panose="05000000000000000000" pitchFamily="2" charset="2"/>
                  <a:buChar char="§"/>
                </a:pPr>
                <a:r>
                  <a:rPr lang="en-US" sz="3200" b="0" dirty="0"/>
                  <a:t>Hence, the complexit</a:t>
                </a:r>
                <a:r>
                  <a:rPr lang="en-US" sz="3200" dirty="0"/>
                  <a:t>y will be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e>
                    </m:d>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3" y="1532586"/>
                <a:ext cx="8486581" cy="4942829"/>
              </a:xfrm>
              <a:prstGeom prst="rect">
                <a:avLst/>
              </a:prstGeom>
              <a:blipFill>
                <a:blip r:embed="rId3"/>
                <a:stretch>
                  <a:fillRect l="-1437" b="-2959"/>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7AFABD42-D8C4-F925-3979-2DBCC4449B67}"/>
              </a:ext>
            </a:extLst>
          </p:cNvPr>
          <p:cNvSpPr txBox="1">
            <a:spLocks/>
          </p:cNvSpPr>
          <p:nvPr/>
        </p:nvSpPr>
        <p:spPr>
          <a:xfrm>
            <a:off x="6086275" y="1532586"/>
            <a:ext cx="58756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sz="3200"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extLst>
                  <p:ext uri="{D42A27DB-BD31-4B8C-83A1-F6EECF244321}">
                    <p14:modId xmlns:p14="http://schemas.microsoft.com/office/powerpoint/2010/main" val="1355092763"/>
                  </p:ext>
                </p:extLst>
              </p:nvPr>
            </p:nvGraphicFramePr>
            <p:xfrm>
              <a:off x="9355158" y="1987854"/>
              <a:ext cx="2019576" cy="3341307"/>
            </p:xfrm>
            <a:graphic>
              <a:graphicData uri="http://schemas.openxmlformats.org/drawingml/2006/table">
                <a:tbl>
                  <a:tblPr firstRow="1" bandRow="1">
                    <a:tableStyleId>{073A0DAA-6AF3-43AB-8588-CEC1D06C72B9}</a:tableStyleId>
                  </a:tblPr>
                  <a:tblGrid>
                    <a:gridCol w="2019576">
                      <a:extLst>
                        <a:ext uri="{9D8B030D-6E8A-4147-A177-3AD203B41FA5}">
                          <a16:colId xmlns:a16="http://schemas.microsoft.com/office/drawing/2014/main" val="335968481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𝒊</m:t>
                                </m:r>
                              </m:oMath>
                            </m:oMathPara>
                          </a14:m>
                          <a:endParaRPr lang="en-PK" dirty="0"/>
                        </a:p>
                      </a:txBody>
                      <a:tcPr/>
                    </a:tc>
                    <a:extLst>
                      <a:ext uri="{0D108BD9-81ED-4DB2-BD59-A6C34878D82A}">
                        <a16:rowId xmlns:a16="http://schemas.microsoft.com/office/drawing/2014/main" val="23180178"/>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m:t>
                                </m:r>
                              </m:oMath>
                            </m:oMathPara>
                          </a14:m>
                          <a:endParaRPr lang="en-PK" dirty="0"/>
                        </a:p>
                      </a:txBody>
                      <a:tcPr/>
                    </a:tc>
                    <a:extLst>
                      <a:ext uri="{0D108BD9-81ED-4DB2-BD59-A6C34878D82A}">
                        <a16:rowId xmlns:a16="http://schemas.microsoft.com/office/drawing/2014/main" val="2401292263"/>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1</m:t>
                                    </m:r>
                                  </m:sup>
                                </m:sSup>
                              </m:oMath>
                            </m:oMathPara>
                          </a14:m>
                          <a:endParaRPr lang="en-PK" dirty="0"/>
                        </a:p>
                      </a:txBody>
                      <a:tcPr/>
                    </a:tc>
                    <a:extLst>
                      <a:ext uri="{0D108BD9-81ED-4DB2-BD59-A6C34878D82A}">
                        <a16:rowId xmlns:a16="http://schemas.microsoft.com/office/drawing/2014/main" val="146293780"/>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2</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2</m:t>
                                    </m:r>
                                  </m:sup>
                                </m:sSup>
                              </m:oMath>
                            </m:oMathPara>
                          </a14:m>
                          <a:endParaRPr lang="en-PK" dirty="0"/>
                        </a:p>
                      </a:txBody>
                      <a:tcPr/>
                    </a:tc>
                    <a:extLst>
                      <a:ext uri="{0D108BD9-81ED-4DB2-BD59-A6C34878D82A}">
                        <a16:rowId xmlns:a16="http://schemas.microsoft.com/office/drawing/2014/main" val="1757395884"/>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2</m:t>
                                    </m:r>
                                  </m:sup>
                                </m:sSup>
                                <m:r>
                                  <a:rPr lang="en-US" b="0"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3</m:t>
                                    </m:r>
                                  </m:sup>
                                </m:sSup>
                              </m:oMath>
                            </m:oMathPara>
                          </a14:m>
                          <a:endParaRPr lang="en-PK" dirty="0"/>
                        </a:p>
                      </a:txBody>
                      <a:tcPr/>
                    </a:tc>
                    <a:extLst>
                      <a:ext uri="{0D108BD9-81ED-4DB2-BD59-A6C34878D82A}">
                        <a16:rowId xmlns:a16="http://schemas.microsoft.com/office/drawing/2014/main" val="167416246"/>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3</m:t>
                                    </m:r>
                                  </m:sup>
                                </m:sSup>
                                <m:r>
                                  <a:rPr lang="en-US" b="0"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4</m:t>
                                    </m:r>
                                  </m:sup>
                                </m:sSup>
                              </m:oMath>
                            </m:oMathPara>
                          </a14:m>
                          <a:endParaRPr lang="en-PK" dirty="0"/>
                        </a:p>
                      </a:txBody>
                      <a:tcPr/>
                    </a:tc>
                    <a:extLst>
                      <a:ext uri="{0D108BD9-81ED-4DB2-BD59-A6C34878D82A}">
                        <a16:rowId xmlns:a16="http://schemas.microsoft.com/office/drawing/2014/main" val="3994719607"/>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4</m:t>
                                    </m:r>
                                  </m:sup>
                                </m:sSup>
                                <m:r>
                                  <a:rPr lang="en-US" b="0"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2</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5</m:t>
                                    </m:r>
                                  </m:sup>
                                </m:sSup>
                              </m:oMath>
                            </m:oMathPara>
                          </a14:m>
                          <a:endParaRPr lang="en-PK" dirty="0"/>
                        </a:p>
                      </a:txBody>
                      <a:tcPr/>
                    </a:tc>
                    <a:extLst>
                      <a:ext uri="{0D108BD9-81ED-4DB2-BD59-A6C34878D82A}">
                        <a16:rowId xmlns:a16="http://schemas.microsoft.com/office/drawing/2014/main" val="1656648759"/>
                      </a:ext>
                    </a:extLst>
                  </a:tr>
                  <a:tr h="370840">
                    <a:tc>
                      <a:txBody>
                        <a:bodyPr/>
                        <a:lstStyle/>
                        <a:p>
                          <a:pPr algn="ctr"/>
                          <a:r>
                            <a:rPr lang="en-US" dirty="0"/>
                            <a:t>.</a:t>
                          </a:r>
                          <a:endParaRPr lang="en-PK" dirty="0"/>
                        </a:p>
                      </a:txBody>
                      <a:tcPr/>
                    </a:tc>
                    <a:extLst>
                      <a:ext uri="{0D108BD9-81ED-4DB2-BD59-A6C34878D82A}">
                        <a16:rowId xmlns:a16="http://schemas.microsoft.com/office/drawing/2014/main" val="2913841510"/>
                      </a:ext>
                    </a:extLst>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r>
                                      <a:rPr lang="en-US" b="0" i="1" dirty="0" smtClean="0">
                                        <a:latin typeface="Cambria Math" panose="02040503050406030204" pitchFamily="18" charset="0"/>
                                      </a:rPr>
                                      <m:t>𝑖</m:t>
                                    </m:r>
                                  </m:sup>
                                </m:sSup>
                              </m:oMath>
                            </m:oMathPara>
                          </a14:m>
                          <a:endParaRPr lang="en-PK" dirty="0"/>
                        </a:p>
                      </a:txBody>
                      <a:tcPr/>
                    </a:tc>
                    <a:extLst>
                      <a:ext uri="{0D108BD9-81ED-4DB2-BD59-A6C34878D82A}">
                        <a16:rowId xmlns:a16="http://schemas.microsoft.com/office/drawing/2014/main" val="4262335712"/>
                      </a:ext>
                    </a:extLst>
                  </a:tr>
                </a:tbl>
              </a:graphicData>
            </a:graphic>
          </p:graphicFrame>
        </mc:Choice>
        <mc:Fallback xmlns="">
          <p:graphicFrame>
            <p:nvGraphicFramePr>
              <p:cNvPr id="5" name="Table 5">
                <a:extLst>
                  <a:ext uri="{FF2B5EF4-FFF2-40B4-BE49-F238E27FC236}">
                    <a16:creationId xmlns:a16="http://schemas.microsoft.com/office/drawing/2014/main" id="{33863AAE-FAFA-4931-FB78-C6A184FC9B57}"/>
                  </a:ext>
                </a:extLst>
              </p:cNvPr>
              <p:cNvGraphicFramePr>
                <a:graphicFrameLocks noGrp="1"/>
              </p:cNvGraphicFramePr>
              <p:nvPr>
                <p:extLst>
                  <p:ext uri="{D42A27DB-BD31-4B8C-83A1-F6EECF244321}">
                    <p14:modId xmlns:p14="http://schemas.microsoft.com/office/powerpoint/2010/main" val="1355092763"/>
                  </p:ext>
                </p:extLst>
              </p:nvPr>
            </p:nvGraphicFramePr>
            <p:xfrm>
              <a:off x="9355158" y="1987854"/>
              <a:ext cx="2019576" cy="3341307"/>
            </p:xfrm>
            <a:graphic>
              <a:graphicData uri="http://schemas.openxmlformats.org/drawingml/2006/table">
                <a:tbl>
                  <a:tblPr firstRow="1" bandRow="1">
                    <a:tableStyleId>{073A0DAA-6AF3-43AB-8588-CEC1D06C72B9}</a:tableStyleId>
                  </a:tblPr>
                  <a:tblGrid>
                    <a:gridCol w="2019576">
                      <a:extLst>
                        <a:ext uri="{9D8B030D-6E8A-4147-A177-3AD203B41FA5}">
                          <a16:colId xmlns:a16="http://schemas.microsoft.com/office/drawing/2014/main" val="3359684810"/>
                        </a:ext>
                      </a:extLst>
                    </a:gridCol>
                  </a:tblGrid>
                  <a:tr h="370840">
                    <a:tc>
                      <a:txBody>
                        <a:bodyPr/>
                        <a:lstStyle/>
                        <a:p>
                          <a:endParaRPr lang="en-US"/>
                        </a:p>
                      </a:txBody>
                      <a:tcPr>
                        <a:blipFill>
                          <a:blip r:embed="rId4"/>
                          <a:stretch>
                            <a:fillRect l="-301" t="-1639" r="-1506" b="-803279"/>
                          </a:stretch>
                        </a:blipFill>
                      </a:tcPr>
                    </a:tc>
                    <a:extLst>
                      <a:ext uri="{0D108BD9-81ED-4DB2-BD59-A6C34878D82A}">
                        <a16:rowId xmlns:a16="http://schemas.microsoft.com/office/drawing/2014/main" val="23180178"/>
                      </a:ext>
                    </a:extLst>
                  </a:tr>
                  <a:tr h="370840">
                    <a:tc>
                      <a:txBody>
                        <a:bodyPr/>
                        <a:lstStyle/>
                        <a:p>
                          <a:endParaRPr lang="en-US"/>
                        </a:p>
                      </a:txBody>
                      <a:tcPr>
                        <a:blipFill>
                          <a:blip r:embed="rId4"/>
                          <a:stretch>
                            <a:fillRect l="-301" t="-101639" r="-1506" b="-703279"/>
                          </a:stretch>
                        </a:blipFill>
                      </a:tcPr>
                    </a:tc>
                    <a:extLst>
                      <a:ext uri="{0D108BD9-81ED-4DB2-BD59-A6C34878D82A}">
                        <a16:rowId xmlns:a16="http://schemas.microsoft.com/office/drawing/2014/main" val="2401292263"/>
                      </a:ext>
                    </a:extLst>
                  </a:tr>
                  <a:tr h="370840">
                    <a:tc>
                      <a:txBody>
                        <a:bodyPr/>
                        <a:lstStyle/>
                        <a:p>
                          <a:endParaRPr lang="en-US"/>
                        </a:p>
                      </a:txBody>
                      <a:tcPr>
                        <a:blipFill>
                          <a:blip r:embed="rId4"/>
                          <a:stretch>
                            <a:fillRect l="-301" t="-201639" r="-1506" b="-603279"/>
                          </a:stretch>
                        </a:blipFill>
                      </a:tcPr>
                    </a:tc>
                    <a:extLst>
                      <a:ext uri="{0D108BD9-81ED-4DB2-BD59-A6C34878D82A}">
                        <a16:rowId xmlns:a16="http://schemas.microsoft.com/office/drawing/2014/main" val="146293780"/>
                      </a:ext>
                    </a:extLst>
                  </a:tr>
                  <a:tr h="370840">
                    <a:tc>
                      <a:txBody>
                        <a:bodyPr/>
                        <a:lstStyle/>
                        <a:p>
                          <a:endParaRPr lang="en-US"/>
                        </a:p>
                      </a:txBody>
                      <a:tcPr>
                        <a:blipFill>
                          <a:blip r:embed="rId4"/>
                          <a:stretch>
                            <a:fillRect l="-301" t="-301639" r="-1506" b="-503279"/>
                          </a:stretch>
                        </a:blipFill>
                      </a:tcPr>
                    </a:tc>
                    <a:extLst>
                      <a:ext uri="{0D108BD9-81ED-4DB2-BD59-A6C34878D82A}">
                        <a16:rowId xmlns:a16="http://schemas.microsoft.com/office/drawing/2014/main" val="1757395884"/>
                      </a:ext>
                    </a:extLst>
                  </a:tr>
                  <a:tr h="370840">
                    <a:tc>
                      <a:txBody>
                        <a:bodyPr/>
                        <a:lstStyle/>
                        <a:p>
                          <a:endParaRPr lang="en-US"/>
                        </a:p>
                      </a:txBody>
                      <a:tcPr>
                        <a:blipFill>
                          <a:blip r:embed="rId4"/>
                          <a:stretch>
                            <a:fillRect l="-301" t="-401639" r="-1506" b="-403279"/>
                          </a:stretch>
                        </a:blipFill>
                      </a:tcPr>
                    </a:tc>
                    <a:extLst>
                      <a:ext uri="{0D108BD9-81ED-4DB2-BD59-A6C34878D82A}">
                        <a16:rowId xmlns:a16="http://schemas.microsoft.com/office/drawing/2014/main" val="167416246"/>
                      </a:ext>
                    </a:extLst>
                  </a:tr>
                  <a:tr h="370840">
                    <a:tc>
                      <a:txBody>
                        <a:bodyPr/>
                        <a:lstStyle/>
                        <a:p>
                          <a:endParaRPr lang="en-US"/>
                        </a:p>
                      </a:txBody>
                      <a:tcPr>
                        <a:blipFill>
                          <a:blip r:embed="rId4"/>
                          <a:stretch>
                            <a:fillRect l="-301" t="-501639" r="-1506" b="-303279"/>
                          </a:stretch>
                        </a:blipFill>
                      </a:tcPr>
                    </a:tc>
                    <a:extLst>
                      <a:ext uri="{0D108BD9-81ED-4DB2-BD59-A6C34878D82A}">
                        <a16:rowId xmlns:a16="http://schemas.microsoft.com/office/drawing/2014/main" val="3994719607"/>
                      </a:ext>
                    </a:extLst>
                  </a:tr>
                  <a:tr h="370840">
                    <a:tc>
                      <a:txBody>
                        <a:bodyPr/>
                        <a:lstStyle/>
                        <a:p>
                          <a:endParaRPr lang="en-US"/>
                        </a:p>
                      </a:txBody>
                      <a:tcPr>
                        <a:blipFill>
                          <a:blip r:embed="rId4"/>
                          <a:stretch>
                            <a:fillRect l="-301" t="-601639" r="-1506" b="-203279"/>
                          </a:stretch>
                        </a:blipFill>
                      </a:tcPr>
                    </a:tc>
                    <a:extLst>
                      <a:ext uri="{0D108BD9-81ED-4DB2-BD59-A6C34878D82A}">
                        <a16:rowId xmlns:a16="http://schemas.microsoft.com/office/drawing/2014/main" val="1656648759"/>
                      </a:ext>
                    </a:extLst>
                  </a:tr>
                  <a:tr h="370840">
                    <a:tc>
                      <a:txBody>
                        <a:bodyPr/>
                        <a:lstStyle/>
                        <a:p>
                          <a:pPr algn="ctr"/>
                          <a:r>
                            <a:rPr lang="en-US" dirty="0"/>
                            <a:t>.</a:t>
                          </a:r>
                          <a:endParaRPr lang="en-PK" dirty="0"/>
                        </a:p>
                      </a:txBody>
                      <a:tcPr/>
                    </a:tc>
                    <a:extLst>
                      <a:ext uri="{0D108BD9-81ED-4DB2-BD59-A6C34878D82A}">
                        <a16:rowId xmlns:a16="http://schemas.microsoft.com/office/drawing/2014/main" val="2913841510"/>
                      </a:ext>
                    </a:extLst>
                  </a:tr>
                  <a:tr h="374587">
                    <a:tc>
                      <a:txBody>
                        <a:bodyPr/>
                        <a:lstStyle/>
                        <a:p>
                          <a:endParaRPr lang="en-US"/>
                        </a:p>
                      </a:txBody>
                      <a:tcPr>
                        <a:blipFill>
                          <a:blip r:embed="rId4"/>
                          <a:stretch>
                            <a:fillRect l="-301" t="-787097" r="-1506" b="-3226"/>
                          </a:stretch>
                        </a:blipFill>
                      </a:tcPr>
                    </a:tc>
                    <a:extLst>
                      <a:ext uri="{0D108BD9-81ED-4DB2-BD59-A6C34878D82A}">
                        <a16:rowId xmlns:a16="http://schemas.microsoft.com/office/drawing/2014/main" val="4262335712"/>
                      </a:ext>
                    </a:extLst>
                  </a:tr>
                </a:tbl>
              </a:graphicData>
            </a:graphic>
          </p:graphicFrame>
        </mc:Fallback>
      </mc:AlternateContent>
    </p:spTree>
    <p:extLst>
      <p:ext uri="{BB962C8B-B14F-4D97-AF65-F5344CB8AC3E}">
        <p14:creationId xmlns:p14="http://schemas.microsoft.com/office/powerpoint/2010/main" val="341590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nodePh="1">
                                  <p:stCondLst>
                                    <p:cond delay="0"/>
                                  </p:stCondLst>
                                  <p:endCondLst>
                                    <p:cond evt="begin" delay="0">
                                      <p:tn val="41"/>
                                    </p:cond>
                                  </p:endCondLst>
                                  <p:childTnLst>
                                    <p:set>
                                      <p:cBhvr>
                                        <p:cTn id="4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Bubble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365851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Bubble sort traverses the array, visits each element and matches it with its next neighbour. If the order is incorrect then the elements are swapped.</a:t>
            </a:r>
          </a:p>
          <a:p>
            <a:pPr>
              <a:lnSpc>
                <a:spcPct val="120000"/>
              </a:lnSpc>
              <a:buFont typeface="Wingdings" panose="05000000000000000000" pitchFamily="2" charset="2"/>
              <a:buChar char="§"/>
            </a:pPr>
            <a:r>
              <a:rPr lang="en-US" sz="3200" dirty="0"/>
              <a:t>This way, in each iteration a sorted partition is formed on the right side and unsorted elements remain on the left side.</a:t>
            </a:r>
          </a:p>
          <a:p>
            <a:pPr>
              <a:lnSpc>
                <a:spcPct val="120000"/>
              </a:lnSpc>
              <a:buFont typeface="Wingdings" panose="05000000000000000000" pitchFamily="2" charset="2"/>
              <a:buChar char="§"/>
            </a:pPr>
            <a:r>
              <a:rPr lang="en-US" sz="3200" dirty="0"/>
              <a:t>The following animation simulates how an array is sorted using Bubble sort algorithm.</a:t>
            </a:r>
          </a:p>
        </p:txBody>
      </p:sp>
      <p:pic>
        <p:nvPicPr>
          <p:cNvPr id="5" name="2023-07-19 13-03-47">
            <a:hlinkClick r:id="" action="ppaction://media"/>
            <a:extLst>
              <a:ext uri="{FF2B5EF4-FFF2-40B4-BE49-F238E27FC236}">
                <a16:creationId xmlns:a16="http://schemas.microsoft.com/office/drawing/2014/main" id="{6569D162-2E7C-03DE-42AF-29897032D7DE}"/>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26414" t="41778" r="25669" b="41630"/>
          <a:stretch/>
        </p:blipFill>
        <p:spPr>
          <a:xfrm>
            <a:off x="3175000" y="5303192"/>
            <a:ext cx="5842000" cy="1137920"/>
          </a:xfrm>
          <a:prstGeom prst="rect">
            <a:avLst/>
          </a:prstGeom>
        </p:spPr>
      </p:pic>
    </p:spTree>
    <p:extLst>
      <p:ext uri="{BB962C8B-B14F-4D97-AF65-F5344CB8AC3E}">
        <p14:creationId xmlns:p14="http://schemas.microsoft.com/office/powerpoint/2010/main" val="490713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repeatCount="indefinite" fill="hold" display="0">
                  <p:stCondLst>
                    <p:cond delay="indefinite"/>
                  </p:stCondLst>
                </p:cTn>
                <p:tgtEl>
                  <p:spTgt spid="5"/>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Analysis of Bubble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7031754" cy="5020612"/>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Worst-case will be if the input array is sorted in reverse order.</a:t>
                </a:r>
              </a:p>
              <a:p>
                <a:pPr>
                  <a:lnSpc>
                    <a:spcPct val="120000"/>
                  </a:lnSpc>
                  <a:buFont typeface="Wingdings" panose="05000000000000000000" pitchFamily="2" charset="2"/>
                  <a:buChar char="§"/>
                </a:pPr>
                <a:r>
                  <a:rPr lang="en-US" sz="3200" dirty="0"/>
                  <a:t>If we look closely, there is an outer loop and an inner loop.</a:t>
                </a:r>
              </a:p>
              <a:p>
                <a:pPr>
                  <a:lnSpc>
                    <a:spcPct val="120000"/>
                  </a:lnSpc>
                  <a:buFont typeface="Wingdings" panose="05000000000000000000" pitchFamily="2" charset="2"/>
                  <a:buChar char="§"/>
                </a:pPr>
                <a:r>
                  <a:rPr lang="en-US" sz="3200" dirty="0"/>
                  <a:t>The outer loop runs </a:t>
                </a:r>
                <a14:m>
                  <m:oMath xmlns:m="http://schemas.openxmlformats.org/officeDocument/2006/math">
                    <m:r>
                      <a:rPr lang="en-US" sz="3200" i="1" dirty="0" smtClean="0">
                        <a:latin typeface="Cambria Math" panose="02040503050406030204" pitchFamily="18" charset="0"/>
                      </a:rPr>
                      <m:t>𝑛</m:t>
                    </m:r>
                    <m:r>
                      <a:rPr lang="en-US" sz="3200" b="0" i="1" dirty="0" smtClean="0">
                        <a:latin typeface="Cambria Math" panose="02040503050406030204" pitchFamily="18" charset="0"/>
                      </a:rPr>
                      <m:t>−1</m:t>
                    </m:r>
                  </m:oMath>
                </a14:m>
                <a:r>
                  <a:rPr lang="en-US" sz="3200" dirty="0"/>
                  <a:t> times and for each iteration of outer loop, an inner loop runs for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−1</m:t>
                    </m:r>
                  </m:oMath>
                </a14:m>
                <a:r>
                  <a:rPr lang="en-US" sz="3200" dirty="0"/>
                  <a:t> times.</a:t>
                </a:r>
              </a:p>
              <a:p>
                <a:pPr>
                  <a:lnSpc>
                    <a:spcPct val="120000"/>
                  </a:lnSpc>
                  <a:buFont typeface="Wingdings" panose="05000000000000000000" pitchFamily="2" charset="2"/>
                  <a:buChar char="§"/>
                </a:pPr>
                <a:r>
                  <a:rPr lang="en-US" sz="3200" dirty="0"/>
                  <a:t>Now for an array of size 4, the algorithm will run for </a:t>
                </a:r>
                <a14:m>
                  <m:oMath xmlns:m="http://schemas.openxmlformats.org/officeDocument/2006/math">
                    <m:d>
                      <m:dPr>
                        <m:ctrlPr>
                          <a:rPr lang="en-US" sz="3200" i="1" dirty="0" smtClean="0">
                            <a:latin typeface="Cambria Math" panose="02040503050406030204" pitchFamily="18" charset="0"/>
                          </a:rPr>
                        </m:ctrlPr>
                      </m:dPr>
                      <m:e>
                        <m:r>
                          <a:rPr lang="en-US" sz="3200" i="1" dirty="0" smtClean="0">
                            <a:latin typeface="Cambria Math" panose="02040503050406030204" pitchFamily="18" charset="0"/>
                          </a:rPr>
                          <m:t>𝑛</m:t>
                        </m:r>
                        <m:r>
                          <a:rPr lang="en-US" sz="3200" i="1" dirty="0" smtClean="0">
                            <a:latin typeface="Cambria Math" panose="02040503050406030204" pitchFamily="18" charset="0"/>
                          </a:rPr>
                          <m:t>−1</m:t>
                        </m:r>
                      </m:e>
                    </m:d>
                  </m:oMath>
                </a14:m>
                <a:r>
                  <a:rPr lang="en-US" sz="3200" dirty="0"/>
                  <a:t> iterations 4 times, i.e.,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−1)</m:t>
                    </m:r>
                  </m:oMath>
                </a14:m>
                <a:r>
                  <a:rPr lang="en-US" sz="3200" dirty="0"/>
                  <a:t>. Therefore, the time complexity will be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r>
                      <a:rPr lang="en-US" sz="3200" b="0" i="1" smtClean="0">
                        <a:latin typeface="Cambria Math" panose="02040503050406030204" pitchFamily="18" charset="0"/>
                      </a:rPr>
                      <m:t>.</m:t>
                    </m:r>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7031754" cy="5020612"/>
              </a:xfrm>
              <a:prstGeom prst="rect">
                <a:avLst/>
              </a:prstGeom>
              <a:blipFill>
                <a:blip r:embed="rId3"/>
                <a:stretch>
                  <a:fillRect l="-1386" t="-1094" r="-1473"/>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84F51D7-863A-A786-75D7-D89F2C4F06C1}"/>
                  </a:ext>
                </a:extLst>
              </p:cNvPr>
              <p:cNvSpPr txBox="1">
                <a:spLocks/>
              </p:cNvSpPr>
              <p:nvPr/>
            </p:nvSpPr>
            <p:spPr>
              <a:xfrm>
                <a:off x="7252138" y="1449384"/>
                <a:ext cx="4711261" cy="49444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BUBBLE_SORT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:=0</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𝑆𝑊𝐴𝑃</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4" name="Content Placeholder 2">
                <a:extLst>
                  <a:ext uri="{FF2B5EF4-FFF2-40B4-BE49-F238E27FC236}">
                    <a16:creationId xmlns:a16="http://schemas.microsoft.com/office/drawing/2014/main" id="{A84F51D7-863A-A786-75D7-D89F2C4F06C1}"/>
                  </a:ext>
                </a:extLst>
              </p:cNvPr>
              <p:cNvSpPr txBox="1">
                <a:spLocks noRot="1" noChangeAspect="1" noMove="1" noResize="1" noEditPoints="1" noAdjustHandles="1" noChangeArrowheads="1" noChangeShapeType="1" noTextEdit="1"/>
              </p:cNvSpPr>
              <p:nvPr/>
            </p:nvSpPr>
            <p:spPr>
              <a:xfrm>
                <a:off x="7252138" y="1449384"/>
                <a:ext cx="4711261" cy="4944413"/>
              </a:xfrm>
              <a:prstGeom prst="rect">
                <a:avLst/>
              </a:prstGeom>
              <a:blipFill>
                <a:blip r:embed="rId4"/>
                <a:stretch>
                  <a:fillRect l="-2073" t="-986"/>
                </a:stretch>
              </a:blipFill>
            </p:spPr>
            <p:txBody>
              <a:bodyPr/>
              <a:lstStyle/>
              <a:p>
                <a:r>
                  <a:rPr lang="en-PK">
                    <a:noFill/>
                  </a:rPr>
                  <a:t> </a:t>
                </a:r>
              </a:p>
            </p:txBody>
          </p:sp>
        </mc:Fallback>
      </mc:AlternateContent>
    </p:spTree>
    <p:extLst>
      <p:ext uri="{BB962C8B-B14F-4D97-AF65-F5344CB8AC3E}">
        <p14:creationId xmlns:p14="http://schemas.microsoft.com/office/powerpoint/2010/main" val="342698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Asymptotic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Previous definition for asymptotic notations is </a:t>
                </a:r>
                <a:r>
                  <a:rPr lang="en-US" sz="3200" u="sng" dirty="0"/>
                  <a:t>not accurate</a:t>
                </a:r>
                <a:r>
                  <a:rPr lang="en-US" sz="3200" dirty="0"/>
                  <a:t>. </a:t>
                </a:r>
                <a:r>
                  <a:rPr lang="en-US" sz="3200" i="1" dirty="0"/>
                  <a:t>And yes, even some popular websites explain it that way. </a:t>
                </a:r>
                <a:r>
                  <a:rPr lang="en-US" sz="3200" dirty="0"/>
                  <a:t>But it was necessary for simplicity.</a:t>
                </a:r>
              </a:p>
              <a:p>
                <a:pPr>
                  <a:lnSpc>
                    <a:spcPct val="120000"/>
                  </a:lnSpc>
                  <a:buFont typeface="Wingdings" panose="05000000000000000000" pitchFamily="2" charset="2"/>
                  <a:buChar char="§"/>
                </a:pPr>
                <a:r>
                  <a:rPr lang="en-US" sz="3200" dirty="0"/>
                  <a:t>In correct terms, Asymptotic notations are not related to best, average and worst-case </a:t>
                </a:r>
                <a:r>
                  <a:rPr lang="en-US" sz="3200" b="1" u="sng" dirty="0"/>
                  <a:t>Scenarios</a:t>
                </a:r>
                <a:r>
                  <a:rPr lang="en-US" sz="3200" dirty="0"/>
                  <a:t>. The notations are mathematical symbols to define how the complexity of </a:t>
                </a:r>
                <a:r>
                  <a:rPr lang="en-US" sz="3200" b="1" u="sng" dirty="0"/>
                  <a:t>Functions</a:t>
                </a:r>
                <a:r>
                  <a:rPr lang="en-US" sz="3200" dirty="0"/>
                  <a:t> are bound to the growth rate with respect to size.</a:t>
                </a:r>
              </a:p>
              <a:p>
                <a:pPr>
                  <a:lnSpc>
                    <a:spcPct val="120000"/>
                  </a:lnSpc>
                  <a:buFont typeface="Wingdings" panose="05000000000000000000" pitchFamily="2" charset="2"/>
                  <a:buChar char="§"/>
                </a:pPr>
                <a:r>
                  <a:rPr lang="en-US" sz="3200" dirty="0"/>
                  <a:t>For example, the best case for bubble sort belongs to linear time. Therefore, we can write </a:t>
                </a:r>
                <a14:m>
                  <m:oMath xmlns:m="http://schemas.openxmlformats.org/officeDocument/2006/math">
                    <m:r>
                      <m:rPr>
                        <m:sty m:val="p"/>
                      </m:rPr>
                      <a:rPr lang="en-US" sz="3200" b="0" i="0" smtClean="0">
                        <a:latin typeface="Cambria Math" panose="02040503050406030204" pitchFamily="18" charset="0"/>
                      </a:rPr>
                      <m:t>Ω</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m:rPr>
                        <m:sty m:val="p"/>
                      </m:rPr>
                      <a:rPr lang="en-US" sz="3200" b="0" i="0" smtClean="0">
                        <a:latin typeface="Cambria Math" panose="02040503050406030204" pitchFamily="18" charset="0"/>
                      </a:rPr>
                      <m:t>Θ</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 for the best case. All statements will be correct</a:t>
                </a:r>
              </a:p>
              <a:p>
                <a:pPr>
                  <a:lnSpc>
                    <a:spcPct val="120000"/>
                  </a:lnSpc>
                  <a:buFont typeface="Wingdings" panose="05000000000000000000" pitchFamily="2" charset="2"/>
                  <a:buChar char="§"/>
                </a:pPr>
                <a:r>
                  <a:rPr lang="en-US" sz="3200" dirty="0"/>
                  <a:t>Similarly, the worst case for Bubble sort belongs to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Therefore, </a:t>
                </a:r>
                <a14:m>
                  <m:oMath xmlns:m="http://schemas.openxmlformats.org/officeDocument/2006/math">
                    <m:r>
                      <m:rPr>
                        <m:sty m:val="p"/>
                      </m:rPr>
                      <a:rPr lang="en-US" sz="3200">
                        <a:latin typeface="Cambria Math" panose="02040503050406030204" pitchFamily="18" charset="0"/>
                      </a:rPr>
                      <m:t>Ω</m:t>
                    </m:r>
                    <m:d>
                      <m:dPr>
                        <m:ctrlPr>
                          <a:rPr lang="en-US" sz="3200" i="1">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r>
                      <a:rPr lang="en-US" sz="3200" i="1">
                        <a:latin typeface="Cambria Math" panose="02040503050406030204" pitchFamily="18" charset="0"/>
                      </a:rPr>
                      <m:t>,</m:t>
                    </m:r>
                    <m:r>
                      <m:rPr>
                        <m:sty m:val="p"/>
                      </m:rPr>
                      <a:rPr lang="en-US" sz="3200">
                        <a:latin typeface="Cambria Math" panose="02040503050406030204" pitchFamily="18" charset="0"/>
                      </a:rPr>
                      <m:t>Θ</m:t>
                    </m:r>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e>
                    </m:d>
                    <m:r>
                      <a:rPr lang="en-US" sz="3200" i="1">
                        <a:latin typeface="Cambria Math" panose="02040503050406030204" pitchFamily="18" charset="0"/>
                      </a:rPr>
                      <m:t>,</m:t>
                    </m:r>
                    <m:r>
                      <a:rPr lang="en-US" sz="3200" i="1">
                        <a:latin typeface="Cambria Math" panose="02040503050406030204" pitchFamily="18" charset="0"/>
                      </a:rPr>
                      <m:t>𝑂</m:t>
                    </m:r>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e>
                    </m:d>
                  </m:oMath>
                </a14:m>
                <a:r>
                  <a:rPr lang="en-US" sz="3200" dirty="0"/>
                  <a:t> are all correct.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30" t="-623" r="-934"/>
                </a:stretch>
              </a:blipFill>
            </p:spPr>
            <p:txBody>
              <a:bodyPr/>
              <a:lstStyle/>
              <a:p>
                <a:r>
                  <a:rPr lang="en-US">
                    <a:noFill/>
                  </a:rPr>
                  <a:t> </a:t>
                </a:r>
              </a:p>
            </p:txBody>
          </p:sp>
        </mc:Fallback>
      </mc:AlternateContent>
    </p:spTree>
    <p:extLst>
      <p:ext uri="{BB962C8B-B14F-4D97-AF65-F5344CB8AC3E}">
        <p14:creationId xmlns:p14="http://schemas.microsoft.com/office/powerpoint/2010/main" val="29650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Growth Functions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For simplicity, we can have the following ways to represent time complexity:</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1</m:t>
                        </m:r>
                      </m:e>
                    </m:d>
                  </m:oMath>
                </a14:m>
                <a:r>
                  <a:rPr lang="en-US" sz="3000" dirty="0"/>
                  <a:t>: constant</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/2</m:t>
                        </m:r>
                      </m:e>
                    </m:d>
                  </m:oMath>
                </a14:m>
                <a:r>
                  <a:rPr lang="en-US" sz="3000" dirty="0"/>
                  <a:t>: linear</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𝑛</m:t>
                        </m:r>
                      </m:e>
                      <m:sup>
                        <m:r>
                          <a:rPr lang="en-US" sz="3000" b="0" i="1" smtClean="0">
                            <a:latin typeface="Cambria Math" panose="02040503050406030204" pitchFamily="18" charset="0"/>
                          </a:rPr>
                          <m:t>𝑐</m:t>
                        </m:r>
                      </m:sup>
                    </m:sSup>
                    <m:r>
                      <a:rPr lang="en-US" sz="3000" b="0" i="1" smtClean="0">
                        <a:latin typeface="Cambria Math" panose="02040503050406030204" pitchFamily="18" charset="0"/>
                      </a:rPr>
                      <m:t>)</m:t>
                    </m:r>
                  </m:oMath>
                </a14:m>
                <a:r>
                  <a:rPr lang="en-US" sz="3000" dirty="0"/>
                  <a:t>: quadratic, cubic, etc.</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r>
                      <a:rPr lang="en-US" sz="3000" b="0" i="1" smtClean="0">
                        <a:latin typeface="Cambria Math" panose="02040503050406030204" pitchFamily="18" charset="0"/>
                      </a:rPr>
                      <m:t>(</m:t>
                    </m:r>
                    <m:r>
                      <a:rPr lang="en-US" sz="3000" b="0" i="1" smtClean="0">
                        <a:latin typeface="Cambria Math" panose="02040503050406030204" pitchFamily="18" charset="0"/>
                      </a:rPr>
                      <m:t>𝑙𝑜𝑔</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m:t>
                    </m:r>
                  </m:oMath>
                </a14:m>
                <a:r>
                  <a:rPr lang="en-US" sz="3000" dirty="0"/>
                  <a:t> and </a:t>
                </a:r>
                <a14:m>
                  <m:oMath xmlns:m="http://schemas.openxmlformats.org/officeDocument/2006/math">
                    <m:r>
                      <a:rPr lang="en-US" sz="3000" b="0" i="1" smtClean="0">
                        <a:latin typeface="Cambria Math" panose="02040503050406030204" pitchFamily="18" charset="0"/>
                      </a:rPr>
                      <m:t>𝑂</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latin typeface="Cambria Math" panose="02040503050406030204" pitchFamily="18" charset="0"/>
                          </a:rPr>
                          <m:t>𝑙𝑜𝑔</m:t>
                        </m:r>
                        <m:r>
                          <a:rPr lang="en-US" sz="3000" b="0" i="1" smtClean="0">
                            <a:latin typeface="Cambria Math" panose="02040503050406030204" pitchFamily="18" charset="0"/>
                          </a:rPr>
                          <m:t>.</m:t>
                        </m:r>
                        <m:r>
                          <a:rPr lang="en-US" sz="3000" b="0" i="1" smtClean="0">
                            <a:latin typeface="Cambria Math" panose="02040503050406030204" pitchFamily="18" charset="0"/>
                          </a:rPr>
                          <m:t>𝑛</m:t>
                        </m:r>
                      </m:e>
                    </m:d>
                  </m:oMath>
                </a14:m>
                <a:r>
                  <a:rPr lang="en-US" sz="3000" dirty="0"/>
                  <a:t>: logarithmic</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𝑐</m:t>
                        </m:r>
                      </m:e>
                      <m:sup>
                        <m:r>
                          <a:rPr lang="en-US" sz="3000" b="0" i="1" smtClean="0">
                            <a:latin typeface="Cambria Math" panose="02040503050406030204" pitchFamily="18" charset="0"/>
                          </a:rPr>
                          <m:t>𝑛</m:t>
                        </m:r>
                      </m:sup>
                    </m:sSup>
                    <m:r>
                      <a:rPr lang="en-US" sz="3000" b="0" i="1" smtClean="0">
                        <a:latin typeface="Cambria Math" panose="02040503050406030204" pitchFamily="18" charset="0"/>
                      </a:rPr>
                      <m:t>)</m:t>
                    </m:r>
                  </m:oMath>
                </a14:m>
                <a:r>
                  <a:rPr lang="en-US" sz="3000" dirty="0"/>
                  <a:t>: exponential</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m:t>
                    </m:r>
                  </m:oMath>
                </a14:m>
                <a:r>
                  <a:rPr lang="en-US" sz="3000" dirty="0"/>
                  <a:t>: factorial</a:t>
                </a:r>
              </a:p>
              <a:p>
                <a:pPr>
                  <a:lnSpc>
                    <a:spcPct val="120000"/>
                  </a:lnSpc>
                  <a:buFont typeface="Wingdings" panose="05000000000000000000" pitchFamily="2" charset="2"/>
                  <a:buChar char="§"/>
                </a:pPr>
                <a:r>
                  <a:rPr lang="en-US" sz="3200" dirty="0"/>
                  <a:t>These are all functions themselves, so we can refer to them as </a:t>
                </a:r>
                <a14:m>
                  <m:oMath xmlns:m="http://schemas.openxmlformats.org/officeDocument/2006/math">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a:p>
                <a:pPr>
                  <a:lnSpc>
                    <a:spcPct val="120000"/>
                  </a:lnSpc>
                  <a:buFont typeface="Wingdings" panose="05000000000000000000" pitchFamily="2" charset="2"/>
                  <a:buChar char="§"/>
                </a:pPr>
                <a:r>
                  <a:rPr lang="en-US" sz="3200" dirty="0"/>
                  <a:t>The table represents the growth of </a:t>
                </a:r>
                <a14:m>
                  <m:oMath xmlns:m="http://schemas.openxmlformats.org/officeDocument/2006/math">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5875616" cy="4887878"/>
              </a:xfrm>
              <a:prstGeom prst="rect">
                <a:avLst/>
              </a:prstGeom>
              <a:blipFill>
                <a:blip r:embed="rId3"/>
                <a:stretch>
                  <a:fillRect l="-1452" t="-873" r="-622"/>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BD80CFA-71B3-B1D4-C38D-511EF67DF039}"/>
                  </a:ext>
                </a:extLst>
              </p:cNvPr>
              <p:cNvGraphicFramePr>
                <a:graphicFrameLocks noGrp="1"/>
              </p:cNvGraphicFramePr>
              <p:nvPr>
                <p:extLst>
                  <p:ext uri="{D42A27DB-BD31-4B8C-83A1-F6EECF244321}">
                    <p14:modId xmlns:p14="http://schemas.microsoft.com/office/powerpoint/2010/main" val="3594348549"/>
                  </p:ext>
                </p:extLst>
              </p:nvPr>
            </p:nvGraphicFramePr>
            <p:xfrm>
              <a:off x="6086274" y="1581101"/>
              <a:ext cx="5885341" cy="4839362"/>
            </p:xfrm>
            <a:graphic>
              <a:graphicData uri="http://schemas.openxmlformats.org/drawingml/2006/table">
                <a:tbl>
                  <a:tblPr>
                    <a:tableStyleId>{5940675A-B579-460E-94D1-54222C63F5DA}</a:tableStyleId>
                  </a:tblPr>
                  <a:tblGrid>
                    <a:gridCol w="840763">
                      <a:extLst>
                        <a:ext uri="{9D8B030D-6E8A-4147-A177-3AD203B41FA5}">
                          <a16:colId xmlns:a16="http://schemas.microsoft.com/office/drawing/2014/main" val="3873513707"/>
                        </a:ext>
                      </a:extLst>
                    </a:gridCol>
                    <a:gridCol w="840763">
                      <a:extLst>
                        <a:ext uri="{9D8B030D-6E8A-4147-A177-3AD203B41FA5}">
                          <a16:colId xmlns:a16="http://schemas.microsoft.com/office/drawing/2014/main" val="1864740698"/>
                        </a:ext>
                      </a:extLst>
                    </a:gridCol>
                    <a:gridCol w="840763">
                      <a:extLst>
                        <a:ext uri="{9D8B030D-6E8A-4147-A177-3AD203B41FA5}">
                          <a16:colId xmlns:a16="http://schemas.microsoft.com/office/drawing/2014/main" val="984333921"/>
                        </a:ext>
                      </a:extLst>
                    </a:gridCol>
                    <a:gridCol w="840763">
                      <a:extLst>
                        <a:ext uri="{9D8B030D-6E8A-4147-A177-3AD203B41FA5}">
                          <a16:colId xmlns:a16="http://schemas.microsoft.com/office/drawing/2014/main" val="2655710208"/>
                        </a:ext>
                      </a:extLst>
                    </a:gridCol>
                    <a:gridCol w="840763">
                      <a:extLst>
                        <a:ext uri="{9D8B030D-6E8A-4147-A177-3AD203B41FA5}">
                          <a16:colId xmlns:a16="http://schemas.microsoft.com/office/drawing/2014/main" val="795011502"/>
                        </a:ext>
                      </a:extLst>
                    </a:gridCol>
                    <a:gridCol w="840763">
                      <a:extLst>
                        <a:ext uri="{9D8B030D-6E8A-4147-A177-3AD203B41FA5}">
                          <a16:colId xmlns:a16="http://schemas.microsoft.com/office/drawing/2014/main" val="4098458891"/>
                        </a:ext>
                      </a:extLst>
                    </a:gridCol>
                    <a:gridCol w="840763">
                      <a:extLst>
                        <a:ext uri="{9D8B030D-6E8A-4147-A177-3AD203B41FA5}">
                          <a16:colId xmlns:a16="http://schemas.microsoft.com/office/drawing/2014/main" val="3625671847"/>
                        </a:ext>
                      </a:extLst>
                    </a:gridCol>
                  </a:tblGrid>
                  <a:tr h="439942">
                    <a:tc>
                      <a:txBody>
                        <a:bodyPr/>
                        <a:lstStyle/>
                        <a:p>
                          <a:pPr algn="ctr" fontAlgn="b"/>
                          <a14:m>
                            <m:oMathPara xmlns:m="http://schemas.openxmlformats.org/officeDocument/2006/math">
                              <m:oMathParaPr>
                                <m:jc m:val="centerGroup"/>
                              </m:oMathParaPr>
                              <m:oMath xmlns:m="http://schemas.openxmlformats.org/officeDocument/2006/math">
                                <m:r>
                                  <a:rPr lang="en-US" sz="1600" b="1" i="1" u="none" strike="noStrike" dirty="0" smtClean="0">
                                    <a:effectLst/>
                                    <a:latin typeface="Cambria Math" panose="02040503050406030204" pitchFamily="18" charset="0"/>
                                  </a:rPr>
                                  <m:t>𝒏</m:t>
                                </m:r>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r>
                                  <a:rPr lang="en-US" sz="1600" b="1" i="1" u="none" strike="noStrike" dirty="0" smtClean="0">
                                    <a:effectLst/>
                                    <a:latin typeface="Cambria Math" panose="02040503050406030204" pitchFamily="18" charset="0"/>
                                  </a:rPr>
                                  <m:t>𝒍𝒐𝒈</m:t>
                                </m:r>
                                <m:r>
                                  <a:rPr lang="en-US" sz="1600" b="1" i="1" u="none" strike="noStrike" dirty="0" smtClean="0">
                                    <a:effectLst/>
                                    <a:latin typeface="Cambria Math" panose="02040503050406030204" pitchFamily="18" charset="0"/>
                                  </a:rPr>
                                  <m:t>.</m:t>
                                </m:r>
                                <m:r>
                                  <a:rPr lang="en-US" sz="1600" b="1" i="1" u="none" strike="noStrike" dirty="0" smtClean="0">
                                    <a:effectLst/>
                                    <a:latin typeface="Cambria Math" panose="02040503050406030204" pitchFamily="18" charset="0"/>
                                  </a:rPr>
                                  <m:t>𝒏</m:t>
                                </m:r>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r>
                                  <a:rPr lang="en-US" sz="1600" b="1" i="1" u="none" strike="noStrike" dirty="0" smtClean="0">
                                    <a:effectLst/>
                                    <a:latin typeface="Cambria Math" panose="02040503050406030204" pitchFamily="18" charset="0"/>
                                  </a:rPr>
                                  <m:t>𝒏</m:t>
                                </m:r>
                                <m:r>
                                  <a:rPr lang="en-US" sz="1600" b="1" i="1" u="none" strike="noStrike" dirty="0" smtClean="0">
                                    <a:effectLst/>
                                    <a:latin typeface="Cambria Math" panose="02040503050406030204" pitchFamily="18" charset="0"/>
                                  </a:rPr>
                                  <m:t>.</m:t>
                                </m:r>
                                <m:r>
                                  <a:rPr lang="en-US" sz="1600" b="1" i="1" u="none" strike="noStrike" dirty="0" smtClean="0">
                                    <a:effectLst/>
                                    <a:latin typeface="Cambria Math" panose="02040503050406030204" pitchFamily="18" charset="0"/>
                                  </a:rPr>
                                  <m:t>𝒍𝒐𝒈</m:t>
                                </m:r>
                                <m:r>
                                  <a:rPr lang="en-US" sz="1600" b="1" i="1" u="none" strike="noStrike" dirty="0" smtClean="0">
                                    <a:effectLst/>
                                    <a:latin typeface="Cambria Math" panose="02040503050406030204" pitchFamily="18" charset="0"/>
                                  </a:rPr>
                                  <m:t>.</m:t>
                                </m:r>
                                <m:r>
                                  <a:rPr lang="en-US" sz="1600" b="1" i="1" u="none" strike="noStrike" dirty="0" smtClean="0">
                                    <a:effectLst/>
                                    <a:latin typeface="Cambria Math" panose="02040503050406030204" pitchFamily="18" charset="0"/>
                                  </a:rPr>
                                  <m:t>𝒏</m:t>
                                </m:r>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600" b="1" i="1" u="none" strike="noStrike" dirty="0" smtClean="0">
                                        <a:effectLst/>
                                        <a:latin typeface="Cambria Math" panose="02040503050406030204" pitchFamily="18" charset="0"/>
                                      </a:rPr>
                                    </m:ctrlPr>
                                  </m:sSupPr>
                                  <m:e>
                                    <m:r>
                                      <a:rPr lang="en-US" sz="1600" b="1" i="1" u="none" strike="noStrike" dirty="0" smtClean="0">
                                        <a:effectLst/>
                                        <a:latin typeface="Cambria Math" panose="02040503050406030204" pitchFamily="18" charset="0"/>
                                      </a:rPr>
                                      <m:t>𝒏</m:t>
                                    </m:r>
                                  </m:e>
                                  <m:sup>
                                    <m:r>
                                      <a:rPr lang="en-US" sz="1600" b="1" i="1" u="none" strike="noStrike" dirty="0" smtClean="0">
                                        <a:effectLst/>
                                        <a:latin typeface="Cambria Math" panose="02040503050406030204" pitchFamily="18" charset="0"/>
                                      </a:rPr>
                                      <m:t>𝟐</m:t>
                                    </m:r>
                                  </m:sup>
                                </m:sSup>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600" b="1" i="1" u="none" strike="noStrike" dirty="0" smtClean="0">
                                        <a:effectLst/>
                                        <a:latin typeface="Cambria Math" panose="02040503050406030204" pitchFamily="18" charset="0"/>
                                      </a:rPr>
                                    </m:ctrlPr>
                                  </m:sSupPr>
                                  <m:e>
                                    <m:r>
                                      <a:rPr lang="en-US" sz="1600" b="1" i="1" u="none" strike="noStrike" dirty="0" smtClean="0">
                                        <a:effectLst/>
                                        <a:latin typeface="Cambria Math" panose="02040503050406030204" pitchFamily="18" charset="0"/>
                                      </a:rPr>
                                      <m:t>𝒏</m:t>
                                    </m:r>
                                  </m:e>
                                  <m:sup>
                                    <m:r>
                                      <a:rPr lang="en-US" sz="1600" b="1" i="1" u="none" strike="noStrike" dirty="0" smtClean="0">
                                        <a:effectLst/>
                                        <a:latin typeface="Cambria Math" panose="02040503050406030204" pitchFamily="18" charset="0"/>
                                      </a:rPr>
                                      <m:t>𝟑</m:t>
                                    </m:r>
                                  </m:sup>
                                </m:sSup>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600" b="1" i="1" u="none" strike="noStrike" dirty="0" smtClean="0">
                                        <a:effectLst/>
                                        <a:latin typeface="Cambria Math" panose="02040503050406030204" pitchFamily="18" charset="0"/>
                                      </a:rPr>
                                    </m:ctrlPr>
                                  </m:sSupPr>
                                  <m:e>
                                    <m:r>
                                      <a:rPr lang="en-US" sz="1600" b="1" i="1" u="none" strike="noStrike" dirty="0" smtClean="0">
                                        <a:effectLst/>
                                        <a:latin typeface="Cambria Math" panose="02040503050406030204" pitchFamily="18" charset="0"/>
                                      </a:rPr>
                                      <m:t>𝟐</m:t>
                                    </m:r>
                                  </m:e>
                                  <m:sup>
                                    <m:r>
                                      <a:rPr lang="en-US" sz="1600" b="1" i="1" u="none" strike="noStrike" dirty="0" smtClean="0">
                                        <a:effectLst/>
                                        <a:latin typeface="Cambria Math" panose="02040503050406030204" pitchFamily="18" charset="0"/>
                                      </a:rPr>
                                      <m:t>𝒏</m:t>
                                    </m:r>
                                  </m:sup>
                                </m:sSup>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r>
                                  <a:rPr lang="en-US" sz="1600" b="1" i="1" u="none" strike="noStrike" dirty="0" smtClean="0">
                                    <a:effectLst/>
                                    <a:latin typeface="Cambria Math" panose="02040503050406030204" pitchFamily="18" charset="0"/>
                                  </a:rPr>
                                  <m:t>𝒏</m:t>
                                </m:r>
                                <m:r>
                                  <a:rPr lang="en-US" sz="1600" b="1" i="1" u="none" strike="noStrike" dirty="0" smtClean="0">
                                    <a:effectLst/>
                                    <a:latin typeface="Cambria Math" panose="02040503050406030204" pitchFamily="18" charset="0"/>
                                  </a:rPr>
                                  <m:t>!</m:t>
                                </m:r>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61212414"/>
                      </a:ext>
                    </a:extLst>
                  </a:tr>
                  <a:tr h="439942">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0.000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0.000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2557651"/>
                      </a:ext>
                    </a:extLst>
                  </a:tr>
                  <a:tr h="439942">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29888473"/>
                      </a:ext>
                    </a:extLst>
                  </a:tr>
                  <a:tr h="439942">
                    <a:tc>
                      <a:txBody>
                        <a:body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1.585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4.755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25944722"/>
                      </a:ext>
                    </a:extLst>
                  </a:tr>
                  <a:tr h="439942">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18414364"/>
                      </a:ext>
                    </a:extLst>
                  </a:tr>
                  <a:tr h="439942">
                    <a:tc>
                      <a:txBody>
                        <a:bodyPr/>
                        <a:lstStyle/>
                        <a:p>
                          <a:pPr algn="ctr" fontAlgn="b"/>
                          <a:r>
                            <a:rPr lang="en-US" sz="1600" u="none" strike="noStrike">
                              <a:effectLst/>
                            </a:rPr>
                            <a:t>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2.322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11.610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54656084"/>
                      </a:ext>
                    </a:extLst>
                  </a:tr>
                  <a:tr h="439942">
                    <a:tc>
                      <a:txBody>
                        <a:bodyPr/>
                        <a:lstStyle/>
                        <a:p>
                          <a:pPr algn="ctr" fontAlgn="b"/>
                          <a:r>
                            <a:rPr lang="en-US" sz="1600" u="none" strike="noStrike">
                              <a:effectLst/>
                            </a:rPr>
                            <a:t>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2.585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15.510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41359021"/>
                      </a:ext>
                    </a:extLst>
                  </a:tr>
                  <a:tr h="439942">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2.807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19.651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343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5040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41175143"/>
                      </a:ext>
                    </a:extLst>
                  </a:tr>
                  <a:tr h="439942">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24.000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512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40320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32279029"/>
                      </a:ext>
                    </a:extLst>
                  </a:tr>
                  <a:tr h="439942">
                    <a:tc>
                      <a:txBody>
                        <a:bodyPr/>
                        <a:lstStyle/>
                        <a:p>
                          <a:pPr algn="ctr" fontAlgn="b"/>
                          <a:r>
                            <a:rPr lang="en-US" sz="1600" u="none" strike="noStrike">
                              <a:effectLst/>
                            </a:rPr>
                            <a:t>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3.170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28.529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729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512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362880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69401076"/>
                      </a:ext>
                    </a:extLst>
                  </a:tr>
                  <a:tr h="439942">
                    <a:tc>
                      <a:txBody>
                        <a:bodyPr/>
                        <a:lstStyle/>
                        <a:p>
                          <a:pPr algn="ctr" fontAlgn="b"/>
                          <a:r>
                            <a:rPr lang="en-US" sz="1600" u="none" strike="noStrike">
                              <a:effectLst/>
                            </a:rPr>
                            <a:t>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3.322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33.219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3628800</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78832393"/>
                      </a:ext>
                    </a:extLst>
                  </a:tr>
                </a:tbl>
              </a:graphicData>
            </a:graphic>
          </p:graphicFrame>
        </mc:Choice>
        <mc:Fallback xmlns="">
          <p:graphicFrame>
            <p:nvGraphicFramePr>
              <p:cNvPr id="4" name="Table 3">
                <a:extLst>
                  <a:ext uri="{FF2B5EF4-FFF2-40B4-BE49-F238E27FC236}">
                    <a16:creationId xmlns:a16="http://schemas.microsoft.com/office/drawing/2014/main" id="{3BD80CFA-71B3-B1D4-C38D-511EF67DF039}"/>
                  </a:ext>
                </a:extLst>
              </p:cNvPr>
              <p:cNvGraphicFramePr>
                <a:graphicFrameLocks noGrp="1"/>
              </p:cNvGraphicFramePr>
              <p:nvPr>
                <p:extLst>
                  <p:ext uri="{D42A27DB-BD31-4B8C-83A1-F6EECF244321}">
                    <p14:modId xmlns:p14="http://schemas.microsoft.com/office/powerpoint/2010/main" val="3594348549"/>
                  </p:ext>
                </p:extLst>
              </p:nvPr>
            </p:nvGraphicFramePr>
            <p:xfrm>
              <a:off x="6086274" y="1581101"/>
              <a:ext cx="5885341" cy="4839362"/>
            </p:xfrm>
            <a:graphic>
              <a:graphicData uri="http://schemas.openxmlformats.org/drawingml/2006/table">
                <a:tbl>
                  <a:tblPr>
                    <a:tableStyleId>{5940675A-B579-460E-94D1-54222C63F5DA}</a:tableStyleId>
                  </a:tblPr>
                  <a:tblGrid>
                    <a:gridCol w="840763">
                      <a:extLst>
                        <a:ext uri="{9D8B030D-6E8A-4147-A177-3AD203B41FA5}">
                          <a16:colId xmlns:a16="http://schemas.microsoft.com/office/drawing/2014/main" val="3873513707"/>
                        </a:ext>
                      </a:extLst>
                    </a:gridCol>
                    <a:gridCol w="840763">
                      <a:extLst>
                        <a:ext uri="{9D8B030D-6E8A-4147-A177-3AD203B41FA5}">
                          <a16:colId xmlns:a16="http://schemas.microsoft.com/office/drawing/2014/main" val="1864740698"/>
                        </a:ext>
                      </a:extLst>
                    </a:gridCol>
                    <a:gridCol w="840763">
                      <a:extLst>
                        <a:ext uri="{9D8B030D-6E8A-4147-A177-3AD203B41FA5}">
                          <a16:colId xmlns:a16="http://schemas.microsoft.com/office/drawing/2014/main" val="984333921"/>
                        </a:ext>
                      </a:extLst>
                    </a:gridCol>
                    <a:gridCol w="840763">
                      <a:extLst>
                        <a:ext uri="{9D8B030D-6E8A-4147-A177-3AD203B41FA5}">
                          <a16:colId xmlns:a16="http://schemas.microsoft.com/office/drawing/2014/main" val="2655710208"/>
                        </a:ext>
                      </a:extLst>
                    </a:gridCol>
                    <a:gridCol w="840763">
                      <a:extLst>
                        <a:ext uri="{9D8B030D-6E8A-4147-A177-3AD203B41FA5}">
                          <a16:colId xmlns:a16="http://schemas.microsoft.com/office/drawing/2014/main" val="795011502"/>
                        </a:ext>
                      </a:extLst>
                    </a:gridCol>
                    <a:gridCol w="840763">
                      <a:extLst>
                        <a:ext uri="{9D8B030D-6E8A-4147-A177-3AD203B41FA5}">
                          <a16:colId xmlns:a16="http://schemas.microsoft.com/office/drawing/2014/main" val="4098458891"/>
                        </a:ext>
                      </a:extLst>
                    </a:gridCol>
                    <a:gridCol w="840763">
                      <a:extLst>
                        <a:ext uri="{9D8B030D-6E8A-4147-A177-3AD203B41FA5}">
                          <a16:colId xmlns:a16="http://schemas.microsoft.com/office/drawing/2014/main" val="3625671847"/>
                        </a:ext>
                      </a:extLst>
                    </a:gridCol>
                  </a:tblGrid>
                  <a:tr h="439942">
                    <a:tc>
                      <a:txBody>
                        <a:bodyPr/>
                        <a:lstStyle/>
                        <a:p>
                          <a:endParaRPr lang="en-US"/>
                        </a:p>
                      </a:txBody>
                      <a:tcPr marL="7620" marR="7620" marT="7620" marB="0" anchor="b">
                        <a:blipFill>
                          <a:blip r:embed="rId4"/>
                          <a:stretch>
                            <a:fillRect l="-725" t="-1389" r="-601449" b="-1033333"/>
                          </a:stretch>
                        </a:blipFill>
                      </a:tcPr>
                    </a:tc>
                    <a:tc>
                      <a:txBody>
                        <a:bodyPr/>
                        <a:lstStyle/>
                        <a:p>
                          <a:endParaRPr lang="en-US"/>
                        </a:p>
                      </a:txBody>
                      <a:tcPr marL="7620" marR="7620" marT="7620" marB="0" anchor="b">
                        <a:blipFill>
                          <a:blip r:embed="rId4"/>
                          <a:stretch>
                            <a:fillRect l="-100725" t="-1389" r="-501449" b="-1033333"/>
                          </a:stretch>
                        </a:blipFill>
                      </a:tcPr>
                    </a:tc>
                    <a:tc>
                      <a:txBody>
                        <a:bodyPr/>
                        <a:lstStyle/>
                        <a:p>
                          <a:endParaRPr lang="en-US"/>
                        </a:p>
                      </a:txBody>
                      <a:tcPr marL="7620" marR="7620" marT="7620" marB="0" anchor="b">
                        <a:blipFill>
                          <a:blip r:embed="rId4"/>
                          <a:stretch>
                            <a:fillRect l="-200725" t="-1389" r="-401449" b="-1033333"/>
                          </a:stretch>
                        </a:blipFill>
                      </a:tcPr>
                    </a:tc>
                    <a:tc>
                      <a:txBody>
                        <a:bodyPr/>
                        <a:lstStyle/>
                        <a:p>
                          <a:endParaRPr lang="en-US"/>
                        </a:p>
                      </a:txBody>
                      <a:tcPr marL="7620" marR="7620" marT="7620" marB="0" anchor="b">
                        <a:blipFill>
                          <a:blip r:embed="rId4"/>
                          <a:stretch>
                            <a:fillRect l="-300725" t="-1389" r="-301449" b="-1033333"/>
                          </a:stretch>
                        </a:blipFill>
                      </a:tcPr>
                    </a:tc>
                    <a:tc>
                      <a:txBody>
                        <a:bodyPr/>
                        <a:lstStyle/>
                        <a:p>
                          <a:endParaRPr lang="en-US"/>
                        </a:p>
                      </a:txBody>
                      <a:tcPr marL="7620" marR="7620" marT="7620" marB="0" anchor="b">
                        <a:blipFill>
                          <a:blip r:embed="rId4"/>
                          <a:stretch>
                            <a:fillRect l="-400725" t="-1389" r="-201449" b="-1033333"/>
                          </a:stretch>
                        </a:blipFill>
                      </a:tcPr>
                    </a:tc>
                    <a:tc>
                      <a:txBody>
                        <a:bodyPr/>
                        <a:lstStyle/>
                        <a:p>
                          <a:endParaRPr lang="en-US"/>
                        </a:p>
                      </a:txBody>
                      <a:tcPr marL="7620" marR="7620" marT="7620" marB="0" anchor="b">
                        <a:blipFill>
                          <a:blip r:embed="rId4"/>
                          <a:stretch>
                            <a:fillRect l="-500725" t="-1389" r="-101449" b="-1033333"/>
                          </a:stretch>
                        </a:blipFill>
                      </a:tcPr>
                    </a:tc>
                    <a:tc>
                      <a:txBody>
                        <a:bodyPr/>
                        <a:lstStyle/>
                        <a:p>
                          <a:endParaRPr lang="en-US"/>
                        </a:p>
                      </a:txBody>
                      <a:tcPr marL="7620" marR="7620" marT="7620" marB="0" anchor="b">
                        <a:blipFill>
                          <a:blip r:embed="rId4"/>
                          <a:stretch>
                            <a:fillRect l="-600725" t="-1389" r="-1449" b="-1033333"/>
                          </a:stretch>
                        </a:blipFill>
                      </a:tcPr>
                    </a:tc>
                    <a:extLst>
                      <a:ext uri="{0D108BD9-81ED-4DB2-BD59-A6C34878D82A}">
                        <a16:rowId xmlns:a16="http://schemas.microsoft.com/office/drawing/2014/main" val="1961212414"/>
                      </a:ext>
                    </a:extLst>
                  </a:tr>
                  <a:tr h="439942">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0.000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0.000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2557651"/>
                      </a:ext>
                    </a:extLst>
                  </a:tr>
                  <a:tr h="439942">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29888473"/>
                      </a:ext>
                    </a:extLst>
                  </a:tr>
                  <a:tr h="439942">
                    <a:tc>
                      <a:txBody>
                        <a:body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1.585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4.755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25944722"/>
                      </a:ext>
                    </a:extLst>
                  </a:tr>
                  <a:tr h="439942">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18414364"/>
                      </a:ext>
                    </a:extLst>
                  </a:tr>
                  <a:tr h="439942">
                    <a:tc>
                      <a:txBody>
                        <a:bodyPr/>
                        <a:lstStyle/>
                        <a:p>
                          <a:pPr algn="ctr" fontAlgn="b"/>
                          <a:r>
                            <a:rPr lang="en-US" sz="1600" u="none" strike="noStrike">
                              <a:effectLst/>
                            </a:rPr>
                            <a:t>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2.322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11.610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54656084"/>
                      </a:ext>
                    </a:extLst>
                  </a:tr>
                  <a:tr h="439942">
                    <a:tc>
                      <a:txBody>
                        <a:bodyPr/>
                        <a:lstStyle/>
                        <a:p>
                          <a:pPr algn="ctr" fontAlgn="b"/>
                          <a:r>
                            <a:rPr lang="en-US" sz="1600" u="none" strike="noStrike">
                              <a:effectLst/>
                            </a:rPr>
                            <a:t>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2.585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15.510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41359021"/>
                      </a:ext>
                    </a:extLst>
                  </a:tr>
                  <a:tr h="439942">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2.807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19.651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343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5040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41175143"/>
                      </a:ext>
                    </a:extLst>
                  </a:tr>
                  <a:tr h="439942">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24.000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512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40320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32279029"/>
                      </a:ext>
                    </a:extLst>
                  </a:tr>
                  <a:tr h="439942">
                    <a:tc>
                      <a:txBody>
                        <a:bodyPr/>
                        <a:lstStyle/>
                        <a:p>
                          <a:pPr algn="ctr" fontAlgn="b"/>
                          <a:r>
                            <a:rPr lang="en-US" sz="1600" u="none" strike="noStrike">
                              <a:effectLst/>
                            </a:rPr>
                            <a:t>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3.170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28.529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729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512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362880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69401076"/>
                      </a:ext>
                    </a:extLst>
                  </a:tr>
                  <a:tr h="439942">
                    <a:tc>
                      <a:txBody>
                        <a:bodyPr/>
                        <a:lstStyle/>
                        <a:p>
                          <a:pPr algn="ctr" fontAlgn="b"/>
                          <a:r>
                            <a:rPr lang="en-US" sz="1600" u="none" strike="noStrike">
                              <a:effectLst/>
                            </a:rPr>
                            <a:t>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3.322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33.219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3628800</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78832393"/>
                      </a:ext>
                    </a:extLst>
                  </a:tr>
                </a:tbl>
              </a:graphicData>
            </a:graphic>
          </p:graphicFrame>
        </mc:Fallback>
      </mc:AlternateContent>
    </p:spTree>
    <p:extLst>
      <p:ext uri="{BB962C8B-B14F-4D97-AF65-F5344CB8AC3E}">
        <p14:creationId xmlns:p14="http://schemas.microsoft.com/office/powerpoint/2010/main" val="156680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Big-O Notation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Big-</a:t>
                </a:r>
                <a14:m>
                  <m:oMath xmlns:m="http://schemas.openxmlformats.org/officeDocument/2006/math">
                    <m:r>
                      <a:rPr lang="en-US" sz="3200" i="1" dirty="0" smtClean="0">
                        <a:latin typeface="Cambria Math" panose="02040503050406030204" pitchFamily="18" charset="0"/>
                      </a:rPr>
                      <m:t>𝑂</m:t>
                    </m:r>
                  </m:oMath>
                </a14:m>
                <a:r>
                  <a:rPr lang="en-US" sz="3200" dirty="0"/>
                  <a:t> notation is used to define the Upper bound of a function.</a:t>
                </a:r>
              </a:p>
              <a:p>
                <a:pPr>
                  <a:lnSpc>
                    <a:spcPct val="120000"/>
                  </a:lnSpc>
                  <a:buFont typeface="Wingdings" panose="05000000000000000000" pitchFamily="2" charset="2"/>
                  <a:buChar char="§"/>
                </a:pPr>
                <a:r>
                  <a:rPr lang="en-US" sz="3200" dirty="0"/>
                  <a:t>For example, we have function </a:t>
                </a:r>
                <a14:m>
                  <m:oMath xmlns:m="http://schemas.openxmlformats.org/officeDocument/2006/math">
                    <m:r>
                      <a:rPr lang="en-US" sz="3200" b="0" i="1" smtClean="0">
                        <a:latin typeface="Cambria Math" panose="02040503050406030204" pitchFamily="18" charset="0"/>
                      </a:rPr>
                      <m:t>𝑓</m:t>
                    </m:r>
                  </m:oMath>
                </a14:m>
                <a:r>
                  <a:rPr lang="en-US" sz="3200" dirty="0"/>
                  <a:t>, which can be anything </a:t>
                </a:r>
                <a14:m>
                  <m:oMath xmlns:m="http://schemas.openxmlformats.org/officeDocument/2006/math">
                    <m:r>
                      <a:rPr lang="en-US" sz="3200" b="0" i="1" smtClean="0">
                        <a:latin typeface="Cambria Math" panose="02040503050406030204" pitchFamily="18" charset="0"/>
                      </a:rPr>
                      <m:t>𝑆𝐸𝐴𝑅𝐶𝐻</m:t>
                    </m:r>
                    <m:r>
                      <a:rPr lang="en-US" sz="3200" b="0" i="1" smtClean="0">
                        <a:latin typeface="Cambria Math" panose="02040503050406030204" pitchFamily="18" charset="0"/>
                      </a:rPr>
                      <m:t>,</m:t>
                    </m:r>
                    <m:r>
                      <a:rPr lang="en-US" sz="3200" b="0" i="1" smtClean="0">
                        <a:latin typeface="Cambria Math" panose="02040503050406030204" pitchFamily="18" charset="0"/>
                      </a:rPr>
                      <m:t>𝑆𝑂𝑅𝑇</m:t>
                    </m:r>
                    <m:r>
                      <a:rPr lang="en-US" sz="3200" b="0" i="1" smtClean="0">
                        <a:latin typeface="Cambria Math" panose="02040503050406030204" pitchFamily="18" charset="0"/>
                      </a:rPr>
                      <m:t>,</m:t>
                    </m:r>
                    <m:r>
                      <a:rPr lang="en-US" sz="3200" b="0" i="1" smtClean="0">
                        <a:latin typeface="Cambria Math" panose="02040503050406030204" pitchFamily="18" charset="0"/>
                      </a:rPr>
                      <m:t>𝐼𝑁𝑆𝐸𝑅𝑇</m:t>
                    </m:r>
                  </m:oMath>
                </a14:m>
                <a:r>
                  <a:rPr lang="en-US" sz="3200" dirty="0"/>
                  <a:t>, etc., and </a:t>
                </a:r>
                <a14:m>
                  <m:oMath xmlns:m="http://schemas.openxmlformats.org/officeDocument/2006/math">
                    <m:r>
                      <a:rPr lang="en-US" sz="3200" b="0" i="1" smtClean="0">
                        <a:latin typeface="Cambria Math" panose="02040503050406030204" pitchFamily="18" charset="0"/>
                      </a:rPr>
                      <m:t>𝑛</m:t>
                    </m:r>
                  </m:oMath>
                </a14:m>
                <a:r>
                  <a:rPr lang="en-US" sz="3200" dirty="0"/>
                  <a:t> represents the input size, then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 is the function used to perform an operation on input of size </a:t>
                </a:r>
                <a14:m>
                  <m:oMath xmlns:m="http://schemas.openxmlformats.org/officeDocument/2006/math">
                    <m:r>
                      <a:rPr lang="en-US" sz="3200" b="0" i="1" smtClean="0">
                        <a:latin typeface="Cambria Math" panose="02040503050406030204" pitchFamily="18" charset="0"/>
                      </a:rPr>
                      <m:t>𝑛</m:t>
                    </m:r>
                  </m:oMath>
                </a14:m>
                <a:r>
                  <a:rPr lang="en-US" sz="3200" dirty="0"/>
                  <a:t> in time </a:t>
                </a:r>
                <a14:m>
                  <m:oMath xmlns:m="http://schemas.openxmlformats.org/officeDocument/2006/math">
                    <m:r>
                      <a:rPr lang="en-US" sz="3200" b="0" i="1" smtClean="0">
                        <a:latin typeface="Cambria Math" panose="02040503050406030204" pitchFamily="18" charset="0"/>
                      </a:rPr>
                      <m:t>𝑇</m:t>
                    </m:r>
                  </m:oMath>
                </a14:m>
                <a:r>
                  <a:rPr lang="en-US" sz="3200" dirty="0"/>
                  <a:t>.</a:t>
                </a:r>
              </a:p>
              <a:p>
                <a:pPr>
                  <a:lnSpc>
                    <a:spcPct val="120000"/>
                  </a:lnSpc>
                  <a:buFont typeface="Wingdings" panose="05000000000000000000" pitchFamily="2" charset="2"/>
                  <a:buChar char="§"/>
                </a:pPr>
                <a:r>
                  <a:rPr lang="en-US" sz="3200" dirty="0"/>
                  <a:t>Now, the </a:t>
                </a:r>
                <a:r>
                  <a:rPr lang="en-US" sz="3200" u="sng" dirty="0"/>
                  <a:t>exact</a:t>
                </a:r>
                <a:r>
                  <a:rPr lang="en-US" sz="3200" dirty="0"/>
                  <a:t> equation to calculate time complexity can be like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=5</m:t>
                    </m:r>
                    <m:r>
                      <a:rPr lang="en-US" sz="3200" b="0" i="1" smtClean="0">
                        <a:latin typeface="Cambria Math" panose="02040503050406030204" pitchFamily="18" charset="0"/>
                      </a:rPr>
                      <m:t>𝑛</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m:t>
                    </m:r>
                  </m:oMath>
                </a14:m>
                <a:r>
                  <a:rPr lang="en-US" sz="3200" dirty="0"/>
                  <a:t>, but what’s the upper bound of this equation?</a:t>
                </a:r>
              </a:p>
              <a:p>
                <a:pPr>
                  <a:lnSpc>
                    <a:spcPct val="120000"/>
                  </a:lnSpc>
                  <a:buFont typeface="Wingdings" panose="05000000000000000000" pitchFamily="2" charset="2"/>
                  <a:buChar char="§"/>
                </a:pPr>
                <a:r>
                  <a:rPr lang="en-US" sz="3200" dirty="0"/>
                  <a:t>There are 3 terms in this equation, and each belongs to a different class of time complexities. </a:t>
                </a:r>
                <a14:m>
                  <m:oMath xmlns:m="http://schemas.openxmlformats.org/officeDocument/2006/math">
                    <m:r>
                      <a:rPr lang="en-US" sz="3200" i="1" u="sng">
                        <a:latin typeface="Cambria Math" panose="02040503050406030204" pitchFamily="18" charset="0"/>
                      </a:rPr>
                      <m:t>5</m:t>
                    </m:r>
                    <m:r>
                      <a:rPr lang="en-US" sz="3200" b="0" i="1" u="sng" smtClean="0">
                        <a:latin typeface="Cambria Math" panose="02040503050406030204" pitchFamily="18" charset="0"/>
                      </a:rPr>
                      <m:t>𝑛</m:t>
                    </m:r>
                  </m:oMath>
                </a14:m>
                <a:r>
                  <a:rPr lang="en-US" sz="3200" dirty="0"/>
                  <a:t> takes linear time, </a:t>
                </a:r>
                <a14:m>
                  <m:oMath xmlns:m="http://schemas.openxmlformats.org/officeDocument/2006/math">
                    <m:r>
                      <a:rPr lang="en-US" sz="3200" b="0" i="0" smtClean="0">
                        <a:latin typeface="Cambria Math" panose="02040503050406030204" pitchFamily="18" charset="0"/>
                      </a:rPr>
                      <m:t>2</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takes quadratic time and </a:t>
                </a:r>
                <a14:m>
                  <m:oMath xmlns:m="http://schemas.openxmlformats.org/officeDocument/2006/math">
                    <m:r>
                      <a:rPr lang="en-US" sz="3200" b="0" i="1" smtClean="0">
                        <a:latin typeface="Cambria Math" panose="02040503050406030204" pitchFamily="18" charset="0"/>
                      </a:rPr>
                      <m:t>5</m:t>
                    </m:r>
                  </m:oMath>
                </a14:m>
                <a:r>
                  <a:rPr lang="en-US" sz="3200" dirty="0"/>
                  <a:t> takes constant time.</a:t>
                </a:r>
              </a:p>
              <a:p>
                <a:pPr>
                  <a:lnSpc>
                    <a:spcPct val="120000"/>
                  </a:lnSpc>
                  <a:buFont typeface="Wingdings" panose="05000000000000000000" pitchFamily="2" charset="2"/>
                  <a:buChar char="§"/>
                </a:pPr>
                <a:r>
                  <a:rPr lang="en-US" sz="3200" dirty="0"/>
                  <a:t>Thus, we can say that </a:t>
                </a:r>
                <a14:m>
                  <m:oMath xmlns:m="http://schemas.openxmlformats.org/officeDocument/2006/math">
                    <m:r>
                      <m:rPr>
                        <m:sty m:val="p"/>
                      </m:rPr>
                      <a:rPr lang="en-US" sz="3200" b="0" i="0" smtClean="0">
                        <a:latin typeface="Cambria Math" panose="02040503050406030204" pitchFamily="18" charset="0"/>
                      </a:rPr>
                      <m:t>T</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𝑐</m:t>
                        </m:r>
                      </m:e>
                    </m:d>
                  </m:oMath>
                </a14:m>
                <a:r>
                  <a:rPr lang="en-US" sz="3200" dirty="0"/>
                  <a:t>. And since the upper bound of all terms is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 therefore the correct statement is: “in worst case scenario,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a:t>
                </a:r>
              </a:p>
              <a:p>
                <a:pPr>
                  <a:lnSpc>
                    <a:spcPct val="120000"/>
                  </a:lnSpc>
                  <a:buFont typeface="Wingdings" panose="05000000000000000000" pitchFamily="2" charset="2"/>
                  <a:buChar char="§"/>
                </a:pPr>
                <a:r>
                  <a:rPr lang="en-US" sz="3200" dirty="0"/>
                  <a:t>In plain English, the runtime of function </a:t>
                </a:r>
                <a14:m>
                  <m:oMath xmlns:m="http://schemas.openxmlformats.org/officeDocument/2006/math">
                    <m:r>
                      <a:rPr lang="en-US" sz="3200" b="0" i="1" smtClean="0">
                        <a:latin typeface="Cambria Math" panose="02040503050406030204" pitchFamily="18" charset="0"/>
                      </a:rPr>
                      <m:t>𝑓</m:t>
                    </m:r>
                  </m:oMath>
                </a14:m>
                <a:r>
                  <a:rPr lang="en-US" sz="3200" dirty="0"/>
                  <a:t> will increase </a:t>
                </a:r>
                <a:r>
                  <a:rPr lang="en-US" sz="3200" u="sng" dirty="0"/>
                  <a:t>at most</a:t>
                </a:r>
                <a:r>
                  <a:rPr lang="en-US" sz="3200" dirty="0"/>
                  <a:t> as fast as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as the value of </a:t>
                </a:r>
                <a14:m>
                  <m:oMath xmlns:m="http://schemas.openxmlformats.org/officeDocument/2006/math">
                    <m:r>
                      <a:rPr lang="en-US" sz="3200" b="0" i="1" smtClean="0">
                        <a:latin typeface="Cambria Math" panose="02040503050406030204" pitchFamily="18" charset="0"/>
                      </a:rPr>
                      <m:t>𝑛</m:t>
                    </m:r>
                  </m:oMath>
                </a14:m>
                <a:r>
                  <a:rPr lang="en-US" sz="3200" dirty="0"/>
                  <a:t> increases. It can possibly be slower, but it cannot grow faster than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571" t="-748" b="-748"/>
                </a:stretch>
              </a:blipFill>
            </p:spPr>
            <p:txBody>
              <a:bodyPr/>
              <a:lstStyle/>
              <a:p>
                <a:r>
                  <a:rPr lang="en-US">
                    <a:noFill/>
                  </a:rPr>
                  <a:t> </a:t>
                </a:r>
              </a:p>
            </p:txBody>
          </p:sp>
        </mc:Fallback>
      </mc:AlternateContent>
    </p:spTree>
    <p:extLst>
      <p:ext uri="{BB962C8B-B14F-4D97-AF65-F5344CB8AC3E}">
        <p14:creationId xmlns:p14="http://schemas.microsoft.com/office/powerpoint/2010/main" val="535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215" name="TextBox 214"/>
              <p:cNvSpPr txBox="1"/>
              <p:nvPr/>
            </p:nvSpPr>
            <p:spPr>
              <a:xfrm>
                <a:off x="220384" y="204892"/>
                <a:ext cx="11743016" cy="584775"/>
              </a:xfrm>
              <a:prstGeom prst="rect">
                <a:avLst/>
              </a:prstGeom>
              <a:noFill/>
            </p:spPr>
            <p:txBody>
              <a:bodyPr wrap="square" rtlCol="0">
                <a:spAutoFit/>
              </a:bodyPr>
              <a:lstStyle/>
              <a:p>
                <a14:m>
                  <m:oMath xmlns:m="http://schemas.openxmlformats.org/officeDocument/2006/math">
                    <m:r>
                      <m:rPr>
                        <m:sty m:val="p"/>
                      </m:rPr>
                      <a:rPr lang="en-US" sz="3200" b="0" i="0" smtClean="0">
                        <a:solidFill>
                          <a:srgbClr val="FFFFFF"/>
                        </a:solidFill>
                        <a:latin typeface="Cambria Math" panose="02040503050406030204" pitchFamily="18" charset="0"/>
                        <a:cs typeface="Arial"/>
                      </a:rPr>
                      <m:t>Ω</m:t>
                    </m:r>
                  </m:oMath>
                </a14:m>
                <a:r>
                  <a:rPr lang="en-US" sz="3200" dirty="0">
                    <a:solidFill>
                      <a:srgbClr val="FFFFFF"/>
                    </a:solidFill>
                    <a:latin typeface="Arial"/>
                    <a:cs typeface="Arial"/>
                  </a:rPr>
                  <a:t> Notation</a:t>
                </a:r>
              </a:p>
            </p:txBody>
          </p:sp>
        </mc:Choice>
        <mc:Fallback xmlns="">
          <p:sp>
            <p:nvSpPr>
              <p:cNvPr id="215" name="TextBox 214"/>
              <p:cNvSpPr txBox="1">
                <a:spLocks noRot="1" noChangeAspect="1" noMove="1" noResize="1" noEditPoints="1" noAdjustHandles="1" noChangeArrowheads="1" noChangeShapeType="1" noTextEdit="1"/>
              </p:cNvSpPr>
              <p:nvPr/>
            </p:nvSpPr>
            <p:spPr>
              <a:xfrm>
                <a:off x="220384" y="204892"/>
                <a:ext cx="11743016" cy="584775"/>
              </a:xfrm>
              <a:prstGeom prst="rect">
                <a:avLst/>
              </a:prstGeom>
              <a:blipFill>
                <a:blip r:embed="rId3"/>
                <a:stretch>
                  <a:fillRect t="-13542" b="-33333"/>
                </a:stretch>
              </a:blipFill>
            </p:spPr>
            <p:txBody>
              <a:bodyPr/>
              <a:lstStyle/>
              <a:p>
                <a:r>
                  <a:rPr lang="LID4096">
                    <a:noFill/>
                  </a:rPr>
                  <a:t> </a:t>
                </a:r>
              </a:p>
            </p:txBody>
          </p:sp>
        </mc:Fallback>
      </mc:AlternateContent>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a:t>
                </a:r>
                <a14:m>
                  <m:oMath xmlns:m="http://schemas.openxmlformats.org/officeDocument/2006/math">
                    <m:r>
                      <m:rPr>
                        <m:sty m:val="p"/>
                      </m:rPr>
                      <a:rPr lang="en-US" sz="3200" b="0" i="0" smtClean="0">
                        <a:latin typeface="Cambria Math" panose="02040503050406030204" pitchFamily="18" charset="0"/>
                      </a:rPr>
                      <m:t>Ω</m:t>
                    </m:r>
                  </m:oMath>
                </a14:m>
                <a:r>
                  <a:rPr lang="en-US" sz="3200" dirty="0"/>
                  <a:t> notation is used to define the lower bound of a function.</a:t>
                </a:r>
              </a:p>
              <a:p>
                <a:pPr>
                  <a:lnSpc>
                    <a:spcPct val="120000"/>
                  </a:lnSpc>
                  <a:buFont typeface="Wingdings" panose="05000000000000000000" pitchFamily="2" charset="2"/>
                  <a:buChar char="§"/>
                </a:pPr>
                <a:r>
                  <a:rPr lang="en-US" sz="3200" dirty="0"/>
                  <a:t>If we have function </a:t>
                </a:r>
                <a14:m>
                  <m:oMath xmlns:m="http://schemas.openxmlformats.org/officeDocument/2006/math">
                    <m:r>
                      <a:rPr lang="en-US" sz="3200" b="0" i="1" smtClean="0">
                        <a:latin typeface="Cambria Math" panose="02040503050406030204" pitchFamily="18" charset="0"/>
                      </a:rPr>
                      <m:t>𝑓</m:t>
                    </m:r>
                  </m:oMath>
                </a14:m>
                <a:r>
                  <a:rPr lang="en-US" sz="3200" dirty="0"/>
                  <a:t>, and </a:t>
                </a:r>
                <a14:m>
                  <m:oMath xmlns:m="http://schemas.openxmlformats.org/officeDocument/2006/math">
                    <m:r>
                      <a:rPr lang="en-US" sz="3200" b="0" i="1" smtClean="0">
                        <a:latin typeface="Cambria Math" panose="02040503050406030204" pitchFamily="18" charset="0"/>
                      </a:rPr>
                      <m:t>𝑛</m:t>
                    </m:r>
                  </m:oMath>
                </a14:m>
                <a:r>
                  <a:rPr lang="en-US" sz="3200" dirty="0"/>
                  <a:t> represents the input size, then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 is the function used to perform an operation on input of size </a:t>
                </a:r>
                <a14:m>
                  <m:oMath xmlns:m="http://schemas.openxmlformats.org/officeDocument/2006/math">
                    <m:r>
                      <a:rPr lang="en-US" sz="3200" b="0" i="1" smtClean="0">
                        <a:latin typeface="Cambria Math" panose="02040503050406030204" pitchFamily="18" charset="0"/>
                      </a:rPr>
                      <m:t>𝑛</m:t>
                    </m:r>
                  </m:oMath>
                </a14:m>
                <a:r>
                  <a:rPr lang="en-US" sz="3200" dirty="0"/>
                  <a:t> in time </a:t>
                </a:r>
                <a14:m>
                  <m:oMath xmlns:m="http://schemas.openxmlformats.org/officeDocument/2006/math">
                    <m:r>
                      <a:rPr lang="en-US" sz="3200" b="0" i="1" smtClean="0">
                        <a:latin typeface="Cambria Math" panose="02040503050406030204" pitchFamily="18" charset="0"/>
                      </a:rPr>
                      <m:t>𝑇</m:t>
                    </m:r>
                  </m:oMath>
                </a14:m>
                <a:r>
                  <a:rPr lang="en-US" sz="3200" dirty="0"/>
                  <a:t>.</a:t>
                </a:r>
              </a:p>
              <a:p>
                <a:pPr>
                  <a:lnSpc>
                    <a:spcPct val="120000"/>
                  </a:lnSpc>
                  <a:buFont typeface="Wingdings" panose="05000000000000000000" pitchFamily="2" charset="2"/>
                  <a:buChar char="§"/>
                </a:pPr>
                <a:r>
                  <a:rPr lang="en-US" sz="3200" dirty="0"/>
                  <a:t>The </a:t>
                </a:r>
                <a:r>
                  <a:rPr lang="en-US" sz="3200" u="sng" dirty="0"/>
                  <a:t>exact</a:t>
                </a:r>
                <a:r>
                  <a:rPr lang="en-US" sz="3200" dirty="0"/>
                  <a:t> equation to calculate time complexity can be like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=5</m:t>
                    </m:r>
                    <m:r>
                      <a:rPr lang="en-US" sz="3200" b="0" i="1" smtClean="0">
                        <a:latin typeface="Cambria Math" panose="02040503050406030204" pitchFamily="18" charset="0"/>
                      </a:rPr>
                      <m:t>𝑛</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m:t>
                    </m:r>
                  </m:oMath>
                </a14:m>
                <a:r>
                  <a:rPr lang="en-US" sz="3200" dirty="0"/>
                  <a:t>, but what’s the lower bound of this equation?</a:t>
                </a:r>
              </a:p>
              <a:p>
                <a:pPr>
                  <a:lnSpc>
                    <a:spcPct val="120000"/>
                  </a:lnSpc>
                  <a:buFont typeface="Wingdings" panose="05000000000000000000" pitchFamily="2" charset="2"/>
                  <a:buChar char="§"/>
                </a:pPr>
                <a:r>
                  <a:rPr lang="en-US" sz="3200" dirty="0"/>
                  <a:t>Again, </a:t>
                </a:r>
                <a14:m>
                  <m:oMath xmlns:m="http://schemas.openxmlformats.org/officeDocument/2006/math">
                    <m:r>
                      <m:rPr>
                        <m:sty m:val="p"/>
                      </m:rPr>
                      <a:rPr lang="en-US" sz="3200">
                        <a:latin typeface="Cambria Math" panose="02040503050406030204" pitchFamily="18" charset="0"/>
                      </a:rPr>
                      <m:t>T</m:t>
                    </m:r>
                    <m:d>
                      <m:dPr>
                        <m:ctrlPr>
                          <a:rPr lang="en-US" sz="3200" i="1">
                            <a:latin typeface="Cambria Math" panose="02040503050406030204" pitchFamily="18" charset="0"/>
                          </a:rPr>
                        </m:ctrlPr>
                      </m:dPr>
                      <m:e>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e>
                    </m:d>
                    <m:r>
                      <a:rPr lang="en-US" sz="3200" i="1">
                        <a:latin typeface="Cambria Math" panose="02040503050406030204" pitchFamily="18" charset="0"/>
                      </a:rPr>
                      <m:t>=</m:t>
                    </m:r>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a:rPr lang="en-US" sz="3200" i="1">
                        <a:latin typeface="Cambria Math" panose="02040503050406030204" pitchFamily="18" charset="0"/>
                      </a:rPr>
                      <m:t>𝑇</m:t>
                    </m:r>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e>
                    </m:d>
                    <m:r>
                      <a:rPr lang="en-US" sz="3200" i="1">
                        <a:latin typeface="Cambria Math" panose="02040503050406030204" pitchFamily="18" charset="0"/>
                      </a:rPr>
                      <m:t>+</m:t>
                    </m:r>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𝑐</m:t>
                        </m:r>
                      </m:e>
                    </m:d>
                  </m:oMath>
                </a14:m>
                <a:r>
                  <a:rPr lang="en-US" sz="3200" dirty="0"/>
                  <a:t>. Therefore, lower bound of these terms is…</a:t>
                </a:r>
              </a:p>
              <a:p>
                <a:pPr>
                  <a:lnSpc>
                    <a:spcPct val="120000"/>
                  </a:lnSpc>
                  <a:buFont typeface="Wingdings" panose="05000000000000000000" pitchFamily="2" charset="2"/>
                  <a:buChar char="§"/>
                </a:pPr>
                <a:r>
                  <a:rPr lang="en-US" sz="3200" dirty="0"/>
                  <a:t>No, it is </a:t>
                </a:r>
                <a:r>
                  <a:rPr lang="en-US" sz="3200" b="1" u="sng" dirty="0"/>
                  <a:t>NOT</a:t>
                </a:r>
                <a:r>
                  <a:rPr lang="en-US" sz="3200" dirty="0"/>
                  <a:t> </a:t>
                </a:r>
                <a14:m>
                  <m:oMath xmlns:m="http://schemas.openxmlformats.org/officeDocument/2006/math">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b="0" i="1" smtClean="0">
                            <a:latin typeface="Cambria Math" panose="02040503050406030204" pitchFamily="18" charset="0"/>
                          </a:rPr>
                          <m:t>𝑐</m:t>
                        </m:r>
                      </m:e>
                    </m:d>
                    <m:r>
                      <a:rPr lang="en-US" sz="3200" b="0" i="0" smtClean="0">
                        <a:latin typeface="Cambria Math" panose="02040503050406030204" pitchFamily="18" charset="0"/>
                      </a:rPr>
                      <m:t>.</m:t>
                    </m:r>
                  </m:oMath>
                </a14:m>
                <a:r>
                  <a:rPr lang="en-US" sz="3200" dirty="0"/>
                  <a:t> It will be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 because we are not interested in what happens when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=0</m:t>
                    </m:r>
                  </m:oMath>
                </a14:m>
                <a:r>
                  <a:rPr lang="en-US" sz="3200" dirty="0"/>
                  <a:t>. Instead, we want to find out how the function grows with </a:t>
                </a:r>
                <a14:m>
                  <m:oMath xmlns:m="http://schemas.openxmlformats.org/officeDocument/2006/math">
                    <m:r>
                      <a:rPr lang="en-US" sz="3200" b="0" i="1" smtClean="0">
                        <a:latin typeface="Cambria Math" panose="02040503050406030204" pitchFamily="18" charset="0"/>
                      </a:rPr>
                      <m:t>𝑛</m:t>
                    </m:r>
                  </m:oMath>
                </a14:m>
                <a:r>
                  <a:rPr lang="en-US" sz="3200" dirty="0"/>
                  <a:t>. Therefore, “in best-case scenario, </a:t>
                </a:r>
                <a14:m>
                  <m:oMath xmlns:m="http://schemas.openxmlformats.org/officeDocument/2006/math">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m:rPr>
                        <m:sty m:val="p"/>
                      </m:rPr>
                      <a:rPr lang="en-US" sz="3200" b="0" i="0" smtClean="0">
                        <a:latin typeface="Cambria Math" panose="02040503050406030204" pitchFamily="18" charset="0"/>
                      </a:rPr>
                      <m:t>Ω</m:t>
                    </m:r>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e>
                    </m:d>
                  </m:oMath>
                </a14:m>
                <a:r>
                  <a:rPr lang="en-US" sz="3200" dirty="0"/>
                  <a:t>”.</a:t>
                </a:r>
              </a:p>
              <a:p>
                <a:pPr>
                  <a:lnSpc>
                    <a:spcPct val="120000"/>
                  </a:lnSpc>
                  <a:buFont typeface="Wingdings" panose="05000000000000000000" pitchFamily="2" charset="2"/>
                  <a:buChar char="§"/>
                </a:pPr>
                <a:r>
                  <a:rPr lang="en-US" sz="3200" dirty="0"/>
                  <a:t>In plain English, the runtime of function </a:t>
                </a:r>
                <a14:m>
                  <m:oMath xmlns:m="http://schemas.openxmlformats.org/officeDocument/2006/math">
                    <m:r>
                      <a:rPr lang="en-US" sz="3200" i="1">
                        <a:latin typeface="Cambria Math" panose="02040503050406030204" pitchFamily="18" charset="0"/>
                      </a:rPr>
                      <m:t>𝑓</m:t>
                    </m:r>
                  </m:oMath>
                </a14:m>
                <a:r>
                  <a:rPr lang="en-US" sz="3200" dirty="0"/>
                  <a:t> will increase </a:t>
                </a:r>
                <a:r>
                  <a:rPr lang="en-US" sz="3200" u="sng" dirty="0"/>
                  <a:t>at least</a:t>
                </a:r>
                <a:r>
                  <a:rPr lang="en-US" sz="3200" dirty="0"/>
                  <a:t> as slowly as </a:t>
                </a:r>
                <a14:m>
                  <m:oMath xmlns:m="http://schemas.openxmlformats.org/officeDocument/2006/math">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oMath>
                </a14:m>
                <a:r>
                  <a:rPr lang="en-US" sz="3200" dirty="0"/>
                  <a:t> as the value of </a:t>
                </a:r>
                <a14:m>
                  <m:oMath xmlns:m="http://schemas.openxmlformats.org/officeDocument/2006/math">
                    <m:r>
                      <a:rPr lang="en-US" sz="3200" i="1">
                        <a:latin typeface="Cambria Math" panose="02040503050406030204" pitchFamily="18" charset="0"/>
                      </a:rPr>
                      <m:t>𝑛</m:t>
                    </m:r>
                  </m:oMath>
                </a14:m>
                <a:r>
                  <a:rPr lang="en-US" sz="3200" dirty="0"/>
                  <a:t> increases. It can possibly be faster, but it cannot grow slower than </a:t>
                </a:r>
                <a14:m>
                  <m:oMath xmlns:m="http://schemas.openxmlformats.org/officeDocument/2006/math">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oMath>
                </a14:m>
                <a:r>
                  <a:rPr lang="en-US" sz="3200" dirty="0"/>
                  <a:t>. </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4"/>
                <a:stretch>
                  <a:fillRect l="-571" t="-748" r="-519"/>
                </a:stretch>
              </a:blipFill>
            </p:spPr>
            <p:txBody>
              <a:bodyPr/>
              <a:lstStyle/>
              <a:p>
                <a:r>
                  <a:rPr lang="en-US">
                    <a:noFill/>
                  </a:rPr>
                  <a:t> </a:t>
                </a:r>
              </a:p>
            </p:txBody>
          </p:sp>
        </mc:Fallback>
      </mc:AlternateContent>
    </p:spTree>
    <p:extLst>
      <p:ext uri="{BB962C8B-B14F-4D97-AF65-F5344CB8AC3E}">
        <p14:creationId xmlns:p14="http://schemas.microsoft.com/office/powerpoint/2010/main" val="373763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215" name="TextBox 214"/>
              <p:cNvSpPr txBox="1"/>
              <p:nvPr/>
            </p:nvSpPr>
            <p:spPr>
              <a:xfrm>
                <a:off x="220384" y="204892"/>
                <a:ext cx="11743016" cy="584775"/>
              </a:xfrm>
              <a:prstGeom prst="rect">
                <a:avLst/>
              </a:prstGeom>
              <a:noFill/>
            </p:spPr>
            <p:txBody>
              <a:bodyPr wrap="square" rtlCol="0">
                <a:spAutoFit/>
              </a:bodyPr>
              <a:lstStyle/>
              <a:p>
                <a14:m>
                  <m:oMath xmlns:m="http://schemas.openxmlformats.org/officeDocument/2006/math">
                    <m:r>
                      <m:rPr>
                        <m:sty m:val="p"/>
                      </m:rPr>
                      <a:rPr lang="el-GR" sz="3200" i="0" dirty="0" smtClean="0">
                        <a:solidFill>
                          <a:srgbClr val="FFFFFF"/>
                        </a:solidFill>
                        <a:latin typeface="Cambria Math" panose="02040503050406030204" pitchFamily="18" charset="0"/>
                        <a:cs typeface="Arial"/>
                      </a:rPr>
                      <m:t>Θ</m:t>
                    </m:r>
                  </m:oMath>
                </a14:m>
                <a:r>
                  <a:rPr lang="en-US" sz="3200" dirty="0">
                    <a:solidFill>
                      <a:srgbClr val="FFFFFF"/>
                    </a:solidFill>
                    <a:latin typeface="Arial"/>
                    <a:cs typeface="Arial"/>
                  </a:rPr>
                  <a:t> Notation</a:t>
                </a:r>
              </a:p>
            </p:txBody>
          </p:sp>
        </mc:Choice>
        <mc:Fallback xmlns="">
          <p:sp>
            <p:nvSpPr>
              <p:cNvPr id="215" name="TextBox 214"/>
              <p:cNvSpPr txBox="1">
                <a:spLocks noRot="1" noChangeAspect="1" noMove="1" noResize="1" noEditPoints="1" noAdjustHandles="1" noChangeArrowheads="1" noChangeShapeType="1" noTextEdit="1"/>
              </p:cNvSpPr>
              <p:nvPr/>
            </p:nvSpPr>
            <p:spPr>
              <a:xfrm>
                <a:off x="220384" y="204892"/>
                <a:ext cx="11743016" cy="584775"/>
              </a:xfrm>
              <a:prstGeom prst="rect">
                <a:avLst/>
              </a:prstGeom>
              <a:blipFill>
                <a:blip r:embed="rId3"/>
                <a:stretch>
                  <a:fillRect t="-13542" b="-33333"/>
                </a:stretch>
              </a:blipFill>
            </p:spPr>
            <p:txBody>
              <a:bodyPr/>
              <a:lstStyle/>
              <a:p>
                <a:r>
                  <a:rPr lang="LID4096">
                    <a:noFill/>
                  </a:rPr>
                  <a:t> </a:t>
                </a:r>
              </a:p>
            </p:txBody>
          </p:sp>
        </mc:Fallback>
      </mc:AlternateContent>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Mathematically, the asymptotic notations are represented as:</a:t>
                </a:r>
              </a:p>
              <a:p>
                <a:pPr>
                  <a:lnSpc>
                    <a:spcPct val="120000"/>
                  </a:lnSpc>
                  <a:buFont typeface="Wingdings" panose="05000000000000000000" pitchFamily="2" charset="2"/>
                  <a:buChar char="§"/>
                </a:pPr>
                <a:r>
                  <a:rPr lang="en-US" sz="3200" dirty="0"/>
                  <a:t>Big-</a:t>
                </a:r>
                <a14:m>
                  <m:oMath xmlns:m="http://schemas.openxmlformats.org/officeDocument/2006/math">
                    <m:r>
                      <a:rPr lang="en-US" sz="3200" i="1" dirty="0" smtClean="0">
                        <a:latin typeface="Cambria Math" panose="02040503050406030204" pitchFamily="18" charset="0"/>
                      </a:rPr>
                      <m:t>𝑂</m:t>
                    </m:r>
                  </m:oMath>
                </a14:m>
                <a:r>
                  <a:rPr lang="en-US" sz="3200" dirty="0"/>
                  <a:t>: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d>
                    <m:r>
                      <a:rPr lang="en-US" sz="3200" b="0" i="1" smtClean="0">
                        <a:latin typeface="Cambria Math" panose="02040503050406030204" pitchFamily="18" charset="0"/>
                      </a:rPr>
                      <m:t>, </m:t>
                    </m:r>
                    <m:r>
                      <a:rPr lang="en-US" sz="3200" b="0" i="1" smtClean="0">
                        <a:latin typeface="Cambria Math" panose="02040503050406030204" pitchFamily="18" charset="0"/>
                      </a:rPr>
                      <m:t>𝑖𝑓</m:t>
                    </m:r>
                    <m:r>
                      <a:rPr lang="en-US" sz="3200" b="0" i="1" smtClean="0">
                        <a:latin typeface="Cambria Math" panose="02040503050406030204" pitchFamily="18" charset="0"/>
                      </a:rPr>
                      <m:t> </m:t>
                    </m:r>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 </m:t>
                    </m:r>
                    <m:r>
                      <a:rPr lang="en-US" sz="3200" b="0" i="1" smtClean="0">
                        <a:latin typeface="Cambria Math" panose="02040503050406030204" pitchFamily="18" charset="0"/>
                      </a:rPr>
                      <m:t>𝑔𝑖𝑣𝑒𝑛</m:t>
                    </m:r>
                    <m:r>
                      <a:rPr lang="en-US" sz="3200" b="0" i="1" smtClean="0">
                        <a:latin typeface="Cambria Math" panose="02040503050406030204" pitchFamily="18" charset="0"/>
                      </a:rPr>
                      <m:t> </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&gt;0;</m:t>
                    </m:r>
                    <m:r>
                      <a:rPr lang="en-US" sz="3200" b="0" i="1" smtClean="0">
                        <a:latin typeface="Cambria Math" panose="02040503050406030204" pitchFamily="18" charset="0"/>
                      </a:rPr>
                      <m:t>𝑛</m:t>
                    </m:r>
                    <m:r>
                      <a:rPr lang="en-US" sz="3200" b="0" i="1" smtClean="0">
                        <a:latin typeface="Cambria Math" panose="02040503050406030204" pitchFamily="18" charset="0"/>
                      </a:rPr>
                      <m:t>≥0</m:t>
                    </m:r>
                  </m:oMath>
                </a14:m>
                <a:endParaRPr lang="en-US" sz="3200" dirty="0"/>
              </a:p>
              <a:p>
                <a:pPr>
                  <a:lnSpc>
                    <a:spcPct val="120000"/>
                  </a:lnSpc>
                  <a:buFont typeface="Wingdings" panose="05000000000000000000" pitchFamily="2" charset="2"/>
                  <a:buChar char="§"/>
                </a:pPr>
                <a14:m>
                  <m:oMath xmlns:m="http://schemas.openxmlformats.org/officeDocument/2006/math">
                    <m:r>
                      <m:rPr>
                        <m:sty m:val="p"/>
                      </m:rPr>
                      <a:rPr lang="en-US" sz="3200" b="0" i="0" smtClean="0">
                        <a:latin typeface="Cambria Math" panose="02040503050406030204" pitchFamily="18" charset="0"/>
                      </a:rPr>
                      <m:t>Ω</m:t>
                    </m:r>
                  </m:oMath>
                </a14:m>
                <a:r>
                  <a:rPr lang="en-US" sz="3200" dirty="0"/>
                  <a:t>: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m:rPr>
                        <m:sty m:val="p"/>
                      </m:rPr>
                      <a:rPr lang="en-US" sz="3200" b="0" i="0" smtClean="0">
                        <a:latin typeface="Cambria Math" panose="02040503050406030204" pitchFamily="18" charset="0"/>
                      </a:rPr>
                      <m:t>Ω</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d>
                    <m:r>
                      <a:rPr lang="en-US" sz="3200" b="0" i="1" smtClean="0">
                        <a:latin typeface="Cambria Math" panose="02040503050406030204" pitchFamily="18" charset="0"/>
                      </a:rPr>
                      <m:t>,</m:t>
                    </m:r>
                    <m:r>
                      <a:rPr lang="en-US" sz="3200" b="0" i="1" smtClean="0">
                        <a:latin typeface="Cambria Math" panose="02040503050406030204" pitchFamily="18" charset="0"/>
                      </a:rPr>
                      <m:t>𝑖𝑓</m:t>
                    </m:r>
                    <m:r>
                      <a:rPr lang="en-US" sz="3200" b="0" i="1" smtClean="0">
                        <a:latin typeface="Cambria Math" panose="02040503050406030204" pitchFamily="18" charset="0"/>
                      </a:rPr>
                      <m:t> </m:t>
                    </m:r>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 </m:t>
                    </m:r>
                    <m:r>
                      <a:rPr lang="en-US" sz="3200" b="0" i="1" smtClean="0">
                        <a:latin typeface="Cambria Math" panose="02040503050406030204" pitchFamily="18" charset="0"/>
                      </a:rPr>
                      <m:t>𝑔𝑖𝑣𝑒𝑛</m:t>
                    </m:r>
                    <m:r>
                      <a:rPr lang="en-US" sz="3200" b="0" i="1" smtClean="0">
                        <a:latin typeface="Cambria Math" panose="02040503050406030204" pitchFamily="18" charset="0"/>
                      </a:rPr>
                      <m:t> </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&gt;0;</m:t>
                    </m:r>
                    <m:r>
                      <a:rPr lang="en-US" sz="3200" b="0" i="1" smtClean="0">
                        <a:latin typeface="Cambria Math" panose="02040503050406030204" pitchFamily="18" charset="0"/>
                      </a:rPr>
                      <m:t>𝑛</m:t>
                    </m:r>
                    <m:r>
                      <a:rPr lang="en-US" sz="3200" b="0" i="1" smtClean="0">
                        <a:latin typeface="Cambria Math" panose="02040503050406030204" pitchFamily="18" charset="0"/>
                      </a:rPr>
                      <m:t>≥0</m:t>
                    </m:r>
                  </m:oMath>
                </a14:m>
                <a:endParaRPr lang="en-US" sz="3200" dirty="0"/>
              </a:p>
              <a:p>
                <a:pPr>
                  <a:lnSpc>
                    <a:spcPct val="120000"/>
                  </a:lnSpc>
                  <a:buFont typeface="Wingdings" panose="05000000000000000000" pitchFamily="2" charset="2"/>
                  <a:buChar char="§"/>
                </a:pPr>
                <a14:m>
                  <m:oMath xmlns:m="http://schemas.openxmlformats.org/officeDocument/2006/math">
                    <m:r>
                      <m:rPr>
                        <m:sty m:val="p"/>
                      </m:rPr>
                      <a:rPr lang="en-US" sz="3200" b="0" i="0" smtClean="0">
                        <a:latin typeface="Cambria Math" panose="02040503050406030204" pitchFamily="18" charset="0"/>
                      </a:rPr>
                      <m:t>Θ</m:t>
                    </m:r>
                  </m:oMath>
                </a14:m>
                <a:r>
                  <a:rPr lang="en-US" sz="3200" dirty="0"/>
                  <a:t>:</a:t>
                </a:r>
                <a14:m>
                  <m:oMath xmlns:m="http://schemas.openxmlformats.org/officeDocument/2006/math">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m:rPr>
                        <m:sty m:val="p"/>
                      </m:rPr>
                      <a:rPr lang="en-US" sz="3200" b="0" i="0" smtClean="0">
                        <a:latin typeface="Cambria Math" panose="02040503050406030204" pitchFamily="18" charset="0"/>
                      </a:rPr>
                      <m:t>Θ</m:t>
                    </m:r>
                    <m:d>
                      <m:dPr>
                        <m:ctrlPr>
                          <a:rPr lang="en-US" sz="3200" i="1">
                            <a:latin typeface="Cambria Math" panose="02040503050406030204" pitchFamily="18" charset="0"/>
                          </a:rPr>
                        </m:ctrlPr>
                      </m:dPr>
                      <m:e>
                        <m:r>
                          <a:rPr lang="en-US" sz="3200" i="1">
                            <a:latin typeface="Cambria Math" panose="02040503050406030204" pitchFamily="18" charset="0"/>
                          </a:rPr>
                          <m:t>𝑔</m:t>
                        </m:r>
                        <m:d>
                          <m:dPr>
                            <m:ctrlPr>
                              <a:rPr lang="en-US" sz="3200" i="1">
                                <a:latin typeface="Cambria Math" panose="02040503050406030204" pitchFamily="18" charset="0"/>
                              </a:rPr>
                            </m:ctrlPr>
                          </m:dPr>
                          <m:e>
                            <m:r>
                              <a:rPr lang="en-US" sz="3200" i="1">
                                <a:latin typeface="Cambria Math" panose="02040503050406030204" pitchFamily="18" charset="0"/>
                              </a:rPr>
                              <m:t>𝑛</m:t>
                            </m:r>
                          </m:e>
                        </m:d>
                      </m:e>
                    </m:d>
                    <m:r>
                      <a:rPr lang="en-US" sz="3200" i="1">
                        <a:latin typeface="Cambria Math" panose="02040503050406030204" pitchFamily="18" charset="0"/>
                      </a:rPr>
                      <m:t>,</m:t>
                    </m:r>
                    <m:r>
                      <a:rPr lang="en-US" sz="3200" i="1">
                        <a:latin typeface="Cambria Math" panose="02040503050406030204" pitchFamily="18" charset="0"/>
                      </a:rPr>
                      <m:t>𝑖𝑓</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i="1">
                            <a:latin typeface="Cambria Math" panose="02040503050406030204" pitchFamily="18" charset="0"/>
                          </a:rPr>
                          <m:t>𝑐</m:t>
                        </m:r>
                      </m:e>
                      <m:sub>
                        <m:r>
                          <a:rPr lang="en-US" sz="3200" b="0" i="1" smtClean="0">
                            <a:latin typeface="Cambria Math" panose="02040503050406030204" pitchFamily="18" charset="0"/>
                          </a:rPr>
                          <m:t>2</m:t>
                        </m:r>
                      </m:sub>
                    </m:sSub>
                    <m:r>
                      <a:rPr lang="en-US" sz="3200" i="1">
                        <a:latin typeface="Cambria Math" panose="02040503050406030204" pitchFamily="18" charset="0"/>
                      </a:rPr>
                      <m:t>.</m:t>
                    </m:r>
                    <m:r>
                      <a:rPr lang="en-US" sz="3200" i="1">
                        <a:latin typeface="Cambria Math" panose="02040503050406030204" pitchFamily="18" charset="0"/>
                      </a:rPr>
                      <m:t>𝑔</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 </m:t>
                    </m:r>
                    <m:r>
                      <a:rPr lang="en-US" sz="3200" i="1">
                        <a:latin typeface="Cambria Math" panose="02040503050406030204" pitchFamily="18" charset="0"/>
                      </a:rPr>
                      <m:t>𝑔𝑖𝑣𝑒𝑛</m:t>
                    </m:r>
                    <m:r>
                      <a:rPr lang="en-US" sz="3200" i="1">
                        <a:latin typeface="Cambria Math" panose="02040503050406030204" pitchFamily="18" charset="0"/>
                      </a:rPr>
                      <m:t> </m:t>
                    </m:r>
                    <m:sSub>
                      <m:sSubPr>
                        <m:ctrlPr>
                          <a:rPr lang="en-US" sz="3200" b="0" i="1" smtClean="0">
                            <a:latin typeface="Cambria Math" panose="02040503050406030204" pitchFamily="18" charset="0"/>
                          </a:rPr>
                        </m:ctrlPr>
                      </m:sSubPr>
                      <m:e>
                        <m:r>
                          <a:rPr lang="en-US" sz="3200" i="1">
                            <a:latin typeface="Cambria Math" panose="02040503050406030204" pitchFamily="18" charset="0"/>
                          </a:rPr>
                          <m:t>𝑐</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2</m:t>
                        </m:r>
                      </m:sub>
                    </m:sSub>
                    <m:r>
                      <a:rPr lang="en-US" sz="3200" i="1">
                        <a:latin typeface="Cambria Math" panose="02040503050406030204" pitchFamily="18" charset="0"/>
                      </a:rPr>
                      <m:t>≥</m:t>
                    </m:r>
                    <m:r>
                      <a:rPr lang="en-US" sz="3200" i="1">
                        <a:latin typeface="Cambria Math" panose="02040503050406030204" pitchFamily="18" charset="0"/>
                      </a:rPr>
                      <m:t>𝑘</m:t>
                    </m:r>
                    <m:r>
                      <a:rPr lang="en-US" sz="3200" i="1">
                        <a:latin typeface="Cambria Math" panose="02040503050406030204" pitchFamily="18" charset="0"/>
                      </a:rPr>
                      <m:t>&gt;0;</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&lt;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m:t>
                    </m:r>
                    <m:r>
                      <a:rPr lang="en-US" sz="3200" i="1">
                        <a:latin typeface="Cambria Math" panose="02040503050406030204" pitchFamily="18" charset="0"/>
                      </a:rPr>
                      <m:t>𝑛</m:t>
                    </m:r>
                    <m:r>
                      <a:rPr lang="en-US" sz="3200" i="1">
                        <a:latin typeface="Cambria Math" panose="02040503050406030204" pitchFamily="18" charset="0"/>
                      </a:rPr>
                      <m:t>≥0</m:t>
                    </m:r>
                  </m:oMath>
                </a14:m>
                <a:endParaRPr lang="en-US" sz="3200" dirty="0"/>
              </a:p>
              <a:p>
                <a:pPr>
                  <a:lnSpc>
                    <a:spcPct val="120000"/>
                  </a:lnSpc>
                  <a:buFont typeface="Wingdings" panose="05000000000000000000" pitchFamily="2" charset="2"/>
                  <a:buChar char="§"/>
                </a:pPr>
                <a:r>
                  <a:rPr lang="en-US" sz="3200" dirty="0"/>
                  <a:t>For example, if we have a function </a:t>
                </a:r>
                <a14:m>
                  <m:oMath xmlns:m="http://schemas.openxmlformats.org/officeDocument/2006/math">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=5</m:t>
                    </m:r>
                    <m:r>
                      <a:rPr lang="en-US" sz="3200" i="1">
                        <a:latin typeface="Cambria Math" panose="02040503050406030204" pitchFamily="18" charset="0"/>
                      </a:rPr>
                      <m:t>𝑛</m:t>
                    </m:r>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2</m:t>
                        </m:r>
                        <m:r>
                          <a:rPr lang="en-US" sz="3200" i="1">
                            <a:latin typeface="Cambria Math" panose="02040503050406030204" pitchFamily="18" charset="0"/>
                          </a:rPr>
                          <m:t>𝑛</m:t>
                        </m:r>
                      </m:e>
                      <m:sup>
                        <m:r>
                          <a:rPr lang="en-US" sz="3200" i="1">
                            <a:latin typeface="Cambria Math" panose="02040503050406030204" pitchFamily="18" charset="0"/>
                          </a:rPr>
                          <m:t>2</m:t>
                        </m:r>
                      </m:sup>
                    </m:sSup>
                    <m:r>
                      <a:rPr lang="en-US" sz="3200" i="1">
                        <a:latin typeface="Cambria Math" panose="02040503050406030204" pitchFamily="18" charset="0"/>
                      </a:rPr>
                      <m:t>+5</m:t>
                    </m:r>
                  </m:oMath>
                </a14:m>
                <a:r>
                  <a:rPr lang="en-US" sz="3200" dirty="0"/>
                  <a:t>, then the dominant term is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Now, if we put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=1</m:t>
                    </m:r>
                  </m:oMath>
                </a14:m>
                <a:r>
                  <a:rPr lang="en-US" sz="3200" dirty="0"/>
                  <a:t> and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=3</m:t>
                    </m:r>
                  </m:oMath>
                </a14:m>
                <a:r>
                  <a:rPr lang="en-US" sz="3200" dirty="0"/>
                  <a:t>, then we will have </a:t>
                </a:r>
                <a14:m>
                  <m:oMath xmlns:m="http://schemas.openxmlformats.org/officeDocument/2006/math">
                    <m:r>
                      <a:rPr lang="en-US" sz="3200" b="0" i="1" smtClean="0">
                        <a:latin typeface="Cambria Math" panose="02040503050406030204" pitchFamily="18" charset="0"/>
                      </a:rPr>
                      <m:t>1</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m:t>
                    </m:r>
                    <m:r>
                      <a:rPr lang="en-US" sz="3200" b="0" i="1" smtClean="0">
                        <a:latin typeface="Cambria Math" panose="02040503050406030204" pitchFamily="18" charset="0"/>
                      </a:rPr>
                      <m:t>𝑛</m:t>
                    </m:r>
                    <m:r>
                      <a:rPr lang="en-US" sz="3200" b="0" i="1" smtClean="0">
                        <a:latin typeface="Cambria Math" panose="02040503050406030204" pitchFamily="18" charset="0"/>
                      </a:rPr>
                      <m:t>+2</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+5≤3</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4"/>
                <a:stretch>
                  <a:fillRect l="-1038" t="-1122" b="-1995"/>
                </a:stretch>
              </a:blipFill>
            </p:spPr>
            <p:txBody>
              <a:bodyPr/>
              <a:lstStyle/>
              <a:p>
                <a:r>
                  <a:rPr lang="en-US">
                    <a:noFill/>
                  </a:rPr>
                  <a:t> </a:t>
                </a:r>
              </a:p>
            </p:txBody>
          </p:sp>
        </mc:Fallback>
      </mc:AlternateContent>
    </p:spTree>
    <p:extLst>
      <p:ext uri="{BB962C8B-B14F-4D97-AF65-F5344CB8AC3E}">
        <p14:creationId xmlns:p14="http://schemas.microsoft.com/office/powerpoint/2010/main" val="147697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Asymptotic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important point to note here is the value of </a:t>
                </a:r>
                <a14:m>
                  <m:oMath xmlns:m="http://schemas.openxmlformats.org/officeDocument/2006/math">
                    <m:r>
                      <a:rPr lang="en-US" sz="3200" b="0" i="1" smtClean="0">
                        <a:latin typeface="Cambria Math" panose="02040503050406030204" pitchFamily="18" charset="0"/>
                      </a:rPr>
                      <m:t>𝑘</m:t>
                    </m:r>
                  </m:oMath>
                </a14:m>
                <a:r>
                  <a:rPr lang="en-US" sz="3200" dirty="0"/>
                  <a:t>. This should be carefully chosen because till a certain value of </a:t>
                </a:r>
                <a14:m>
                  <m:oMath xmlns:m="http://schemas.openxmlformats.org/officeDocument/2006/math">
                    <m:r>
                      <a:rPr lang="en-US" sz="3200" b="0" i="1" smtClean="0">
                        <a:latin typeface="Cambria Math" panose="02040503050406030204" pitchFamily="18" charset="0"/>
                      </a:rPr>
                      <m:t>𝑛</m:t>
                    </m:r>
                  </m:oMath>
                </a14:m>
                <a:r>
                  <a:rPr lang="en-US" sz="3200" dirty="0"/>
                  <a:t>, the statement may not hold true.</a:t>
                </a:r>
              </a:p>
              <a:p>
                <a:pPr>
                  <a:lnSpc>
                    <a:spcPct val="120000"/>
                  </a:lnSpc>
                  <a:buFont typeface="Wingdings" panose="05000000000000000000" pitchFamily="2" charset="2"/>
                  <a:buChar char="§"/>
                </a:pPr>
                <a:r>
                  <a:rPr lang="en-US" sz="3200" dirty="0"/>
                  <a:t>For example, if a function is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=5</m:t>
                    </m:r>
                    <m:r>
                      <a:rPr lang="en-US" sz="3200" b="0" i="1" smtClean="0">
                        <a:latin typeface="Cambria Math" panose="02040503050406030204" pitchFamily="18" charset="0"/>
                      </a:rPr>
                      <m:t>𝑛</m:t>
                    </m:r>
                    <m:r>
                      <a:rPr lang="en-US" sz="3200" b="0" i="1" smtClean="0">
                        <a:latin typeface="Cambria Math" panose="02040503050406030204" pitchFamily="18" charset="0"/>
                      </a:rPr>
                      <m:t>+2</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m:t>
                    </m:r>
                  </m:oMath>
                </a14:m>
                <a:r>
                  <a:rPr lang="en-US" sz="3200" dirty="0"/>
                  <a:t>, then:</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𝑓</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0</m:t>
                        </m:r>
                      </m:e>
                    </m:d>
                    <m:r>
                      <a:rPr lang="en-US" sz="3000" b="0" i="1" smtClean="0">
                        <a:latin typeface="Cambria Math" panose="02040503050406030204" pitchFamily="18" charset="0"/>
                      </a:rPr>
                      <m:t>=0+0+5=</m:t>
                    </m:r>
                    <m:r>
                      <a:rPr lang="en-US" sz="3000" b="0" i="1" smtClean="0">
                        <a:latin typeface="Cambria Math" panose="02040503050406030204" pitchFamily="18" charset="0"/>
                      </a:rPr>
                      <m:t>𝑂</m:t>
                    </m:r>
                    <m:r>
                      <a:rPr lang="en-US" sz="3000" b="0" i="1" smtClean="0">
                        <a:latin typeface="Cambria Math" panose="02040503050406030204" pitchFamily="18" charset="0"/>
                      </a:rPr>
                      <m:t>(</m:t>
                    </m:r>
                    <m:r>
                      <a:rPr lang="en-US" sz="3000" b="0" i="1" smtClean="0">
                        <a:latin typeface="Cambria Math" panose="02040503050406030204" pitchFamily="18" charset="0"/>
                      </a:rPr>
                      <m:t>𝑐</m:t>
                    </m:r>
                    <m:r>
                      <a:rPr lang="en-US" sz="3000" b="0" i="1" smtClean="0">
                        <a:latin typeface="Cambria Math" panose="02040503050406030204" pitchFamily="18" charset="0"/>
                      </a:rPr>
                      <m:t>)</m:t>
                    </m:r>
                  </m:oMath>
                </a14:m>
                <a:endParaRPr lang="en-US" sz="3000" b="0" dirty="0"/>
              </a:p>
              <a:p>
                <a:pPr lvl="1">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𝑓</m:t>
                    </m:r>
                    <m:d>
                      <m:dPr>
                        <m:ctrlPr>
                          <a:rPr lang="en-US" sz="3000" i="1">
                            <a:latin typeface="Cambria Math" panose="02040503050406030204" pitchFamily="18" charset="0"/>
                          </a:rPr>
                        </m:ctrlPr>
                      </m:dPr>
                      <m:e>
                        <m:r>
                          <a:rPr lang="en-US" sz="3000" b="0" i="1" smtClean="0">
                            <a:latin typeface="Cambria Math" panose="02040503050406030204" pitchFamily="18" charset="0"/>
                          </a:rPr>
                          <m:t>1</m:t>
                        </m:r>
                      </m:e>
                    </m:d>
                    <m:r>
                      <a:rPr lang="en-US" sz="3000" i="1">
                        <a:latin typeface="Cambria Math" panose="02040503050406030204" pitchFamily="18" charset="0"/>
                      </a:rPr>
                      <m:t>=5+2+5=</m:t>
                    </m:r>
                    <m:r>
                      <a:rPr lang="en-US" sz="3000" b="0" i="1" smtClean="0">
                        <a:latin typeface="Cambria Math" panose="02040503050406030204" pitchFamily="18" charset="0"/>
                      </a:rPr>
                      <m:t>𝑂</m:t>
                    </m:r>
                    <m:r>
                      <a:rPr lang="en-US" sz="3000" i="1">
                        <a:latin typeface="Cambria Math" panose="02040503050406030204" pitchFamily="18" charset="0"/>
                      </a:rPr>
                      <m:t>(</m:t>
                    </m:r>
                    <m:r>
                      <a:rPr lang="en-US" sz="3000" b="0" i="1" smtClean="0">
                        <a:latin typeface="Cambria Math" panose="02040503050406030204" pitchFamily="18" charset="0"/>
                      </a:rPr>
                      <m:t>𝑛</m:t>
                    </m:r>
                    <m:r>
                      <a:rPr lang="en-US" sz="3000" i="1">
                        <a:latin typeface="Cambria Math" panose="02040503050406030204" pitchFamily="18" charset="0"/>
                      </a:rPr>
                      <m:t>)</m:t>
                    </m:r>
                  </m:oMath>
                </a14:m>
                <a:endParaRPr lang="en-US" sz="3000" dirty="0"/>
              </a:p>
              <a:p>
                <a:pPr lvl="1">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𝑓</m:t>
                    </m:r>
                    <m:d>
                      <m:dPr>
                        <m:ctrlPr>
                          <a:rPr lang="en-US" sz="3000" i="1">
                            <a:latin typeface="Cambria Math" panose="02040503050406030204" pitchFamily="18" charset="0"/>
                          </a:rPr>
                        </m:ctrlPr>
                      </m:dPr>
                      <m:e>
                        <m:r>
                          <a:rPr lang="en-US" sz="3000" b="0" i="1" smtClean="0">
                            <a:latin typeface="Cambria Math" panose="02040503050406030204" pitchFamily="18" charset="0"/>
                          </a:rPr>
                          <m:t>2</m:t>
                        </m:r>
                      </m:e>
                    </m:d>
                    <m:r>
                      <a:rPr lang="en-US" sz="3000" i="1">
                        <a:latin typeface="Cambria Math" panose="02040503050406030204" pitchFamily="18" charset="0"/>
                      </a:rPr>
                      <m:t>=</m:t>
                    </m:r>
                    <m:r>
                      <a:rPr lang="en-US" sz="3000" b="0" i="1" smtClean="0">
                        <a:latin typeface="Cambria Math" panose="02040503050406030204" pitchFamily="18" charset="0"/>
                      </a:rPr>
                      <m:t>10</m:t>
                    </m:r>
                    <m:r>
                      <a:rPr lang="en-US" sz="3000" i="1">
                        <a:latin typeface="Cambria Math" panose="02040503050406030204" pitchFamily="18" charset="0"/>
                      </a:rPr>
                      <m:t>+</m:t>
                    </m:r>
                    <m:r>
                      <a:rPr lang="en-US" sz="3000" b="0" i="1" smtClean="0">
                        <a:latin typeface="Cambria Math" panose="02040503050406030204" pitchFamily="18" charset="0"/>
                      </a:rPr>
                      <m:t>8</m:t>
                    </m:r>
                    <m:r>
                      <a:rPr lang="en-US" sz="3000" i="1">
                        <a:latin typeface="Cambria Math" panose="02040503050406030204" pitchFamily="18" charset="0"/>
                      </a:rPr>
                      <m:t>+5=</m:t>
                    </m:r>
                    <m:r>
                      <a:rPr lang="en-US" sz="3000" b="0" i="1" smtClean="0">
                        <a:latin typeface="Cambria Math" panose="02040503050406030204" pitchFamily="18" charset="0"/>
                      </a:rPr>
                      <m:t>𝑂</m:t>
                    </m:r>
                    <m:r>
                      <a:rPr lang="en-US" sz="3000" i="1">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m:t>
                    </m:r>
                  </m:oMath>
                </a14:m>
                <a:endParaRPr lang="en-US" sz="3000" dirty="0"/>
              </a:p>
              <a:p>
                <a:pPr>
                  <a:lnSpc>
                    <a:spcPct val="120000"/>
                  </a:lnSpc>
                  <a:buFont typeface="Wingdings" panose="05000000000000000000" pitchFamily="2" charset="2"/>
                  <a:buChar char="§"/>
                </a:pPr>
                <a:r>
                  <a:rPr lang="en-US" sz="3200" dirty="0"/>
                  <a:t>In these cases, we see that the statement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 is false. However, for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=3</m:t>
                    </m:r>
                    <m:r>
                      <a:rPr lang="en-US" sz="3200" b="0" i="0" smtClean="0">
                        <a:latin typeface="Cambria Math" panose="02040503050406030204" pitchFamily="18" charset="0"/>
                      </a:rPr>
                      <m:t>, </m:t>
                    </m:r>
                    <m:r>
                      <a:rPr lang="en-US" sz="3000" i="1">
                        <a:latin typeface="Cambria Math" panose="02040503050406030204" pitchFamily="18" charset="0"/>
                      </a:rPr>
                      <m:t>𝑓</m:t>
                    </m:r>
                    <m:d>
                      <m:dPr>
                        <m:ctrlPr>
                          <a:rPr lang="en-US" sz="3000" i="1">
                            <a:latin typeface="Cambria Math" panose="02040503050406030204" pitchFamily="18" charset="0"/>
                          </a:rPr>
                        </m:ctrlPr>
                      </m:dPr>
                      <m:e>
                        <m:r>
                          <a:rPr lang="en-US" sz="3000" b="0" i="1" smtClean="0">
                            <a:latin typeface="Cambria Math" panose="02040503050406030204" pitchFamily="18" charset="0"/>
                          </a:rPr>
                          <m:t>3</m:t>
                        </m:r>
                      </m:e>
                    </m:d>
                    <m:r>
                      <a:rPr lang="en-US" sz="3000" i="1">
                        <a:latin typeface="Cambria Math" panose="02040503050406030204" pitchFamily="18" charset="0"/>
                      </a:rPr>
                      <m:t>=</m:t>
                    </m:r>
                    <m:r>
                      <a:rPr lang="en-US" sz="3000" b="0" i="1" smtClean="0">
                        <a:latin typeface="Cambria Math" panose="02040503050406030204" pitchFamily="18" charset="0"/>
                      </a:rPr>
                      <m:t>15</m:t>
                    </m:r>
                    <m:r>
                      <a:rPr lang="en-US" sz="3000" i="1">
                        <a:latin typeface="Cambria Math" panose="02040503050406030204" pitchFamily="18" charset="0"/>
                      </a:rPr>
                      <m:t>+</m:t>
                    </m:r>
                    <m:r>
                      <a:rPr lang="en-US" sz="3000" b="0" i="1" smtClean="0">
                        <a:latin typeface="Cambria Math" panose="02040503050406030204" pitchFamily="18" charset="0"/>
                      </a:rPr>
                      <m:t>18</m:t>
                    </m:r>
                    <m:r>
                      <a:rPr lang="en-US" sz="3000" i="1">
                        <a:latin typeface="Cambria Math" panose="02040503050406030204" pitchFamily="18" charset="0"/>
                      </a:rPr>
                      <m:t>+5=</m:t>
                    </m:r>
                    <m:r>
                      <a:rPr lang="en-US" sz="3000" i="1" smtClean="0">
                        <a:latin typeface="Cambria Math" panose="02040503050406030204" pitchFamily="18" charset="0"/>
                      </a:rPr>
                      <m:t>𝑂</m:t>
                    </m:r>
                    <m:d>
                      <m:dPr>
                        <m:ctrlPr>
                          <a:rPr lang="en-US" sz="3000" b="0" i="1" smtClean="0">
                            <a:latin typeface="Cambria Math" panose="02040503050406030204" pitchFamily="18" charset="0"/>
                          </a:rPr>
                        </m:ctrlPr>
                      </m:dPr>
                      <m:e>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𝑛</m:t>
                            </m:r>
                          </m:e>
                          <m:sup>
                            <m:r>
                              <a:rPr lang="en-US" sz="3000" b="0" i="1" smtClean="0">
                                <a:latin typeface="Cambria Math" panose="02040503050406030204" pitchFamily="18" charset="0"/>
                              </a:rPr>
                              <m:t>2</m:t>
                            </m:r>
                          </m:sup>
                        </m:sSup>
                      </m:e>
                    </m:d>
                  </m:oMath>
                </a14:m>
                <a:r>
                  <a:rPr lang="en-US" sz="3200" dirty="0"/>
                  <a:t>. Hence </a:t>
                </a:r>
                <a14:m>
                  <m:oMath xmlns:m="http://schemas.openxmlformats.org/officeDocument/2006/math">
                    <m:r>
                      <a:rPr lang="en-US" sz="3200" b="0" i="1" smtClean="0">
                        <a:latin typeface="Cambria Math" panose="02040503050406030204" pitchFamily="18" charset="0"/>
                      </a:rPr>
                      <m:t>𝑘</m:t>
                    </m:r>
                    <m:r>
                      <a:rPr lang="en-US" sz="3200" b="0" i="1" smtClean="0">
                        <a:latin typeface="Cambria Math" panose="02040503050406030204" pitchFamily="18" charset="0"/>
                      </a:rPr>
                      <m:t>=3</m:t>
                    </m:r>
                  </m:oMath>
                </a14:m>
                <a:r>
                  <a:rPr lang="en-US" sz="3200" dirty="0"/>
                  <a:t> for this function.</a:t>
                </a:r>
              </a:p>
              <a:p>
                <a:pPr lvl="1">
                  <a:lnSpc>
                    <a:spcPct val="120000"/>
                  </a:lnSpc>
                  <a:buFont typeface="Wingdings" panose="05000000000000000000" pitchFamily="2" charset="2"/>
                  <a:buChar char="§"/>
                </a:pPr>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30" t="-623"/>
                </a:stretch>
              </a:blipFill>
            </p:spPr>
            <p:txBody>
              <a:bodyPr/>
              <a:lstStyle/>
              <a:p>
                <a:r>
                  <a:rPr lang="en-US">
                    <a:noFill/>
                  </a:rPr>
                  <a:t> </a:t>
                </a:r>
              </a:p>
            </p:txBody>
          </p:sp>
        </mc:Fallback>
      </mc:AlternateContent>
    </p:spTree>
    <p:extLst>
      <p:ext uri="{BB962C8B-B14F-4D97-AF65-F5344CB8AC3E}">
        <p14:creationId xmlns:p14="http://schemas.microsoft.com/office/powerpoint/2010/main" val="130542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Asymptotic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cs typeface="Cascadia Code" panose="020B0609020000020004" pitchFamily="49" charset="0"/>
                  </a:rPr>
                  <a:t>For a function, e.g.,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𝑓</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r>
                      <a:rPr lang="en-US" sz="3200" b="0" i="1" smtClean="0">
                        <a:latin typeface="Cambria Math" panose="02040503050406030204" pitchFamily="18" charset="0"/>
                        <a:cs typeface="Cascadia Code" panose="020B0609020000020004" pitchFamily="49" charset="0"/>
                      </a:rPr>
                      <m:t>=2</m:t>
                    </m:r>
                    <m:sSup>
                      <m:sSupPr>
                        <m:ctrlPr>
                          <a:rPr lang="en-US" sz="3200" b="0" i="1" smtClean="0">
                            <a:latin typeface="Cambria Math" panose="02040503050406030204" pitchFamily="18" charset="0"/>
                            <a:cs typeface="Cascadia Code" panose="020B0609020000020004" pitchFamily="49" charset="0"/>
                          </a:rPr>
                        </m:ctrlPr>
                      </m:sSupPr>
                      <m:e>
                        <m:r>
                          <a:rPr lang="en-US" sz="3200" b="0" i="1" smtClean="0">
                            <a:latin typeface="Cambria Math" panose="02040503050406030204" pitchFamily="18" charset="0"/>
                            <a:cs typeface="Cascadia Code" panose="020B0609020000020004" pitchFamily="49" charset="0"/>
                          </a:rPr>
                          <m:t>𝑛</m:t>
                        </m:r>
                      </m:e>
                      <m:sup>
                        <m:r>
                          <a:rPr lang="en-US" sz="3200" b="0" i="1" smtClean="0">
                            <a:latin typeface="Cambria Math" panose="02040503050406030204" pitchFamily="18" charset="0"/>
                            <a:cs typeface="Cascadia Code" panose="020B0609020000020004" pitchFamily="49" charset="0"/>
                          </a:rPr>
                          <m:t>2</m:t>
                        </m:r>
                      </m:sup>
                    </m:sSup>
                    <m:r>
                      <a:rPr lang="en-US" sz="3200" b="0" i="1" smtClean="0">
                        <a:latin typeface="Cambria Math" panose="02040503050406030204" pitchFamily="18" charset="0"/>
                        <a:cs typeface="Cascadia Code" panose="020B0609020000020004" pitchFamily="49" charset="0"/>
                      </a:rPr>
                      <m:t>+1</m:t>
                    </m:r>
                  </m:oMath>
                </a14:m>
                <a:r>
                  <a:rPr lang="en-US" sz="3200" dirty="0">
                    <a:cs typeface="Cascadia Code" panose="020B0609020000020004" pitchFamily="49" charset="0"/>
                  </a:rPr>
                  <a:t> we can write in worst case scenario </a:t>
                </a:r>
                <a14:m>
                  <m:oMath xmlns:m="http://schemas.openxmlformats.org/officeDocument/2006/math">
                    <m:r>
                      <a:rPr lang="en-US" sz="3200" i="1">
                        <a:latin typeface="Cambria Math" panose="02040503050406030204" pitchFamily="18" charset="0"/>
                        <a:cs typeface="Cascadia Code" panose="020B0609020000020004" pitchFamily="49" charset="0"/>
                      </a:rPr>
                      <m:t>𝑂</m:t>
                    </m:r>
                    <m:d>
                      <m:dPr>
                        <m:ctrlPr>
                          <a:rPr lang="en-US" sz="3200" i="1">
                            <a:latin typeface="Cambria Math" panose="02040503050406030204" pitchFamily="18" charset="0"/>
                            <a:cs typeface="Cascadia Code" panose="020B0609020000020004" pitchFamily="49" charset="0"/>
                          </a:rPr>
                        </m:ctrlPr>
                      </m:dPr>
                      <m:e>
                        <m:sSup>
                          <m:sSupPr>
                            <m:ctrlPr>
                              <a:rPr lang="en-US" sz="3200" i="1">
                                <a:latin typeface="Cambria Math" panose="02040503050406030204" pitchFamily="18" charset="0"/>
                                <a:cs typeface="Cascadia Code" panose="020B0609020000020004" pitchFamily="49" charset="0"/>
                              </a:rPr>
                            </m:ctrlPr>
                          </m:sSupPr>
                          <m:e>
                            <m:r>
                              <a:rPr lang="en-US" sz="3200" i="1">
                                <a:latin typeface="Cambria Math" panose="02040503050406030204" pitchFamily="18" charset="0"/>
                                <a:cs typeface="Cascadia Code" panose="020B0609020000020004" pitchFamily="49" charset="0"/>
                              </a:rPr>
                              <m:t>𝑛</m:t>
                            </m:r>
                          </m:e>
                          <m:sup>
                            <m:r>
                              <a:rPr lang="en-US" sz="3200" i="1">
                                <a:latin typeface="Cambria Math" panose="02040503050406030204" pitchFamily="18" charset="0"/>
                                <a:cs typeface="Cascadia Code" panose="020B0609020000020004" pitchFamily="49" charset="0"/>
                              </a:rPr>
                              <m:t>2</m:t>
                            </m:r>
                          </m:sup>
                        </m:sSup>
                      </m:e>
                    </m:d>
                    <m:r>
                      <a:rPr lang="en-US" sz="3200" b="0" i="0" smtClean="0">
                        <a:latin typeface="Cambria Math" panose="02040503050406030204" pitchFamily="18" charset="0"/>
                        <a:cs typeface="Cascadia Code" panose="020B0609020000020004" pitchFamily="49" charset="0"/>
                      </a:rPr>
                      <m:t>;</m:t>
                    </m:r>
                  </m:oMath>
                </a14:m>
                <a:r>
                  <a:rPr lang="en-US" sz="3200" dirty="0">
                    <a:cs typeface="Cascadia Code" panose="020B0609020000020004" pitchFamily="49" charset="0"/>
                  </a:rPr>
                  <a:t> it’s also ok to write </a:t>
                </a:r>
                <a14:m>
                  <m:oMath xmlns:m="http://schemas.openxmlformats.org/officeDocument/2006/math">
                    <m:r>
                      <m:rPr>
                        <m:sty m:val="p"/>
                      </m:rPr>
                      <a:rPr lang="en-US" sz="3200">
                        <a:latin typeface="Cambria Math" panose="02040503050406030204" pitchFamily="18" charset="0"/>
                        <a:cs typeface="Cascadia Code" panose="020B0609020000020004" pitchFamily="49" charset="0"/>
                      </a:rPr>
                      <m:t>Ω</m:t>
                    </m:r>
                    <m:d>
                      <m:dPr>
                        <m:ctrlPr>
                          <a:rPr lang="en-US" sz="3200" i="1">
                            <a:latin typeface="Cambria Math" panose="02040503050406030204" pitchFamily="18" charset="0"/>
                            <a:cs typeface="Cascadia Code" panose="020B0609020000020004" pitchFamily="49" charset="0"/>
                          </a:rPr>
                        </m:ctrlPr>
                      </m:dPr>
                      <m:e>
                        <m:sSup>
                          <m:sSupPr>
                            <m:ctrlPr>
                              <a:rPr lang="en-US" sz="3200" i="1">
                                <a:latin typeface="Cambria Math" panose="02040503050406030204" pitchFamily="18" charset="0"/>
                                <a:cs typeface="Cascadia Code" panose="020B0609020000020004" pitchFamily="49" charset="0"/>
                              </a:rPr>
                            </m:ctrlPr>
                          </m:sSupPr>
                          <m:e>
                            <m:r>
                              <a:rPr lang="en-US" sz="3200" i="1">
                                <a:latin typeface="Cambria Math" panose="02040503050406030204" pitchFamily="18" charset="0"/>
                                <a:cs typeface="Cascadia Code" panose="020B0609020000020004" pitchFamily="49" charset="0"/>
                              </a:rPr>
                              <m:t>𝑛</m:t>
                            </m:r>
                          </m:e>
                          <m:sup>
                            <m:r>
                              <a:rPr lang="en-US" sz="3200" i="1">
                                <a:latin typeface="Cambria Math" panose="02040503050406030204" pitchFamily="18" charset="0"/>
                                <a:cs typeface="Cascadia Code" panose="020B0609020000020004" pitchFamily="49" charset="0"/>
                              </a:rPr>
                              <m:t>2</m:t>
                            </m:r>
                          </m:sup>
                        </m:sSup>
                      </m:e>
                    </m:d>
                  </m:oMath>
                </a14:m>
                <a:r>
                  <a:rPr lang="en-US" sz="3200" dirty="0">
                    <a:cs typeface="Cascadia Code" panose="020B0609020000020004" pitchFamily="49" charset="0"/>
                  </a:rPr>
                  <a:t> since there exists a single input for which </a:t>
                </a:r>
                <a14:m>
                  <m:oMath xmlns:m="http://schemas.openxmlformats.org/officeDocument/2006/math">
                    <m:r>
                      <a:rPr lang="en-US" sz="3200" i="1" dirty="0">
                        <a:latin typeface="Cambria Math" panose="02040503050406030204" pitchFamily="18" charset="0"/>
                        <a:cs typeface="Cascadia Code" panose="020B0609020000020004" pitchFamily="49" charset="0"/>
                      </a:rPr>
                      <m:t>𝑔</m:t>
                    </m:r>
                    <m:d>
                      <m:dPr>
                        <m:ctrlPr>
                          <a:rPr lang="en-US" sz="3200" i="1" dirty="0">
                            <a:latin typeface="Cambria Math" panose="02040503050406030204" pitchFamily="18" charset="0"/>
                            <a:cs typeface="Cascadia Code" panose="020B0609020000020004" pitchFamily="49" charset="0"/>
                          </a:rPr>
                        </m:ctrlPr>
                      </m:dPr>
                      <m:e>
                        <m:r>
                          <a:rPr lang="en-US" sz="3200" i="1" dirty="0">
                            <a:latin typeface="Cambria Math" panose="02040503050406030204" pitchFamily="18" charset="0"/>
                            <a:cs typeface="Cascadia Code" panose="020B0609020000020004" pitchFamily="49" charset="0"/>
                          </a:rPr>
                          <m:t>𝑛</m:t>
                        </m:r>
                      </m:e>
                    </m:d>
                    <m:r>
                      <a:rPr lang="en-US" sz="3200" i="1" dirty="0">
                        <a:latin typeface="Cambria Math" panose="02040503050406030204" pitchFamily="18" charset="0"/>
                        <a:cs typeface="Cascadia Code" panose="020B0609020000020004" pitchFamily="49" charset="0"/>
                      </a:rPr>
                      <m:t>=</m:t>
                    </m:r>
                    <m:sSup>
                      <m:sSupPr>
                        <m:ctrlPr>
                          <a:rPr lang="en-US" sz="3200" i="1" dirty="0">
                            <a:latin typeface="Cambria Math" panose="02040503050406030204" pitchFamily="18" charset="0"/>
                            <a:cs typeface="Cascadia Code" panose="020B0609020000020004" pitchFamily="49" charset="0"/>
                          </a:rPr>
                        </m:ctrlPr>
                      </m:sSupPr>
                      <m:e>
                        <m:r>
                          <a:rPr lang="en-US" sz="3200" i="1" dirty="0">
                            <a:latin typeface="Cambria Math" panose="02040503050406030204" pitchFamily="18" charset="0"/>
                            <a:cs typeface="Cascadia Code" panose="020B0609020000020004" pitchFamily="49" charset="0"/>
                          </a:rPr>
                          <m:t>𝑛</m:t>
                        </m:r>
                      </m:e>
                      <m:sup>
                        <m:r>
                          <a:rPr lang="en-US" sz="3200" i="1" dirty="0">
                            <a:latin typeface="Cambria Math" panose="02040503050406030204" pitchFamily="18" charset="0"/>
                            <a:cs typeface="Cascadia Code" panose="020B0609020000020004" pitchFamily="49" charset="0"/>
                          </a:rPr>
                          <m:t>2</m:t>
                        </m:r>
                      </m:sup>
                    </m:sSup>
                  </m:oMath>
                </a14:m>
                <a:endParaRPr lang="en-US" sz="3200" dirty="0">
                  <a:cs typeface="Cascadia Code" panose="020B0609020000020004" pitchFamily="49" charset="0"/>
                </a:endParaRPr>
              </a:p>
              <a:p>
                <a:pPr>
                  <a:lnSpc>
                    <a:spcPct val="120000"/>
                  </a:lnSpc>
                  <a:buFont typeface="Wingdings" panose="05000000000000000000" pitchFamily="2" charset="2"/>
                  <a:buChar char="§"/>
                </a:pPr>
                <a:r>
                  <a:rPr lang="en-US" sz="3200" dirty="0">
                    <a:cs typeface="Cascadia Code" panose="020B0609020000020004" pitchFamily="49" charset="0"/>
                  </a:rPr>
                  <a:t>However, we cannot say </a:t>
                </a:r>
                <a14:m>
                  <m:oMath xmlns:m="http://schemas.openxmlformats.org/officeDocument/2006/math">
                    <m:r>
                      <a:rPr lang="en-US" sz="3200" i="1">
                        <a:latin typeface="Cambria Math" panose="02040503050406030204" pitchFamily="18" charset="0"/>
                        <a:cs typeface="Cascadia Code" panose="020B0609020000020004" pitchFamily="49" charset="0"/>
                      </a:rPr>
                      <m:t>𝑂</m:t>
                    </m:r>
                    <m:d>
                      <m:dPr>
                        <m:ctrlPr>
                          <a:rPr lang="en-US" sz="3200" i="1">
                            <a:latin typeface="Cambria Math" panose="02040503050406030204" pitchFamily="18" charset="0"/>
                            <a:cs typeface="Cascadia Code" panose="020B0609020000020004" pitchFamily="49" charset="0"/>
                          </a:rPr>
                        </m:ctrlPr>
                      </m:dPr>
                      <m:e>
                        <m:r>
                          <a:rPr lang="en-US" sz="3200" i="1">
                            <a:latin typeface="Cambria Math" panose="02040503050406030204" pitchFamily="18" charset="0"/>
                            <a:cs typeface="Cascadia Code" panose="020B0609020000020004" pitchFamily="49" charset="0"/>
                          </a:rPr>
                          <m:t>𝑛</m:t>
                        </m:r>
                      </m:e>
                    </m:d>
                  </m:oMath>
                </a14:m>
                <a:r>
                  <a:rPr lang="en-US" sz="3200" dirty="0">
                    <a:cs typeface="Cascadia Code" panose="020B0609020000020004" pitchFamily="49" charset="0"/>
                  </a:rPr>
                  <a:t> because Big-</a:t>
                </a:r>
                <a14:m>
                  <m:oMath xmlns:m="http://schemas.openxmlformats.org/officeDocument/2006/math">
                    <m:r>
                      <a:rPr lang="en-US" sz="3200" i="1" dirty="0" smtClean="0">
                        <a:latin typeface="Cambria Math" panose="02040503050406030204" pitchFamily="18" charset="0"/>
                        <a:cs typeface="Cascadia Code" panose="020B0609020000020004" pitchFamily="49" charset="0"/>
                      </a:rPr>
                      <m:t>𝑂</m:t>
                    </m:r>
                  </m:oMath>
                </a14:m>
                <a:r>
                  <a:rPr lang="en-US" sz="3200" dirty="0">
                    <a:cs typeface="Cascadia Code" panose="020B0609020000020004" pitchFamily="49" charset="0"/>
                  </a:rPr>
                  <a:t> represents upper bound. So, all best, worst and average cases, if there’s a value of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𝑛</m:t>
                    </m:r>
                  </m:oMath>
                </a14:m>
                <a:r>
                  <a:rPr lang="en-US" sz="3200" dirty="0">
                    <a:cs typeface="Cascadia Code" panose="020B0609020000020004" pitchFamily="49" charset="0"/>
                  </a:rPr>
                  <a:t> for which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𝑔</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r>
                      <a:rPr lang="en-US" sz="3200" b="0" i="1" smtClean="0">
                        <a:latin typeface="Cambria Math" panose="02040503050406030204" pitchFamily="18" charset="0"/>
                        <a:cs typeface="Cascadia Code" panose="020B0609020000020004" pitchFamily="49" charset="0"/>
                      </a:rPr>
                      <m:t>=</m:t>
                    </m:r>
                    <m:sSup>
                      <m:sSupPr>
                        <m:ctrlPr>
                          <a:rPr lang="en-US" sz="3200" b="0" i="1" smtClean="0">
                            <a:latin typeface="Cambria Math" panose="02040503050406030204" pitchFamily="18" charset="0"/>
                            <a:cs typeface="Cascadia Code" panose="020B0609020000020004" pitchFamily="49" charset="0"/>
                          </a:rPr>
                        </m:ctrlPr>
                      </m:sSupPr>
                      <m:e>
                        <m:r>
                          <a:rPr lang="en-US" sz="3200" b="0" i="1" smtClean="0">
                            <a:latin typeface="Cambria Math" panose="02040503050406030204" pitchFamily="18" charset="0"/>
                            <a:cs typeface="Cascadia Code" panose="020B0609020000020004" pitchFamily="49" charset="0"/>
                          </a:rPr>
                          <m:t>𝑛</m:t>
                        </m:r>
                      </m:e>
                      <m:sup>
                        <m:r>
                          <a:rPr lang="en-US" sz="3200" b="0" i="1" smtClean="0">
                            <a:latin typeface="Cambria Math" panose="02040503050406030204" pitchFamily="18" charset="0"/>
                            <a:cs typeface="Cascadia Code" panose="020B0609020000020004" pitchFamily="49" charset="0"/>
                          </a:rPr>
                          <m:t>2</m:t>
                        </m:r>
                      </m:sup>
                    </m:sSup>
                  </m:oMath>
                </a14:m>
                <a:r>
                  <a:rPr lang="en-US" sz="3200" dirty="0">
                    <a:cs typeface="Cascadia Code" panose="020B0609020000020004" pitchFamily="49" charset="0"/>
                  </a:rPr>
                  <a:t>, saying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𝑂</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oMath>
                </a14:m>
                <a:r>
                  <a:rPr lang="en-US" sz="3200" dirty="0">
                    <a:cs typeface="Cascadia Code" panose="020B0609020000020004" pitchFamily="49" charset="0"/>
                  </a:rPr>
                  <a:t> is false.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42" t="-374" r="-1297"/>
                </a:stretch>
              </a:blipFill>
            </p:spPr>
            <p:txBody>
              <a:bodyPr/>
              <a:lstStyle/>
              <a:p>
                <a:r>
                  <a:rPr lang="en-US">
                    <a:noFill/>
                  </a:rPr>
                  <a:t> </a:t>
                </a:r>
              </a:p>
            </p:txBody>
          </p:sp>
        </mc:Fallback>
      </mc:AlternateContent>
    </p:spTree>
    <p:extLst>
      <p:ext uri="{BB962C8B-B14F-4D97-AF65-F5344CB8AC3E}">
        <p14:creationId xmlns:p14="http://schemas.microsoft.com/office/powerpoint/2010/main" val="356230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200" dirty="0"/>
                  <a:t>What will be the </a:t>
                </a:r>
                <a14:m>
                  <m:oMath xmlns:m="http://schemas.openxmlformats.org/officeDocument/2006/math">
                    <m:r>
                      <a:rPr lang="en-US" sz="3200" i="1" dirty="0" smtClean="0">
                        <a:latin typeface="Cambria Math" panose="02040503050406030204" pitchFamily="18" charset="0"/>
                      </a:rPr>
                      <m:t>𝑂</m:t>
                    </m:r>
                    <m:r>
                      <a:rPr lang="en-US" sz="3200" i="1" dirty="0" smtClean="0">
                        <a:latin typeface="Cambria Math" panose="02040503050406030204" pitchFamily="18" charset="0"/>
                      </a:rPr>
                      <m:t>(</m:t>
                    </m:r>
                    <m:r>
                      <a:rPr lang="en-US" sz="3200" i="1" dirty="0" smtClean="0">
                        <a:latin typeface="Cambria Math" panose="02040503050406030204" pitchFamily="18" charset="0"/>
                      </a:rPr>
                      <m:t>𝑔</m:t>
                    </m:r>
                    <m:r>
                      <a:rPr lang="en-US" sz="3200" i="1" dirty="0" smtClean="0">
                        <a:latin typeface="Cambria Math" panose="02040503050406030204" pitchFamily="18" charset="0"/>
                      </a:rPr>
                      <m:t>(</m:t>
                    </m:r>
                    <m:r>
                      <a:rPr lang="en-US" sz="3200" i="1" dirty="0" smtClean="0">
                        <a:latin typeface="Cambria Math" panose="02040503050406030204" pitchFamily="18" charset="0"/>
                      </a:rPr>
                      <m:t>𝑛</m:t>
                    </m:r>
                    <m:r>
                      <a:rPr lang="en-US" sz="3200" i="1" dirty="0" smtClean="0">
                        <a:latin typeface="Cambria Math" panose="02040503050406030204" pitchFamily="18" charset="0"/>
                      </a:rPr>
                      <m:t>))</m:t>
                    </m:r>
                  </m:oMath>
                </a14:m>
                <a:r>
                  <a:rPr lang="en-US" sz="3200" dirty="0"/>
                  <a:t> and </a:t>
                </a:r>
                <a14:m>
                  <m:oMath xmlns:m="http://schemas.openxmlformats.org/officeDocument/2006/math">
                    <m:r>
                      <a:rPr lang="en-US" sz="3200" b="0" i="1" smtClean="0">
                        <a:latin typeface="Cambria Math" panose="02040503050406030204" pitchFamily="18" charset="0"/>
                      </a:rPr>
                      <m:t>𝑘</m:t>
                    </m:r>
                  </m:oMath>
                </a14:m>
                <a:r>
                  <a:rPr lang="en-US" sz="3200" dirty="0"/>
                  <a:t> for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num>
                      <m:den>
                        <m:r>
                          <a:rPr lang="en-US" sz="3200" b="0" i="1" smtClean="0">
                            <a:latin typeface="Cambria Math" panose="02040503050406030204" pitchFamily="18" charset="0"/>
                          </a:rPr>
                          <m:t>2</m:t>
                        </m:r>
                      </m:den>
                    </m:f>
                    <m:r>
                      <a:rPr lang="en-US" sz="3200" b="0" i="1" smtClean="0">
                        <a:latin typeface="Cambria Math" panose="02040503050406030204" pitchFamily="18" charset="0"/>
                      </a:rPr>
                      <m:t>−5</m:t>
                    </m:r>
                    <m:r>
                      <a:rPr lang="en-US" sz="3200" b="0" i="1" smtClean="0">
                        <a:latin typeface="Cambria Math" panose="02040503050406030204" pitchFamily="18" charset="0"/>
                      </a:rPr>
                      <m:t>𝑛</m:t>
                    </m:r>
                  </m:oMath>
                </a14:m>
                <a:r>
                  <a:rPr lang="en-US" sz="3200" dirty="0"/>
                  <a:t>?</a:t>
                </a:r>
              </a:p>
              <a:p>
                <a:pPr>
                  <a:lnSpc>
                    <a:spcPct val="100000"/>
                  </a:lnSpc>
                  <a:buFont typeface="Wingdings" panose="05000000000000000000" pitchFamily="2" charset="2"/>
                  <a:buChar char="§"/>
                </a:pPr>
                <a:r>
                  <a:rPr lang="en-US" sz="3200" dirty="0"/>
                  <a:t>We are interested in </a:t>
                </a:r>
                <a14:m>
                  <m:oMath xmlns:m="http://schemas.openxmlformats.org/officeDocument/2006/math">
                    <m:r>
                      <a:rPr lang="en-US" sz="3200" i="1">
                        <a:latin typeface="Cambria Math" panose="02040503050406030204" pitchFamily="18" charset="0"/>
                      </a:rPr>
                      <m:t>𝑐</m:t>
                    </m:r>
                    <m:r>
                      <a:rPr lang="en-US" sz="3200" i="1">
                        <a:latin typeface="Cambria Math" panose="02040503050406030204" pitchFamily="18" charset="0"/>
                      </a:rPr>
                      <m:t>.</m:t>
                    </m:r>
                    <m:r>
                      <a:rPr lang="en-US" sz="3200" i="1">
                        <a:latin typeface="Cambria Math" panose="02040503050406030204" pitchFamily="18" charset="0"/>
                      </a:rPr>
                      <m:t>𝑔</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 </m:t>
                    </m:r>
                    <m:r>
                      <a:rPr lang="en-US" sz="3200" i="1">
                        <a:latin typeface="Cambria Math" panose="02040503050406030204" pitchFamily="18" charset="0"/>
                      </a:rPr>
                      <m:t>𝑔𝑖𝑣𝑒𝑛</m:t>
                    </m:r>
                    <m:r>
                      <a:rPr lang="en-US" sz="3200" i="1">
                        <a:latin typeface="Cambria Math" panose="02040503050406030204" pitchFamily="18" charset="0"/>
                      </a:rPr>
                      <m:t> </m:t>
                    </m:r>
                    <m:r>
                      <a:rPr lang="en-US" sz="3200" i="1">
                        <a:latin typeface="Cambria Math" panose="02040503050406030204" pitchFamily="18" charset="0"/>
                      </a:rPr>
                      <m:t>𝑐</m:t>
                    </m:r>
                    <m:r>
                      <a:rPr lang="en-US" sz="3200" i="1">
                        <a:latin typeface="Cambria Math" panose="02040503050406030204" pitchFamily="18" charset="0"/>
                      </a:rPr>
                      <m:t>≥</m:t>
                    </m:r>
                    <m:r>
                      <a:rPr lang="en-US" sz="3200" i="1">
                        <a:latin typeface="Cambria Math" panose="02040503050406030204" pitchFamily="18" charset="0"/>
                      </a:rPr>
                      <m:t>𝑘</m:t>
                    </m:r>
                    <m:r>
                      <a:rPr lang="en-US" sz="3200" i="1">
                        <a:latin typeface="Cambria Math" panose="02040503050406030204" pitchFamily="18" charset="0"/>
                      </a:rPr>
                      <m:t>&gt;0;</m:t>
                    </m:r>
                    <m:r>
                      <a:rPr lang="en-US" sz="3200" i="1">
                        <a:latin typeface="Cambria Math" panose="02040503050406030204" pitchFamily="18" charset="0"/>
                      </a:rPr>
                      <m:t>𝑛</m:t>
                    </m:r>
                    <m:r>
                      <a:rPr lang="en-US" sz="3200" i="1">
                        <a:latin typeface="Cambria Math" panose="02040503050406030204" pitchFamily="18" charset="0"/>
                      </a:rPr>
                      <m:t>≥0</m:t>
                    </m:r>
                  </m:oMath>
                </a14:m>
                <a:endParaRPr lang="en-US" sz="3200" dirty="0"/>
              </a:p>
              <a:p>
                <a:pPr>
                  <a:lnSpc>
                    <a:spcPct val="100000"/>
                  </a:lnSpc>
                  <a:buFont typeface="Wingdings" panose="05000000000000000000" pitchFamily="2" charset="2"/>
                  <a:buChar char="§"/>
                </a:pPr>
                <a:r>
                  <a:rPr lang="en-US" sz="3200" dirty="0"/>
                  <a:t>The growth function is determined by dominant term, i.e., </a:t>
                </a:r>
                <a14:m>
                  <m:oMath xmlns:m="http://schemas.openxmlformats.org/officeDocument/2006/math">
                    <m:f>
                      <m:fPr>
                        <m:ctrlPr>
                          <a:rPr lang="en-US" sz="3200" b="0" i="1" smtClean="0">
                            <a:latin typeface="Cambria Math" panose="02040503050406030204" pitchFamily="18" charset="0"/>
                          </a:rPr>
                        </m:ctrlPr>
                      </m:fPr>
                      <m:num>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num>
                      <m:den>
                        <m:r>
                          <a:rPr lang="en-US" sz="3200" b="0" i="1" smtClean="0">
                            <a:latin typeface="Cambria Math" panose="02040503050406030204" pitchFamily="18" charset="0"/>
                          </a:rPr>
                          <m:t>2</m:t>
                        </m:r>
                      </m:den>
                    </m:f>
                  </m:oMath>
                </a14:m>
                <a:r>
                  <a:rPr lang="en-US" sz="3200" dirty="0"/>
                  <a:t>. Hence, </a:t>
                </a:r>
                <a14:m>
                  <m:oMath xmlns:m="http://schemas.openxmlformats.org/officeDocument/2006/math">
                    <m:r>
                      <a:rPr lang="en-US" sz="3200" i="1" dirty="0" smtClean="0">
                        <a:latin typeface="Cambria Math" panose="02040503050406030204" pitchFamily="18" charset="0"/>
                      </a:rPr>
                      <m:t>𝑔</m:t>
                    </m:r>
                    <m:r>
                      <a:rPr lang="en-US" sz="3200" i="1" dirty="0" smtClean="0">
                        <a:latin typeface="Cambria Math" panose="02040503050406030204" pitchFamily="18" charset="0"/>
                      </a:rPr>
                      <m:t>(</m:t>
                    </m:r>
                    <m:r>
                      <a:rPr lang="en-US" sz="3200" i="1" dirty="0" smtClean="0">
                        <a:latin typeface="Cambria Math" panose="02040503050406030204" pitchFamily="18" charset="0"/>
                      </a:rPr>
                      <m:t>𝑛</m:t>
                    </m:r>
                    <m:r>
                      <a:rPr lang="en-US" sz="3200" i="1" dirty="0" smtClean="0">
                        <a:latin typeface="Cambria Math" panose="02040503050406030204" pitchFamily="18" charset="0"/>
                      </a:rPr>
                      <m:t>)</m:t>
                    </m:r>
                  </m:oMath>
                </a14:m>
                <a:r>
                  <a:rPr lang="en-US" sz="3200" dirty="0"/>
                  <a:t> will be </a:t>
                </a:r>
                <a14:m>
                  <m:oMath xmlns:m="http://schemas.openxmlformats.org/officeDocument/2006/math">
                    <m:r>
                      <a:rPr lang="en-US" sz="3200" b="0" i="1" smtClean="0">
                        <a:latin typeface="Cambria Math" panose="02040503050406030204" pitchFamily="18" charset="0"/>
                      </a:rPr>
                      <m:t>𝑐</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a:t>
                </a:r>
              </a:p>
              <a:p>
                <a:pPr>
                  <a:lnSpc>
                    <a:spcPct val="100000"/>
                  </a:lnSpc>
                  <a:buFont typeface="Wingdings" panose="05000000000000000000" pitchFamily="2" charset="2"/>
                  <a:buChar char="§"/>
                </a:pPr>
                <a:r>
                  <a:rPr lang="en-US" sz="3200" dirty="0"/>
                  <a:t>Since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d>
                  </m:oMath>
                </a14:m>
                <a:r>
                  <a:rPr lang="en-US" sz="3200" dirty="0"/>
                  <a:t>, therefore </a:t>
                </a:r>
                <a14:m>
                  <m:oMath xmlns:m="http://schemas.openxmlformats.org/officeDocument/2006/math">
                    <m:f>
                      <m:fPr>
                        <m:ctrlPr>
                          <a:rPr lang="en-US" sz="3200" i="1">
                            <a:latin typeface="Cambria Math" panose="02040503050406030204" pitchFamily="18" charset="0"/>
                          </a:rPr>
                        </m:ctrlPr>
                      </m:fPr>
                      <m:num>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num>
                      <m:den>
                        <m:r>
                          <a:rPr lang="en-US" sz="3200" i="1">
                            <a:latin typeface="Cambria Math" panose="02040503050406030204" pitchFamily="18" charset="0"/>
                          </a:rPr>
                          <m:t>2</m:t>
                        </m:r>
                      </m:den>
                    </m:f>
                    <m:r>
                      <a:rPr lang="en-US" sz="3200" i="1">
                        <a:latin typeface="Cambria Math" panose="02040503050406030204" pitchFamily="18" charset="0"/>
                      </a:rPr>
                      <m:t>−5</m:t>
                    </m:r>
                    <m:r>
                      <a:rPr lang="en-US" sz="3200" i="1">
                        <a:latin typeface="Cambria Math" panose="02040503050406030204" pitchFamily="18" charset="0"/>
                      </a:rPr>
                      <m:t>𝑛</m:t>
                    </m:r>
                    <m:r>
                      <a:rPr lang="en-US" sz="3200" b="0" i="1" smtClean="0">
                        <a:latin typeface="Cambria Math" panose="02040503050406030204" pitchFamily="18" charset="0"/>
                      </a:rPr>
                      <m:t>≤</m:t>
                    </m:r>
                    <m:r>
                      <a:rPr lang="en-US" sz="3200" i="1">
                        <a:latin typeface="Cambria Math" panose="02040503050406030204" pitchFamily="18" charset="0"/>
                      </a:rPr>
                      <m:t>𝑐</m:t>
                    </m:r>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oMath>
                </a14:m>
                <a:r>
                  <a:rPr lang="en-US" sz="3200" dirty="0"/>
                  <a:t> for any value of </a:t>
                </a:r>
                <a14:m>
                  <m:oMath xmlns:m="http://schemas.openxmlformats.org/officeDocument/2006/math">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𝑘</m:t>
                    </m:r>
                  </m:oMath>
                </a14:m>
                <a:r>
                  <a:rPr lang="en-US" sz="3200" dirty="0"/>
                  <a:t>.</a:t>
                </a:r>
              </a:p>
              <a:p>
                <a:pPr>
                  <a:lnSpc>
                    <a:spcPct val="100000"/>
                  </a:lnSpc>
                  <a:buFont typeface="Wingdings" panose="05000000000000000000" pitchFamily="2" charset="2"/>
                  <a:buChar char="§"/>
                </a:pPr>
                <a:r>
                  <a:rPr lang="en-US" sz="3200" dirty="0"/>
                  <a:t>To find out </a:t>
                </a:r>
                <a14:m>
                  <m:oMath xmlns:m="http://schemas.openxmlformats.org/officeDocument/2006/math">
                    <m:r>
                      <a:rPr lang="en-US" sz="3200" b="0" i="1" smtClean="0">
                        <a:latin typeface="Cambria Math" panose="02040503050406030204" pitchFamily="18" charset="0"/>
                      </a:rPr>
                      <m:t>𝑘</m:t>
                    </m:r>
                  </m:oMath>
                </a14:m>
                <a:r>
                  <a:rPr lang="en-US" sz="3200" dirty="0"/>
                  <a:t>, assume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 i.e., </a:t>
                </a:r>
                <a14:m>
                  <m:oMath xmlns:m="http://schemas.openxmlformats.org/officeDocument/2006/math">
                    <m:f>
                      <m:fPr>
                        <m:ctrlPr>
                          <a:rPr lang="en-US" sz="3200" i="1">
                            <a:latin typeface="Cambria Math" panose="02040503050406030204" pitchFamily="18" charset="0"/>
                          </a:rPr>
                        </m:ctrlPr>
                      </m:fPr>
                      <m:num>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num>
                      <m:den>
                        <m:r>
                          <a:rPr lang="en-US" sz="3200" i="1">
                            <a:latin typeface="Cambria Math" panose="02040503050406030204" pitchFamily="18" charset="0"/>
                          </a:rPr>
                          <m:t>2</m:t>
                        </m:r>
                      </m:den>
                    </m:f>
                    <m:r>
                      <a:rPr lang="en-US" sz="3200" i="1">
                        <a:latin typeface="Cambria Math" panose="02040503050406030204" pitchFamily="18" charset="0"/>
                      </a:rPr>
                      <m:t>−5</m:t>
                    </m:r>
                    <m:r>
                      <a:rPr lang="en-US" sz="3200" i="1">
                        <a:latin typeface="Cambria Math" panose="02040503050406030204" pitchFamily="18" charset="0"/>
                      </a:rPr>
                      <m:t>𝑛</m:t>
                    </m:r>
                    <m:r>
                      <a:rPr lang="en-US" sz="3200" b="0" i="1" smtClean="0">
                        <a:latin typeface="Cambria Math" panose="02040503050406030204" pitchFamily="18" charset="0"/>
                      </a:rPr>
                      <m:t>=</m:t>
                    </m:r>
                    <m:r>
                      <a:rPr lang="en-US" sz="3200" i="1">
                        <a:latin typeface="Cambria Math" panose="02040503050406030204" pitchFamily="18" charset="0"/>
                      </a:rPr>
                      <m:t>𝑐</m:t>
                    </m:r>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oMath>
                </a14:m>
                <a:endParaRPr lang="en-US" sz="3200" dirty="0"/>
              </a:p>
              <a:p>
                <a:pPr lvl="1">
                  <a:lnSpc>
                    <a:spcPct val="100000"/>
                  </a:lnSpc>
                  <a:buFont typeface="Wingdings" panose="05000000000000000000" pitchFamily="2" charset="2"/>
                  <a:buChar char="§"/>
                </a:pPr>
                <a:r>
                  <a:rPr lang="en-US" sz="3000" dirty="0"/>
                  <a:t>Dividing </a:t>
                </a:r>
                <a14:m>
                  <m:oMath xmlns:m="http://schemas.openxmlformats.org/officeDocument/2006/math">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𝑛</m:t>
                            </m:r>
                          </m:e>
                          <m:sup>
                            <m:r>
                              <a:rPr lang="en-US" sz="2800" i="1">
                                <a:latin typeface="Cambria Math" panose="02040503050406030204" pitchFamily="18" charset="0"/>
                              </a:rPr>
                              <m:t>2</m:t>
                            </m:r>
                          </m:sup>
                        </m:sSup>
                      </m:num>
                      <m:den>
                        <m:r>
                          <a:rPr lang="en-US" sz="2800" i="1">
                            <a:latin typeface="Cambria Math" panose="02040503050406030204" pitchFamily="18" charset="0"/>
                          </a:rPr>
                          <m:t>2</m:t>
                        </m:r>
                      </m:den>
                    </m:f>
                    <m:r>
                      <a:rPr lang="en-US" sz="2800" i="1">
                        <a:latin typeface="Cambria Math" panose="02040503050406030204" pitchFamily="18" charset="0"/>
                      </a:rPr>
                      <m:t>−5</m:t>
                    </m:r>
                    <m:r>
                      <a:rPr lang="en-US" sz="2800" i="1">
                        <a:latin typeface="Cambria Math" panose="02040503050406030204" pitchFamily="18" charset="0"/>
                      </a:rPr>
                      <m:t>𝑛</m:t>
                    </m:r>
                    <m:r>
                      <a:rPr lang="en-US" sz="2800" b="0" i="1" smtClean="0">
                        <a:latin typeface="Cambria Math" panose="02040503050406030204" pitchFamily="18" charset="0"/>
                      </a:rPr>
                      <m:t>=</m:t>
                    </m:r>
                    <m:r>
                      <a:rPr lang="en-US" sz="2800" i="1">
                        <a:latin typeface="Cambria Math" panose="02040503050406030204" pitchFamily="18" charset="0"/>
                      </a:rPr>
                      <m:t>𝑐</m:t>
                    </m:r>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𝑛</m:t>
                        </m:r>
                      </m:e>
                      <m:sup>
                        <m:r>
                          <a:rPr lang="en-US" sz="2800" i="1">
                            <a:latin typeface="Cambria Math" panose="02040503050406030204" pitchFamily="18" charset="0"/>
                          </a:rPr>
                          <m:t>2</m:t>
                        </m:r>
                      </m:sup>
                    </m:sSup>
                  </m:oMath>
                </a14:m>
                <a:r>
                  <a:rPr lang="en-US" sz="3000" dirty="0"/>
                  <a:t> by </a:t>
                </a:r>
                <a14:m>
                  <m:oMath xmlns:m="http://schemas.openxmlformats.org/officeDocument/2006/math">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𝑛</m:t>
                        </m:r>
                      </m:e>
                      <m:sup>
                        <m:r>
                          <a:rPr lang="en-US" sz="3000" b="0" i="1" smtClean="0">
                            <a:latin typeface="Cambria Math" panose="02040503050406030204" pitchFamily="18" charset="0"/>
                          </a:rPr>
                          <m:t>2</m:t>
                        </m:r>
                      </m:sup>
                    </m:sSup>
                  </m:oMath>
                </a14:m>
                <a:r>
                  <a:rPr lang="en-US" sz="3000" dirty="0"/>
                  <a:t> gives us </a:t>
                </a:r>
                <a14:m>
                  <m:oMath xmlns:m="http://schemas.openxmlformats.org/officeDocument/2006/math">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1</m:t>
                        </m:r>
                      </m:num>
                      <m:den>
                        <m:r>
                          <a:rPr lang="en-US" sz="3000" b="0" i="1" smtClean="0">
                            <a:latin typeface="Cambria Math" panose="02040503050406030204" pitchFamily="18" charset="0"/>
                          </a:rPr>
                          <m:t>2</m:t>
                        </m:r>
                      </m:den>
                    </m:f>
                    <m:r>
                      <a:rPr lang="en-US" sz="3000" i="1">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5</m:t>
                        </m:r>
                      </m:num>
                      <m:den>
                        <m:r>
                          <a:rPr lang="en-US" sz="3000" b="0" i="1" smtClean="0">
                            <a:latin typeface="Cambria Math" panose="02040503050406030204" pitchFamily="18" charset="0"/>
                          </a:rPr>
                          <m:t>𝑛</m:t>
                        </m:r>
                      </m:den>
                    </m:f>
                    <m:r>
                      <a:rPr lang="en-US" sz="3000" b="0" i="1" smtClean="0">
                        <a:latin typeface="Cambria Math" panose="02040503050406030204" pitchFamily="18" charset="0"/>
                      </a:rPr>
                      <m:t>=</m:t>
                    </m:r>
                    <m:r>
                      <a:rPr lang="en-US" sz="3000" b="0" i="1" smtClean="0">
                        <a:latin typeface="Cambria Math" panose="02040503050406030204" pitchFamily="18" charset="0"/>
                      </a:rPr>
                      <m:t>𝑐</m:t>
                    </m:r>
                  </m:oMath>
                </a14:m>
                <a:endParaRPr lang="en-US" sz="3000" dirty="0"/>
              </a:p>
              <a:p>
                <a:pPr lvl="1">
                  <a:lnSpc>
                    <a:spcPct val="100000"/>
                  </a:lnSpc>
                  <a:buFont typeface="Wingdings" panose="05000000000000000000" pitchFamily="2" charset="2"/>
                  <a:buChar char="§"/>
                </a:pPr>
                <a:r>
                  <a:rPr lang="en-US" sz="3000" dirty="0"/>
                  <a:t>Meaning, if we calculate LHS, we’ll get the minimum value of </a:t>
                </a:r>
                <a14:m>
                  <m:oMath xmlns:m="http://schemas.openxmlformats.org/officeDocument/2006/math">
                    <m:r>
                      <a:rPr lang="en-US" sz="3000" i="1" dirty="0" smtClean="0">
                        <a:latin typeface="Cambria Math" panose="02040503050406030204" pitchFamily="18" charset="0"/>
                      </a:rPr>
                      <m:t>𝑐</m:t>
                    </m:r>
                  </m:oMath>
                </a14:m>
                <a:r>
                  <a:rPr lang="en-US" sz="3000" dirty="0"/>
                  <a:t>.</a:t>
                </a:r>
              </a:p>
              <a:p>
                <a:pPr lvl="1">
                  <a:lnSpc>
                    <a:spcPct val="100000"/>
                  </a:lnSpc>
                  <a:buFont typeface="Wingdings" panose="05000000000000000000" pitchFamily="2" charset="2"/>
                  <a:buChar char="§"/>
                </a:pPr>
                <a:r>
                  <a:rPr lang="en-US" sz="3000" dirty="0"/>
                  <a:t>Hence, </a:t>
                </a:r>
                <a14:m>
                  <m:oMath xmlns:m="http://schemas.openxmlformats.org/officeDocument/2006/math">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1</m:t>
                        </m:r>
                      </m:num>
                      <m:den>
                        <m:r>
                          <a:rPr lang="en-US" sz="3000" b="0" i="1" smtClean="0">
                            <a:latin typeface="Cambria Math" panose="02040503050406030204" pitchFamily="18" charset="0"/>
                          </a:rPr>
                          <m:t>2</m:t>
                        </m:r>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5</m:t>
                        </m:r>
                      </m:num>
                      <m:den>
                        <m:r>
                          <a:rPr lang="en-US" sz="3000" b="0" i="1" smtClean="0">
                            <a:latin typeface="Cambria Math" panose="02040503050406030204" pitchFamily="18" charset="0"/>
                          </a:rPr>
                          <m:t>𝑛</m:t>
                        </m:r>
                      </m:den>
                    </m:f>
                    <m:r>
                      <a:rPr lang="en-US" sz="3000" b="0" i="1" smtClean="0">
                        <a:latin typeface="Cambria Math" panose="02040503050406030204" pitchFamily="18" charset="0"/>
                      </a:rPr>
                      <m:t>=0;</m:t>
                    </m:r>
                    <m:r>
                      <a:rPr lang="en-US" sz="3000" b="0" i="1" smtClean="0">
                        <a:latin typeface="Cambria Math" panose="02040503050406030204" pitchFamily="18" charset="0"/>
                      </a:rPr>
                      <m:t>𝑛</m:t>
                    </m:r>
                    <m:r>
                      <a:rPr lang="en-US" sz="3000" b="0" i="1" smtClean="0">
                        <a:latin typeface="Cambria Math" panose="02040503050406030204" pitchFamily="18" charset="0"/>
                      </a:rPr>
                      <m:t>=10=</m:t>
                    </m:r>
                    <m:r>
                      <a:rPr lang="en-US" sz="3000" b="0" i="1" smtClean="0">
                        <a:latin typeface="Cambria Math" panose="02040503050406030204" pitchFamily="18" charset="0"/>
                      </a:rPr>
                      <m:t>𝑘</m:t>
                    </m:r>
                  </m:oMath>
                </a14:m>
                <a:endParaRPr lang="en-US" sz="3000" dirty="0"/>
              </a:p>
              <a:p>
                <a:pPr>
                  <a:lnSpc>
                    <a:spcPct val="100000"/>
                  </a:lnSpc>
                  <a:buFont typeface="Wingdings" panose="05000000000000000000" pitchFamily="2" charset="2"/>
                  <a:buChar char="§"/>
                </a:pPr>
                <a:r>
                  <a:rPr lang="en-US" sz="3200" dirty="0"/>
                  <a:t>In other words, </a:t>
                </a:r>
                <a:r>
                  <a:rPr lang="en-US" sz="3400" dirty="0"/>
                  <a:t>the asymptotic upper bound of </a:t>
                </a:r>
                <a14:m>
                  <m:oMath xmlns:m="http://schemas.openxmlformats.org/officeDocument/2006/math">
                    <m:r>
                      <a:rPr lang="en-US" sz="3400" b="0" i="1" smtClean="0">
                        <a:latin typeface="Cambria Math" panose="02040503050406030204" pitchFamily="18" charset="0"/>
                      </a:rPr>
                      <m:t>𝑓</m:t>
                    </m:r>
                    <m:d>
                      <m:dPr>
                        <m:ctrlPr>
                          <a:rPr lang="en-US" sz="3400" b="0" i="1" smtClean="0">
                            <a:latin typeface="Cambria Math" panose="02040503050406030204" pitchFamily="18" charset="0"/>
                          </a:rPr>
                        </m:ctrlPr>
                      </m:dPr>
                      <m:e>
                        <m:r>
                          <a:rPr lang="en-US" sz="3400" b="0" i="1" smtClean="0">
                            <a:latin typeface="Cambria Math" panose="02040503050406030204" pitchFamily="18" charset="0"/>
                          </a:rPr>
                          <m:t>𝑛</m:t>
                        </m:r>
                      </m:e>
                    </m:d>
                    <m:r>
                      <a:rPr lang="en-US" sz="3400" b="0" i="1" smtClean="0">
                        <a:latin typeface="Cambria Math" panose="02040503050406030204" pitchFamily="18" charset="0"/>
                      </a:rPr>
                      <m:t>=</m:t>
                    </m:r>
                    <m:r>
                      <a:rPr lang="en-US" sz="3400" b="0" i="1" smtClean="0">
                        <a:latin typeface="Cambria Math" panose="02040503050406030204" pitchFamily="18" charset="0"/>
                      </a:rPr>
                      <m:t>𝑂</m:t>
                    </m:r>
                    <m:d>
                      <m:dPr>
                        <m:ctrlPr>
                          <a:rPr lang="en-US" sz="3400" b="0" i="1" smtClean="0">
                            <a:latin typeface="Cambria Math" panose="02040503050406030204" pitchFamily="18" charset="0"/>
                          </a:rPr>
                        </m:ctrlPr>
                      </m:dPr>
                      <m:e>
                        <m:sSup>
                          <m:sSupPr>
                            <m:ctrlPr>
                              <a:rPr lang="en-US" sz="3400" b="0" i="1" smtClean="0">
                                <a:latin typeface="Cambria Math" panose="02040503050406030204" pitchFamily="18" charset="0"/>
                              </a:rPr>
                            </m:ctrlPr>
                          </m:sSupPr>
                          <m:e>
                            <m:r>
                              <a:rPr lang="en-US" sz="3400" b="0" i="1" smtClean="0">
                                <a:latin typeface="Cambria Math" panose="02040503050406030204" pitchFamily="18" charset="0"/>
                              </a:rPr>
                              <m:t>𝑐</m:t>
                            </m:r>
                            <m:r>
                              <a:rPr lang="en-US" sz="3400" b="0" i="1" smtClean="0">
                                <a:latin typeface="Cambria Math" panose="02040503050406030204" pitchFamily="18" charset="0"/>
                              </a:rPr>
                              <m:t>.</m:t>
                            </m:r>
                            <m:r>
                              <a:rPr lang="en-US" sz="3400" b="0" i="1" smtClean="0">
                                <a:latin typeface="Cambria Math" panose="02040503050406030204" pitchFamily="18" charset="0"/>
                              </a:rPr>
                              <m:t>𝑛</m:t>
                            </m:r>
                          </m:e>
                          <m:sup>
                            <m:r>
                              <a:rPr lang="en-US" sz="3400" b="0" i="1" smtClean="0">
                                <a:latin typeface="Cambria Math" panose="02040503050406030204" pitchFamily="18" charset="0"/>
                              </a:rPr>
                              <m:t>2</m:t>
                            </m:r>
                          </m:sup>
                        </m:sSup>
                      </m:e>
                    </m:d>
                  </m:oMath>
                </a14:m>
                <a:r>
                  <a:rPr lang="en-US" sz="3400" dirty="0"/>
                  <a:t> for any value of </a:t>
                </a:r>
                <a14:m>
                  <m:oMath xmlns:m="http://schemas.openxmlformats.org/officeDocument/2006/math">
                    <m:r>
                      <a:rPr lang="en-US" sz="3400" b="0" i="1" smtClean="0">
                        <a:latin typeface="Cambria Math" panose="02040503050406030204" pitchFamily="18" charset="0"/>
                      </a:rPr>
                      <m:t>𝑐</m:t>
                    </m:r>
                    <m:r>
                      <a:rPr lang="en-US" sz="3400" b="0" i="1" smtClean="0">
                        <a:latin typeface="Cambria Math" panose="02040503050406030204" pitchFamily="18" charset="0"/>
                      </a:rPr>
                      <m:t>≥</m:t>
                    </m:r>
                    <m:r>
                      <a:rPr lang="en-US" sz="3400" b="0" i="1" smtClean="0">
                        <a:latin typeface="Cambria Math" panose="02040503050406030204" pitchFamily="18" charset="0"/>
                      </a:rPr>
                      <m:t>𝑘</m:t>
                    </m:r>
                  </m:oMath>
                </a14:m>
                <a:r>
                  <a:rPr lang="en-US" sz="3400" dirty="0"/>
                  <a:t>, where </a:t>
                </a:r>
                <a14:m>
                  <m:oMath xmlns:m="http://schemas.openxmlformats.org/officeDocument/2006/math">
                    <m:r>
                      <a:rPr lang="en-US" sz="3400" b="0" i="1" smtClean="0">
                        <a:latin typeface="Cambria Math" panose="02040503050406030204" pitchFamily="18" charset="0"/>
                      </a:rPr>
                      <m:t>𝑘</m:t>
                    </m:r>
                    <m:r>
                      <a:rPr lang="en-US" sz="3400" b="0" i="1" smtClean="0">
                        <a:latin typeface="Cambria Math" panose="02040503050406030204" pitchFamily="18" charset="0"/>
                      </a:rPr>
                      <m:t>=10</m:t>
                    </m:r>
                  </m:oMath>
                </a14:m>
                <a:r>
                  <a:rPr lang="en-US" sz="34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27" r="-519" b="-2743"/>
                </a:stretch>
              </a:blipFill>
            </p:spPr>
            <p:txBody>
              <a:bodyPr/>
              <a:lstStyle/>
              <a:p>
                <a:r>
                  <a:rPr lang="en-US">
                    <a:noFill/>
                  </a:rPr>
                  <a:t> </a:t>
                </a:r>
              </a:p>
            </p:txBody>
          </p:sp>
        </mc:Fallback>
      </mc:AlternateContent>
    </p:spTree>
    <p:extLst>
      <p:ext uri="{BB962C8B-B14F-4D97-AF65-F5344CB8AC3E}">
        <p14:creationId xmlns:p14="http://schemas.microsoft.com/office/powerpoint/2010/main" val="176294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Ideal Assumptions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11743016" cy="5020612"/>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real world is full of variation. The efficiency of an algorithm varies if there’s a difference in:</a:t>
                </a:r>
              </a:p>
              <a:p>
                <a:pPr lvl="1">
                  <a:lnSpc>
                    <a:spcPct val="120000"/>
                  </a:lnSpc>
                  <a:buFont typeface="Wingdings" panose="05000000000000000000" pitchFamily="2" charset="2"/>
                  <a:buChar char="§"/>
                </a:pPr>
                <a:r>
                  <a:rPr lang="en-US" sz="3000" dirty="0"/>
                  <a:t>CPU frequency, Cache memory, RAM</a:t>
                </a:r>
              </a:p>
              <a:p>
                <a:pPr lvl="1">
                  <a:lnSpc>
                    <a:spcPct val="120000"/>
                  </a:lnSpc>
                  <a:buFont typeface="Wingdings" panose="05000000000000000000" pitchFamily="2" charset="2"/>
                  <a:buChar char="§"/>
                </a:pPr>
                <a:r>
                  <a:rPr lang="en-US" sz="3000" dirty="0"/>
                  <a:t>Programming language</a:t>
                </a:r>
              </a:p>
              <a:p>
                <a:pPr lvl="1">
                  <a:lnSpc>
                    <a:spcPct val="120000"/>
                  </a:lnSpc>
                  <a:buFont typeface="Wingdings" panose="05000000000000000000" pitchFamily="2" charset="2"/>
                  <a:buChar char="§"/>
                </a:pPr>
                <a:r>
                  <a:rPr lang="en-US" sz="3000" dirty="0"/>
                  <a:t>Format of input</a:t>
                </a:r>
              </a:p>
              <a:p>
                <a:pPr lvl="1">
                  <a:lnSpc>
                    <a:spcPct val="120000"/>
                  </a:lnSpc>
                  <a:buFont typeface="Wingdings" panose="05000000000000000000" pitchFamily="2" charset="2"/>
                  <a:buChar char="§"/>
                </a:pPr>
                <a:r>
                  <a:rPr lang="en-US" sz="3000" dirty="0"/>
                  <a:t>Fluctuation in temperature, pressure, humidity, electric current</a:t>
                </a:r>
              </a:p>
              <a:p>
                <a:pPr lvl="1">
                  <a:lnSpc>
                    <a:spcPct val="120000"/>
                  </a:lnSpc>
                  <a:buFont typeface="Wingdings" panose="05000000000000000000" pitchFamily="2" charset="2"/>
                  <a:buChar char="§"/>
                </a:pPr>
                <a:r>
                  <a:rPr lang="en-US" sz="3000" dirty="0"/>
                  <a:t>Quality of copper, silicon and other material used in computer</a:t>
                </a:r>
              </a:p>
              <a:p>
                <a:pPr>
                  <a:lnSpc>
                    <a:spcPct val="120000"/>
                  </a:lnSpc>
                  <a:buFont typeface="Wingdings" panose="05000000000000000000" pitchFamily="2" charset="2"/>
                  <a:buChar char="§"/>
                </a:pPr>
                <a:r>
                  <a:rPr lang="en-US" sz="3200" dirty="0"/>
                  <a:t>But such variations do not make significant impact when the input is large. We therefore assume ideal conditions that all computers are equal, and every statement takes same amount of time (e.g., </a:t>
                </a:r>
                <a14:m>
                  <m:oMath xmlns:m="http://schemas.openxmlformats.org/officeDocument/2006/math">
                    <m:r>
                      <a:rPr lang="en-US" sz="3200" i="1" dirty="0" smtClean="0">
                        <a:latin typeface="Cambria Math" panose="02040503050406030204" pitchFamily="18" charset="0"/>
                      </a:rPr>
                      <m:t>𝑇</m:t>
                    </m:r>
                    <m:d>
                      <m:dPr>
                        <m:ctrlPr>
                          <a:rPr lang="en-US" sz="3200" i="1" dirty="0" smtClean="0">
                            <a:latin typeface="Cambria Math" panose="02040503050406030204" pitchFamily="18" charset="0"/>
                          </a:rPr>
                        </m:ctrlPr>
                      </m:dPr>
                      <m:e>
                        <m:r>
                          <a:rPr lang="en-US" sz="3200" b="0" i="1" dirty="0" smtClean="0">
                            <a:latin typeface="Cambria Math" panose="02040503050406030204" pitchFamily="18" charset="0"/>
                          </a:rPr>
                          <m:t>2+2</m:t>
                        </m:r>
                      </m:e>
                    </m:d>
                    <m:r>
                      <a:rPr lang="en-US" sz="3200" b="0" i="1" dirty="0" smtClean="0">
                        <a:latin typeface="Cambria Math" panose="02040503050406030204" pitchFamily="18" charset="0"/>
                      </a:rPr>
                      <m:t>=</m:t>
                    </m:r>
                    <m:r>
                      <a:rPr lang="en-US" sz="3200" b="0" i="1" dirty="0" smtClean="0">
                        <a:latin typeface="Cambria Math" panose="02040503050406030204" pitchFamily="18" charset="0"/>
                      </a:rPr>
                      <m:t>𝑇</m:t>
                    </m:r>
                    <m:d>
                      <m:dPr>
                        <m:ctrlPr>
                          <a:rPr lang="en-US" sz="3200" b="0" i="1" dirty="0" smtClean="0">
                            <a:latin typeface="Cambria Math" panose="02040503050406030204" pitchFamily="18" charset="0"/>
                          </a:rPr>
                        </m:ctrlPr>
                      </m:dPr>
                      <m:e>
                        <m:r>
                          <a:rPr lang="en-US" sz="3200" b="0" i="1" dirty="0" smtClean="0">
                            <a:latin typeface="Cambria Math" panose="02040503050406030204" pitchFamily="18" charset="0"/>
                          </a:rPr>
                          <m:t>100000+100000</m:t>
                        </m:r>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11743016" cy="5020612"/>
              </a:xfrm>
              <a:prstGeom prst="rect">
                <a:avLst/>
              </a:prstGeom>
              <a:blipFill>
                <a:blip r:embed="rId3"/>
                <a:stretch>
                  <a:fillRect l="-830" t="-729" r="-467" b="-1944"/>
                </a:stretch>
              </a:blipFill>
            </p:spPr>
            <p:txBody>
              <a:bodyPr/>
              <a:lstStyle/>
              <a:p>
                <a:r>
                  <a:rPr lang="en-US">
                    <a:noFill/>
                  </a:rPr>
                  <a:t> </a:t>
                </a:r>
              </a:p>
            </p:txBody>
          </p:sp>
        </mc:Fallback>
      </mc:AlternateContent>
    </p:spTree>
    <p:extLst>
      <p:ext uri="{BB962C8B-B14F-4D97-AF65-F5344CB8AC3E}">
        <p14:creationId xmlns:p14="http://schemas.microsoft.com/office/powerpoint/2010/main" val="214854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a:solidFill>
                  <a:srgbClr val="FFFFFF"/>
                </a:solidFill>
                <a:latin typeface="Arial"/>
                <a:cs typeface="Arial"/>
              </a:rPr>
              <a:t>Analysis of Selection </a:t>
            </a:r>
            <a:r>
              <a:rPr lang="en-US" sz="3200" dirty="0">
                <a:solidFill>
                  <a:srgbClr val="FFFFFF"/>
                </a:solidFill>
                <a:latin typeface="Arial"/>
                <a:cs typeface="Arial"/>
              </a:rPr>
              <a:t>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7031754" cy="5020612"/>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outer loop runs for </a:t>
                </a:r>
                <a14:m>
                  <m:oMath xmlns:m="http://schemas.openxmlformats.org/officeDocument/2006/math">
                    <m:r>
                      <a:rPr lang="en-US" sz="3200" i="1" dirty="0">
                        <a:latin typeface="Cambria Math" panose="02040503050406030204" pitchFamily="18" charset="0"/>
                      </a:rPr>
                      <m:t>𝑛</m:t>
                    </m:r>
                    <m:r>
                      <a:rPr lang="en-US" sz="3200" i="1" dirty="0">
                        <a:latin typeface="Cambria Math" panose="02040503050406030204" pitchFamily="18" charset="0"/>
                      </a:rPr>
                      <m:t>−1</m:t>
                    </m:r>
                  </m:oMath>
                </a14:m>
                <a:r>
                  <a:rPr lang="en-US" sz="3200" dirty="0"/>
                  <a:t> iterations and for each iteration, an inner loop starts from </a:t>
                </a:r>
                <a14:m>
                  <m:oMath xmlns:m="http://schemas.openxmlformats.org/officeDocument/2006/math">
                    <m:r>
                      <a:rPr lang="en-US" sz="3200" i="1" dirty="0">
                        <a:latin typeface="Cambria Math" panose="02040503050406030204" pitchFamily="18" charset="0"/>
                      </a:rPr>
                      <m:t>𝑖</m:t>
                    </m:r>
                    <m:r>
                      <a:rPr lang="en-US" sz="3200" i="1" dirty="0">
                        <a:latin typeface="Cambria Math" panose="02040503050406030204" pitchFamily="18" charset="0"/>
                      </a:rPr>
                      <m:t>+1</m:t>
                    </m:r>
                  </m:oMath>
                </a14:m>
                <a:r>
                  <a:rPr lang="en-US" sz="3200" dirty="0"/>
                  <a:t> and traverses remaining array.</a:t>
                </a:r>
              </a:p>
              <a:p>
                <a:pPr>
                  <a:lnSpc>
                    <a:spcPct val="120000"/>
                  </a:lnSpc>
                  <a:buFont typeface="Wingdings" panose="05000000000000000000" pitchFamily="2" charset="2"/>
                  <a:buChar char="§"/>
                </a:pPr>
                <a:r>
                  <a:rPr lang="en-US" sz="3200" dirty="0"/>
                  <a:t>Therefore, 1</a:t>
                </a:r>
                <a:r>
                  <a:rPr lang="en-US" sz="3200" baseline="30000" dirty="0"/>
                  <a:t>st</a:t>
                </a:r>
                <a:r>
                  <a:rPr lang="en-US" sz="3200" dirty="0"/>
                  <a:t> iteration runs </a:t>
                </a:r>
                <a14:m>
                  <m:oMath xmlns:m="http://schemas.openxmlformats.org/officeDocument/2006/math">
                    <m:r>
                      <a:rPr lang="en-US" sz="3200" i="1" dirty="0">
                        <a:latin typeface="Cambria Math" panose="02040503050406030204" pitchFamily="18" charset="0"/>
                      </a:rPr>
                      <m:t>𝑛</m:t>
                    </m:r>
                    <m:r>
                      <a:rPr lang="en-US" sz="3200" i="1" dirty="0">
                        <a:latin typeface="Cambria Math" panose="02040503050406030204" pitchFamily="18" charset="0"/>
                      </a:rPr>
                      <m:t>−1</m:t>
                    </m:r>
                  </m:oMath>
                </a14:m>
                <a:r>
                  <a:rPr lang="en-US" sz="3200" dirty="0"/>
                  <a:t> times, the 2</a:t>
                </a:r>
                <a:r>
                  <a:rPr lang="en-US" sz="3200" baseline="30000" dirty="0"/>
                  <a:t>nd</a:t>
                </a:r>
                <a:r>
                  <a:rPr lang="en-US" sz="3200" dirty="0"/>
                  <a:t> runs </a:t>
                </a:r>
                <a14:m>
                  <m:oMath xmlns:m="http://schemas.openxmlformats.org/officeDocument/2006/math">
                    <m:r>
                      <a:rPr lang="en-US" sz="3200" i="1">
                        <a:latin typeface="Cambria Math" panose="02040503050406030204" pitchFamily="18" charset="0"/>
                      </a:rPr>
                      <m:t>𝑛</m:t>
                    </m:r>
                    <m:r>
                      <a:rPr lang="en-US" sz="3200" i="1">
                        <a:latin typeface="Cambria Math" panose="02040503050406030204" pitchFamily="18" charset="0"/>
                      </a:rPr>
                      <m:t>−2</m:t>
                    </m:r>
                  </m:oMath>
                </a14:m>
                <a:r>
                  <a:rPr lang="en-US" sz="3200" dirty="0"/>
                  <a:t> times, the 3</a:t>
                </a:r>
                <a:r>
                  <a:rPr lang="en-US" sz="3200" baseline="30000" dirty="0"/>
                  <a:t>rd</a:t>
                </a:r>
                <a:r>
                  <a:rPr lang="en-US" sz="3200" dirty="0"/>
                  <a:t> runs </a:t>
                </a:r>
                <a14:m>
                  <m:oMath xmlns:m="http://schemas.openxmlformats.org/officeDocument/2006/math">
                    <m:r>
                      <a:rPr lang="en-US" sz="3200" i="1">
                        <a:latin typeface="Cambria Math" panose="02040503050406030204" pitchFamily="18" charset="0"/>
                      </a:rPr>
                      <m:t>𝑛</m:t>
                    </m:r>
                    <m:r>
                      <a:rPr lang="en-US" sz="3200" i="1">
                        <a:latin typeface="Cambria Math" panose="02040503050406030204" pitchFamily="18" charset="0"/>
                      </a:rPr>
                      <m:t>−3</m:t>
                    </m:r>
                  </m:oMath>
                </a14:m>
                <a:r>
                  <a:rPr lang="en-US" sz="3200" dirty="0"/>
                  <a:t> times and so on. Hence, we have the formula for sum of natural numbers:</a:t>
                </a:r>
                <a:br>
                  <a:rPr lang="en-US" sz="3200" dirty="0"/>
                </a:br>
                <a14:m>
                  <m:oMath xmlns:m="http://schemas.openxmlformats.org/officeDocument/2006/math">
                    <m:r>
                      <m:rPr>
                        <m:sty m:val="p"/>
                      </m:rPr>
                      <a:rPr lang="en-US" sz="3200">
                        <a:latin typeface="Cambria Math" panose="02040503050406030204" pitchFamily="18" charset="0"/>
                      </a:rPr>
                      <m:t>n</m:t>
                    </m:r>
                    <m:r>
                      <a:rPr lang="en-US" sz="3200">
                        <a:latin typeface="Cambria Math" panose="02040503050406030204" pitchFamily="18" charset="0"/>
                      </a:rPr>
                      <m:t>+</m:t>
                    </m:r>
                    <m:d>
                      <m:dPr>
                        <m:ctrlPr>
                          <a:rPr lang="en-US" sz="3200" i="1">
                            <a:latin typeface="Cambria Math" panose="02040503050406030204" pitchFamily="18" charset="0"/>
                          </a:rPr>
                        </m:ctrlPr>
                      </m:dPr>
                      <m:e>
                        <m:r>
                          <m:rPr>
                            <m:sty m:val="p"/>
                          </m:rPr>
                          <a:rPr lang="en-US" sz="3200">
                            <a:latin typeface="Cambria Math" panose="02040503050406030204" pitchFamily="18" charset="0"/>
                          </a:rPr>
                          <m:t>n</m:t>
                        </m:r>
                        <m:r>
                          <a:rPr lang="en-US" sz="3200">
                            <a:latin typeface="Cambria Math" panose="02040503050406030204" pitchFamily="18" charset="0"/>
                          </a:rPr>
                          <m:t>−1</m:t>
                        </m:r>
                      </m:e>
                    </m:d>
                    <m:r>
                      <a:rPr lang="en-US" sz="3200" b="0" i="1" smtClean="0">
                        <a:latin typeface="Cambria Math" panose="02040503050406030204" pitchFamily="18" charset="0"/>
                      </a:rPr>
                      <m:t>+</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i="1">
                            <a:latin typeface="Cambria Math" panose="02040503050406030204" pitchFamily="18" charset="0"/>
                          </a:rPr>
                          <m:t>−2</m:t>
                        </m:r>
                      </m:e>
                    </m:d>
                    <m:r>
                      <a:rPr lang="en-US" sz="3200" i="1">
                        <a:latin typeface="Cambria Math" panose="02040503050406030204" pitchFamily="18" charset="0"/>
                      </a:rPr>
                      <m:t>+</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i="1">
                            <a:latin typeface="Cambria Math" panose="02040503050406030204" pitchFamily="18" charset="0"/>
                          </a:rPr>
                          <m:t>−3</m:t>
                        </m:r>
                      </m:e>
                    </m:d>
                    <m:r>
                      <a:rPr lang="en-US" sz="3200" i="1">
                        <a:latin typeface="Cambria Math" panose="02040503050406030204" pitchFamily="18" charset="0"/>
                      </a:rPr>
                      <m:t>+…+1=</m:t>
                    </m:r>
                    <m:f>
                      <m:fPr>
                        <m:ctrlPr>
                          <a:rPr lang="en-US" sz="3200" i="1">
                            <a:latin typeface="Cambria Math" panose="02040503050406030204" pitchFamily="18" charset="0"/>
                          </a:rPr>
                        </m:ctrlPr>
                      </m:fPr>
                      <m:num>
                        <m:r>
                          <a:rPr lang="en-US" sz="3200" i="1">
                            <a:latin typeface="Cambria Math" panose="02040503050406030204" pitchFamily="18" charset="0"/>
                          </a:rPr>
                          <m:t>𝑛</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b="0" i="1" smtClean="0">
                                <a:latin typeface="Cambria Math" panose="02040503050406030204" pitchFamily="18" charset="0"/>
                              </a:rPr>
                              <m:t>+</m:t>
                            </m:r>
                            <m:r>
                              <a:rPr lang="en-US" sz="3200" i="1">
                                <a:latin typeface="Cambria Math" panose="02040503050406030204" pitchFamily="18" charset="0"/>
                              </a:rPr>
                              <m:t>1</m:t>
                            </m:r>
                          </m:e>
                        </m:d>
                      </m:num>
                      <m:den>
                        <m:r>
                          <a:rPr lang="en-US" sz="3200" i="1">
                            <a:latin typeface="Cambria Math" panose="02040503050406030204" pitchFamily="18" charset="0"/>
                          </a:rPr>
                          <m:t>2</m:t>
                        </m:r>
                      </m:den>
                    </m:f>
                    <m:r>
                      <a:rPr lang="en-US" sz="3200" i="1">
                        <a:latin typeface="Cambria Math" panose="02040503050406030204" pitchFamily="18" charset="0"/>
                      </a:rPr>
                      <m:t>=</m:t>
                    </m:r>
                    <m:r>
                      <a:rPr lang="en-US" sz="3200" i="1">
                        <a:latin typeface="Cambria Math" panose="02040503050406030204" pitchFamily="18" charset="0"/>
                      </a:rPr>
                      <m:t>𝑂</m:t>
                    </m:r>
                    <m:d>
                      <m:dPr>
                        <m:ctrlPr>
                          <a:rPr lang="en-US" sz="3200" i="1">
                            <a:latin typeface="Cambria Math" panose="02040503050406030204" pitchFamily="18" charset="0"/>
                          </a:rPr>
                        </m:ctrlPr>
                      </m:dPr>
                      <m:e>
                        <m:f>
                          <m:fPr>
                            <m:ctrlPr>
                              <a:rPr lang="en-US" sz="3200" i="1">
                                <a:latin typeface="Cambria Math" panose="02040503050406030204" pitchFamily="18" charset="0"/>
                              </a:rPr>
                            </m:ctrlPr>
                          </m:fPr>
                          <m:num>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r>
                              <a:rPr lang="en-US" sz="3200" b="0" i="1" smtClean="0">
                                <a:latin typeface="Cambria Math" panose="02040503050406030204" pitchFamily="18" charset="0"/>
                              </a:rPr>
                              <m:t>+</m:t>
                            </m:r>
                            <m:r>
                              <a:rPr lang="en-US" sz="3200" i="1">
                                <a:latin typeface="Cambria Math" panose="02040503050406030204" pitchFamily="18" charset="0"/>
                              </a:rPr>
                              <m:t>𝑛</m:t>
                            </m:r>
                          </m:num>
                          <m:den>
                            <m:r>
                              <a:rPr lang="en-US" sz="3200" i="1">
                                <a:latin typeface="Cambria Math" panose="02040503050406030204" pitchFamily="18" charset="0"/>
                              </a:rPr>
                              <m:t>2</m:t>
                            </m:r>
                          </m:den>
                        </m:f>
                      </m:e>
                    </m:d>
                  </m:oMath>
                </a14:m>
                <a:r>
                  <a:rPr lang="en-US" sz="3200" dirty="0"/>
                  <a:t> </a:t>
                </a:r>
                <a14:m>
                  <m:oMath xmlns:m="http://schemas.openxmlformats.org/officeDocument/2006/math">
                    <m:r>
                      <a:rPr lang="en-US" sz="3200" i="1">
                        <a:latin typeface="Cambria Math" panose="02040503050406030204" pitchFamily="18" charset="0"/>
                      </a:rPr>
                      <m:t>=</m:t>
                    </m:r>
                    <m:r>
                      <a:rPr lang="en-US" sz="3200" i="1">
                        <a:latin typeface="Cambria Math" panose="02040503050406030204" pitchFamily="18" charset="0"/>
                      </a:rPr>
                      <m:t>𝑂</m:t>
                    </m:r>
                    <m:d>
                      <m:dPr>
                        <m:ctrlPr>
                          <a:rPr lang="en-US" sz="3200" i="1">
                            <a:latin typeface="Cambria Math" panose="02040503050406030204" pitchFamily="18" charset="0"/>
                          </a:rPr>
                        </m:ctrlPr>
                      </m:dPr>
                      <m:e>
                        <m:f>
                          <m:fPr>
                            <m:ctrlPr>
                              <a:rPr lang="en-US" sz="3200" i="1">
                                <a:latin typeface="Cambria Math" panose="02040503050406030204" pitchFamily="18" charset="0"/>
                              </a:rPr>
                            </m:ctrlPr>
                          </m:fPr>
                          <m:num>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num>
                          <m:den>
                            <m:r>
                              <a:rPr lang="en-US" sz="3200" i="1">
                                <a:latin typeface="Cambria Math" panose="02040503050406030204" pitchFamily="18" charset="0"/>
                              </a:rPr>
                              <m:t>2</m:t>
                            </m:r>
                          </m:den>
                        </m:f>
                      </m:e>
                    </m:d>
                    <m:r>
                      <a:rPr lang="en-US" sz="3200" b="0" i="1" smtClean="0">
                        <a:latin typeface="Cambria Math" panose="02040503050406030204" pitchFamily="18" charset="0"/>
                      </a:rPr>
                      <m:t>=</m:t>
                    </m:r>
                    <m:r>
                      <a:rPr lang="en-US" sz="3200" i="1">
                        <a:latin typeface="Cambria Math" panose="02040503050406030204" pitchFamily="18" charset="0"/>
                      </a:rPr>
                      <m:t>𝑂</m:t>
                    </m:r>
                    <m:d>
                      <m:dPr>
                        <m:ctrlPr>
                          <a:rPr lang="en-US" sz="3200" i="1">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f>
                          <m:fPr>
                            <m:ctrlPr>
                              <a:rPr lang="en-US" sz="3200" i="1">
                                <a:latin typeface="Cambria Math" panose="02040503050406030204" pitchFamily="18" charset="0"/>
                              </a:rPr>
                            </m:ctrlPr>
                          </m:fPr>
                          <m:num>
                            <m:r>
                              <a:rPr lang="en-US" sz="3200" b="0" i="1" smtClean="0">
                                <a:latin typeface="Cambria Math" panose="02040503050406030204" pitchFamily="18" charset="0"/>
                              </a:rPr>
                              <m:t>1</m:t>
                            </m:r>
                          </m:num>
                          <m:den>
                            <m:r>
                              <a:rPr lang="en-US" sz="3200" i="1">
                                <a:latin typeface="Cambria Math" panose="02040503050406030204" pitchFamily="18" charset="0"/>
                              </a:rPr>
                              <m:t>2</m:t>
                            </m:r>
                          </m:den>
                        </m:f>
                      </m:e>
                    </m:d>
                    <m:r>
                      <a:rPr lang="en-US" sz="3200" b="0" i="1" smtClean="0">
                        <a:latin typeface="Cambria Math" panose="02040503050406030204" pitchFamily="18" charset="0"/>
                      </a:rPr>
                      <m:t>=</m:t>
                    </m:r>
                    <m:r>
                      <a:rPr lang="en-US" sz="3200" b="0" i="1" smtClean="0">
                        <a:latin typeface="Cambria Math" panose="02040503050406030204" pitchFamily="18" charset="0"/>
                      </a:rPr>
                      <m:t>𝑂</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𝑐</m:t>
                    </m:r>
                    <m:r>
                      <a:rPr lang="en-US" sz="3200" b="0" i="1" smtClean="0">
                        <a:latin typeface="Cambria Math" panose="02040503050406030204" pitchFamily="18" charset="0"/>
                      </a:rPr>
                      <m:t>)</m:t>
                    </m:r>
                  </m:oMath>
                </a14:m>
                <a:endParaRPr lang="en-US" sz="3200" dirty="0"/>
              </a:p>
              <a:p>
                <a:pPr>
                  <a:lnSpc>
                    <a:spcPct val="120000"/>
                  </a:lnSpc>
                  <a:buFont typeface="Wingdings" panose="05000000000000000000" pitchFamily="2" charset="2"/>
                  <a:buChar char="§"/>
                </a:pPr>
                <a:r>
                  <a:rPr lang="en-US" sz="3200" dirty="0"/>
                  <a:t>Eliminating constant </a:t>
                </a:r>
                <a14:m>
                  <m:oMath xmlns:m="http://schemas.openxmlformats.org/officeDocument/2006/math">
                    <m:r>
                      <a:rPr lang="en-US" sz="3200" i="1" dirty="0" smtClean="0">
                        <a:latin typeface="Cambria Math" panose="02040503050406030204" pitchFamily="18" charset="0"/>
                      </a:rPr>
                      <m:t>𝑐</m:t>
                    </m:r>
                  </m:oMath>
                </a14:m>
                <a:r>
                  <a:rPr lang="en-US" sz="3200" dirty="0"/>
                  <a:t>,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7031754" cy="5020612"/>
              </a:xfrm>
              <a:prstGeom prst="rect">
                <a:avLst/>
              </a:prstGeom>
              <a:blipFill>
                <a:blip r:embed="rId3"/>
                <a:stretch>
                  <a:fillRect l="-1213" t="-972" r="-6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84F51D7-863A-A786-75D7-D89F2C4F06C1}"/>
                  </a:ext>
                </a:extLst>
              </p:cNvPr>
              <p:cNvSpPr txBox="1">
                <a:spLocks/>
              </p:cNvSpPr>
              <p:nvPr/>
            </p:nvSpPr>
            <p:spPr>
              <a:xfrm>
                <a:off x="7252138" y="1449384"/>
                <a:ext cx="4711261" cy="4944413"/>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SELECTION_SORT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0</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a:latin typeface="Cambria Math" panose="02040503050406030204" pitchFamily="18" charset="0"/>
                                <a:ea typeface="Cascadia Code" panose="020B0609020000020004" pitchFamily="49" charset="0"/>
                                <a:cs typeface="Cascadia Code" panose="020B0609020000020004" pitchFamily="49" charset="0"/>
                              </a:rPr>
                              <m:t>𝑚𝑖𝑛</m:t>
                            </m:r>
                          </m:sub>
                        </m:sSub>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d>
                      <m:d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𝑚𝑖𝑛</m:t>
                            </m:r>
                          </m:sub>
                        </m:sSub>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𝑆𝑊𝐴𝑃</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dirty="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4" name="Content Placeholder 2">
                <a:extLst>
                  <a:ext uri="{FF2B5EF4-FFF2-40B4-BE49-F238E27FC236}">
                    <a16:creationId xmlns:a16="http://schemas.microsoft.com/office/drawing/2014/main" id="{A84F51D7-863A-A786-75D7-D89F2C4F06C1}"/>
                  </a:ext>
                </a:extLst>
              </p:cNvPr>
              <p:cNvSpPr txBox="1">
                <a:spLocks noRot="1" noChangeAspect="1" noMove="1" noResize="1" noEditPoints="1" noAdjustHandles="1" noChangeArrowheads="1" noChangeShapeType="1" noTextEdit="1"/>
              </p:cNvSpPr>
              <p:nvPr/>
            </p:nvSpPr>
            <p:spPr>
              <a:xfrm>
                <a:off x="7252138" y="1449384"/>
                <a:ext cx="4711261" cy="4944413"/>
              </a:xfrm>
              <a:prstGeom prst="rect">
                <a:avLst/>
              </a:prstGeom>
              <a:blipFill>
                <a:blip r:embed="rId4"/>
                <a:stretch>
                  <a:fillRect l="-1684" t="-2219"/>
                </a:stretch>
              </a:blipFill>
            </p:spPr>
            <p:txBody>
              <a:bodyPr/>
              <a:lstStyle/>
              <a:p>
                <a:r>
                  <a:rPr lang="en-PK">
                    <a:noFill/>
                  </a:rPr>
                  <a:t> </a:t>
                </a:r>
              </a:p>
            </p:txBody>
          </p:sp>
        </mc:Fallback>
      </mc:AlternateContent>
    </p:spTree>
    <p:extLst>
      <p:ext uri="{BB962C8B-B14F-4D97-AF65-F5344CB8AC3E}">
        <p14:creationId xmlns:p14="http://schemas.microsoft.com/office/powerpoint/2010/main" val="508579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a:solidFill>
                  <a:srgbClr val="FFFFFF"/>
                </a:solidFill>
                <a:latin typeface="Arial"/>
                <a:cs typeface="Arial"/>
              </a:rPr>
              <a:t>Analysis of Selection </a:t>
            </a:r>
            <a:r>
              <a:rPr lang="en-US" sz="3200" dirty="0">
                <a:solidFill>
                  <a:srgbClr val="FFFFFF"/>
                </a:solidFill>
                <a:latin typeface="Arial"/>
                <a:cs typeface="Arial"/>
              </a:rPr>
              <a:t>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11743016" cy="5020612"/>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Theoretically, the upper bound for worst case scenario is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 However, this scenario hardly ever occurs in practical applications.</a:t>
                </a:r>
              </a:p>
              <a:p>
                <a:pPr>
                  <a:lnSpc>
                    <a:spcPct val="120000"/>
                  </a:lnSpc>
                  <a:buFont typeface="Wingdings" panose="05000000000000000000" pitchFamily="2" charset="2"/>
                  <a:buChar char="§"/>
                </a:pPr>
                <a:r>
                  <a:rPr lang="en-US" sz="3200" dirty="0"/>
                  <a:t>Therefore, we consider average case scenario in which some part of the input is sorted.</a:t>
                </a:r>
              </a:p>
              <a:p>
                <a:pPr>
                  <a:lnSpc>
                    <a:spcPct val="120000"/>
                  </a:lnSpc>
                  <a:buFont typeface="Wingdings" panose="05000000000000000000" pitchFamily="2" charset="2"/>
                  <a:buChar char="§"/>
                </a:pPr>
                <a:r>
                  <a:rPr lang="en-US" sz="3200" dirty="0"/>
                  <a:t>For an average case scenario, Selection sort is slightly more efficient than Bubble sort. That’s because for each iteration of the outer loop, the number of iterations in the inner loop </a:t>
                </a:r>
                <a:r>
                  <a:rPr lang="en-US" sz="3200" u="sng" dirty="0"/>
                  <a:t>shrinks linearly</a:t>
                </a:r>
                <a:r>
                  <a:rPr lang="en-US" sz="3200" dirty="0"/>
                  <a:t>.</a:t>
                </a:r>
              </a:p>
              <a:p>
                <a:pPr>
                  <a:lnSpc>
                    <a:spcPct val="120000"/>
                  </a:lnSpc>
                  <a:buFont typeface="Wingdings" panose="05000000000000000000" pitchFamily="2" charset="2"/>
                  <a:buChar char="§"/>
                </a:pPr>
                <a:r>
                  <a:rPr lang="en-US" sz="3200" dirty="0"/>
                  <a:t>Demo: Benchmarking Bubble Sort and Selection Sort.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11743016" cy="5020612"/>
              </a:xfrm>
              <a:prstGeom prst="rect">
                <a:avLst/>
              </a:prstGeom>
              <a:blipFill>
                <a:blip r:embed="rId3"/>
                <a:stretch>
                  <a:fillRect l="-1142" t="-1094" r="-2076"/>
                </a:stretch>
              </a:blipFill>
            </p:spPr>
            <p:txBody>
              <a:bodyPr/>
              <a:lstStyle/>
              <a:p>
                <a:r>
                  <a:rPr lang="en-US">
                    <a:noFill/>
                  </a:rPr>
                  <a:t> </a:t>
                </a:r>
              </a:p>
            </p:txBody>
          </p:sp>
        </mc:Fallback>
      </mc:AlternateContent>
    </p:spTree>
    <p:extLst>
      <p:ext uri="{BB962C8B-B14F-4D97-AF65-F5344CB8AC3E}">
        <p14:creationId xmlns:p14="http://schemas.microsoft.com/office/powerpoint/2010/main" val="149366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a:solidFill>
                  <a:srgbClr val="FFFFFF"/>
                </a:solidFill>
                <a:latin typeface="Arial"/>
                <a:cs typeface="Arial"/>
              </a:rPr>
              <a:t>Analysis of Selection </a:t>
            </a:r>
            <a:r>
              <a:rPr lang="en-US" sz="3200" dirty="0">
                <a:solidFill>
                  <a:srgbClr val="FFFFFF"/>
                </a:solidFill>
                <a:latin typeface="Arial"/>
                <a:cs typeface="Arial"/>
              </a:rPr>
              <a:t>Sort</a:t>
            </a:r>
          </a:p>
        </p:txBody>
      </p:sp>
      <p:sp>
        <p:nvSpPr>
          <p:cNvPr id="4" name="Rectangle 3">
            <a:extLst>
              <a:ext uri="{FF2B5EF4-FFF2-40B4-BE49-F238E27FC236}">
                <a16:creationId xmlns:a16="http://schemas.microsoft.com/office/drawing/2014/main" id="{F2FA0D26-897A-AAAC-3840-3D519B15B6FF}"/>
              </a:ext>
            </a:extLst>
          </p:cNvPr>
          <p:cNvSpPr/>
          <p:nvPr/>
        </p:nvSpPr>
        <p:spPr>
          <a:xfrm>
            <a:off x="2294542" y="1905506"/>
            <a:ext cx="7602915" cy="3046988"/>
          </a:xfrm>
          <a:prstGeom prst="rect">
            <a:avLst/>
          </a:prstGeom>
          <a:noFill/>
        </p:spPr>
        <p:txBody>
          <a:bodyPr wrap="square" lIns="91440" tIns="45720" rIns="91440" bIns="45720">
            <a:spAutoFit/>
          </a:bodyPr>
          <a:lstStyle/>
          <a:p>
            <a:pPr algn="ctr"/>
            <a:r>
              <a:rPr lang="en-US" sz="9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AND NOW, THE FUN PART</a:t>
            </a:r>
          </a:p>
        </p:txBody>
      </p:sp>
    </p:spTree>
    <p:extLst>
      <p:ext uri="{BB962C8B-B14F-4D97-AF65-F5344CB8AC3E}">
        <p14:creationId xmlns:p14="http://schemas.microsoft.com/office/powerpoint/2010/main" val="1728196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a:solidFill>
                  <a:srgbClr val="FFFFFF"/>
                </a:solidFill>
                <a:latin typeface="Arial"/>
                <a:cs typeface="Arial"/>
              </a:rPr>
              <a:t>Analysis of Selection </a:t>
            </a:r>
            <a:r>
              <a:rPr lang="en-US" sz="3200" dirty="0">
                <a:solidFill>
                  <a:srgbClr val="FFFFFF"/>
                </a:solidFill>
                <a:latin typeface="Arial"/>
                <a:cs typeface="Arial"/>
              </a:rPr>
              <a:t>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11743016" cy="5020612"/>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SELECTION_SORT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1=1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&lt;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2=</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𝑖</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𝑗</m:t>
                    </m:r>
                    <m:r>
                      <a:rPr lang="en-US" sz="2400" i="1" dirty="0">
                        <a:latin typeface="Cambria Math" panose="02040503050406030204" pitchFamily="18" charset="0"/>
                        <a:ea typeface="Cascadia Code" panose="020B0609020000020004" pitchFamily="49" charset="0"/>
                        <a:cs typeface="Cascadia Code" panose="020B0609020000020004" pitchFamily="49" charset="0"/>
                      </a:rPr>
                      <m:t>&lt;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2=</m:t>
                    </m:r>
                    <m:nary>
                      <m:naryPr>
                        <m:chr m:val="∑"/>
                        <m:ctrlPr>
                          <a:rPr lang="en-US" sz="2400" b="0" i="1" dirty="0" smtClean="0">
                            <a:latin typeface="Cambria Math" panose="02040503050406030204" pitchFamily="18" charset="0"/>
                            <a:cs typeface="Cascadia Code" panose="020B0609020000020004" pitchFamily="49" charset="0"/>
                          </a:rPr>
                        </m:ctrlPr>
                      </m:naryPr>
                      <m:sub>
                        <m:r>
                          <m:rPr>
                            <m:brk m:alnAt="23"/>
                          </m:rPr>
                          <a:rPr lang="en-US" sz="2400" b="0" i="1" dirty="0" smtClean="0">
                            <a:latin typeface="Cambria Math" panose="02040503050406030204" pitchFamily="18" charset="0"/>
                            <a:cs typeface="Cascadia Code" panose="020B0609020000020004" pitchFamily="49" charset="0"/>
                          </a:rPr>
                          <m:t>𝑗</m:t>
                        </m:r>
                        <m:r>
                          <a:rPr lang="en-US" sz="2400" b="0" i="1" dirty="0" smtClean="0">
                            <a:latin typeface="Cambria Math" panose="02040503050406030204" pitchFamily="18" charset="0"/>
                            <a:cs typeface="Cascadia Code" panose="020B0609020000020004" pitchFamily="49" charset="0"/>
                          </a:rPr>
                          <m:t>=1</m:t>
                        </m:r>
                      </m:sub>
                      <m:sup>
                        <m:r>
                          <a:rPr lang="en-US" sz="2400" b="0" i="1" dirty="0" smtClean="0">
                            <a:latin typeface="Cambria Math" panose="02040503050406030204" pitchFamily="18" charset="0"/>
                            <a:cs typeface="Cascadia Code" panose="020B0609020000020004" pitchFamily="49" charset="0"/>
                          </a:rPr>
                          <m:t>𝑛</m:t>
                        </m:r>
                      </m:sup>
                      <m:e>
                        <m:r>
                          <a:rPr lang="en-US" sz="2400" b="0" i="1" dirty="0" smtClean="0">
                            <a:latin typeface="Cambria Math" panose="02040503050406030204" pitchFamily="18" charset="0"/>
                            <a:cs typeface="Cascadia Code" panose="020B0609020000020004" pitchFamily="49" charset="0"/>
                          </a:rPr>
                          <m:t>1</m:t>
                        </m:r>
                      </m:e>
                    </m:nary>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𝑗</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&gt;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a:latin typeface="Cambria Math" panose="02040503050406030204" pitchFamily="18" charset="0"/>
                                <a:ea typeface="Cascadia Code" panose="020B0609020000020004" pitchFamily="49" charset="0"/>
                                <a:cs typeface="Cascadia Code" panose="020B0609020000020004" pitchFamily="49" charset="0"/>
                              </a:rPr>
                              <m:t>𝑚𝑖𝑛</m:t>
                            </m:r>
                          </m:sub>
                        </m:sSub>
                      </m:e>
                    </m:d>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3=</m:t>
                    </m:r>
                    <m:nary>
                      <m:naryPr>
                        <m:chr m:val="∑"/>
                        <m:ctrlPr>
                          <a:rPr lang="en-US" sz="2400" i="1" dirty="0">
                            <a:latin typeface="Cambria Math" panose="02040503050406030204" pitchFamily="18" charset="0"/>
                            <a:cs typeface="Cascadia Code" panose="020B0609020000020004" pitchFamily="49" charset="0"/>
                          </a:rPr>
                        </m:ctrlPr>
                      </m:naryPr>
                      <m:sub>
                        <m:r>
                          <m:rPr>
                            <m:brk m:alnAt="23"/>
                          </m:rPr>
                          <a:rPr lang="en-US" sz="2400" i="1" dirty="0">
                            <a:latin typeface="Cambria Math" panose="02040503050406030204" pitchFamily="18" charset="0"/>
                            <a:cs typeface="Cascadia Code" panose="020B0609020000020004" pitchFamily="49" charset="0"/>
                          </a:rPr>
                          <m:t>𝑗</m:t>
                        </m:r>
                        <m:r>
                          <a:rPr lang="en-US" sz="2400" i="1" dirty="0">
                            <a:latin typeface="Cambria Math" panose="02040503050406030204" pitchFamily="18" charset="0"/>
                            <a:cs typeface="Cascadia Code" panose="020B0609020000020004" pitchFamily="49" charset="0"/>
                          </a:rPr>
                          <m:t>=1</m:t>
                        </m:r>
                      </m:sub>
                      <m:sup>
                        <m:r>
                          <a:rPr lang="en-US" sz="2400" i="1" dirty="0">
                            <a:latin typeface="Cambria Math" panose="02040503050406030204" pitchFamily="18" charset="0"/>
                            <a:cs typeface="Cascadia Code" panose="020B0609020000020004" pitchFamily="49" charset="0"/>
                          </a:rPr>
                          <m:t>𝑛</m:t>
                        </m:r>
                        <m:r>
                          <a:rPr lang="en-US" sz="2400" b="0" i="1" dirty="0" smtClean="0">
                            <a:latin typeface="Cambria Math" panose="02040503050406030204" pitchFamily="18" charset="0"/>
                            <a:cs typeface="Cascadia Code" panose="020B0609020000020004" pitchFamily="49" charset="0"/>
                          </a:rPr>
                          <m:t>−1</m:t>
                        </m:r>
                      </m:sup>
                      <m:e>
                        <m:r>
                          <a:rPr lang="en-US" sz="2400" b="0" i="1" dirty="0" smtClean="0">
                            <a:latin typeface="Cambria Math" panose="02040503050406030204" pitchFamily="18" charset="0"/>
                            <a:cs typeface="Cascadia Code" panose="020B0609020000020004" pitchFamily="49" charset="0"/>
                          </a:rPr>
                          <m:t>1</m:t>
                        </m:r>
                      </m:e>
                    </m:nary>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𝑗</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nary>
                      <m:naryPr>
                        <m:chr m:val="∑"/>
                        <m:ctrlPr>
                          <a:rPr lang="en-US" sz="2400" i="1" dirty="0">
                            <a:latin typeface="Cambria Math" panose="02040503050406030204" pitchFamily="18" charset="0"/>
                            <a:cs typeface="Cascadia Code" panose="020B0609020000020004" pitchFamily="49" charset="0"/>
                          </a:rPr>
                        </m:ctrlPr>
                      </m:naryPr>
                      <m:sub>
                        <m:r>
                          <m:rPr>
                            <m:brk m:alnAt="23"/>
                          </m:rPr>
                          <a:rPr lang="en-US" sz="2400" i="1" dirty="0">
                            <a:latin typeface="Cambria Math" panose="02040503050406030204" pitchFamily="18" charset="0"/>
                            <a:cs typeface="Cascadia Code" panose="020B0609020000020004" pitchFamily="49" charset="0"/>
                          </a:rPr>
                          <m:t>𝑗</m:t>
                        </m:r>
                        <m:r>
                          <a:rPr lang="en-US" sz="2400" i="1" dirty="0">
                            <a:latin typeface="Cambria Math" panose="02040503050406030204" pitchFamily="18" charset="0"/>
                            <a:cs typeface="Cascadia Code" panose="020B0609020000020004" pitchFamily="49" charset="0"/>
                          </a:rPr>
                          <m:t>=1</m:t>
                        </m:r>
                      </m:sub>
                      <m:sup>
                        <m:r>
                          <a:rPr lang="en-US" sz="2400" i="1" dirty="0">
                            <a:latin typeface="Cambria Math" panose="02040503050406030204" pitchFamily="18" charset="0"/>
                            <a:cs typeface="Cascadia Code" panose="020B0609020000020004" pitchFamily="49" charset="0"/>
                          </a:rPr>
                          <m:t>𝑛</m:t>
                        </m:r>
                        <m:r>
                          <a:rPr lang="en-US" sz="2400" b="0" i="1" dirty="0" smtClean="0">
                            <a:latin typeface="Cambria Math" panose="02040503050406030204" pitchFamily="18" charset="0"/>
                            <a:cs typeface="Cascadia Code" panose="020B0609020000020004" pitchFamily="49" charset="0"/>
                          </a:rPr>
                          <m:t>−1</m:t>
                        </m:r>
                      </m:sup>
                      <m:e>
                        <m:r>
                          <a:rPr lang="en-US" sz="2400" b="0" i="1" dirty="0" smtClean="0">
                            <a:latin typeface="Cambria Math" panose="02040503050406030204" pitchFamily="18" charset="0"/>
                            <a:cs typeface="Cascadia Code" panose="020B0609020000020004" pitchFamily="49" charset="0"/>
                          </a:rPr>
                          <m:t>1</m:t>
                        </m:r>
                      </m:e>
                    </m:nary>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𝑗</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nary>
                      <m:naryPr>
                        <m:chr m:val="∑"/>
                        <m:ctrlPr>
                          <a:rPr lang="en-US" sz="2400" i="1" dirty="0">
                            <a:latin typeface="Cambria Math" panose="02040503050406030204" pitchFamily="18" charset="0"/>
                            <a:cs typeface="Cascadia Code" panose="020B0609020000020004" pitchFamily="49" charset="0"/>
                          </a:rPr>
                        </m:ctrlPr>
                      </m:naryPr>
                      <m:sub>
                        <m:r>
                          <m:rPr>
                            <m:brk m:alnAt="23"/>
                          </m:rPr>
                          <a:rPr lang="en-US" sz="2400" i="1" dirty="0">
                            <a:latin typeface="Cambria Math" panose="02040503050406030204" pitchFamily="18" charset="0"/>
                            <a:cs typeface="Cascadia Code" panose="020B0609020000020004" pitchFamily="49" charset="0"/>
                          </a:rPr>
                          <m:t>𝑗</m:t>
                        </m:r>
                        <m:r>
                          <a:rPr lang="en-US" sz="2400" i="1" dirty="0">
                            <a:latin typeface="Cambria Math" panose="02040503050406030204" pitchFamily="18" charset="0"/>
                            <a:cs typeface="Cascadia Code" panose="020B0609020000020004" pitchFamily="49" charset="0"/>
                          </a:rPr>
                          <m:t>=1</m:t>
                        </m:r>
                      </m:sub>
                      <m:sup>
                        <m:r>
                          <a:rPr lang="en-US" sz="2400" i="1" dirty="0">
                            <a:latin typeface="Cambria Math" panose="02040503050406030204" pitchFamily="18" charset="0"/>
                            <a:cs typeface="Cascadia Code" panose="020B0609020000020004" pitchFamily="49" charset="0"/>
                          </a:rPr>
                          <m:t>𝑛</m:t>
                        </m:r>
                        <m:r>
                          <a:rPr lang="en-US" sz="2400" b="0" i="1" dirty="0" smtClean="0">
                            <a:latin typeface="Cambria Math" panose="02040503050406030204" pitchFamily="18" charset="0"/>
                            <a:cs typeface="Cascadia Code" panose="020B0609020000020004" pitchFamily="49" charset="0"/>
                          </a:rPr>
                          <m:t>−1</m:t>
                        </m:r>
                      </m:sup>
                      <m:e>
                        <m:r>
                          <a:rPr lang="en-US" sz="2400" i="1" dirty="0">
                            <a:latin typeface="Cambria Math" panose="02040503050406030204" pitchFamily="18" charset="0"/>
                            <a:cs typeface="Cascadia Code" panose="020B0609020000020004" pitchFamily="49" charset="0"/>
                          </a:rPr>
                          <m:t>1</m:t>
                        </m:r>
                      </m:e>
                    </m:nary>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d>
                      <m:d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𝑖</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dirty="0">
                                <a:latin typeface="Cambria Math" panose="02040503050406030204" pitchFamily="18" charset="0"/>
                                <a:ea typeface="Cascadia Code" panose="020B0609020000020004" pitchFamily="49" charset="0"/>
                                <a:cs typeface="Cascadia Code" panose="020B0609020000020004" pitchFamily="49" charset="0"/>
                              </a:rPr>
                              <m:t>𝑚𝑖𝑛</m:t>
                            </m:r>
                          </m:sub>
                        </m:sSub>
                      </m:e>
                    </m:d>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3=</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𝑆𝑊𝐴𝑃</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𝑖</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m:t>
                    </m:r>
                    <m:sSub>
                      <m:sSub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sSub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𝑥</m:t>
                        </m:r>
                      </m:e>
                      <m:sub>
                        <m:r>
                          <a:rPr lang="en-US" sz="2400" i="1" dirty="0">
                            <a:latin typeface="Cambria Math" panose="02040503050406030204" pitchFamily="18" charset="0"/>
                            <a:ea typeface="Cascadia Code" panose="020B0609020000020004" pitchFamily="49" charset="0"/>
                            <a:cs typeface="Cascadia Code" panose="020B0609020000020004" pitchFamily="49" charset="0"/>
                          </a:rPr>
                          <m:t>𝑚𝑖𝑛</m:t>
                        </m:r>
                      </m:sub>
                    </m:sSub>
                    <m:r>
                      <a:rPr lang="en-US" sz="2400" i="1" dirty="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4=</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𝑖</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𝑖</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𝐶</m:t>
                    </m:r>
                    <m:r>
                      <a:rPr lang="en-US" sz="2400" i="1" dirty="0">
                        <a:latin typeface="Cambria Math" panose="02040503050406030204" pitchFamily="18" charset="0"/>
                        <a:ea typeface="Cascadia Code" panose="020B0609020000020004" pitchFamily="49" charset="0"/>
                        <a:cs typeface="Cascadia Code" panose="020B0609020000020004" pitchFamily="49" charset="0"/>
                      </a:rPr>
                      <m:t>1=</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𝐴</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 </a:t>
                </a: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𝐶</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5=1</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11743016" cy="5020612"/>
              </a:xfrm>
              <a:prstGeom prst="rect">
                <a:avLst/>
              </a:prstGeom>
              <a:blipFill>
                <a:blip r:embed="rId3"/>
                <a:stretch>
                  <a:fillRect l="-675" t="-2187"/>
                </a:stretch>
              </a:blipFill>
            </p:spPr>
            <p:txBody>
              <a:bodyPr/>
              <a:lstStyle/>
              <a:p>
                <a:r>
                  <a:rPr lang="en-US">
                    <a:noFill/>
                  </a:rPr>
                  <a:t> </a:t>
                </a:r>
              </a:p>
            </p:txBody>
          </p:sp>
        </mc:Fallback>
      </mc:AlternateContent>
    </p:spTree>
    <p:extLst>
      <p:ext uri="{BB962C8B-B14F-4D97-AF65-F5344CB8AC3E}">
        <p14:creationId xmlns:p14="http://schemas.microsoft.com/office/powerpoint/2010/main" val="1140127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a:solidFill>
                  <a:srgbClr val="FFFFFF"/>
                </a:solidFill>
                <a:latin typeface="Arial"/>
                <a:cs typeface="Arial"/>
              </a:rPr>
              <a:t>Analysis of Selection </a:t>
            </a:r>
            <a:r>
              <a:rPr lang="en-US" sz="3200" dirty="0">
                <a:solidFill>
                  <a:srgbClr val="FFFFFF"/>
                </a:solidFill>
                <a:latin typeface="Arial"/>
                <a:cs typeface="Arial"/>
              </a:rPr>
              <a:t>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11743016" cy="5020612"/>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If we consider the cost of different types of statements separately, then the total Running time will be calculated as </a:t>
                </a:r>
                <a14:m>
                  <m:oMath xmlns:m="http://schemas.openxmlformats.org/officeDocument/2006/math">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a:rPr lang="en-US" sz="3200" i="1">
                        <a:latin typeface="Cambria Math" panose="02040503050406030204" pitchFamily="18" charset="0"/>
                      </a:rPr>
                      <m:t>𝐶</m:t>
                    </m:r>
                    <m:r>
                      <a:rPr lang="en-US" sz="3200" i="1">
                        <a:latin typeface="Cambria Math" panose="02040503050406030204" pitchFamily="18" charset="0"/>
                      </a:rPr>
                      <m:t>1+</m:t>
                    </m:r>
                    <m:r>
                      <a:rPr lang="en-US" sz="3200" i="1">
                        <a:latin typeface="Cambria Math" panose="02040503050406030204" pitchFamily="18" charset="0"/>
                      </a:rPr>
                      <m:t>𝐶</m:t>
                    </m:r>
                    <m:r>
                      <a:rPr lang="en-US" sz="3200" i="1">
                        <a:latin typeface="Cambria Math" panose="02040503050406030204" pitchFamily="18" charset="0"/>
                      </a:rPr>
                      <m:t>2.</m:t>
                    </m:r>
                    <m:r>
                      <a:rPr lang="en-US" sz="3200" i="1">
                        <a:latin typeface="Cambria Math" panose="02040503050406030204" pitchFamily="18" charset="0"/>
                      </a:rPr>
                      <m:t>𝑛</m:t>
                    </m:r>
                    <m:r>
                      <a:rPr lang="en-US" sz="3200" i="1">
                        <a:latin typeface="Cambria Math" panose="02040503050406030204" pitchFamily="18" charset="0"/>
                      </a:rPr>
                      <m:t>+2.</m:t>
                    </m:r>
                    <m:r>
                      <a:rPr lang="en-US" sz="3200" i="1">
                        <a:latin typeface="Cambria Math" panose="02040503050406030204" pitchFamily="18" charset="0"/>
                      </a:rPr>
                      <m:t>𝐶</m:t>
                    </m:r>
                    <m:r>
                      <a:rPr lang="en-US" sz="3200" i="1">
                        <a:latin typeface="Cambria Math" panose="02040503050406030204" pitchFamily="18" charset="0"/>
                      </a:rPr>
                      <m:t>1.</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i="1">
                            <a:latin typeface="Cambria Math" panose="02040503050406030204" pitchFamily="18" charset="0"/>
                          </a:rPr>
                          <m:t>−1</m:t>
                        </m:r>
                      </m:e>
                    </m:d>
                    <m:r>
                      <a:rPr lang="en-US" sz="3200" i="1">
                        <a:latin typeface="Cambria Math" panose="02040503050406030204" pitchFamily="18" charset="0"/>
                      </a:rPr>
                      <m:t>+</m:t>
                    </m:r>
                    <m:r>
                      <a:rPr lang="en-US" sz="3200" i="1">
                        <a:latin typeface="Cambria Math" panose="02040503050406030204" pitchFamily="18" charset="0"/>
                      </a:rPr>
                      <m:t>𝐶</m:t>
                    </m:r>
                    <m:r>
                      <a:rPr lang="en-US" sz="3200" i="1">
                        <a:latin typeface="Cambria Math" panose="02040503050406030204" pitchFamily="18" charset="0"/>
                      </a:rPr>
                      <m:t>2.</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sup>
                      <m:e>
                        <m:r>
                          <a:rPr lang="en-US" sz="3200" i="1" dirty="0">
                            <a:latin typeface="Cambria Math" panose="02040503050406030204" pitchFamily="18" charset="0"/>
                            <a:cs typeface="Cascadia Code" panose="020B0609020000020004" pitchFamily="49" charset="0"/>
                          </a:rPr>
                          <m:t>1</m:t>
                        </m:r>
                      </m:e>
                    </m:nary>
                    <m:r>
                      <a:rPr lang="en-US" sz="3200" i="1" dirty="0">
                        <a:latin typeface="Cambria Math" panose="02040503050406030204" pitchFamily="18" charset="0"/>
                        <a:cs typeface="Cascadia Code" panose="020B0609020000020004" pitchFamily="49" charset="0"/>
                      </a:rPr>
                      <m:t>+</m:t>
                    </m:r>
                    <m:r>
                      <a:rPr lang="en-US" sz="3200" i="1" dirty="0">
                        <a:latin typeface="Cambria Math" panose="02040503050406030204" pitchFamily="18" charset="0"/>
                        <a:cs typeface="Cascadia Code" panose="020B0609020000020004" pitchFamily="49" charset="0"/>
                      </a:rPr>
                      <m:t>𝐶</m:t>
                    </m:r>
                    <m:r>
                      <a:rPr lang="en-US" sz="3200" i="1" dirty="0">
                        <a:latin typeface="Cambria Math" panose="02040503050406030204" pitchFamily="18" charset="0"/>
                        <a:cs typeface="Cascadia Code" panose="020B0609020000020004" pitchFamily="49" charset="0"/>
                      </a:rPr>
                      <m:t>3.</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sup>
                      <m:e>
                        <m:r>
                          <a:rPr lang="en-US" sz="3200" i="1" dirty="0">
                            <a:latin typeface="Cambria Math" panose="02040503050406030204" pitchFamily="18" charset="0"/>
                            <a:cs typeface="Cascadia Code" panose="020B0609020000020004" pitchFamily="49" charset="0"/>
                          </a:rPr>
                          <m:t>1</m:t>
                        </m:r>
                      </m:e>
                    </m:nary>
                    <m:r>
                      <a:rPr lang="en-US" sz="3200" i="1" dirty="0">
                        <a:latin typeface="Cambria Math" panose="02040503050406030204" pitchFamily="18" charset="0"/>
                        <a:cs typeface="Cascadia Code" panose="020B0609020000020004" pitchFamily="49" charset="0"/>
                      </a:rPr>
                      <m:t>+</m:t>
                    </m:r>
                    <m:r>
                      <a:rPr lang="en-US" sz="3200" i="1" dirty="0">
                        <a:latin typeface="Cambria Math" panose="02040503050406030204" pitchFamily="18" charset="0"/>
                        <a:cs typeface="Cascadia Code" panose="020B0609020000020004" pitchFamily="49" charset="0"/>
                      </a:rPr>
                      <m:t>𝐶</m:t>
                    </m:r>
                    <m:r>
                      <a:rPr lang="en-US" sz="3200" i="1" dirty="0">
                        <a:latin typeface="Cambria Math" panose="02040503050406030204" pitchFamily="18" charset="0"/>
                        <a:cs typeface="Cascadia Code" panose="020B0609020000020004" pitchFamily="49" charset="0"/>
                      </a:rPr>
                      <m:t>1.</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sup>
                      <m:e>
                        <m:r>
                          <a:rPr lang="en-US" sz="3200" i="1" dirty="0">
                            <a:latin typeface="Cambria Math" panose="02040503050406030204" pitchFamily="18" charset="0"/>
                            <a:cs typeface="Cascadia Code" panose="020B0609020000020004" pitchFamily="49" charset="0"/>
                          </a:rPr>
                          <m:t>1</m:t>
                        </m:r>
                      </m:e>
                    </m:nary>
                    <m:r>
                      <a:rPr lang="en-US" sz="3200" i="1" dirty="0">
                        <a:latin typeface="Cambria Math" panose="02040503050406030204" pitchFamily="18" charset="0"/>
                        <a:cs typeface="Cascadia Code" panose="020B0609020000020004" pitchFamily="49" charset="0"/>
                      </a:rPr>
                      <m:t>+</m:t>
                    </m:r>
                    <m:r>
                      <a:rPr lang="en-US" sz="3200" i="1" dirty="0">
                        <a:latin typeface="Cambria Math" panose="02040503050406030204" pitchFamily="18" charset="0"/>
                        <a:cs typeface="Cascadia Code" panose="020B0609020000020004" pitchFamily="49" charset="0"/>
                      </a:rPr>
                      <m:t>𝐶</m:t>
                    </m:r>
                    <m:r>
                      <a:rPr lang="en-US" sz="3200" i="1" dirty="0">
                        <a:latin typeface="Cambria Math" panose="02040503050406030204" pitchFamily="18" charset="0"/>
                        <a:cs typeface="Cascadia Code" panose="020B0609020000020004" pitchFamily="49" charset="0"/>
                      </a:rPr>
                      <m:t>1.</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sup>
                      <m:e>
                        <m:r>
                          <a:rPr lang="en-US" sz="3200" i="1" dirty="0">
                            <a:latin typeface="Cambria Math" panose="02040503050406030204" pitchFamily="18" charset="0"/>
                            <a:cs typeface="Cascadia Code" panose="020B0609020000020004" pitchFamily="49" charset="0"/>
                          </a:rPr>
                          <m:t>1</m:t>
                        </m:r>
                      </m:e>
                    </m:nary>
                    <m:r>
                      <a:rPr lang="en-US" sz="3200" i="1" dirty="0">
                        <a:latin typeface="Cambria Math" panose="02040503050406030204" pitchFamily="18" charset="0"/>
                        <a:cs typeface="Cascadia Code" panose="020B0609020000020004" pitchFamily="49" charset="0"/>
                      </a:rPr>
                      <m:t>+</m:t>
                    </m:r>
                    <m:r>
                      <a:rPr lang="en-US" sz="3200" i="1" dirty="0">
                        <a:latin typeface="Cambria Math" panose="02040503050406030204" pitchFamily="18" charset="0"/>
                        <a:cs typeface="Cascadia Code" panose="020B0609020000020004" pitchFamily="49" charset="0"/>
                      </a:rPr>
                      <m:t>𝐶</m:t>
                    </m:r>
                    <m:r>
                      <a:rPr lang="en-US" sz="3200" i="1" dirty="0">
                        <a:latin typeface="Cambria Math" panose="02040503050406030204" pitchFamily="18" charset="0"/>
                        <a:cs typeface="Cascadia Code" panose="020B0609020000020004" pitchFamily="49" charset="0"/>
                      </a:rPr>
                      <m:t>3.</m:t>
                    </m:r>
                    <m:d>
                      <m:dPr>
                        <m:ctrlPr>
                          <a:rPr lang="en-US" sz="3200" i="1" dirty="0">
                            <a:latin typeface="Cambria Math" panose="02040503050406030204" pitchFamily="18" charset="0"/>
                            <a:cs typeface="Cascadia Code" panose="020B0609020000020004" pitchFamily="49" charset="0"/>
                          </a:rPr>
                        </m:ctrlPr>
                      </m:dPr>
                      <m:e>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e>
                    </m:d>
                    <m:r>
                      <a:rPr lang="en-US" sz="3200" i="1" dirty="0">
                        <a:latin typeface="Cambria Math" panose="02040503050406030204" pitchFamily="18" charset="0"/>
                        <a:cs typeface="Cascadia Code" panose="020B0609020000020004" pitchFamily="49" charset="0"/>
                      </a:rPr>
                      <m:t>+</m:t>
                    </m:r>
                    <m:r>
                      <a:rPr lang="en-US" sz="3200" i="1" dirty="0">
                        <a:latin typeface="Cambria Math" panose="02040503050406030204" pitchFamily="18" charset="0"/>
                        <a:cs typeface="Cascadia Code" panose="020B0609020000020004" pitchFamily="49" charset="0"/>
                      </a:rPr>
                      <m:t>𝐶</m:t>
                    </m:r>
                    <m:r>
                      <a:rPr lang="en-US" sz="3200" i="1" dirty="0">
                        <a:latin typeface="Cambria Math" panose="02040503050406030204" pitchFamily="18" charset="0"/>
                        <a:cs typeface="Cascadia Code" panose="020B0609020000020004" pitchFamily="49" charset="0"/>
                      </a:rPr>
                      <m:t>4.</m:t>
                    </m:r>
                    <m:d>
                      <m:dPr>
                        <m:ctrlPr>
                          <a:rPr lang="en-US" sz="3200" i="1" dirty="0">
                            <a:latin typeface="Cambria Math" panose="02040503050406030204" pitchFamily="18" charset="0"/>
                            <a:cs typeface="Cascadia Code" panose="020B0609020000020004" pitchFamily="49" charset="0"/>
                          </a:rPr>
                        </m:ctrlPr>
                      </m:dPr>
                      <m:e>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e>
                    </m:d>
                    <m:r>
                      <a:rPr lang="en-US" sz="3200" i="1" dirty="0">
                        <a:latin typeface="Cambria Math" panose="02040503050406030204" pitchFamily="18" charset="0"/>
                        <a:cs typeface="Cascadia Code" panose="020B0609020000020004" pitchFamily="49" charset="0"/>
                      </a:rPr>
                      <m:t>+</m:t>
                    </m:r>
                    <m:r>
                      <a:rPr lang="en-US" sz="3200" i="1" dirty="0">
                        <a:latin typeface="Cambria Math" panose="02040503050406030204" pitchFamily="18" charset="0"/>
                        <a:cs typeface="Cascadia Code" panose="020B0609020000020004" pitchFamily="49" charset="0"/>
                      </a:rPr>
                      <m:t>𝐶</m:t>
                    </m:r>
                    <m:r>
                      <a:rPr lang="en-US" sz="3200" i="1" dirty="0">
                        <a:latin typeface="Cambria Math" panose="02040503050406030204" pitchFamily="18" charset="0"/>
                        <a:cs typeface="Cascadia Code" panose="020B0609020000020004" pitchFamily="49" charset="0"/>
                      </a:rPr>
                      <m:t>1.</m:t>
                    </m:r>
                    <m:d>
                      <m:dPr>
                        <m:ctrlPr>
                          <a:rPr lang="en-US" sz="3200" i="1" dirty="0">
                            <a:latin typeface="Cambria Math" panose="02040503050406030204" pitchFamily="18" charset="0"/>
                            <a:cs typeface="Cascadia Code" panose="020B0609020000020004" pitchFamily="49" charset="0"/>
                          </a:rPr>
                        </m:ctrlPr>
                      </m:dPr>
                      <m:e>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e>
                    </m:d>
                    <m:r>
                      <a:rPr lang="en-US" sz="3200" i="1" dirty="0">
                        <a:latin typeface="Cambria Math" panose="02040503050406030204" pitchFamily="18" charset="0"/>
                        <a:cs typeface="Cascadia Code" panose="020B0609020000020004" pitchFamily="49" charset="0"/>
                      </a:rPr>
                      <m:t>+</m:t>
                    </m:r>
                    <m:r>
                      <a:rPr lang="en-US" sz="3200" i="1" dirty="0">
                        <a:latin typeface="Cambria Math" panose="02040503050406030204" pitchFamily="18" charset="0"/>
                        <a:cs typeface="Cascadia Code" panose="020B0609020000020004" pitchFamily="49" charset="0"/>
                      </a:rPr>
                      <m:t>𝐶</m:t>
                    </m:r>
                    <m:r>
                      <a:rPr lang="en-US" sz="3200" i="1" dirty="0">
                        <a:latin typeface="Cambria Math" panose="02040503050406030204" pitchFamily="18" charset="0"/>
                        <a:cs typeface="Cascadia Code" panose="020B0609020000020004" pitchFamily="49" charset="0"/>
                      </a:rPr>
                      <m:t>5 </m:t>
                    </m:r>
                  </m:oMath>
                </a14:m>
                <a:endParaRPr lang="en-US" sz="3200" dirty="0"/>
              </a:p>
              <a:p>
                <a:pPr>
                  <a:lnSpc>
                    <a:spcPct val="120000"/>
                  </a:lnSpc>
                  <a:buFont typeface="Wingdings" panose="05000000000000000000" pitchFamily="2" charset="2"/>
                  <a:buChar char="§"/>
                </a:pPr>
                <a:r>
                  <a:rPr lang="en-US" sz="3200" dirty="0"/>
                  <a:t>Applying ideal assumptions, i.e., </a:t>
                </a:r>
                <a14:m>
                  <m:oMath xmlns:m="http://schemas.openxmlformats.org/officeDocument/2006/math">
                    <m:r>
                      <a:rPr lang="en-US" sz="3200" b="0" i="1" smtClean="0">
                        <a:latin typeface="Cambria Math" panose="02040503050406030204" pitchFamily="18" charset="0"/>
                      </a:rPr>
                      <m:t>𝐶</m:t>
                    </m:r>
                    <m:r>
                      <a:rPr lang="en-US" sz="3200" b="0" i="1" smtClean="0">
                        <a:latin typeface="Cambria Math" panose="02040503050406030204" pitchFamily="18" charset="0"/>
                      </a:rPr>
                      <m:t>1=</m:t>
                    </m:r>
                    <m:r>
                      <a:rPr lang="en-US" sz="3200" b="0" i="1" smtClean="0">
                        <a:latin typeface="Cambria Math" panose="02040503050406030204" pitchFamily="18" charset="0"/>
                      </a:rPr>
                      <m:t>𝐶</m:t>
                    </m:r>
                    <m:r>
                      <a:rPr lang="en-US" sz="3200" b="0" i="1" smtClean="0">
                        <a:latin typeface="Cambria Math" panose="02040503050406030204" pitchFamily="18" charset="0"/>
                      </a:rPr>
                      <m:t>2=</m:t>
                    </m:r>
                    <m:r>
                      <a:rPr lang="en-US" sz="3200" b="0" i="1" smtClean="0">
                        <a:latin typeface="Cambria Math" panose="02040503050406030204" pitchFamily="18" charset="0"/>
                      </a:rPr>
                      <m:t>𝐶</m:t>
                    </m:r>
                    <m:r>
                      <a:rPr lang="en-US" sz="3200" b="0" i="1" smtClean="0">
                        <a:latin typeface="Cambria Math" panose="02040503050406030204" pitchFamily="18" charset="0"/>
                      </a:rPr>
                      <m:t>3=</m:t>
                    </m:r>
                    <m:r>
                      <a:rPr lang="en-US" sz="3200" b="0" i="1" smtClean="0">
                        <a:latin typeface="Cambria Math" panose="02040503050406030204" pitchFamily="18" charset="0"/>
                      </a:rPr>
                      <m:t>𝐶</m:t>
                    </m:r>
                    <m:r>
                      <a:rPr lang="en-US" sz="3200" b="0" i="1" smtClean="0">
                        <a:latin typeface="Cambria Math" panose="02040503050406030204" pitchFamily="18" charset="0"/>
                      </a:rPr>
                      <m:t>4=</m:t>
                    </m:r>
                    <m:r>
                      <a:rPr lang="en-US" sz="3200" b="0" i="1" smtClean="0">
                        <a:latin typeface="Cambria Math" panose="02040503050406030204" pitchFamily="18" charset="0"/>
                      </a:rPr>
                      <m:t>𝐶</m:t>
                    </m:r>
                    <m:r>
                      <a:rPr lang="en-US" sz="3200" b="0" i="1" smtClean="0">
                        <a:latin typeface="Cambria Math" panose="02040503050406030204" pitchFamily="18" charset="0"/>
                      </a:rPr>
                      <m:t>5=1</m:t>
                    </m:r>
                  </m:oMath>
                </a14:m>
                <a:r>
                  <a:rPr lang="en-US" sz="3200" dirty="0"/>
                  <a:t> unit of time.</a:t>
                </a:r>
              </a:p>
              <a:p>
                <a:pPr>
                  <a:lnSpc>
                    <a:spcPct val="120000"/>
                  </a:lnSpc>
                  <a:buFont typeface="Wingdings" panose="05000000000000000000" pitchFamily="2" charset="2"/>
                  <a:buChar char="§"/>
                </a:pPr>
                <a14:m>
                  <m:oMath xmlns:m="http://schemas.openxmlformats.org/officeDocument/2006/math">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a:rPr lang="en-US" sz="3200" b="0" i="1" smtClean="0">
                        <a:latin typeface="Cambria Math" panose="02040503050406030204" pitchFamily="18" charset="0"/>
                      </a:rPr>
                      <m:t>1</m:t>
                    </m:r>
                    <m:r>
                      <a:rPr lang="en-US" sz="3200" i="1">
                        <a:latin typeface="Cambria Math" panose="02040503050406030204" pitchFamily="18" charset="0"/>
                      </a:rPr>
                      <m:t>+</m:t>
                    </m:r>
                    <m:r>
                      <a:rPr lang="en-US" sz="3200" i="1">
                        <a:latin typeface="Cambria Math" panose="02040503050406030204" pitchFamily="18" charset="0"/>
                      </a:rPr>
                      <m:t>𝑛</m:t>
                    </m:r>
                    <m:r>
                      <a:rPr lang="en-US" sz="3200" i="1">
                        <a:latin typeface="Cambria Math" panose="02040503050406030204" pitchFamily="18" charset="0"/>
                      </a:rPr>
                      <m:t>+2</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i="1">
                            <a:latin typeface="Cambria Math" panose="02040503050406030204" pitchFamily="18" charset="0"/>
                          </a:rPr>
                          <m:t>−1</m:t>
                        </m:r>
                      </m:e>
                    </m:d>
                    <m:r>
                      <a:rPr lang="en-US" sz="3200" i="1">
                        <a:latin typeface="Cambria Math" panose="02040503050406030204" pitchFamily="18" charset="0"/>
                      </a:rPr>
                      <m:t>+</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m:t>
                        </m:r>
                        <m:r>
                          <a:rPr lang="en-US" sz="3200" i="1" dirty="0">
                            <a:latin typeface="Cambria Math" panose="02040503050406030204" pitchFamily="18" charset="0"/>
                            <a:cs typeface="Cascadia Code" panose="020B0609020000020004" pitchFamily="49" charset="0"/>
                          </a:rPr>
                          <m:t>𝑖</m:t>
                        </m:r>
                      </m:sup>
                      <m:e>
                        <m:r>
                          <a:rPr lang="en-US" sz="3200" i="1" dirty="0">
                            <a:latin typeface="Cambria Math" panose="02040503050406030204" pitchFamily="18" charset="0"/>
                            <a:cs typeface="Cascadia Code" panose="020B0609020000020004" pitchFamily="49" charset="0"/>
                          </a:rPr>
                          <m:t>1</m:t>
                        </m:r>
                      </m:e>
                    </m:nary>
                    <m:r>
                      <a:rPr lang="en-US" sz="3200" i="1" dirty="0">
                        <a:latin typeface="Cambria Math" panose="02040503050406030204" pitchFamily="18" charset="0"/>
                        <a:cs typeface="Cascadia Code" panose="020B0609020000020004" pitchFamily="49" charset="0"/>
                      </a:rPr>
                      <m:t>+</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sup>
                      <m:e>
                        <m:r>
                          <a:rPr lang="en-US" sz="3200" i="1" dirty="0">
                            <a:latin typeface="Cambria Math" panose="02040503050406030204" pitchFamily="18" charset="0"/>
                            <a:cs typeface="Cascadia Code" panose="020B0609020000020004" pitchFamily="49" charset="0"/>
                          </a:rPr>
                          <m:t>1</m:t>
                        </m:r>
                      </m:e>
                    </m:nary>
                    <m:r>
                      <a:rPr lang="en-US" sz="3200" i="1" dirty="0">
                        <a:latin typeface="Cambria Math" panose="02040503050406030204" pitchFamily="18" charset="0"/>
                        <a:cs typeface="Cascadia Code" panose="020B0609020000020004" pitchFamily="49" charset="0"/>
                      </a:rPr>
                      <m:t>+</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sup>
                      <m:e>
                        <m:r>
                          <a:rPr lang="en-US" sz="3200" i="1" dirty="0">
                            <a:latin typeface="Cambria Math" panose="02040503050406030204" pitchFamily="18" charset="0"/>
                            <a:cs typeface="Cascadia Code" panose="020B0609020000020004" pitchFamily="49" charset="0"/>
                          </a:rPr>
                          <m:t>1</m:t>
                        </m:r>
                      </m:e>
                    </m:nary>
                    <m:r>
                      <a:rPr lang="en-US" sz="3200" i="1" dirty="0">
                        <a:latin typeface="Cambria Math" panose="02040503050406030204" pitchFamily="18" charset="0"/>
                        <a:cs typeface="Cascadia Code" panose="020B0609020000020004" pitchFamily="49" charset="0"/>
                      </a:rPr>
                      <m:t>+</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sup>
                      <m:e>
                        <m:r>
                          <a:rPr lang="en-US" sz="3200" i="1" dirty="0">
                            <a:latin typeface="Cambria Math" panose="02040503050406030204" pitchFamily="18" charset="0"/>
                            <a:cs typeface="Cascadia Code" panose="020B0609020000020004" pitchFamily="49" charset="0"/>
                          </a:rPr>
                          <m:t>1</m:t>
                        </m:r>
                      </m:e>
                    </m:nary>
                    <m:r>
                      <a:rPr lang="en-US" sz="3200" i="1" dirty="0">
                        <a:latin typeface="Cambria Math" panose="02040503050406030204" pitchFamily="18" charset="0"/>
                        <a:cs typeface="Cascadia Code" panose="020B0609020000020004" pitchFamily="49" charset="0"/>
                      </a:rPr>
                      <m:t>+</m:t>
                    </m:r>
                    <m:d>
                      <m:dPr>
                        <m:ctrlPr>
                          <a:rPr lang="en-US" sz="3200" i="1" dirty="0">
                            <a:latin typeface="Cambria Math" panose="02040503050406030204" pitchFamily="18" charset="0"/>
                            <a:cs typeface="Cascadia Code" panose="020B0609020000020004" pitchFamily="49" charset="0"/>
                          </a:rPr>
                        </m:ctrlPr>
                      </m:dPr>
                      <m:e>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e>
                    </m:d>
                    <m:r>
                      <a:rPr lang="en-US" sz="3200" i="1" dirty="0">
                        <a:latin typeface="Cambria Math" panose="02040503050406030204" pitchFamily="18" charset="0"/>
                        <a:cs typeface="Cascadia Code" panose="020B0609020000020004" pitchFamily="49" charset="0"/>
                      </a:rPr>
                      <m:t>+</m:t>
                    </m:r>
                    <m:d>
                      <m:dPr>
                        <m:ctrlPr>
                          <a:rPr lang="en-US" sz="3200" i="1" dirty="0">
                            <a:latin typeface="Cambria Math" panose="02040503050406030204" pitchFamily="18" charset="0"/>
                            <a:cs typeface="Cascadia Code" panose="020B0609020000020004" pitchFamily="49" charset="0"/>
                          </a:rPr>
                        </m:ctrlPr>
                      </m:dPr>
                      <m:e>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e>
                    </m:d>
                    <m:r>
                      <a:rPr lang="en-US" sz="3200" i="1" dirty="0">
                        <a:latin typeface="Cambria Math" panose="02040503050406030204" pitchFamily="18" charset="0"/>
                        <a:cs typeface="Cascadia Code" panose="020B0609020000020004" pitchFamily="49" charset="0"/>
                      </a:rPr>
                      <m:t>+</m:t>
                    </m:r>
                    <m:d>
                      <m:dPr>
                        <m:ctrlPr>
                          <a:rPr lang="en-US" sz="3200" i="1" dirty="0">
                            <a:latin typeface="Cambria Math" panose="02040503050406030204" pitchFamily="18" charset="0"/>
                            <a:cs typeface="Cascadia Code" panose="020B0609020000020004" pitchFamily="49" charset="0"/>
                          </a:rPr>
                        </m:ctrlPr>
                      </m:dPr>
                      <m:e>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e>
                    </m:d>
                    <m:r>
                      <a:rPr lang="en-US" sz="3200" i="1" dirty="0">
                        <a:latin typeface="Cambria Math" panose="02040503050406030204" pitchFamily="18" charset="0"/>
                        <a:cs typeface="Cascadia Code" panose="020B0609020000020004" pitchFamily="49" charset="0"/>
                      </a:rPr>
                      <m:t>+</m:t>
                    </m:r>
                    <m:r>
                      <a:rPr lang="en-US" sz="3200" b="0" i="1" dirty="0" smtClean="0">
                        <a:latin typeface="Cambria Math" panose="02040503050406030204" pitchFamily="18" charset="0"/>
                        <a:cs typeface="Cascadia Code" panose="020B0609020000020004" pitchFamily="49" charset="0"/>
                      </a:rPr>
                      <m:t>1</m:t>
                    </m:r>
                  </m:oMath>
                </a14:m>
                <a:endParaRPr lang="en-US" sz="3200" b="0" i="1" dirty="0">
                  <a:latin typeface="Cambria Math" panose="02040503050406030204" pitchFamily="18" charset="0"/>
                  <a:cs typeface="Cascadia Code" panose="020B0609020000020004" pitchFamily="49" charset="0"/>
                </a:endParaRPr>
              </a:p>
              <a:p>
                <a:pPr>
                  <a:lnSpc>
                    <a:spcPct val="120000"/>
                  </a:lnSpc>
                  <a:buFont typeface="Wingdings" panose="05000000000000000000" pitchFamily="2" charset="2"/>
                  <a:buChar char="§"/>
                </a:pPr>
                <a14:m>
                  <m:oMath xmlns:m="http://schemas.openxmlformats.org/officeDocument/2006/math">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a:rPr lang="en-US" sz="3200" b="0" i="1" smtClean="0">
                        <a:latin typeface="Cambria Math" panose="02040503050406030204" pitchFamily="18" charset="0"/>
                      </a:rPr>
                      <m:t>7</m:t>
                    </m:r>
                    <m:r>
                      <a:rPr lang="en-US" sz="3200" b="0" i="1" smtClean="0">
                        <a:latin typeface="Cambria Math" panose="02040503050406030204" pitchFamily="18" charset="0"/>
                      </a:rPr>
                      <m:t>𝑛</m:t>
                    </m:r>
                    <m:r>
                      <a:rPr lang="en-US" sz="3200" b="0" i="1" smtClean="0">
                        <a:latin typeface="Cambria Math" panose="02040503050406030204" pitchFamily="18" charset="0"/>
                      </a:rPr>
                      <m:t>−4+</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sup>
                      <m:e>
                        <m:r>
                          <a:rPr lang="en-US" sz="3200" i="1" dirty="0">
                            <a:latin typeface="Cambria Math" panose="02040503050406030204" pitchFamily="18" charset="0"/>
                            <a:cs typeface="Cascadia Code" panose="020B0609020000020004" pitchFamily="49" charset="0"/>
                          </a:rPr>
                          <m:t>1</m:t>
                        </m:r>
                      </m:e>
                    </m:nary>
                    <m:r>
                      <a:rPr lang="en-US" sz="3200" i="1" dirty="0">
                        <a:latin typeface="Cambria Math" panose="02040503050406030204" pitchFamily="18" charset="0"/>
                        <a:cs typeface="Cascadia Code" panose="020B0609020000020004" pitchFamily="49" charset="0"/>
                      </a:rPr>
                      <m:t>+</m:t>
                    </m:r>
                    <m:r>
                      <a:rPr lang="en-US" sz="3200" b="0" i="1" dirty="0" smtClean="0">
                        <a:latin typeface="Cambria Math" panose="02040503050406030204" pitchFamily="18" charset="0"/>
                        <a:cs typeface="Cascadia Code" panose="020B0609020000020004" pitchFamily="49" charset="0"/>
                      </a:rPr>
                      <m:t>3</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r>
                          <a:rPr lang="en-US" sz="3200" i="1" dirty="0">
                            <a:latin typeface="Cambria Math" panose="02040503050406030204" pitchFamily="18" charset="0"/>
                            <a:cs typeface="Cascadia Code" panose="020B0609020000020004" pitchFamily="49" charset="0"/>
                          </a:rPr>
                          <m:t>−1</m:t>
                        </m:r>
                      </m:sup>
                      <m:e>
                        <m:r>
                          <a:rPr lang="en-US" sz="3200" i="1" dirty="0">
                            <a:latin typeface="Cambria Math" panose="02040503050406030204" pitchFamily="18" charset="0"/>
                            <a:cs typeface="Cascadia Code" panose="020B0609020000020004" pitchFamily="49" charset="0"/>
                          </a:rPr>
                          <m:t>1</m:t>
                        </m:r>
                      </m:e>
                    </m:nary>
                  </m:oMath>
                </a14:m>
                <a:endParaRPr lang="en-US" sz="3200" i="1" dirty="0">
                  <a:latin typeface="Cambria Math" panose="02040503050406030204" pitchFamily="18" charset="0"/>
                  <a:cs typeface="Cascadia Code" panose="020B0609020000020004" pitchFamily="49" charset="0"/>
                </a:endParaRPr>
              </a:p>
              <a:p>
                <a:pPr>
                  <a:lnSpc>
                    <a:spcPct val="120000"/>
                  </a:lnSpc>
                  <a:buFont typeface="Wingdings" panose="05000000000000000000" pitchFamily="2" charset="2"/>
                  <a:buChar char="§"/>
                </a:pPr>
                <a:r>
                  <a:rPr lang="en-US" sz="3200" dirty="0">
                    <a:latin typeface="Cambria Math" panose="02040503050406030204" pitchFamily="18" charset="0"/>
                    <a:cs typeface="Cascadia Code" panose="020B0609020000020004" pitchFamily="49" charset="0"/>
                  </a:rPr>
                  <a:t>Let </a:t>
                </a:r>
                <a14:m>
                  <m:oMath xmlns:m="http://schemas.openxmlformats.org/officeDocument/2006/math">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sup>
                      <m:e>
                        <m:r>
                          <a:rPr lang="en-US" sz="3200" i="1" dirty="0">
                            <a:latin typeface="Cambria Math" panose="02040503050406030204" pitchFamily="18" charset="0"/>
                            <a:cs typeface="Cascadia Code" panose="020B0609020000020004" pitchFamily="49" charset="0"/>
                          </a:rPr>
                          <m:t>1</m:t>
                        </m:r>
                      </m:e>
                    </m:nary>
                    <m:r>
                      <a:rPr lang="en-US" sz="3200" b="0" i="1" dirty="0" smtClean="0">
                        <a:latin typeface="Cambria Math" panose="02040503050406030204" pitchFamily="18" charset="0"/>
                        <a:cs typeface="Cascadia Code" panose="020B0609020000020004" pitchFamily="49" charset="0"/>
                      </a:rPr>
                      <m:t>=</m:t>
                    </m:r>
                    <m:r>
                      <a:rPr lang="en-US" sz="3200" b="0" i="1" dirty="0" smtClean="0">
                        <a:latin typeface="Cambria Math" panose="02040503050406030204" pitchFamily="18" charset="0"/>
                        <a:cs typeface="Cascadia Code" panose="020B0609020000020004" pitchFamily="49" charset="0"/>
                      </a:rPr>
                      <m:t>𝐻</m:t>
                    </m:r>
                    <m:r>
                      <a:rPr lang="en-US" sz="3200" b="0" i="1" dirty="0" smtClean="0">
                        <a:latin typeface="Cambria Math" panose="02040503050406030204" pitchFamily="18" charset="0"/>
                        <a:cs typeface="Cascadia Code" panose="020B0609020000020004" pitchFamily="49" charset="0"/>
                      </a:rPr>
                      <m:t>;</m:t>
                    </m:r>
                    <m:nary>
                      <m:naryPr>
                        <m:chr m:val="∑"/>
                        <m:ctrlPr>
                          <a:rPr lang="en-US" sz="3200" i="1" dirty="0">
                            <a:latin typeface="Cambria Math" panose="02040503050406030204" pitchFamily="18" charset="0"/>
                            <a:cs typeface="Cascadia Code" panose="020B0609020000020004" pitchFamily="49" charset="0"/>
                          </a:rPr>
                        </m:ctrlPr>
                      </m:naryPr>
                      <m:sub>
                        <m:r>
                          <m:rPr>
                            <m:brk m:alnAt="23"/>
                          </m:rPr>
                          <a:rPr lang="en-US" sz="3200" i="1" dirty="0">
                            <a:latin typeface="Cambria Math" panose="02040503050406030204" pitchFamily="18" charset="0"/>
                            <a:cs typeface="Cascadia Code" panose="020B0609020000020004" pitchFamily="49" charset="0"/>
                          </a:rPr>
                          <m:t>𝑗</m:t>
                        </m:r>
                        <m:r>
                          <a:rPr lang="en-US" sz="3200" i="1" dirty="0">
                            <a:latin typeface="Cambria Math" panose="02040503050406030204" pitchFamily="18" charset="0"/>
                            <a:cs typeface="Cascadia Code" panose="020B0609020000020004" pitchFamily="49" charset="0"/>
                          </a:rPr>
                          <m:t>=1</m:t>
                        </m:r>
                      </m:sub>
                      <m:sup>
                        <m:r>
                          <a:rPr lang="en-US" sz="3200" i="1" dirty="0">
                            <a:latin typeface="Cambria Math" panose="02040503050406030204" pitchFamily="18" charset="0"/>
                            <a:cs typeface="Cascadia Code" panose="020B0609020000020004" pitchFamily="49" charset="0"/>
                          </a:rPr>
                          <m:t>𝑛</m:t>
                        </m:r>
                        <m:r>
                          <a:rPr lang="en-US" sz="3200" b="0" i="1" dirty="0" smtClean="0">
                            <a:latin typeface="Cambria Math" panose="02040503050406030204" pitchFamily="18" charset="0"/>
                            <a:cs typeface="Cascadia Code" panose="020B0609020000020004" pitchFamily="49" charset="0"/>
                          </a:rPr>
                          <m:t>−1</m:t>
                        </m:r>
                      </m:sup>
                      <m:e>
                        <m:r>
                          <a:rPr lang="en-US" sz="3200" i="1" dirty="0">
                            <a:latin typeface="Cambria Math" panose="02040503050406030204" pitchFamily="18" charset="0"/>
                            <a:cs typeface="Cascadia Code" panose="020B0609020000020004" pitchFamily="49" charset="0"/>
                          </a:rPr>
                          <m:t>1</m:t>
                        </m:r>
                      </m:e>
                    </m:nary>
                    <m:r>
                      <a:rPr lang="en-US" sz="3200" b="0" i="1" dirty="0" smtClean="0">
                        <a:latin typeface="Cambria Math" panose="02040503050406030204" pitchFamily="18" charset="0"/>
                        <a:cs typeface="Cascadia Code" panose="020B0609020000020004" pitchFamily="49" charset="0"/>
                      </a:rPr>
                      <m:t>=</m:t>
                    </m:r>
                    <m:r>
                      <a:rPr lang="en-US" sz="3200" b="0" i="1" dirty="0" smtClean="0">
                        <a:latin typeface="Cambria Math" panose="02040503050406030204" pitchFamily="18" charset="0"/>
                        <a:cs typeface="Cascadia Code" panose="020B0609020000020004" pitchFamily="49" charset="0"/>
                      </a:rPr>
                      <m:t>𝐺</m:t>
                    </m:r>
                  </m:oMath>
                </a14:m>
                <a:r>
                  <a:rPr lang="en-US" sz="3200" dirty="0">
                    <a:latin typeface="Cambria Math" panose="02040503050406030204" pitchFamily="18" charset="0"/>
                    <a:cs typeface="Cascadia Code" panose="020B0609020000020004" pitchFamily="49" charset="0"/>
                  </a:rPr>
                  <a:t>, thus </a:t>
                </a:r>
                <a14:m>
                  <m:oMath xmlns:m="http://schemas.openxmlformats.org/officeDocument/2006/math">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a:rPr lang="en-US" sz="3200" b="0" i="1" smtClean="0">
                        <a:latin typeface="Cambria Math" panose="02040503050406030204" pitchFamily="18" charset="0"/>
                      </a:rPr>
                      <m:t>𝐻</m:t>
                    </m:r>
                    <m:r>
                      <a:rPr lang="en-US" sz="3200" b="0" i="1" smtClean="0">
                        <a:latin typeface="Cambria Math" panose="02040503050406030204" pitchFamily="18" charset="0"/>
                      </a:rPr>
                      <m:t>+3</m:t>
                    </m:r>
                    <m:r>
                      <a:rPr lang="en-US" sz="3200" b="0" i="1" smtClean="0">
                        <a:latin typeface="Cambria Math" panose="02040503050406030204" pitchFamily="18" charset="0"/>
                      </a:rPr>
                      <m:t>𝐺</m:t>
                    </m:r>
                    <m:r>
                      <a:rPr lang="en-US" sz="3200" b="0" i="1" smtClean="0">
                        <a:latin typeface="Cambria Math" panose="02040503050406030204" pitchFamily="18" charset="0"/>
                      </a:rPr>
                      <m:t>+6</m:t>
                    </m:r>
                    <m:r>
                      <a:rPr lang="en-US" sz="3200" b="0" i="1" smtClean="0">
                        <a:latin typeface="Cambria Math" panose="02040503050406030204" pitchFamily="18" charset="0"/>
                      </a:rPr>
                      <m:t>𝑛</m:t>
                    </m:r>
                    <m:r>
                      <a:rPr lang="en-US" sz="3200" b="0" i="1" smtClean="0">
                        <a:latin typeface="Cambria Math" panose="02040503050406030204" pitchFamily="18" charset="0"/>
                      </a:rPr>
                      <m:t>−4</m:t>
                    </m:r>
                  </m:oMath>
                </a14:m>
                <a:endParaRPr lang="en-US" sz="3200" i="1" dirty="0">
                  <a:latin typeface="Cambria Math" panose="02040503050406030204" pitchFamily="18" charset="0"/>
                  <a:cs typeface="Cascadia Code" panose="020B0609020000020004" pitchFamily="49" charset="0"/>
                </a:endParaRPr>
              </a:p>
              <a:p>
                <a:pPr>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cs typeface="Cascadia Code" panose="020B0609020000020004" pitchFamily="49" charset="0"/>
                      </a:rPr>
                      <m:t>𝐻</m:t>
                    </m:r>
                    <m:r>
                      <a:rPr lang="en-US" sz="3200" b="0" i="1" smtClean="0">
                        <a:latin typeface="Cambria Math" panose="02040503050406030204" pitchFamily="18" charset="0"/>
                        <a:cs typeface="Cascadia Code" panose="020B0609020000020004" pitchFamily="49" charset="0"/>
                      </a:rPr>
                      <m:t>=</m:t>
                    </m:r>
                    <m:d>
                      <m:dPr>
                        <m:ctrlPr>
                          <a:rPr lang="en-US" sz="3200" i="1">
                            <a:latin typeface="Cambria Math" panose="02040503050406030204" pitchFamily="18" charset="0"/>
                            <a:cs typeface="Cascadia Code" panose="020B0609020000020004" pitchFamily="49" charset="0"/>
                          </a:rPr>
                        </m:ctrlPr>
                      </m:dPr>
                      <m:e>
                        <m:r>
                          <a:rPr lang="en-US" sz="3200" i="1">
                            <a:latin typeface="Cambria Math" panose="02040503050406030204" pitchFamily="18" charset="0"/>
                            <a:cs typeface="Cascadia Code" panose="020B0609020000020004" pitchFamily="49" charset="0"/>
                          </a:rPr>
                          <m:t>𝑛</m:t>
                        </m:r>
                        <m:r>
                          <a:rPr lang="en-US" sz="3200" i="1">
                            <a:latin typeface="Cambria Math" panose="02040503050406030204" pitchFamily="18" charset="0"/>
                            <a:cs typeface="Cascadia Code" panose="020B0609020000020004" pitchFamily="49" charset="0"/>
                          </a:rPr>
                          <m:t>−1</m:t>
                        </m:r>
                      </m:e>
                    </m:d>
                    <m:r>
                      <a:rPr lang="en-US" sz="3200" i="1">
                        <a:latin typeface="Cambria Math" panose="02040503050406030204" pitchFamily="18" charset="0"/>
                        <a:cs typeface="Cascadia Code" panose="020B0609020000020004" pitchFamily="49" charset="0"/>
                      </a:rPr>
                      <m:t>+</m:t>
                    </m:r>
                    <m:d>
                      <m:dPr>
                        <m:ctrlPr>
                          <a:rPr lang="en-US" sz="3200" i="1">
                            <a:latin typeface="Cambria Math" panose="02040503050406030204" pitchFamily="18" charset="0"/>
                            <a:cs typeface="Cascadia Code" panose="020B0609020000020004" pitchFamily="49" charset="0"/>
                          </a:rPr>
                        </m:ctrlPr>
                      </m:dPr>
                      <m:e>
                        <m:r>
                          <a:rPr lang="en-US" sz="3200" i="1">
                            <a:latin typeface="Cambria Math" panose="02040503050406030204" pitchFamily="18" charset="0"/>
                            <a:cs typeface="Cascadia Code" panose="020B0609020000020004" pitchFamily="49" charset="0"/>
                          </a:rPr>
                          <m:t>𝑛</m:t>
                        </m:r>
                        <m:r>
                          <a:rPr lang="en-US" sz="3200" i="1">
                            <a:latin typeface="Cambria Math" panose="02040503050406030204" pitchFamily="18" charset="0"/>
                            <a:cs typeface="Cascadia Code" panose="020B0609020000020004" pitchFamily="49" charset="0"/>
                          </a:rPr>
                          <m:t>−2</m:t>
                        </m:r>
                      </m:e>
                    </m:d>
                    <m:r>
                      <a:rPr lang="en-US" sz="3200" i="1">
                        <a:latin typeface="Cambria Math" panose="02040503050406030204" pitchFamily="18" charset="0"/>
                        <a:cs typeface="Cascadia Code" panose="020B0609020000020004" pitchFamily="49" charset="0"/>
                      </a:rPr>
                      <m:t>+</m:t>
                    </m:r>
                    <m:d>
                      <m:dPr>
                        <m:ctrlPr>
                          <a:rPr lang="en-US" sz="3200" i="1">
                            <a:latin typeface="Cambria Math" panose="02040503050406030204" pitchFamily="18" charset="0"/>
                            <a:cs typeface="Cascadia Code" panose="020B0609020000020004" pitchFamily="49" charset="0"/>
                          </a:rPr>
                        </m:ctrlPr>
                      </m:dPr>
                      <m:e>
                        <m:r>
                          <a:rPr lang="en-US" sz="3200" i="1">
                            <a:latin typeface="Cambria Math" panose="02040503050406030204" pitchFamily="18" charset="0"/>
                            <a:cs typeface="Cascadia Code" panose="020B0609020000020004" pitchFamily="49" charset="0"/>
                          </a:rPr>
                          <m:t>𝑛</m:t>
                        </m:r>
                        <m:r>
                          <a:rPr lang="en-US" sz="3200" i="1">
                            <a:latin typeface="Cambria Math" panose="02040503050406030204" pitchFamily="18" charset="0"/>
                            <a:cs typeface="Cascadia Code" panose="020B0609020000020004" pitchFamily="49" charset="0"/>
                          </a:rPr>
                          <m:t>−3</m:t>
                        </m:r>
                      </m:e>
                    </m:d>
                    <m:r>
                      <a:rPr lang="en-US" sz="3200" i="1">
                        <a:latin typeface="Cambria Math" panose="02040503050406030204" pitchFamily="18" charset="0"/>
                        <a:cs typeface="Cascadia Code" panose="020B0609020000020004" pitchFamily="49" charset="0"/>
                      </a:rPr>
                      <m:t>+</m:t>
                    </m:r>
                    <m:r>
                      <a:rPr lang="en-US" sz="3200" b="0" i="1" smtClean="0">
                        <a:latin typeface="Cambria Math" panose="02040503050406030204" pitchFamily="18" charset="0"/>
                        <a:cs typeface="Cascadia Code" panose="020B0609020000020004" pitchFamily="49" charset="0"/>
                      </a:rPr>
                      <m:t>…+1−</m:t>
                    </m:r>
                    <m:r>
                      <a:rPr lang="en-US" sz="3200" b="0" i="1" smtClean="0">
                        <a:latin typeface="Cambria Math" panose="02040503050406030204" pitchFamily="18" charset="0"/>
                        <a:cs typeface="Cascadia Code" panose="020B0609020000020004" pitchFamily="49" charset="0"/>
                      </a:rPr>
                      <m:t>𝑛</m:t>
                    </m:r>
                    <m:r>
                      <a:rPr lang="en-US" sz="3200" b="0" i="1" smtClean="0">
                        <a:latin typeface="Cambria Math" panose="02040503050406030204" pitchFamily="18" charset="0"/>
                        <a:cs typeface="Cascadia Code" panose="020B0609020000020004" pitchFamily="49" charset="0"/>
                      </a:rPr>
                      <m:t>=</m:t>
                    </m:r>
                    <m:f>
                      <m:fPr>
                        <m:ctrlPr>
                          <a:rPr lang="en-US" sz="3200" i="1">
                            <a:latin typeface="Cambria Math" panose="02040503050406030204" pitchFamily="18" charset="0"/>
                            <a:cs typeface="Cascadia Code" panose="020B0609020000020004" pitchFamily="49" charset="0"/>
                          </a:rPr>
                        </m:ctrlPr>
                      </m:fPr>
                      <m:num>
                        <m:r>
                          <a:rPr lang="en-US" sz="3200" i="1">
                            <a:latin typeface="Cambria Math" panose="02040503050406030204" pitchFamily="18" charset="0"/>
                            <a:cs typeface="Cascadia Code" panose="020B0609020000020004" pitchFamily="49" charset="0"/>
                          </a:rPr>
                          <m:t>𝑛</m:t>
                        </m:r>
                        <m:d>
                          <m:dPr>
                            <m:ctrlPr>
                              <a:rPr lang="en-US" sz="3200" i="1">
                                <a:latin typeface="Cambria Math" panose="02040503050406030204" pitchFamily="18" charset="0"/>
                                <a:cs typeface="Cascadia Code" panose="020B0609020000020004" pitchFamily="49" charset="0"/>
                              </a:rPr>
                            </m:ctrlPr>
                          </m:dPr>
                          <m:e>
                            <m:r>
                              <a:rPr lang="en-US" sz="3200" i="1">
                                <a:latin typeface="Cambria Math" panose="02040503050406030204" pitchFamily="18" charset="0"/>
                                <a:cs typeface="Cascadia Code" panose="020B0609020000020004" pitchFamily="49" charset="0"/>
                              </a:rPr>
                              <m:t>𝑛</m:t>
                            </m:r>
                            <m:r>
                              <a:rPr lang="en-US" sz="3200" i="1">
                                <a:latin typeface="Cambria Math" panose="02040503050406030204" pitchFamily="18" charset="0"/>
                                <a:cs typeface="Cascadia Code" panose="020B0609020000020004" pitchFamily="49" charset="0"/>
                              </a:rPr>
                              <m:t>+1</m:t>
                            </m:r>
                          </m:e>
                        </m:d>
                      </m:num>
                      <m:den>
                        <m:r>
                          <a:rPr lang="en-US" sz="3200" i="1">
                            <a:latin typeface="Cambria Math" panose="02040503050406030204" pitchFamily="18" charset="0"/>
                            <a:cs typeface="Cascadia Code" panose="020B0609020000020004" pitchFamily="49" charset="0"/>
                          </a:rPr>
                          <m:t>2</m:t>
                        </m:r>
                      </m:den>
                    </m:f>
                    <m:r>
                      <a:rPr lang="en-US" sz="3200" i="1">
                        <a:latin typeface="Cambria Math" panose="02040503050406030204" pitchFamily="18" charset="0"/>
                        <a:cs typeface="Cascadia Code" panose="020B0609020000020004" pitchFamily="49" charset="0"/>
                      </a:rPr>
                      <m:t>−</m:t>
                    </m:r>
                    <m:r>
                      <a:rPr lang="en-US" sz="3200" i="1">
                        <a:latin typeface="Cambria Math" panose="02040503050406030204" pitchFamily="18" charset="0"/>
                        <a:cs typeface="Cascadia Code" panose="020B0609020000020004" pitchFamily="49" charset="0"/>
                      </a:rPr>
                      <m:t>𝑛</m:t>
                    </m:r>
                  </m:oMath>
                </a14:m>
                <a:r>
                  <a:rPr lang="en-US" sz="3200" i="1" dirty="0">
                    <a:latin typeface="Cambria Math" panose="02040503050406030204" pitchFamily="18" charset="0"/>
                    <a:cs typeface="Cascadia Code" panose="020B0609020000020004" pitchFamily="49" charset="0"/>
                  </a:rPr>
                  <a:t>, </a:t>
                </a:r>
                <a:r>
                  <a:rPr lang="en-US" sz="3200" dirty="0">
                    <a:latin typeface="Cambria Math" panose="02040503050406030204" pitchFamily="18" charset="0"/>
                    <a:cs typeface="Cascadia Code" panose="020B0609020000020004" pitchFamily="49" charset="0"/>
                  </a:rPr>
                  <a:t>also </a:t>
                </a:r>
                <a14:m>
                  <m:oMath xmlns:m="http://schemas.openxmlformats.org/officeDocument/2006/math">
                    <m:r>
                      <a:rPr lang="en-US" sz="3200" b="0" i="1" smtClean="0">
                        <a:latin typeface="Cambria Math" panose="02040503050406030204" pitchFamily="18" charset="0"/>
                        <a:cs typeface="Cascadia Code" panose="020B0609020000020004" pitchFamily="49" charset="0"/>
                      </a:rPr>
                      <m:t>𝐺</m:t>
                    </m:r>
                    <m:r>
                      <a:rPr lang="en-US" sz="3200" b="0" i="1" smtClean="0">
                        <a:latin typeface="Cambria Math" panose="02040503050406030204" pitchFamily="18" charset="0"/>
                        <a:ea typeface="Cambria Math" panose="02040503050406030204" pitchFamily="18" charset="0"/>
                        <a:cs typeface="Cascadia Code" panose="020B0609020000020004" pitchFamily="49" charset="0"/>
                      </a:rPr>
                      <m:t>≅</m:t>
                    </m:r>
                    <m:r>
                      <a:rPr lang="en-US" sz="3200" b="0" i="1" smtClean="0">
                        <a:latin typeface="Cambria Math" panose="02040503050406030204" pitchFamily="18" charset="0"/>
                        <a:ea typeface="Cambria Math" panose="02040503050406030204" pitchFamily="18" charset="0"/>
                        <a:cs typeface="Cascadia Code" panose="020B0609020000020004" pitchFamily="49" charset="0"/>
                      </a:rPr>
                      <m:t>𝐻</m:t>
                    </m:r>
                  </m:oMath>
                </a14:m>
                <a:r>
                  <a:rPr lang="en-US" sz="3200" dirty="0">
                    <a:latin typeface="Cambria Math" panose="02040503050406030204" pitchFamily="18" charset="0"/>
                    <a:cs typeface="Cascadia Code" panose="020B0609020000020004" pitchFamily="49" charset="0"/>
                  </a:rPr>
                  <a:t>.</a:t>
                </a:r>
              </a:p>
              <a:p>
                <a:pPr>
                  <a:lnSpc>
                    <a:spcPct val="120000"/>
                  </a:lnSpc>
                  <a:buFont typeface="Wingdings" panose="05000000000000000000" pitchFamily="2" charset="2"/>
                  <a:buChar char="§"/>
                </a:pPr>
                <a:r>
                  <a:rPr lang="en-US" sz="3200" dirty="0">
                    <a:latin typeface="Cambria Math" panose="02040503050406030204" pitchFamily="18" charset="0"/>
                    <a:cs typeface="Cascadia Code" panose="020B0609020000020004" pitchFamily="49" charset="0"/>
                  </a:rPr>
                  <a:t>Finally,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𝑇</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r>
                      <a:rPr lang="en-US" sz="3200" b="0" i="1" smtClean="0">
                        <a:latin typeface="Cambria Math" panose="02040503050406030204" pitchFamily="18" charset="0"/>
                        <a:cs typeface="Cascadia Code" panose="020B0609020000020004" pitchFamily="49" charset="0"/>
                      </a:rPr>
                      <m:t>=4</m:t>
                    </m:r>
                    <m:d>
                      <m:dPr>
                        <m:ctrlPr>
                          <a:rPr lang="en-US" sz="3200" b="0" i="1" smtClean="0">
                            <a:latin typeface="Cambria Math" panose="02040503050406030204" pitchFamily="18" charset="0"/>
                            <a:cs typeface="Cascadia Code" panose="020B0609020000020004" pitchFamily="49" charset="0"/>
                          </a:rPr>
                        </m:ctrlPr>
                      </m:dPr>
                      <m:e>
                        <m:f>
                          <m:fPr>
                            <m:ctrlPr>
                              <a:rPr lang="en-US" sz="3200" i="1">
                                <a:latin typeface="Cambria Math" panose="02040503050406030204" pitchFamily="18" charset="0"/>
                                <a:cs typeface="Cascadia Code" panose="020B0609020000020004" pitchFamily="49" charset="0"/>
                              </a:rPr>
                            </m:ctrlPr>
                          </m:fPr>
                          <m:num>
                            <m:r>
                              <a:rPr lang="en-US" sz="3200" i="1">
                                <a:latin typeface="Cambria Math" panose="02040503050406030204" pitchFamily="18" charset="0"/>
                                <a:cs typeface="Cascadia Code" panose="020B0609020000020004" pitchFamily="49" charset="0"/>
                              </a:rPr>
                              <m:t>𝑛</m:t>
                            </m:r>
                            <m:d>
                              <m:dPr>
                                <m:ctrlPr>
                                  <a:rPr lang="en-US" sz="3200" i="1">
                                    <a:latin typeface="Cambria Math" panose="02040503050406030204" pitchFamily="18" charset="0"/>
                                    <a:cs typeface="Cascadia Code" panose="020B0609020000020004" pitchFamily="49" charset="0"/>
                                  </a:rPr>
                                </m:ctrlPr>
                              </m:dPr>
                              <m:e>
                                <m:r>
                                  <a:rPr lang="en-US" sz="3200" i="1">
                                    <a:latin typeface="Cambria Math" panose="02040503050406030204" pitchFamily="18" charset="0"/>
                                    <a:cs typeface="Cascadia Code" panose="020B0609020000020004" pitchFamily="49" charset="0"/>
                                  </a:rPr>
                                  <m:t>𝑛</m:t>
                                </m:r>
                                <m:r>
                                  <a:rPr lang="en-US" sz="3200" i="1">
                                    <a:latin typeface="Cambria Math" panose="02040503050406030204" pitchFamily="18" charset="0"/>
                                    <a:cs typeface="Cascadia Code" panose="020B0609020000020004" pitchFamily="49" charset="0"/>
                                  </a:rPr>
                                  <m:t>+1</m:t>
                                </m:r>
                              </m:e>
                            </m:d>
                          </m:num>
                          <m:den>
                            <m:r>
                              <a:rPr lang="en-US" sz="3200" i="1">
                                <a:latin typeface="Cambria Math" panose="02040503050406030204" pitchFamily="18" charset="0"/>
                                <a:cs typeface="Cascadia Code" panose="020B0609020000020004" pitchFamily="49" charset="0"/>
                              </a:rPr>
                              <m:t>2</m:t>
                            </m:r>
                          </m:den>
                        </m:f>
                        <m:r>
                          <a:rPr lang="en-US" sz="3200" i="1">
                            <a:latin typeface="Cambria Math" panose="02040503050406030204" pitchFamily="18" charset="0"/>
                            <a:cs typeface="Cascadia Code" panose="020B0609020000020004" pitchFamily="49" charset="0"/>
                          </a:rPr>
                          <m:t>−</m:t>
                        </m:r>
                        <m:r>
                          <a:rPr lang="en-US" sz="3200" i="1">
                            <a:latin typeface="Cambria Math" panose="02040503050406030204" pitchFamily="18" charset="0"/>
                            <a:cs typeface="Cascadia Code" panose="020B0609020000020004" pitchFamily="49" charset="0"/>
                          </a:rPr>
                          <m:t>𝑛</m:t>
                        </m:r>
                      </m:e>
                    </m:d>
                    <m:r>
                      <a:rPr lang="en-US" sz="3200" b="0" i="1" smtClean="0">
                        <a:latin typeface="Cambria Math" panose="02040503050406030204" pitchFamily="18" charset="0"/>
                        <a:cs typeface="Cascadia Code" panose="020B0609020000020004" pitchFamily="49" charset="0"/>
                      </a:rPr>
                      <m:t>+7</m:t>
                    </m:r>
                    <m:r>
                      <a:rPr lang="en-US" sz="3200" b="0" i="1" smtClean="0">
                        <a:latin typeface="Cambria Math" panose="02040503050406030204" pitchFamily="18" charset="0"/>
                        <a:cs typeface="Cascadia Code" panose="020B0609020000020004" pitchFamily="49" charset="0"/>
                      </a:rPr>
                      <m:t>𝑛</m:t>
                    </m:r>
                    <m:r>
                      <a:rPr lang="en-US" sz="3200" b="0" i="1" smtClean="0">
                        <a:latin typeface="Cambria Math" panose="02040503050406030204" pitchFamily="18" charset="0"/>
                        <a:cs typeface="Cascadia Code" panose="020B0609020000020004" pitchFamily="49" charset="0"/>
                      </a:rPr>
                      <m:t>−4=</m:t>
                    </m:r>
                    <m:r>
                      <a:rPr lang="en-US" sz="3200" b="1" i="1" smtClean="0">
                        <a:latin typeface="Cambria Math" panose="02040503050406030204" pitchFamily="18" charset="0"/>
                        <a:cs typeface="Cascadia Code" panose="020B0609020000020004" pitchFamily="49" charset="0"/>
                      </a:rPr>
                      <m:t>𝟐</m:t>
                    </m:r>
                    <m:sSup>
                      <m:sSupPr>
                        <m:ctrlPr>
                          <a:rPr lang="en-US" sz="3200" b="1" i="1" smtClean="0">
                            <a:latin typeface="Cambria Math" panose="02040503050406030204" pitchFamily="18" charset="0"/>
                            <a:cs typeface="Cascadia Code" panose="020B0609020000020004" pitchFamily="49" charset="0"/>
                          </a:rPr>
                        </m:ctrlPr>
                      </m:sSupPr>
                      <m:e>
                        <m:r>
                          <a:rPr lang="en-US" sz="3200" b="1" i="1" smtClean="0">
                            <a:latin typeface="Cambria Math" panose="02040503050406030204" pitchFamily="18" charset="0"/>
                            <a:cs typeface="Cascadia Code" panose="020B0609020000020004" pitchFamily="49" charset="0"/>
                          </a:rPr>
                          <m:t>𝒏</m:t>
                        </m:r>
                      </m:e>
                      <m:sup>
                        <m:r>
                          <a:rPr lang="en-US" sz="3200" b="1" i="1" smtClean="0">
                            <a:latin typeface="Cambria Math" panose="02040503050406030204" pitchFamily="18" charset="0"/>
                            <a:cs typeface="Cascadia Code" panose="020B0609020000020004" pitchFamily="49" charset="0"/>
                          </a:rPr>
                          <m:t>𝟐</m:t>
                        </m:r>
                      </m:sup>
                    </m:sSup>
                    <m:r>
                      <a:rPr lang="en-US" sz="3200" b="1" i="1" smtClean="0">
                        <a:latin typeface="Cambria Math" panose="02040503050406030204" pitchFamily="18" charset="0"/>
                        <a:cs typeface="Cascadia Code" panose="020B0609020000020004" pitchFamily="49" charset="0"/>
                      </a:rPr>
                      <m:t>+</m:t>
                    </m:r>
                    <m:r>
                      <a:rPr lang="en-US" sz="3200" b="1" i="1" smtClean="0">
                        <a:latin typeface="Cambria Math" panose="02040503050406030204" pitchFamily="18" charset="0"/>
                        <a:cs typeface="Cascadia Code" panose="020B0609020000020004" pitchFamily="49" charset="0"/>
                      </a:rPr>
                      <m:t>𝟏𝟏</m:t>
                    </m:r>
                    <m:r>
                      <a:rPr lang="en-US" sz="3200" b="1" i="1" smtClean="0">
                        <a:latin typeface="Cambria Math" panose="02040503050406030204" pitchFamily="18" charset="0"/>
                        <a:cs typeface="Cascadia Code" panose="020B0609020000020004" pitchFamily="49" charset="0"/>
                      </a:rPr>
                      <m:t>𝒏</m:t>
                    </m:r>
                    <m:r>
                      <a:rPr lang="en-US" sz="3200" b="1" i="1" smtClean="0">
                        <a:latin typeface="Cambria Math" panose="02040503050406030204" pitchFamily="18" charset="0"/>
                        <a:cs typeface="Cascadia Code" panose="020B0609020000020004" pitchFamily="49" charset="0"/>
                      </a:rPr>
                      <m:t>−</m:t>
                    </m:r>
                    <m:r>
                      <a:rPr lang="en-US" sz="3200" b="1" i="1" smtClean="0">
                        <a:latin typeface="Cambria Math" panose="02040503050406030204" pitchFamily="18" charset="0"/>
                        <a:cs typeface="Cascadia Code" panose="020B0609020000020004" pitchFamily="49" charset="0"/>
                      </a:rPr>
                      <m:t>𝟖</m:t>
                    </m:r>
                  </m:oMath>
                </a14:m>
                <a:endParaRPr lang="en-US" sz="3200" dirty="0">
                  <a:latin typeface="Cambria Math" panose="02040503050406030204" pitchFamily="18"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11743016" cy="5020612"/>
              </a:xfrm>
              <a:prstGeom prst="rect">
                <a:avLst/>
              </a:prstGeom>
              <a:blipFill>
                <a:blip r:embed="rId3"/>
                <a:stretch>
                  <a:fillRect l="-571" t="-3767"/>
                </a:stretch>
              </a:blipFill>
            </p:spPr>
            <p:txBody>
              <a:bodyPr/>
              <a:lstStyle/>
              <a:p>
                <a:r>
                  <a:rPr lang="en-US">
                    <a:noFill/>
                  </a:rPr>
                  <a:t> </a:t>
                </a:r>
              </a:p>
            </p:txBody>
          </p:sp>
        </mc:Fallback>
      </mc:AlternateContent>
    </p:spTree>
    <p:extLst>
      <p:ext uri="{BB962C8B-B14F-4D97-AF65-F5344CB8AC3E}">
        <p14:creationId xmlns:p14="http://schemas.microsoft.com/office/powerpoint/2010/main" val="3262471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a:solidFill>
                  <a:srgbClr val="FFFFFF"/>
                </a:solidFill>
                <a:latin typeface="Arial"/>
                <a:cs typeface="Arial"/>
              </a:rPr>
              <a:t>Analysis of Selection </a:t>
            </a:r>
            <a:r>
              <a:rPr lang="en-US" sz="3200" dirty="0">
                <a:solidFill>
                  <a:srgbClr val="FFFFFF"/>
                </a:solidFill>
                <a:latin typeface="Arial"/>
                <a:cs typeface="Arial"/>
              </a:rPr>
              <a:t>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11743016" cy="5020612"/>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pitchFamily="2" charset="2"/>
                  <a:buChar char="§"/>
                </a:pPr>
                <a:r>
                  <a:rPr lang="en-US" sz="3200" dirty="0">
                    <a:cs typeface="Cascadia Code" panose="020B0609020000020004" pitchFamily="49" charset="0"/>
                  </a:rPr>
                  <a:t>But initially, didn’t we say that the complexity of Selection sort is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𝑂</m:t>
                    </m:r>
                    <m:d>
                      <m:dPr>
                        <m:ctrlPr>
                          <a:rPr lang="en-US" sz="3200" b="0" i="1" smtClean="0">
                            <a:latin typeface="Cambria Math" panose="02040503050406030204" pitchFamily="18" charset="0"/>
                            <a:cs typeface="Cascadia Code" panose="020B0609020000020004" pitchFamily="49" charset="0"/>
                          </a:rPr>
                        </m:ctrlPr>
                      </m:dPr>
                      <m:e>
                        <m:f>
                          <m:fPr>
                            <m:ctrlPr>
                              <a:rPr lang="en-US" sz="3200" b="0" i="1" smtClean="0">
                                <a:latin typeface="Cambria Math" panose="02040503050406030204" pitchFamily="18" charset="0"/>
                                <a:cs typeface="Cascadia Code" panose="020B0609020000020004" pitchFamily="49" charset="0"/>
                              </a:rPr>
                            </m:ctrlPr>
                          </m:fPr>
                          <m:num>
                            <m:sSup>
                              <m:sSupPr>
                                <m:ctrlPr>
                                  <a:rPr lang="en-US" sz="3200" b="0" i="1" smtClean="0">
                                    <a:latin typeface="Cambria Math" panose="02040503050406030204" pitchFamily="18" charset="0"/>
                                    <a:cs typeface="Cascadia Code" panose="020B0609020000020004" pitchFamily="49" charset="0"/>
                                  </a:rPr>
                                </m:ctrlPr>
                              </m:sSupPr>
                              <m:e>
                                <m:r>
                                  <a:rPr lang="en-US" sz="3200" b="0" i="1" smtClean="0">
                                    <a:latin typeface="Cambria Math" panose="02040503050406030204" pitchFamily="18" charset="0"/>
                                    <a:cs typeface="Cascadia Code" panose="020B0609020000020004" pitchFamily="49" charset="0"/>
                                  </a:rPr>
                                  <m:t>𝑛</m:t>
                                </m:r>
                              </m:e>
                              <m:sup>
                                <m:r>
                                  <a:rPr lang="en-US" sz="3200" b="0" i="1" smtClean="0">
                                    <a:latin typeface="Cambria Math" panose="02040503050406030204" pitchFamily="18" charset="0"/>
                                    <a:cs typeface="Cascadia Code" panose="020B0609020000020004" pitchFamily="49" charset="0"/>
                                  </a:rPr>
                                  <m:t>2</m:t>
                                </m:r>
                              </m:sup>
                            </m:sSup>
                          </m:num>
                          <m:den>
                            <m:r>
                              <a:rPr lang="en-US" sz="3200" b="0" i="1" smtClean="0">
                                <a:latin typeface="Cambria Math" panose="02040503050406030204" pitchFamily="18" charset="0"/>
                                <a:cs typeface="Cascadia Code" panose="020B0609020000020004" pitchFamily="49" charset="0"/>
                              </a:rPr>
                              <m:t>2</m:t>
                            </m:r>
                          </m:den>
                        </m:f>
                      </m:e>
                    </m:d>
                    <m:r>
                      <a:rPr lang="en-US" sz="3200" b="0" i="1" smtClean="0">
                        <a:latin typeface="Cambria Math" panose="02040503050406030204" pitchFamily="18" charset="0"/>
                        <a:cs typeface="Cascadia Code" panose="020B0609020000020004" pitchFamily="49" charset="0"/>
                      </a:rPr>
                      <m:t>?</m:t>
                    </m:r>
                  </m:oMath>
                </a14:m>
                <a:endParaRPr lang="en-US" sz="3200" dirty="0">
                  <a:cs typeface="Cascadia Code" panose="020B0609020000020004" pitchFamily="49" charset="0"/>
                </a:endParaRPr>
              </a:p>
              <a:p>
                <a:pPr>
                  <a:lnSpc>
                    <a:spcPct val="110000"/>
                  </a:lnSpc>
                  <a:buFont typeface="Wingdings" panose="05000000000000000000" pitchFamily="2" charset="2"/>
                  <a:buChar char="§"/>
                </a:pPr>
                <a:r>
                  <a:rPr lang="en-US" sz="3200" dirty="0">
                    <a:cs typeface="Cascadia Code" panose="020B0609020000020004" pitchFamily="49" charset="0"/>
                  </a:rPr>
                  <a:t>Yes. Both analyses are correct. The second one is more precise and considers that there are 4 statements taking </a:t>
                </a:r>
                <a14:m>
                  <m:oMath xmlns:m="http://schemas.openxmlformats.org/officeDocument/2006/math">
                    <m:d>
                      <m:dPr>
                        <m:ctrlPr>
                          <a:rPr lang="en-US" sz="3200" b="0" i="1" smtClean="0">
                            <a:latin typeface="Cambria Math" panose="02040503050406030204" pitchFamily="18" charset="0"/>
                            <a:cs typeface="Cascadia Code" panose="020B0609020000020004" pitchFamily="49" charset="0"/>
                          </a:rPr>
                        </m:ctrlPr>
                      </m:dPr>
                      <m:e>
                        <m:f>
                          <m:fPr>
                            <m:ctrlPr>
                              <a:rPr lang="en-US" sz="3200" b="0" i="1" smtClean="0">
                                <a:latin typeface="Cambria Math" panose="02040503050406030204" pitchFamily="18" charset="0"/>
                                <a:cs typeface="Cascadia Code" panose="020B0609020000020004" pitchFamily="49" charset="0"/>
                              </a:rPr>
                            </m:ctrlPr>
                          </m:fPr>
                          <m:num>
                            <m:sSup>
                              <m:sSupPr>
                                <m:ctrlPr>
                                  <a:rPr lang="en-US" sz="3200" b="0" i="1" smtClean="0">
                                    <a:latin typeface="Cambria Math" panose="02040503050406030204" pitchFamily="18" charset="0"/>
                                    <a:cs typeface="Cascadia Code" panose="020B0609020000020004" pitchFamily="49" charset="0"/>
                                  </a:rPr>
                                </m:ctrlPr>
                              </m:sSupPr>
                              <m:e>
                                <m:r>
                                  <a:rPr lang="en-US" sz="3200" b="0" i="1" smtClean="0">
                                    <a:latin typeface="Cambria Math" panose="02040503050406030204" pitchFamily="18" charset="0"/>
                                    <a:cs typeface="Cascadia Code" panose="020B0609020000020004" pitchFamily="49" charset="0"/>
                                  </a:rPr>
                                  <m:t>𝑛</m:t>
                                </m:r>
                              </m:e>
                              <m:sup>
                                <m:r>
                                  <a:rPr lang="en-US" sz="3200" b="0" i="1" smtClean="0">
                                    <a:latin typeface="Cambria Math" panose="02040503050406030204" pitchFamily="18" charset="0"/>
                                    <a:cs typeface="Cascadia Code" panose="020B0609020000020004" pitchFamily="49" charset="0"/>
                                  </a:rPr>
                                  <m:t>2</m:t>
                                </m:r>
                              </m:sup>
                            </m:sSup>
                          </m:num>
                          <m:den>
                            <m:r>
                              <a:rPr lang="en-US" sz="3200" b="0" i="1" smtClean="0">
                                <a:latin typeface="Cambria Math" panose="02040503050406030204" pitchFamily="18" charset="0"/>
                                <a:cs typeface="Cascadia Code" panose="020B0609020000020004" pitchFamily="49" charset="0"/>
                              </a:rPr>
                              <m:t>2</m:t>
                            </m:r>
                          </m:den>
                        </m:f>
                      </m:e>
                    </m:d>
                  </m:oMath>
                </a14:m>
                <a:r>
                  <a:rPr lang="en-US" sz="3200" dirty="0">
                    <a:cs typeface="Cascadia Code" panose="020B0609020000020004" pitchFamily="49" charset="0"/>
                  </a:rPr>
                  <a:t> time.</a:t>
                </a:r>
              </a:p>
              <a:p>
                <a:pPr marL="0" indent="0">
                  <a:lnSpc>
                    <a:spcPct val="110000"/>
                  </a:lnSpc>
                  <a:buNone/>
                </a:pPr>
                <a:r>
                  <a:rPr lang="en-US" sz="3200" dirty="0">
                    <a:cs typeface="Cascadia Code" panose="020B0609020000020004" pitchFamily="49" charset="0"/>
                  </a:rPr>
                  <a:t>DIY. Try this on ChatGPT. Give it the algorithm, then ask for analysis. Then tell it that you calculated </a:t>
                </a:r>
                <a14:m>
                  <m:oMath xmlns:m="http://schemas.openxmlformats.org/officeDocument/2006/math">
                    <m:r>
                      <a:rPr lang="en-US" sz="3200" b="1" i="1">
                        <a:latin typeface="Cambria Math" panose="02040503050406030204" pitchFamily="18" charset="0"/>
                        <a:cs typeface="Cascadia Code" panose="020B0609020000020004" pitchFamily="49" charset="0"/>
                      </a:rPr>
                      <m:t>𝟐</m:t>
                    </m:r>
                    <m:sSup>
                      <m:sSupPr>
                        <m:ctrlPr>
                          <a:rPr lang="en-US" sz="3200" b="1" i="1">
                            <a:latin typeface="Cambria Math" panose="02040503050406030204" pitchFamily="18" charset="0"/>
                            <a:cs typeface="Cascadia Code" panose="020B0609020000020004" pitchFamily="49" charset="0"/>
                          </a:rPr>
                        </m:ctrlPr>
                      </m:sSupPr>
                      <m:e>
                        <m:r>
                          <a:rPr lang="en-US" sz="3200" b="1" i="1">
                            <a:latin typeface="Cambria Math" panose="02040503050406030204" pitchFamily="18" charset="0"/>
                            <a:cs typeface="Cascadia Code" panose="020B0609020000020004" pitchFamily="49" charset="0"/>
                          </a:rPr>
                          <m:t>𝒏</m:t>
                        </m:r>
                      </m:e>
                      <m:sup>
                        <m:r>
                          <a:rPr lang="en-US" sz="3200" b="1" i="1">
                            <a:latin typeface="Cambria Math" panose="02040503050406030204" pitchFamily="18" charset="0"/>
                            <a:cs typeface="Cascadia Code" panose="020B0609020000020004" pitchFamily="49" charset="0"/>
                          </a:rPr>
                          <m:t>𝟐</m:t>
                        </m:r>
                      </m:sup>
                    </m:sSup>
                    <m:r>
                      <a:rPr lang="en-US" sz="3200" b="1" i="1">
                        <a:latin typeface="Cambria Math" panose="02040503050406030204" pitchFamily="18" charset="0"/>
                        <a:cs typeface="Cascadia Code" panose="020B0609020000020004" pitchFamily="49" charset="0"/>
                      </a:rPr>
                      <m:t>+</m:t>
                    </m:r>
                    <m:r>
                      <a:rPr lang="en-US" sz="3200" b="1" i="1">
                        <a:latin typeface="Cambria Math" panose="02040503050406030204" pitchFamily="18" charset="0"/>
                        <a:cs typeface="Cascadia Code" panose="020B0609020000020004" pitchFamily="49" charset="0"/>
                      </a:rPr>
                      <m:t>𝟏𝟏</m:t>
                    </m:r>
                    <m:r>
                      <a:rPr lang="en-US" sz="3200" b="1" i="1">
                        <a:latin typeface="Cambria Math" panose="02040503050406030204" pitchFamily="18" charset="0"/>
                        <a:cs typeface="Cascadia Code" panose="020B0609020000020004" pitchFamily="49" charset="0"/>
                      </a:rPr>
                      <m:t>𝒏</m:t>
                    </m:r>
                    <m:r>
                      <a:rPr lang="en-US" sz="3200" b="1" i="1">
                        <a:latin typeface="Cambria Math" panose="02040503050406030204" pitchFamily="18" charset="0"/>
                        <a:cs typeface="Cascadia Code" panose="020B0609020000020004" pitchFamily="49" charset="0"/>
                      </a:rPr>
                      <m:t>−</m:t>
                    </m:r>
                    <m:r>
                      <a:rPr lang="en-US" sz="3200" b="1" i="1">
                        <a:latin typeface="Cambria Math" panose="02040503050406030204" pitchFamily="18" charset="0"/>
                        <a:cs typeface="Cascadia Code" panose="020B0609020000020004" pitchFamily="49" charset="0"/>
                      </a:rPr>
                      <m:t>𝟖</m:t>
                    </m:r>
                  </m:oMath>
                </a14:m>
                <a:r>
                  <a:rPr lang="en-US" sz="3200" dirty="0">
                    <a:cs typeface="Cascadia Code" panose="020B0609020000020004" pitchFamily="49" charset="0"/>
                  </a:rPr>
                  <a:t>. It will be a fun conversation.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11743016" cy="5020612"/>
              </a:xfrm>
              <a:prstGeom prst="rect">
                <a:avLst/>
              </a:prstGeom>
              <a:blipFill>
                <a:blip r:embed="rId3"/>
                <a:stretch>
                  <a:fillRect l="-1297" t="-1094" b="-1944"/>
                </a:stretch>
              </a:blipFill>
            </p:spPr>
            <p:txBody>
              <a:bodyPr/>
              <a:lstStyle/>
              <a:p>
                <a:r>
                  <a:rPr lang="en-US">
                    <a:noFill/>
                  </a:rPr>
                  <a:t> </a:t>
                </a:r>
              </a:p>
            </p:txBody>
          </p:sp>
        </mc:Fallback>
      </mc:AlternateContent>
    </p:spTree>
    <p:extLst>
      <p:ext uri="{BB962C8B-B14F-4D97-AF65-F5344CB8AC3E}">
        <p14:creationId xmlns:p14="http://schemas.microsoft.com/office/powerpoint/2010/main" val="355895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Important Notes!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54804"/>
                <a:ext cx="11743016" cy="5020612"/>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cs typeface="Cascadia Code" panose="020B0609020000020004" pitchFamily="49" charset="0"/>
                  </a:rPr>
                  <a:t>When equating a function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𝑓</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oMath>
                </a14:m>
                <a:r>
                  <a:rPr lang="en-US" sz="3200" dirty="0">
                    <a:cs typeface="Cascadia Code" panose="020B0609020000020004" pitchFamily="49" charset="0"/>
                  </a:rPr>
                  <a:t> with some growth function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𝑔</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oMath>
                </a14:m>
                <a:r>
                  <a:rPr lang="en-US" sz="3200" dirty="0">
                    <a:cs typeface="Cascadia Code" panose="020B0609020000020004" pitchFamily="49" charset="0"/>
                  </a:rPr>
                  <a:t>, we write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𝑓</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r>
                      <a:rPr lang="en-US" sz="3200" b="0" i="1" smtClean="0">
                        <a:latin typeface="Cambria Math" panose="02040503050406030204" pitchFamily="18" charset="0"/>
                        <a:cs typeface="Cascadia Code" panose="020B0609020000020004" pitchFamily="49" charset="0"/>
                      </a:rPr>
                      <m:t>=</m:t>
                    </m:r>
                    <m:r>
                      <a:rPr lang="en-US" sz="3200" b="0" i="1" smtClean="0">
                        <a:latin typeface="Cambria Math" panose="02040503050406030204" pitchFamily="18" charset="0"/>
                        <a:cs typeface="Cascadia Code" panose="020B0609020000020004" pitchFamily="49" charset="0"/>
                      </a:rPr>
                      <m:t>𝑂</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𝑔</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e>
                    </m:d>
                  </m:oMath>
                </a14:m>
                <a:r>
                  <a:rPr lang="en-US" sz="3200" dirty="0">
                    <a:cs typeface="Cascadia Code" panose="020B0609020000020004" pitchFamily="49" charset="0"/>
                  </a:rPr>
                  <a:t> or </a:t>
                </a:r>
                <a14:m>
                  <m:oMath xmlns:m="http://schemas.openxmlformats.org/officeDocument/2006/math">
                    <m:r>
                      <a:rPr lang="en-US" sz="3200" i="1">
                        <a:latin typeface="Cambria Math" panose="02040503050406030204" pitchFamily="18" charset="0"/>
                        <a:cs typeface="Cascadia Code" panose="020B0609020000020004" pitchFamily="49" charset="0"/>
                      </a:rPr>
                      <m:t>𝑓</m:t>
                    </m:r>
                    <m:d>
                      <m:dPr>
                        <m:ctrlPr>
                          <a:rPr lang="en-US" sz="3200" i="1">
                            <a:latin typeface="Cambria Math" panose="02040503050406030204" pitchFamily="18" charset="0"/>
                            <a:cs typeface="Cascadia Code" panose="020B0609020000020004" pitchFamily="49" charset="0"/>
                          </a:rPr>
                        </m:ctrlPr>
                      </m:dPr>
                      <m:e>
                        <m:r>
                          <a:rPr lang="en-US" sz="3200" i="1">
                            <a:latin typeface="Cambria Math" panose="02040503050406030204" pitchFamily="18" charset="0"/>
                            <a:cs typeface="Cascadia Code" panose="020B0609020000020004" pitchFamily="49" charset="0"/>
                          </a:rPr>
                          <m:t>𝑛</m:t>
                        </m:r>
                      </m:e>
                    </m:d>
                    <m:r>
                      <a:rPr lang="en-US" sz="3200" i="1" smtClean="0">
                        <a:latin typeface="Cambria Math" panose="02040503050406030204" pitchFamily="18" charset="0"/>
                        <a:ea typeface="Cambria Math" panose="02040503050406030204" pitchFamily="18" charset="0"/>
                        <a:cs typeface="Cascadia Code" panose="020B0609020000020004" pitchFamily="49" charset="0"/>
                      </a:rPr>
                      <m:t>≅</m:t>
                    </m:r>
                    <m:r>
                      <a:rPr lang="en-US" sz="3200" i="1">
                        <a:latin typeface="Cambria Math" panose="02040503050406030204" pitchFamily="18" charset="0"/>
                        <a:cs typeface="Cascadia Code" panose="020B0609020000020004" pitchFamily="49" charset="0"/>
                      </a:rPr>
                      <m:t>𝑂</m:t>
                    </m:r>
                    <m:d>
                      <m:dPr>
                        <m:ctrlPr>
                          <a:rPr lang="en-US" sz="3200" i="1">
                            <a:latin typeface="Cambria Math" panose="02040503050406030204" pitchFamily="18" charset="0"/>
                            <a:cs typeface="Cascadia Code" panose="020B0609020000020004" pitchFamily="49" charset="0"/>
                          </a:rPr>
                        </m:ctrlPr>
                      </m:dPr>
                      <m:e>
                        <m:r>
                          <a:rPr lang="en-US" sz="3200" i="1">
                            <a:latin typeface="Cambria Math" panose="02040503050406030204" pitchFamily="18" charset="0"/>
                            <a:cs typeface="Cascadia Code" panose="020B0609020000020004" pitchFamily="49" charset="0"/>
                          </a:rPr>
                          <m:t>𝑔</m:t>
                        </m:r>
                        <m:d>
                          <m:dPr>
                            <m:ctrlPr>
                              <a:rPr lang="en-US" sz="3200" i="1">
                                <a:latin typeface="Cambria Math" panose="02040503050406030204" pitchFamily="18" charset="0"/>
                                <a:cs typeface="Cascadia Code" panose="020B0609020000020004" pitchFamily="49" charset="0"/>
                              </a:rPr>
                            </m:ctrlPr>
                          </m:dPr>
                          <m:e>
                            <m:r>
                              <a:rPr lang="en-US" sz="3200" i="1">
                                <a:latin typeface="Cambria Math" panose="02040503050406030204" pitchFamily="18" charset="0"/>
                                <a:cs typeface="Cascadia Code" panose="020B0609020000020004" pitchFamily="49" charset="0"/>
                              </a:rPr>
                              <m:t>𝑛</m:t>
                            </m:r>
                          </m:e>
                        </m:d>
                      </m:e>
                    </m:d>
                  </m:oMath>
                </a14:m>
                <a:r>
                  <a:rPr lang="en-US" sz="3200" dirty="0">
                    <a:cs typeface="Cascadia Code" panose="020B0609020000020004" pitchFamily="49" charset="0"/>
                  </a:rPr>
                  <a:t>. Although we loosely use the equals sign here, but its real representation is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𝑓</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r>
                      <a:rPr lang="en-US" sz="3200" b="0" i="1" smtClean="0">
                        <a:latin typeface="Cambria Math" panose="02040503050406030204" pitchFamily="18" charset="0"/>
                        <a:cs typeface="Cascadia Code" panose="020B0609020000020004" pitchFamily="49" charset="0"/>
                      </a:rPr>
                      <m:t>∈</m:t>
                    </m:r>
                    <m:r>
                      <a:rPr lang="en-US" sz="3200" b="0" i="1" smtClean="0">
                        <a:latin typeface="Cambria Math" panose="02040503050406030204" pitchFamily="18" charset="0"/>
                        <a:cs typeface="Cascadia Code" panose="020B0609020000020004" pitchFamily="49" charset="0"/>
                      </a:rPr>
                      <m:t>𝑂</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𝑔</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e>
                    </m:d>
                  </m:oMath>
                </a14:m>
                <a:r>
                  <a:rPr lang="en-US" sz="3200" dirty="0">
                    <a:cs typeface="Cascadia Code" panose="020B0609020000020004" pitchFamily="49" charset="0"/>
                  </a:rPr>
                  <a:t>.</a:t>
                </a:r>
              </a:p>
              <a:p>
                <a:pPr>
                  <a:lnSpc>
                    <a:spcPct val="120000"/>
                  </a:lnSpc>
                  <a:buFont typeface="Wingdings" panose="05000000000000000000" pitchFamily="2" charset="2"/>
                  <a:buChar char="§"/>
                </a:pPr>
                <a:r>
                  <a:rPr lang="en-US" sz="3200" dirty="0">
                    <a:cs typeface="Cascadia Code" panose="020B0609020000020004" pitchFamily="49" charset="0"/>
                  </a:rPr>
                  <a:t>Cost cannot be negative, so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𝑓</m:t>
                    </m:r>
                    <m:d>
                      <m:dPr>
                        <m:ctrlPr>
                          <a:rPr lang="en-US" sz="3200" b="0" i="1" smtClean="0">
                            <a:latin typeface="Cambria Math" panose="02040503050406030204" pitchFamily="18" charset="0"/>
                            <a:cs typeface="Cascadia Code" panose="020B0609020000020004" pitchFamily="49" charset="0"/>
                          </a:rPr>
                        </m:ctrlPr>
                      </m:dPr>
                      <m:e>
                        <m:r>
                          <a:rPr lang="en-US" sz="3200" b="0" i="1" smtClean="0">
                            <a:latin typeface="Cambria Math" panose="02040503050406030204" pitchFamily="18" charset="0"/>
                            <a:cs typeface="Cascadia Code" panose="020B0609020000020004" pitchFamily="49" charset="0"/>
                          </a:rPr>
                          <m:t>𝑛</m:t>
                        </m:r>
                      </m:e>
                    </m:d>
                  </m:oMath>
                </a14:m>
                <a:r>
                  <a:rPr lang="en-US" sz="3200" dirty="0">
                    <a:cs typeface="Cascadia Code" panose="020B0609020000020004" pitchFamily="49" charset="0"/>
                  </a:rPr>
                  <a:t> must be non-negative for any value where </a:t>
                </a:r>
                <a14:m>
                  <m:oMath xmlns:m="http://schemas.openxmlformats.org/officeDocument/2006/math">
                    <m:r>
                      <a:rPr lang="en-US" sz="3200" b="0" i="1" smtClean="0">
                        <a:latin typeface="Cambria Math" panose="02040503050406030204" pitchFamily="18" charset="0"/>
                        <a:cs typeface="Cascadia Code" panose="020B0609020000020004" pitchFamily="49" charset="0"/>
                      </a:rPr>
                      <m:t>𝑛</m:t>
                    </m:r>
                    <m:r>
                      <a:rPr lang="en-US" sz="3200" b="0" i="1" smtClean="0">
                        <a:latin typeface="Cambria Math" panose="02040503050406030204" pitchFamily="18" charset="0"/>
                        <a:cs typeface="Cascadia Code" panose="020B0609020000020004" pitchFamily="49" charset="0"/>
                      </a:rPr>
                      <m:t>≥</m:t>
                    </m:r>
                    <m:r>
                      <a:rPr lang="en-US" sz="3200" b="0" i="1" smtClean="0">
                        <a:latin typeface="Cambria Math" panose="02040503050406030204" pitchFamily="18" charset="0"/>
                        <a:cs typeface="Cascadia Code" panose="020B0609020000020004" pitchFamily="49" charset="0"/>
                      </a:rPr>
                      <m:t>𝑘</m:t>
                    </m:r>
                  </m:oMath>
                </a14:m>
                <a:r>
                  <a:rPr lang="en-US" sz="3200" dirty="0">
                    <a:cs typeface="Cascadia Code" panose="020B0609020000020004" pitchFamily="49" charset="0"/>
                  </a:rPr>
                  <a:t>.</a:t>
                </a:r>
              </a:p>
              <a:p>
                <a:pPr>
                  <a:lnSpc>
                    <a:spcPct val="120000"/>
                  </a:lnSpc>
                  <a:buFont typeface="Wingdings" panose="05000000000000000000" pitchFamily="2" charset="2"/>
                  <a:buChar char="§"/>
                </a:pPr>
                <a:r>
                  <a:rPr lang="en-US" sz="3200" dirty="0">
                    <a:cs typeface="Cascadia Code" panose="020B0609020000020004" pitchFamily="49" charset="0"/>
                  </a:rPr>
                  <a:t>Theoretically, lower and upper bounds of a function can be different, but in practice, we hardly come across any algorithm where </a:t>
                </a:r>
                <a14:m>
                  <m:oMath xmlns:m="http://schemas.openxmlformats.org/officeDocument/2006/math">
                    <m:r>
                      <m:rPr>
                        <m:sty m:val="p"/>
                      </m:rPr>
                      <a:rPr lang="en-US" sz="3200" b="0" i="0" smtClean="0">
                        <a:latin typeface="Cambria Math" panose="02040503050406030204" pitchFamily="18" charset="0"/>
                        <a:cs typeface="Cascadia Code" panose="020B0609020000020004" pitchFamily="49" charset="0"/>
                      </a:rPr>
                      <m:t>Ω</m:t>
                    </m:r>
                    <m:r>
                      <a:rPr lang="en-US" sz="3200" b="0" i="1" smtClean="0">
                        <a:latin typeface="Cambria Math" panose="02040503050406030204" pitchFamily="18" charset="0"/>
                        <a:cs typeface="Cascadia Code" panose="020B0609020000020004" pitchFamily="49" charset="0"/>
                      </a:rPr>
                      <m:t>≠</m:t>
                    </m:r>
                    <m:r>
                      <a:rPr lang="en-US" sz="3200" b="0" i="1" smtClean="0">
                        <a:latin typeface="Cambria Math" panose="02040503050406030204" pitchFamily="18" charset="0"/>
                        <a:cs typeface="Cascadia Code" panose="020B0609020000020004" pitchFamily="49" charset="0"/>
                      </a:rPr>
                      <m:t>𝑂</m:t>
                    </m:r>
                  </m:oMath>
                </a14:m>
                <a:r>
                  <a:rPr lang="en-US" sz="3200" dirty="0">
                    <a:cs typeface="Cascadia Code" panose="020B0609020000020004" pitchFamily="49" charset="0"/>
                  </a:rPr>
                  <a:t> for a </a:t>
                </a:r>
                <a:r>
                  <a:rPr lang="en-US" sz="3200">
                    <a:cs typeface="Cascadia Code" panose="020B0609020000020004" pitchFamily="49" charset="0"/>
                  </a:rPr>
                  <a:t>given case.</a:t>
                </a:r>
                <a:endParaRPr lang="en-US" sz="3200" dirty="0">
                  <a:cs typeface="Cascadia Code" panose="020B0609020000020004" pitchFamily="49" charset="0"/>
                </a:endParaRPr>
              </a:p>
              <a:p>
                <a:pPr>
                  <a:lnSpc>
                    <a:spcPct val="120000"/>
                  </a:lnSpc>
                  <a:buFont typeface="Wingdings" panose="05000000000000000000" pitchFamily="2" charset="2"/>
                  <a:buChar char="§"/>
                </a:pPr>
                <a:r>
                  <a:rPr lang="en-US" sz="3200" dirty="0">
                    <a:cs typeface="Cascadia Code" panose="020B0609020000020004" pitchFamily="49" charset="0"/>
                  </a:rPr>
                  <a:t>The notations big-</a:t>
                </a:r>
                <a14:m>
                  <m:oMath xmlns:m="http://schemas.openxmlformats.org/officeDocument/2006/math">
                    <m:r>
                      <a:rPr lang="en-US" sz="3200" b="0" i="1" smtClean="0">
                        <a:latin typeface="Cambria Math" panose="02040503050406030204" pitchFamily="18" charset="0"/>
                        <a:cs typeface="Cascadia Code" panose="020B0609020000020004" pitchFamily="49" charset="0"/>
                      </a:rPr>
                      <m:t>𝑂</m:t>
                    </m:r>
                    <m:r>
                      <a:rPr lang="en-US" sz="3200" b="0" i="1" smtClean="0">
                        <a:latin typeface="Cambria Math" panose="02040503050406030204" pitchFamily="18" charset="0"/>
                        <a:cs typeface="Cascadia Code" panose="020B0609020000020004" pitchFamily="49" charset="0"/>
                      </a:rPr>
                      <m:t>,</m:t>
                    </m:r>
                    <m:r>
                      <m:rPr>
                        <m:sty m:val="p"/>
                      </m:rPr>
                      <a:rPr lang="en-US" sz="3200" b="0" i="0" smtClean="0">
                        <a:latin typeface="Cambria Math" panose="02040503050406030204" pitchFamily="18" charset="0"/>
                        <a:cs typeface="Cascadia Code" panose="020B0609020000020004" pitchFamily="49" charset="0"/>
                      </a:rPr>
                      <m:t>Θ</m:t>
                    </m:r>
                    <m:r>
                      <a:rPr lang="en-US" sz="3200" b="0" i="1" smtClean="0">
                        <a:latin typeface="Cambria Math" panose="02040503050406030204" pitchFamily="18" charset="0"/>
                        <a:cs typeface="Cascadia Code" panose="020B0609020000020004" pitchFamily="49" charset="0"/>
                      </a:rPr>
                      <m:t>,</m:t>
                    </m:r>
                    <m:r>
                      <m:rPr>
                        <m:sty m:val="p"/>
                      </m:rPr>
                      <a:rPr lang="en-US" sz="3200" b="0" i="0" smtClean="0">
                        <a:latin typeface="Cambria Math" panose="02040503050406030204" pitchFamily="18" charset="0"/>
                        <a:cs typeface="Cascadia Code" panose="020B0609020000020004" pitchFamily="49" charset="0"/>
                      </a:rPr>
                      <m:t>Ω</m:t>
                    </m:r>
                  </m:oMath>
                </a14:m>
                <a:r>
                  <a:rPr lang="en-US" sz="3200" dirty="0">
                    <a:cs typeface="Cascadia Code" panose="020B0609020000020004" pitchFamily="49" charset="0"/>
                  </a:rPr>
                  <a:t> all represent </a:t>
                </a:r>
                <a:r>
                  <a:rPr lang="en-US" sz="3200" u="sng" dirty="0">
                    <a:cs typeface="Cascadia Code" panose="020B0609020000020004" pitchFamily="49" charset="0"/>
                  </a:rPr>
                  <a:t>tight bounds</a:t>
                </a:r>
                <a:r>
                  <a:rPr lang="en-US" sz="3200" dirty="0">
                    <a:cs typeface="Cascadia Code" panose="020B0609020000020004" pitchFamily="49" charset="0"/>
                  </a:rPr>
                  <a:t>. There are notations of small-</a:t>
                </a:r>
                <a14:m>
                  <m:oMath xmlns:m="http://schemas.openxmlformats.org/officeDocument/2006/math">
                    <m:r>
                      <a:rPr lang="en-US" sz="3200" i="1" dirty="0" smtClean="0">
                        <a:latin typeface="Cambria Math" panose="02040503050406030204" pitchFamily="18" charset="0"/>
                        <a:cs typeface="Cascadia Code" panose="020B0609020000020004" pitchFamily="49" charset="0"/>
                      </a:rPr>
                      <m:t>𝑜</m:t>
                    </m:r>
                  </m:oMath>
                </a14:m>
                <a:r>
                  <a:rPr lang="en-US" sz="3200" dirty="0">
                    <a:cs typeface="Cascadia Code" panose="020B0609020000020004" pitchFamily="49" charset="0"/>
                  </a:rPr>
                  <a:t> and small-</a:t>
                </a:r>
                <a14:m>
                  <m:oMath xmlns:m="http://schemas.openxmlformats.org/officeDocument/2006/math">
                    <m:r>
                      <a:rPr lang="en-US" sz="3200" b="0" i="1" smtClean="0">
                        <a:latin typeface="Cambria Math" panose="02040503050406030204" pitchFamily="18" charset="0"/>
                        <a:cs typeface="Cascadia Code" panose="020B0609020000020004" pitchFamily="49" charset="0"/>
                      </a:rPr>
                      <m:t>𝜔</m:t>
                    </m:r>
                  </m:oMath>
                </a14:m>
                <a:r>
                  <a:rPr lang="en-US" sz="3200" dirty="0">
                    <a:cs typeface="Cascadia Code" panose="020B0609020000020004" pitchFamily="49" charset="0"/>
                  </a:rPr>
                  <a:t> to represent loose bounds. We have excluded this topic from lectures, but it’s a recommended read.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54804"/>
                <a:ext cx="11743016" cy="5020612"/>
              </a:xfrm>
              <a:prstGeom prst="rect">
                <a:avLst/>
              </a:prstGeom>
              <a:blipFill>
                <a:blip r:embed="rId3"/>
                <a:stretch>
                  <a:fillRect l="-830" t="-1094" r="-571"/>
                </a:stretch>
              </a:blipFill>
            </p:spPr>
            <p:txBody>
              <a:bodyPr/>
              <a:lstStyle/>
              <a:p>
                <a:r>
                  <a:rPr lang="en-US">
                    <a:noFill/>
                  </a:rPr>
                  <a:t> </a:t>
                </a:r>
              </a:p>
            </p:txBody>
          </p:sp>
        </mc:Fallback>
      </mc:AlternateContent>
    </p:spTree>
    <p:extLst>
      <p:ext uri="{BB962C8B-B14F-4D97-AF65-F5344CB8AC3E}">
        <p14:creationId xmlns:p14="http://schemas.microsoft.com/office/powerpoint/2010/main" val="422835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6019</TotalTime>
  <Words>3626</Words>
  <Application>Microsoft Office PowerPoint</Application>
  <PresentationFormat>Widescreen</PresentationFormat>
  <Paragraphs>410</Paragraphs>
  <Slides>31</Slides>
  <Notes>28</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Cambria Math</vt:lpstr>
      <vt:lpstr>Cascadia Code</vt:lpstr>
      <vt:lpstr>Wingdings</vt:lpstr>
      <vt:lpstr>Office Theme</vt:lpstr>
      <vt:lpstr>DESIGN AND ANALYSIS OF ALGORITHMS (113939)</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205</cp:revision>
  <dcterms:created xsi:type="dcterms:W3CDTF">2022-11-22T20:08:03Z</dcterms:created>
  <dcterms:modified xsi:type="dcterms:W3CDTF">2023-12-06T11:03:49Z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