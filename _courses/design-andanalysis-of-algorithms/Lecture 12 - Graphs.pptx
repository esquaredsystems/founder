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503" r:id="rId5"/>
    <p:sldId id="2462" r:id="rId6"/>
    <p:sldId id="2591" r:id="rId7"/>
    <p:sldId id="2592" r:id="rId8"/>
    <p:sldId id="2593" r:id="rId9"/>
    <p:sldId id="2594" r:id="rId10"/>
    <p:sldId id="2596" r:id="rId11"/>
    <p:sldId id="2597" r:id="rId12"/>
    <p:sldId id="2598" r:id="rId13"/>
    <p:sldId id="2599" r:id="rId14"/>
    <p:sldId id="2600" r:id="rId15"/>
    <p:sldId id="2601" r:id="rId16"/>
    <p:sldId id="2602" r:id="rId17"/>
    <p:sldId id="2603" r:id="rId18"/>
    <p:sldId id="2604" r:id="rId19"/>
    <p:sldId id="2605" r:id="rId20"/>
    <p:sldId id="2606" r:id="rId21"/>
    <p:sldId id="2607" r:id="rId22"/>
    <p:sldId id="2608" r:id="rId23"/>
    <p:sldId id="2609" r:id="rId24"/>
    <p:sldId id="2610" r:id="rId25"/>
    <p:sldId id="2611" r:id="rId26"/>
    <p:sldId id="2612" r:id="rId27"/>
    <p:sldId id="2613" r:id="rId28"/>
    <p:sldId id="2614" r:id="rId29"/>
    <p:sldId id="2615" r:id="rId30"/>
    <p:sldId id="2616" r:id="rId31"/>
    <p:sldId id="2617" r:id="rId32"/>
    <p:sldId id="2618" r:id="rId33"/>
    <p:sldId id="243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50" autoAdjust="0"/>
    <p:restoredTop sz="92288" autoAdjust="0"/>
  </p:normalViewPr>
  <p:slideViewPr>
    <p:cSldViewPr snapToGrid="0">
      <p:cViewPr varScale="1">
        <p:scale>
          <a:sx n="94" d="100"/>
          <a:sy n="94" d="100"/>
        </p:scale>
        <p:origin x="756" y="31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D0A51F83-B713-4A4D-8105-C75936B8E1D2}"/>
    <pc:docChg chg="delSld modSld">
      <pc:chgData name="Owais Ahmed" userId="6abc7d4556b3b071" providerId="LiveId" clId="{D0A51F83-B713-4A4D-8105-C75936B8E1D2}" dt="2026-01-27T07:07:05.097" v="2" actId="47"/>
      <pc:docMkLst>
        <pc:docMk/>
      </pc:docMkLst>
      <pc:sldChg chg="modSp mod">
        <pc:chgData name="Owais Ahmed" userId="6abc7d4556b3b071" providerId="LiveId" clId="{D0A51F83-B713-4A4D-8105-C75936B8E1D2}" dt="2026-01-27T07:06:41.523" v="0" actId="6549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1-27T07:06:41.523" v="0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D0A51F83-B713-4A4D-8105-C75936B8E1D2}" dt="2026-01-27T07:07:00.446" v="1" actId="47"/>
        <pc:sldMkLst>
          <pc:docMk/>
          <pc:sldMk cId="296501705" sldId="2557"/>
        </pc:sldMkLst>
      </pc:sldChg>
      <pc:sldChg chg="del">
        <pc:chgData name="Owais Ahmed" userId="6abc7d4556b3b071" providerId="LiveId" clId="{D0A51F83-B713-4A4D-8105-C75936B8E1D2}" dt="2026-01-27T07:07:00.446" v="1" actId="47"/>
        <pc:sldMkLst>
          <pc:docMk/>
          <pc:sldMk cId="4025122635" sldId="2558"/>
        </pc:sldMkLst>
      </pc:sldChg>
      <pc:sldChg chg="del">
        <pc:chgData name="Owais Ahmed" userId="6abc7d4556b3b071" providerId="LiveId" clId="{D0A51F83-B713-4A4D-8105-C75936B8E1D2}" dt="2026-01-27T07:07:00.446" v="1" actId="47"/>
        <pc:sldMkLst>
          <pc:docMk/>
          <pc:sldMk cId="2676486563" sldId="2559"/>
        </pc:sldMkLst>
      </pc:sldChg>
      <pc:sldChg chg="del">
        <pc:chgData name="Owais Ahmed" userId="6abc7d4556b3b071" providerId="LiveId" clId="{D0A51F83-B713-4A4D-8105-C75936B8E1D2}" dt="2026-01-27T07:07:00.446" v="1" actId="47"/>
        <pc:sldMkLst>
          <pc:docMk/>
          <pc:sldMk cId="814533421" sldId="2560"/>
        </pc:sldMkLst>
      </pc:sldChg>
      <pc:sldChg chg="del">
        <pc:chgData name="Owais Ahmed" userId="6abc7d4556b3b071" providerId="LiveId" clId="{D0A51F83-B713-4A4D-8105-C75936B8E1D2}" dt="2026-01-27T07:07:00.446" v="1" actId="47"/>
        <pc:sldMkLst>
          <pc:docMk/>
          <pc:sldMk cId="3909102300" sldId="2561"/>
        </pc:sldMkLst>
      </pc:sldChg>
      <pc:sldChg chg="del">
        <pc:chgData name="Owais Ahmed" userId="6abc7d4556b3b071" providerId="LiveId" clId="{D0A51F83-B713-4A4D-8105-C75936B8E1D2}" dt="2026-01-27T07:07:00.446" v="1" actId="47"/>
        <pc:sldMkLst>
          <pc:docMk/>
          <pc:sldMk cId="2471706585" sldId="2562"/>
        </pc:sldMkLst>
      </pc:sldChg>
      <pc:sldChg chg="del">
        <pc:chgData name="Owais Ahmed" userId="6abc7d4556b3b071" providerId="LiveId" clId="{D0A51F83-B713-4A4D-8105-C75936B8E1D2}" dt="2026-01-27T07:07:00.446" v="1" actId="47"/>
        <pc:sldMkLst>
          <pc:docMk/>
          <pc:sldMk cId="2552667422" sldId="2563"/>
        </pc:sldMkLst>
      </pc:sldChg>
      <pc:sldChg chg="del">
        <pc:chgData name="Owais Ahmed" userId="6abc7d4556b3b071" providerId="LiveId" clId="{D0A51F83-B713-4A4D-8105-C75936B8E1D2}" dt="2026-01-27T07:07:05.097" v="2" actId="47"/>
        <pc:sldMkLst>
          <pc:docMk/>
          <pc:sldMk cId="721076035" sldId="2570"/>
        </pc:sldMkLst>
      </pc:sldChg>
      <pc:sldChg chg="del">
        <pc:chgData name="Owais Ahmed" userId="6abc7d4556b3b071" providerId="LiveId" clId="{D0A51F83-B713-4A4D-8105-C75936B8E1D2}" dt="2026-01-27T07:07:05.097" v="2" actId="47"/>
        <pc:sldMkLst>
          <pc:docMk/>
          <pc:sldMk cId="2523736307" sldId="2571"/>
        </pc:sldMkLst>
      </pc:sldChg>
      <pc:sldChg chg="del">
        <pc:chgData name="Owais Ahmed" userId="6abc7d4556b3b071" providerId="LiveId" clId="{D0A51F83-B713-4A4D-8105-C75936B8E1D2}" dt="2026-01-27T07:07:05.097" v="2" actId="47"/>
        <pc:sldMkLst>
          <pc:docMk/>
          <pc:sldMk cId="3301237467" sldId="2573"/>
        </pc:sldMkLst>
      </pc:sldChg>
      <pc:sldChg chg="del">
        <pc:chgData name="Owais Ahmed" userId="6abc7d4556b3b071" providerId="LiveId" clId="{D0A51F83-B713-4A4D-8105-C75936B8E1D2}" dt="2026-01-27T07:07:05.097" v="2" actId="47"/>
        <pc:sldMkLst>
          <pc:docMk/>
          <pc:sldMk cId="3086638069" sldId="2574"/>
        </pc:sldMkLst>
      </pc:sldChg>
      <pc:sldChg chg="del">
        <pc:chgData name="Owais Ahmed" userId="6abc7d4556b3b071" providerId="LiveId" clId="{D0A51F83-B713-4A4D-8105-C75936B8E1D2}" dt="2026-01-27T07:07:05.097" v="2" actId="47"/>
        <pc:sldMkLst>
          <pc:docMk/>
          <pc:sldMk cId="570576384" sldId="2575"/>
        </pc:sldMkLst>
      </pc:sldChg>
      <pc:sldChg chg="del">
        <pc:chgData name="Owais Ahmed" userId="6abc7d4556b3b071" providerId="LiveId" clId="{D0A51F83-B713-4A4D-8105-C75936B8E1D2}" dt="2026-01-27T07:07:05.097" v="2" actId="47"/>
        <pc:sldMkLst>
          <pc:docMk/>
          <pc:sldMk cId="630212416" sldId="2576"/>
        </pc:sldMkLst>
      </pc:sldChg>
      <pc:sldChg chg="del">
        <pc:chgData name="Owais Ahmed" userId="6abc7d4556b3b071" providerId="LiveId" clId="{D0A51F83-B713-4A4D-8105-C75936B8E1D2}" dt="2026-01-27T07:07:00.446" v="1" actId="47"/>
        <pc:sldMkLst>
          <pc:docMk/>
          <pc:sldMk cId="3907642670" sldId="2584"/>
        </pc:sldMkLst>
      </pc:sldChg>
      <pc:sldChg chg="del">
        <pc:chgData name="Owais Ahmed" userId="6abc7d4556b3b071" providerId="LiveId" clId="{D0A51F83-B713-4A4D-8105-C75936B8E1D2}" dt="2026-01-27T07:07:00.446" v="1" actId="47"/>
        <pc:sldMkLst>
          <pc:docMk/>
          <pc:sldMk cId="1512041881" sldId="2585"/>
        </pc:sldMkLst>
      </pc:sldChg>
      <pc:sldChg chg="del">
        <pc:chgData name="Owais Ahmed" userId="6abc7d4556b3b071" providerId="LiveId" clId="{D0A51F83-B713-4A4D-8105-C75936B8E1D2}" dt="2026-01-27T07:07:00.446" v="1" actId="47"/>
        <pc:sldMkLst>
          <pc:docMk/>
          <pc:sldMk cId="1948773940" sldId="2586"/>
        </pc:sldMkLst>
      </pc:sldChg>
      <pc:sldChg chg="del">
        <pc:chgData name="Owais Ahmed" userId="6abc7d4556b3b071" providerId="LiveId" clId="{D0A51F83-B713-4A4D-8105-C75936B8E1D2}" dt="2026-01-27T07:07:00.446" v="1" actId="47"/>
        <pc:sldMkLst>
          <pc:docMk/>
          <pc:sldMk cId="3635321654" sldId="2587"/>
        </pc:sldMkLst>
      </pc:sldChg>
      <pc:sldChg chg="del">
        <pc:chgData name="Owais Ahmed" userId="6abc7d4556b3b071" providerId="LiveId" clId="{D0A51F83-B713-4A4D-8105-C75936B8E1D2}" dt="2026-01-27T07:07:00.446" v="1" actId="47"/>
        <pc:sldMkLst>
          <pc:docMk/>
          <pc:sldMk cId="2947794213" sldId="2589"/>
        </pc:sldMkLst>
      </pc:sldChg>
      <pc:sldChg chg="del">
        <pc:chgData name="Owais Ahmed" userId="6abc7d4556b3b071" providerId="LiveId" clId="{D0A51F83-B713-4A4D-8105-C75936B8E1D2}" dt="2026-01-27T07:07:00.446" v="1" actId="47"/>
        <pc:sldMkLst>
          <pc:docMk/>
          <pc:sldMk cId="3477739039" sldId="25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029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713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30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147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124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74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125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39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926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268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762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666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740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4375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3151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0409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386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3655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Union-find is also known as disjoint set. Two sets are disjoint if they don’t have any element in common.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716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9297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202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132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9316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6483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776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0315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8953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667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84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22.png"/><Relationship Id="rId4" Type="http://schemas.openxmlformats.org/officeDocument/2006/relationships/image" Target="../media/image10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DESIGN AND ANALYSIS OF ALGORITHMS (113939)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1808703"/>
            <a:ext cx="4480450" cy="4406369"/>
          </a:xfrm>
        </p:spPr>
        <p:txBody>
          <a:bodyPr/>
          <a:lstStyle/>
          <a:p>
            <a:r>
              <a:rPr lang="en-US" dirty="0"/>
              <a:t>Dijkstra’s Algorithm</a:t>
            </a:r>
          </a:p>
          <a:p>
            <a:r>
              <a:rPr lang="en-US" dirty="0"/>
              <a:t>Bellman-Ford Algorithm</a:t>
            </a:r>
          </a:p>
          <a:p>
            <a:r>
              <a:rPr lang="en-US" dirty="0"/>
              <a:t>Kruskal’s Algorithm</a:t>
            </a:r>
          </a:p>
          <a:p>
            <a:r>
              <a:rPr lang="en-US" dirty="0"/>
              <a:t>Prim’s Algorithm</a:t>
            </a:r>
          </a:p>
          <a:p>
            <a:r>
              <a:rPr lang="en-US" dirty="0"/>
              <a:t>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Dijkstra’s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868213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Edsger W. Dijkstra proposed an algorithm based on Greedy design strategy to find shortest path single source node to another node in a connected Graph.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optimal solution to this problem has exponential time complexity.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initialize the graph with 0 value of start node and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3200" dirty="0"/>
                  <a:t> on all other nodes.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Each neighbour node is then visited, and its value is updated according to the minimum distance required to reach it.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Once all nodes are visited, the shortest path from start to destination is found.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Using Priority Queues, the time complexity of Dijkstra’s algorithm is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func>
                          <m:func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868213"/>
              </a:xfrm>
              <a:prstGeom prst="rect">
                <a:avLst/>
              </a:prstGeom>
              <a:blipFill>
                <a:blip r:embed="rId3"/>
                <a:stretch>
                  <a:fillRect l="-830" t="-626" r="-1453" b="-2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34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Dijkstra’s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21583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Once again, you want to reach Tower from Water pump roundabout.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This time, we also have weights on nodes. Water pump’s value is final.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D3CFDB0-131A-EF90-A33A-35B09B126EAD}"/>
              </a:ext>
            </a:extLst>
          </p:cNvPr>
          <p:cNvGrpSpPr/>
          <p:nvPr/>
        </p:nvGrpSpPr>
        <p:grpSpPr>
          <a:xfrm>
            <a:off x="393405" y="2748418"/>
            <a:ext cx="11335256" cy="3552285"/>
            <a:chOff x="393405" y="2748418"/>
            <a:chExt cx="11335256" cy="355228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3108FE-A61F-507E-F3CA-CF289102D733}"/>
                </a:ext>
              </a:extLst>
            </p:cNvPr>
            <p:cNvGrpSpPr/>
            <p:nvPr/>
          </p:nvGrpSpPr>
          <p:grpSpPr>
            <a:xfrm>
              <a:off x="393405" y="3069462"/>
              <a:ext cx="11335256" cy="3194202"/>
              <a:chOff x="393405" y="3069462"/>
              <a:chExt cx="11335256" cy="3194202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21FA5321-4C8D-F225-F465-CA6CA8C50FFA}"/>
                  </a:ext>
                </a:extLst>
              </p:cNvPr>
              <p:cNvSpPr/>
              <p:nvPr/>
            </p:nvSpPr>
            <p:spPr>
              <a:xfrm>
                <a:off x="393405" y="4387015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Water pump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6464BB90-999C-93D8-BC92-4D060054E6BE}"/>
                  </a:ext>
                </a:extLst>
              </p:cNvPr>
              <p:cNvSpPr/>
              <p:nvPr/>
            </p:nvSpPr>
            <p:spPr>
              <a:xfrm>
                <a:off x="299129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 Hatti</a:t>
                </a: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6DF02B60-D0F9-AC0D-6584-3AB58F157EDB}"/>
                  </a:ext>
                </a:extLst>
              </p:cNvPr>
              <p:cNvSpPr/>
              <p:nvPr/>
            </p:nvSpPr>
            <p:spPr>
              <a:xfrm>
                <a:off x="553869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Saddar</a:t>
                </a: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CB706FE6-1250-B8EB-E6F2-83A3517B7441}"/>
                  </a:ext>
                </a:extLst>
              </p:cNvPr>
              <p:cNvSpPr/>
              <p:nvPr/>
            </p:nvSpPr>
            <p:spPr>
              <a:xfrm>
                <a:off x="808610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Light house</a:t>
                </a: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67B77114-D86D-C532-25C7-FDCFD208B0CB}"/>
                  </a:ext>
                </a:extLst>
              </p:cNvPr>
              <p:cNvSpPr/>
              <p:nvPr/>
            </p:nvSpPr>
            <p:spPr>
              <a:xfrm>
                <a:off x="1063350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Tower</a:t>
                </a: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68641B9-0ADC-EA1A-02CB-0DCEE114C4D8}"/>
                  </a:ext>
                </a:extLst>
              </p:cNvPr>
              <p:cNvSpPr/>
              <p:nvPr/>
            </p:nvSpPr>
            <p:spPr>
              <a:xfrm>
                <a:off x="1645371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NIPA</a:t>
                </a:r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8110C858-9F51-3122-C547-CA87B54F8F2C}"/>
                  </a:ext>
                </a:extLst>
              </p:cNvPr>
              <p:cNvSpPr/>
              <p:nvPr/>
            </p:nvSpPr>
            <p:spPr>
              <a:xfrm>
                <a:off x="4192776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Bahria Uni</a:t>
                </a:r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7147B8B7-73FD-BC74-652F-C243FF897A12}"/>
                  </a:ext>
                </a:extLst>
              </p:cNvPr>
              <p:cNvSpPr/>
              <p:nvPr/>
            </p:nvSpPr>
            <p:spPr>
              <a:xfrm>
                <a:off x="8105555" y="306946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Sh</a:t>
                </a:r>
                <a:r>
                  <a:rPr lang="en-US" dirty="0"/>
                  <a:t>-e-Faisal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31C1CC02-1249-4C47-FAA5-D7BF2324C20A}"/>
                  </a:ext>
                </a:extLst>
              </p:cNvPr>
              <p:cNvSpPr/>
              <p:nvPr/>
            </p:nvSpPr>
            <p:spPr>
              <a:xfrm>
                <a:off x="1645371" y="567887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Five Star</a:t>
                </a: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3E9805D7-1B01-840F-E9C2-F508BB267686}"/>
                  </a:ext>
                </a:extLst>
              </p:cNvPr>
              <p:cNvSpPr/>
              <p:nvPr/>
            </p:nvSpPr>
            <p:spPr>
              <a:xfrm>
                <a:off x="4192776" y="567887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Lasbela</a:t>
                </a:r>
                <a:endParaRPr lang="en-US" dirty="0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3689640D-C309-EA5E-1472-81BEF6AB3C18}"/>
                  </a:ext>
                </a:extLst>
              </p:cNvPr>
              <p:cNvSpPr/>
              <p:nvPr/>
            </p:nvSpPr>
            <p:spPr>
              <a:xfrm>
                <a:off x="6740182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Soldier Bazar</a:t>
                </a: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93EC3938-F71B-12C1-3DAE-589592984B06}"/>
                  </a:ext>
                </a:extLst>
              </p:cNvPr>
              <p:cNvSpPr/>
              <p:nvPr/>
            </p:nvSpPr>
            <p:spPr>
              <a:xfrm>
                <a:off x="9451476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Nanakwara</a:t>
                </a:r>
                <a:endParaRPr lang="en-US" dirty="0"/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BFE3084-FF55-15C3-B9C7-FD9B57764E49}"/>
                </a:ext>
              </a:extLst>
            </p:cNvPr>
            <p:cNvCxnSpPr>
              <a:stCxn id="40" idx="3"/>
              <a:endCxn id="41" idx="1"/>
            </p:cNvCxnSpPr>
            <p:nvPr/>
          </p:nvCxnSpPr>
          <p:spPr>
            <a:xfrm flipV="1">
              <a:off x="1488558" y="4679410"/>
              <a:ext cx="150273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A50D758-BCC7-0147-F745-9D1F62FAA5E5}"/>
                </a:ext>
              </a:extLst>
            </p:cNvPr>
            <p:cNvCxnSpPr>
              <a:stCxn id="41" idx="3"/>
              <a:endCxn id="42" idx="1"/>
            </p:cNvCxnSpPr>
            <p:nvPr/>
          </p:nvCxnSpPr>
          <p:spPr>
            <a:xfrm>
              <a:off x="4086446" y="4679410"/>
              <a:ext cx="14522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B02CD72-0429-1108-343D-443E89716D98}"/>
                </a:ext>
              </a:extLst>
            </p:cNvPr>
            <p:cNvCxnSpPr>
              <a:stCxn id="42" idx="3"/>
              <a:endCxn id="43" idx="1"/>
            </p:cNvCxnSpPr>
            <p:nvPr/>
          </p:nvCxnSpPr>
          <p:spPr>
            <a:xfrm>
              <a:off x="6633851" y="4679410"/>
              <a:ext cx="14522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ED29566-2D40-0605-CD44-EB205E0CC484}"/>
                </a:ext>
              </a:extLst>
            </p:cNvPr>
            <p:cNvCxnSpPr>
              <a:stCxn id="43" idx="3"/>
              <a:endCxn id="44" idx="1"/>
            </p:cNvCxnSpPr>
            <p:nvPr/>
          </p:nvCxnSpPr>
          <p:spPr>
            <a:xfrm>
              <a:off x="9181256" y="4679410"/>
              <a:ext cx="14522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3FCEC15-A5EE-3520-AC68-3334F6720C49}"/>
                </a:ext>
              </a:extLst>
            </p:cNvPr>
            <p:cNvCxnSpPr>
              <a:stCxn id="40" idx="0"/>
              <a:endCxn id="45" idx="2"/>
            </p:cNvCxnSpPr>
            <p:nvPr/>
          </p:nvCxnSpPr>
          <p:spPr>
            <a:xfrm flipV="1">
              <a:off x="940982" y="3654254"/>
              <a:ext cx="1251966" cy="73276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9BA3031-187E-6C89-24B7-51A341A4BA23}"/>
                </a:ext>
              </a:extLst>
            </p:cNvPr>
            <p:cNvCxnSpPr>
              <a:stCxn id="45" idx="3"/>
              <a:endCxn id="46" idx="1"/>
            </p:cNvCxnSpPr>
            <p:nvPr/>
          </p:nvCxnSpPr>
          <p:spPr>
            <a:xfrm>
              <a:off x="2740524" y="3361859"/>
              <a:ext cx="14522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FD8AFFD-5F49-075A-C87B-6882CC5C51BC}"/>
                </a:ext>
              </a:extLst>
            </p:cNvPr>
            <p:cNvCxnSpPr>
              <a:stCxn id="46" idx="3"/>
              <a:endCxn id="47" idx="1"/>
            </p:cNvCxnSpPr>
            <p:nvPr/>
          </p:nvCxnSpPr>
          <p:spPr>
            <a:xfrm flipV="1">
              <a:off x="5287929" y="3361858"/>
              <a:ext cx="281762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131A393-7E7E-52B9-EF4D-1E6741D69970}"/>
                </a:ext>
              </a:extLst>
            </p:cNvPr>
            <p:cNvCxnSpPr>
              <a:cxnSpLocks/>
              <a:stCxn id="42" idx="0"/>
              <a:endCxn id="47" idx="2"/>
            </p:cNvCxnSpPr>
            <p:nvPr/>
          </p:nvCxnSpPr>
          <p:spPr>
            <a:xfrm flipV="1">
              <a:off x="6086275" y="3654253"/>
              <a:ext cx="2566857" cy="73276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BB9F0BB-2ED5-58FE-988A-86FBEB971AF3}"/>
                </a:ext>
              </a:extLst>
            </p:cNvPr>
            <p:cNvCxnSpPr>
              <a:stCxn id="47" idx="3"/>
              <a:endCxn id="44" idx="0"/>
            </p:cNvCxnSpPr>
            <p:nvPr/>
          </p:nvCxnSpPr>
          <p:spPr>
            <a:xfrm>
              <a:off x="9200708" y="3361858"/>
              <a:ext cx="1980377" cy="102515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2C72DAC-D2AE-8A83-E987-893186DE6E2D}"/>
                </a:ext>
              </a:extLst>
            </p:cNvPr>
            <p:cNvCxnSpPr>
              <a:stCxn id="40" idx="2"/>
              <a:endCxn id="48" idx="0"/>
            </p:cNvCxnSpPr>
            <p:nvPr/>
          </p:nvCxnSpPr>
          <p:spPr>
            <a:xfrm>
              <a:off x="940982" y="4971806"/>
              <a:ext cx="1251966" cy="7070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A943570-E703-148E-1AB0-A2210696F431}"/>
                </a:ext>
              </a:extLst>
            </p:cNvPr>
            <p:cNvCxnSpPr>
              <a:stCxn id="48" idx="3"/>
              <a:endCxn id="49" idx="1"/>
            </p:cNvCxnSpPr>
            <p:nvPr/>
          </p:nvCxnSpPr>
          <p:spPr>
            <a:xfrm flipV="1">
              <a:off x="2740524" y="5971268"/>
              <a:ext cx="145225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2958208-F6D5-99FC-FA37-6E8ED61C816A}"/>
                </a:ext>
              </a:extLst>
            </p:cNvPr>
            <p:cNvCxnSpPr>
              <a:cxnSpLocks/>
              <a:stCxn id="41" idx="2"/>
              <a:endCxn id="49" idx="0"/>
            </p:cNvCxnSpPr>
            <p:nvPr/>
          </p:nvCxnSpPr>
          <p:spPr>
            <a:xfrm>
              <a:off x="3538870" y="4971805"/>
              <a:ext cx="1201483" cy="7070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2227307-1DB4-267C-05D7-86DA2B6F02B9}"/>
                </a:ext>
              </a:extLst>
            </p:cNvPr>
            <p:cNvCxnSpPr>
              <a:stCxn id="49" idx="3"/>
              <a:endCxn id="50" idx="1"/>
            </p:cNvCxnSpPr>
            <p:nvPr/>
          </p:nvCxnSpPr>
          <p:spPr>
            <a:xfrm flipV="1">
              <a:off x="5287929" y="5971267"/>
              <a:ext cx="145225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BFB7ACF-91CE-1D97-34E3-0BBBAB2B2E15}"/>
                </a:ext>
              </a:extLst>
            </p:cNvPr>
            <p:cNvCxnSpPr>
              <a:cxnSpLocks/>
              <a:stCxn id="42" idx="2"/>
              <a:endCxn id="50" idx="0"/>
            </p:cNvCxnSpPr>
            <p:nvPr/>
          </p:nvCxnSpPr>
          <p:spPr>
            <a:xfrm>
              <a:off x="6086275" y="4971805"/>
              <a:ext cx="1201484" cy="7070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C40873E-A957-E9F8-81ED-D90479DCF6A9}"/>
                </a:ext>
              </a:extLst>
            </p:cNvPr>
            <p:cNvCxnSpPr>
              <a:stCxn id="50" idx="3"/>
              <a:endCxn id="43" idx="2"/>
            </p:cNvCxnSpPr>
            <p:nvPr/>
          </p:nvCxnSpPr>
          <p:spPr>
            <a:xfrm flipV="1">
              <a:off x="7835335" y="4971805"/>
              <a:ext cx="798345" cy="99946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E14C3D6-C5BE-E518-6586-D4056C200342}"/>
                </a:ext>
              </a:extLst>
            </p:cNvPr>
            <p:cNvCxnSpPr>
              <a:stCxn id="50" idx="3"/>
              <a:endCxn id="51" idx="1"/>
            </p:cNvCxnSpPr>
            <p:nvPr/>
          </p:nvCxnSpPr>
          <p:spPr>
            <a:xfrm>
              <a:off x="7835335" y="5971267"/>
              <a:ext cx="16161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F476E37-E2FE-6BDD-ACAE-8E0566E2DBAC}"/>
                </a:ext>
              </a:extLst>
            </p:cNvPr>
            <p:cNvCxnSpPr>
              <a:stCxn id="51" idx="3"/>
              <a:endCxn id="44" idx="2"/>
            </p:cNvCxnSpPr>
            <p:nvPr/>
          </p:nvCxnSpPr>
          <p:spPr>
            <a:xfrm flipV="1">
              <a:off x="10546629" y="4971805"/>
              <a:ext cx="634456" cy="99946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8464534-927F-04AB-7773-C70C19E38962}"/>
                </a:ext>
              </a:extLst>
            </p:cNvPr>
            <p:cNvSpPr txBox="1"/>
            <p:nvPr/>
          </p:nvSpPr>
          <p:spPr>
            <a:xfrm>
              <a:off x="1091045" y="3813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8C9CA29-E185-428D-2208-897C22BD02A2}"/>
                </a:ext>
              </a:extLst>
            </p:cNvPr>
            <p:cNvSpPr txBox="1"/>
            <p:nvPr/>
          </p:nvSpPr>
          <p:spPr>
            <a:xfrm>
              <a:off x="3226496" y="30209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5BAA242-2001-D9BA-7E36-888932818D15}"/>
                </a:ext>
              </a:extLst>
            </p:cNvPr>
            <p:cNvSpPr txBox="1"/>
            <p:nvPr/>
          </p:nvSpPr>
          <p:spPr>
            <a:xfrm>
              <a:off x="5732484" y="301113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4A65B56-1B1B-F9E2-84B9-2159F1B4782E}"/>
                </a:ext>
              </a:extLst>
            </p:cNvPr>
            <p:cNvSpPr txBox="1"/>
            <p:nvPr/>
          </p:nvSpPr>
          <p:spPr>
            <a:xfrm>
              <a:off x="2055815" y="434391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20F0A5D-72BC-9164-7E25-F5A0ABF24925}"/>
                </a:ext>
              </a:extLst>
            </p:cNvPr>
            <p:cNvSpPr txBox="1"/>
            <p:nvPr/>
          </p:nvSpPr>
          <p:spPr>
            <a:xfrm>
              <a:off x="1153126" y="524840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D58A8D3-7B0F-1B90-BAE9-64D4FF5A08B5}"/>
                </a:ext>
              </a:extLst>
            </p:cNvPr>
            <p:cNvSpPr txBox="1"/>
            <p:nvPr/>
          </p:nvSpPr>
          <p:spPr>
            <a:xfrm>
              <a:off x="3185078" y="593137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21A55AD-56D0-F3DC-84F3-BF89AC6F3477}"/>
                </a:ext>
              </a:extLst>
            </p:cNvPr>
            <p:cNvSpPr txBox="1"/>
            <p:nvPr/>
          </p:nvSpPr>
          <p:spPr>
            <a:xfrm>
              <a:off x="4572418" y="43613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9B78CFA-DED2-0484-3C7F-BD7BBFE5692B}"/>
                </a:ext>
              </a:extLst>
            </p:cNvPr>
            <p:cNvSpPr txBox="1"/>
            <p:nvPr/>
          </p:nvSpPr>
          <p:spPr>
            <a:xfrm>
              <a:off x="3667742" y="521434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AD6E63F-9207-3620-5768-678DF932025B}"/>
                </a:ext>
              </a:extLst>
            </p:cNvPr>
            <p:cNvSpPr txBox="1"/>
            <p:nvPr/>
          </p:nvSpPr>
          <p:spPr>
            <a:xfrm>
              <a:off x="6213799" y="52385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2857EC7-0CD4-584F-DC67-745DCAEBB088}"/>
                </a:ext>
              </a:extLst>
            </p:cNvPr>
            <p:cNvSpPr txBox="1"/>
            <p:nvPr/>
          </p:nvSpPr>
          <p:spPr>
            <a:xfrm>
              <a:off x="5732484" y="593137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ECD464F-36BB-32F8-CAB8-A225DBD8AECA}"/>
                </a:ext>
              </a:extLst>
            </p:cNvPr>
            <p:cNvSpPr txBox="1"/>
            <p:nvPr/>
          </p:nvSpPr>
          <p:spPr>
            <a:xfrm>
              <a:off x="6321478" y="37509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A2DB985-12F8-8336-7A4D-7F92AC291F76}"/>
                </a:ext>
              </a:extLst>
            </p:cNvPr>
            <p:cNvSpPr txBox="1"/>
            <p:nvPr/>
          </p:nvSpPr>
          <p:spPr>
            <a:xfrm>
              <a:off x="10027763" y="34700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0803C06-73D5-8426-B2D7-D1C751986EF5}"/>
                </a:ext>
              </a:extLst>
            </p:cNvPr>
            <p:cNvSpPr txBox="1"/>
            <p:nvPr/>
          </p:nvSpPr>
          <p:spPr>
            <a:xfrm>
              <a:off x="7119823" y="436131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4D407E4-BC1D-D97F-D7D7-4CDCB59D578F}"/>
                </a:ext>
              </a:extLst>
            </p:cNvPr>
            <p:cNvSpPr txBox="1"/>
            <p:nvPr/>
          </p:nvSpPr>
          <p:spPr>
            <a:xfrm>
              <a:off x="8234428" y="52910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014585A-3E53-2EC1-CFFA-8CBB5EADF60F}"/>
                </a:ext>
              </a:extLst>
            </p:cNvPr>
            <p:cNvSpPr txBox="1"/>
            <p:nvPr/>
          </p:nvSpPr>
          <p:spPr>
            <a:xfrm>
              <a:off x="9667228" y="434391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802F08E-F06E-C1D3-93AD-CB8CA7767035}"/>
                </a:ext>
              </a:extLst>
            </p:cNvPr>
            <p:cNvSpPr txBox="1"/>
            <p:nvPr/>
          </p:nvSpPr>
          <p:spPr>
            <a:xfrm>
              <a:off x="10829522" y="5377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416539B-D245-0E0B-20EB-5D26722F49BF}"/>
                </a:ext>
              </a:extLst>
            </p:cNvPr>
            <p:cNvSpPr txBox="1"/>
            <p:nvPr/>
          </p:nvSpPr>
          <p:spPr>
            <a:xfrm>
              <a:off x="8559438" y="592115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30A3E65-F227-0283-F8DF-40C816FD1D1A}"/>
                </a:ext>
              </a:extLst>
            </p:cNvPr>
            <p:cNvSpPr txBox="1"/>
            <p:nvPr/>
          </p:nvSpPr>
          <p:spPr>
            <a:xfrm>
              <a:off x="395721" y="40206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2FA2AF17-B8CF-F5E8-09EB-46C63F198856}"/>
                    </a:ext>
                  </a:extLst>
                </p:cNvPr>
                <p:cNvSpPr txBox="1"/>
                <p:nvPr/>
              </p:nvSpPr>
              <p:spPr>
                <a:xfrm>
                  <a:off x="1645371" y="2748418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2FA2AF17-B8CF-F5E8-09EB-46C63F1988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5371" y="2748418"/>
                  <a:ext cx="4331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E4AB966-E7C0-6B01-470A-D71B2ECB2193}"/>
                    </a:ext>
                  </a:extLst>
                </p:cNvPr>
                <p:cNvSpPr txBox="1"/>
                <p:nvPr/>
              </p:nvSpPr>
              <p:spPr>
                <a:xfrm>
                  <a:off x="4139287" y="2750569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E4AB966-E7C0-6B01-470A-D71B2ECB21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9287" y="2750569"/>
                  <a:ext cx="43313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D657DA1-65C1-37A4-543E-90220EFF3E44}"/>
                    </a:ext>
                  </a:extLst>
                </p:cNvPr>
                <p:cNvSpPr txBox="1"/>
                <p:nvPr/>
              </p:nvSpPr>
              <p:spPr>
                <a:xfrm>
                  <a:off x="8105555" y="2750559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D657DA1-65C1-37A4-543E-90220EFF3E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5555" y="2750559"/>
                  <a:ext cx="43313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C817845-C1CD-E956-E919-EB94E5FAC33F}"/>
                    </a:ext>
                  </a:extLst>
                </p:cNvPr>
                <p:cNvSpPr txBox="1"/>
                <p:nvPr/>
              </p:nvSpPr>
              <p:spPr>
                <a:xfrm>
                  <a:off x="2991292" y="4020633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C817845-C1CD-E956-E919-EB94E5FAC3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1292" y="4020633"/>
                  <a:ext cx="43313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64FC5DC-2C0D-440C-CB3F-5B6475273191}"/>
                    </a:ext>
                  </a:extLst>
                </p:cNvPr>
                <p:cNvSpPr txBox="1"/>
                <p:nvPr/>
              </p:nvSpPr>
              <p:spPr>
                <a:xfrm>
                  <a:off x="5535542" y="4022770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64FC5DC-2C0D-440C-CB3F-5B64752731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5542" y="4022770"/>
                  <a:ext cx="433131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F10C2E6-EAFC-6298-FFD4-64F9EB5191D9}"/>
                    </a:ext>
                  </a:extLst>
                </p:cNvPr>
                <p:cNvSpPr txBox="1"/>
                <p:nvPr/>
              </p:nvSpPr>
              <p:spPr>
                <a:xfrm>
                  <a:off x="8086103" y="4020633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F10C2E6-EAFC-6298-FFD4-64F9EB519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6103" y="4020633"/>
                  <a:ext cx="43313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7343D5D-5DF4-59F2-55A5-CB2A7D157E22}"/>
                    </a:ext>
                  </a:extLst>
                </p:cNvPr>
                <p:cNvSpPr txBox="1"/>
                <p:nvPr/>
              </p:nvSpPr>
              <p:spPr>
                <a:xfrm>
                  <a:off x="11286635" y="4020633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7343D5D-5DF4-59F2-55A5-CB2A7D157E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86635" y="4020633"/>
                  <a:ext cx="43313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5053BB9B-6E4A-9DFF-4EF3-73E3B94F8AF5}"/>
                    </a:ext>
                  </a:extLst>
                </p:cNvPr>
                <p:cNvSpPr txBox="1"/>
                <p:nvPr/>
              </p:nvSpPr>
              <p:spPr>
                <a:xfrm>
                  <a:off x="2302391" y="5339712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5053BB9B-6E4A-9DFF-4EF3-73E3B94F8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2391" y="5339712"/>
                  <a:ext cx="433131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458811F-E515-3003-2CB0-66D8A3CFBDC5}"/>
                    </a:ext>
                  </a:extLst>
                </p:cNvPr>
                <p:cNvSpPr txBox="1"/>
                <p:nvPr/>
              </p:nvSpPr>
              <p:spPr>
                <a:xfrm>
                  <a:off x="4848015" y="5339712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458811F-E515-3003-2CB0-66D8A3CFBD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8015" y="5339712"/>
                  <a:ext cx="43313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D0C6FF9-C707-EA64-10D6-1E27A2DD2F72}"/>
                    </a:ext>
                  </a:extLst>
                </p:cNvPr>
                <p:cNvSpPr txBox="1"/>
                <p:nvPr/>
              </p:nvSpPr>
              <p:spPr>
                <a:xfrm>
                  <a:off x="7397571" y="5349225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D0C6FF9-C707-EA64-10D6-1E27A2DD2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7571" y="5349225"/>
                  <a:ext cx="433131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17D4E59-EAB8-5723-E2FB-CD6008D602CC}"/>
                    </a:ext>
                  </a:extLst>
                </p:cNvPr>
                <p:cNvSpPr txBox="1"/>
                <p:nvPr/>
              </p:nvSpPr>
              <p:spPr>
                <a:xfrm>
                  <a:off x="10118454" y="5349225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17D4E59-EAB8-5723-E2FB-CD6008D602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8454" y="5349225"/>
                  <a:ext cx="433131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4817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Dijkstra’s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2158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Visit all neighbours or Water pump and update their value by adding the minimum time it takes to reach them.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C337458-ADFC-B697-85EC-812109F63852}"/>
              </a:ext>
            </a:extLst>
          </p:cNvPr>
          <p:cNvGrpSpPr/>
          <p:nvPr/>
        </p:nvGrpSpPr>
        <p:grpSpPr>
          <a:xfrm>
            <a:off x="393405" y="2748418"/>
            <a:ext cx="11335256" cy="3552285"/>
            <a:chOff x="393405" y="2748418"/>
            <a:chExt cx="11335256" cy="35522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4DC3A58-670B-C524-AD00-1375EC21F6F4}"/>
                </a:ext>
              </a:extLst>
            </p:cNvPr>
            <p:cNvGrpSpPr/>
            <p:nvPr/>
          </p:nvGrpSpPr>
          <p:grpSpPr>
            <a:xfrm>
              <a:off x="393405" y="3011135"/>
              <a:ext cx="11335256" cy="3289568"/>
              <a:chOff x="393405" y="3011135"/>
              <a:chExt cx="11335256" cy="328956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413108FE-A61F-507E-F3CA-CF289102D733}"/>
                  </a:ext>
                </a:extLst>
              </p:cNvPr>
              <p:cNvGrpSpPr/>
              <p:nvPr/>
            </p:nvGrpSpPr>
            <p:grpSpPr>
              <a:xfrm>
                <a:off x="393405" y="3069462"/>
                <a:ext cx="11335256" cy="3194202"/>
                <a:chOff x="393405" y="3069462"/>
                <a:chExt cx="11335256" cy="3194202"/>
              </a:xfrm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21FA5321-4C8D-F225-F465-CA6CA8C50FFA}"/>
                    </a:ext>
                  </a:extLst>
                </p:cNvPr>
                <p:cNvSpPr/>
                <p:nvPr/>
              </p:nvSpPr>
              <p:spPr>
                <a:xfrm>
                  <a:off x="393405" y="4387015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Water pump</a:t>
                  </a: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6464BB90-999C-93D8-BC92-4D060054E6BE}"/>
                    </a:ext>
                  </a:extLst>
                </p:cNvPr>
                <p:cNvSpPr/>
                <p:nvPr/>
              </p:nvSpPr>
              <p:spPr>
                <a:xfrm>
                  <a:off x="2991293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 Hatti</a:t>
                  </a:r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6DF02B60-D0F9-AC0D-6584-3AB58F157EDB}"/>
                    </a:ext>
                  </a:extLst>
                </p:cNvPr>
                <p:cNvSpPr/>
                <p:nvPr/>
              </p:nvSpPr>
              <p:spPr>
                <a:xfrm>
                  <a:off x="5538698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Saddar</a:t>
                  </a:r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CB706FE6-1250-B8EB-E6F2-83A3517B7441}"/>
                    </a:ext>
                  </a:extLst>
                </p:cNvPr>
                <p:cNvSpPr/>
                <p:nvPr/>
              </p:nvSpPr>
              <p:spPr>
                <a:xfrm>
                  <a:off x="8086103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Light house</a:t>
                  </a:r>
                </a:p>
              </p:txBody>
            </p:sp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67B77114-D86D-C532-25C7-FDCFD208B0CB}"/>
                    </a:ext>
                  </a:extLst>
                </p:cNvPr>
                <p:cNvSpPr/>
                <p:nvPr/>
              </p:nvSpPr>
              <p:spPr>
                <a:xfrm>
                  <a:off x="10633508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Tower</a:t>
                  </a: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B68641B9-0ADC-EA1A-02CB-0DCEE114C4D8}"/>
                    </a:ext>
                  </a:extLst>
                </p:cNvPr>
                <p:cNvSpPr/>
                <p:nvPr/>
              </p:nvSpPr>
              <p:spPr>
                <a:xfrm>
                  <a:off x="1645371" y="3069463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NIPA</a:t>
                  </a:r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8110C858-9F51-3122-C547-CA87B54F8F2C}"/>
                    </a:ext>
                  </a:extLst>
                </p:cNvPr>
                <p:cNvSpPr/>
                <p:nvPr/>
              </p:nvSpPr>
              <p:spPr>
                <a:xfrm>
                  <a:off x="4192776" y="3069463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Bahria Uni</a:t>
                  </a:r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7147B8B7-73FD-BC74-652F-C243FF897A12}"/>
                    </a:ext>
                  </a:extLst>
                </p:cNvPr>
                <p:cNvSpPr/>
                <p:nvPr/>
              </p:nvSpPr>
              <p:spPr>
                <a:xfrm>
                  <a:off x="8105555" y="3069462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Sh</a:t>
                  </a:r>
                  <a:r>
                    <a:rPr lang="en-US" dirty="0"/>
                    <a:t>-e-Faisal</a:t>
                  </a:r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31C1CC02-1249-4C47-FAA5-D7BF2324C20A}"/>
                    </a:ext>
                  </a:extLst>
                </p:cNvPr>
                <p:cNvSpPr/>
                <p:nvPr/>
              </p:nvSpPr>
              <p:spPr>
                <a:xfrm>
                  <a:off x="1645371" y="5678873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Five Star</a:t>
                  </a:r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3E9805D7-1B01-840F-E9C2-F508BB267686}"/>
                    </a:ext>
                  </a:extLst>
                </p:cNvPr>
                <p:cNvSpPr/>
                <p:nvPr/>
              </p:nvSpPr>
              <p:spPr>
                <a:xfrm>
                  <a:off x="4192776" y="5678872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Lasbela</a:t>
                  </a:r>
                  <a:endParaRPr lang="en-US" dirty="0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3689640D-C309-EA5E-1472-81BEF6AB3C18}"/>
                    </a:ext>
                  </a:extLst>
                </p:cNvPr>
                <p:cNvSpPr/>
                <p:nvPr/>
              </p:nvSpPr>
              <p:spPr>
                <a:xfrm>
                  <a:off x="6740182" y="5678871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Soldier Bazar</a:t>
                  </a:r>
                </a:p>
              </p:txBody>
            </p:sp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93EC3938-F71B-12C1-3DAE-589592984B06}"/>
                    </a:ext>
                  </a:extLst>
                </p:cNvPr>
                <p:cNvSpPr/>
                <p:nvPr/>
              </p:nvSpPr>
              <p:spPr>
                <a:xfrm>
                  <a:off x="9451476" y="5678871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Nanakwara</a:t>
                  </a:r>
                  <a:endParaRPr lang="en-US" dirty="0"/>
                </a:p>
              </p:txBody>
            </p:sp>
          </p:grp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FBFE3084-FF55-15C3-B9C7-FD9B57764E49}"/>
                  </a:ext>
                </a:extLst>
              </p:cNvPr>
              <p:cNvCxnSpPr>
                <a:stCxn id="40" idx="3"/>
                <a:endCxn id="41" idx="1"/>
              </p:cNvCxnSpPr>
              <p:nvPr/>
            </p:nvCxnSpPr>
            <p:spPr>
              <a:xfrm flipV="1">
                <a:off x="1488558" y="4679410"/>
                <a:ext cx="1502735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4A50D758-BCC7-0147-F745-9D1F62FAA5E5}"/>
                  </a:ext>
                </a:extLst>
              </p:cNvPr>
              <p:cNvCxnSpPr>
                <a:stCxn id="41" idx="3"/>
                <a:endCxn id="42" idx="1"/>
              </p:cNvCxnSpPr>
              <p:nvPr/>
            </p:nvCxnSpPr>
            <p:spPr>
              <a:xfrm>
                <a:off x="4086446" y="4679410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0B02CD72-0429-1108-343D-443E89716D98}"/>
                  </a:ext>
                </a:extLst>
              </p:cNvPr>
              <p:cNvCxnSpPr>
                <a:stCxn id="42" idx="3"/>
                <a:endCxn id="43" idx="1"/>
              </p:cNvCxnSpPr>
              <p:nvPr/>
            </p:nvCxnSpPr>
            <p:spPr>
              <a:xfrm>
                <a:off x="6633851" y="4679410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EED29566-2D40-0605-CD44-EB205E0CC484}"/>
                  </a:ext>
                </a:extLst>
              </p:cNvPr>
              <p:cNvCxnSpPr>
                <a:stCxn id="43" idx="3"/>
                <a:endCxn id="44" idx="1"/>
              </p:cNvCxnSpPr>
              <p:nvPr/>
            </p:nvCxnSpPr>
            <p:spPr>
              <a:xfrm>
                <a:off x="9181256" y="4679410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33FCEC15-A5EE-3520-AC68-3334F6720C49}"/>
                  </a:ext>
                </a:extLst>
              </p:cNvPr>
              <p:cNvCxnSpPr>
                <a:stCxn id="40" idx="0"/>
                <a:endCxn id="45" idx="2"/>
              </p:cNvCxnSpPr>
              <p:nvPr/>
            </p:nvCxnSpPr>
            <p:spPr>
              <a:xfrm flipV="1">
                <a:off x="940982" y="3654254"/>
                <a:ext cx="1251966" cy="7327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9BA3031-187E-6C89-24B7-51A341A4BA23}"/>
                  </a:ext>
                </a:extLst>
              </p:cNvPr>
              <p:cNvCxnSpPr>
                <a:stCxn id="45" idx="3"/>
                <a:endCxn id="46" idx="1"/>
              </p:cNvCxnSpPr>
              <p:nvPr/>
            </p:nvCxnSpPr>
            <p:spPr>
              <a:xfrm>
                <a:off x="2740524" y="3361859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3FD8AFFD-5F49-075A-C87B-6882CC5C51BC}"/>
                  </a:ext>
                </a:extLst>
              </p:cNvPr>
              <p:cNvCxnSpPr>
                <a:stCxn id="46" idx="3"/>
                <a:endCxn id="47" idx="1"/>
              </p:cNvCxnSpPr>
              <p:nvPr/>
            </p:nvCxnSpPr>
            <p:spPr>
              <a:xfrm flipV="1">
                <a:off x="5287929" y="3361858"/>
                <a:ext cx="281762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131A393-7E7E-52B9-EF4D-1E6741D69970}"/>
                  </a:ext>
                </a:extLst>
              </p:cNvPr>
              <p:cNvCxnSpPr>
                <a:cxnSpLocks/>
                <a:stCxn id="42" idx="0"/>
                <a:endCxn id="47" idx="2"/>
              </p:cNvCxnSpPr>
              <p:nvPr/>
            </p:nvCxnSpPr>
            <p:spPr>
              <a:xfrm flipV="1">
                <a:off x="6086275" y="3654253"/>
                <a:ext cx="2566857" cy="7327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BB9F0BB-2ED5-58FE-988A-86FBEB971AF3}"/>
                  </a:ext>
                </a:extLst>
              </p:cNvPr>
              <p:cNvCxnSpPr>
                <a:stCxn id="47" idx="3"/>
                <a:endCxn id="44" idx="0"/>
              </p:cNvCxnSpPr>
              <p:nvPr/>
            </p:nvCxnSpPr>
            <p:spPr>
              <a:xfrm>
                <a:off x="9200708" y="3361858"/>
                <a:ext cx="1980377" cy="10251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B2C72DAC-D2AE-8A83-E987-893186DE6E2D}"/>
                  </a:ext>
                </a:extLst>
              </p:cNvPr>
              <p:cNvCxnSpPr>
                <a:stCxn id="40" idx="2"/>
                <a:endCxn id="48" idx="0"/>
              </p:cNvCxnSpPr>
              <p:nvPr/>
            </p:nvCxnSpPr>
            <p:spPr>
              <a:xfrm>
                <a:off x="940982" y="4971806"/>
                <a:ext cx="1251966" cy="7070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A943570-E703-148E-1AB0-A2210696F431}"/>
                  </a:ext>
                </a:extLst>
              </p:cNvPr>
              <p:cNvCxnSpPr>
                <a:stCxn id="48" idx="3"/>
                <a:endCxn id="49" idx="1"/>
              </p:cNvCxnSpPr>
              <p:nvPr/>
            </p:nvCxnSpPr>
            <p:spPr>
              <a:xfrm flipV="1">
                <a:off x="2740524" y="5971268"/>
                <a:ext cx="145225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72958208-F6D5-99FC-FA37-6E8ED61C816A}"/>
                  </a:ext>
                </a:extLst>
              </p:cNvPr>
              <p:cNvCxnSpPr>
                <a:cxnSpLocks/>
                <a:stCxn id="41" idx="2"/>
                <a:endCxn id="49" idx="0"/>
              </p:cNvCxnSpPr>
              <p:nvPr/>
            </p:nvCxnSpPr>
            <p:spPr>
              <a:xfrm>
                <a:off x="3538870" y="4971805"/>
                <a:ext cx="1201483" cy="7070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A2227307-1DB4-267C-05D7-86DA2B6F02B9}"/>
                  </a:ext>
                </a:extLst>
              </p:cNvPr>
              <p:cNvCxnSpPr>
                <a:stCxn id="49" idx="3"/>
                <a:endCxn id="50" idx="1"/>
              </p:cNvCxnSpPr>
              <p:nvPr/>
            </p:nvCxnSpPr>
            <p:spPr>
              <a:xfrm flipV="1">
                <a:off x="5287929" y="5971267"/>
                <a:ext cx="1452253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BFB7ACF-91CE-1D97-34E3-0BBBAB2B2E15}"/>
                  </a:ext>
                </a:extLst>
              </p:cNvPr>
              <p:cNvCxnSpPr>
                <a:cxnSpLocks/>
                <a:stCxn id="42" idx="2"/>
                <a:endCxn id="50" idx="0"/>
              </p:cNvCxnSpPr>
              <p:nvPr/>
            </p:nvCxnSpPr>
            <p:spPr>
              <a:xfrm>
                <a:off x="6086275" y="4971805"/>
                <a:ext cx="1201484" cy="7070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C40873E-A957-E9F8-81ED-D90479DCF6A9}"/>
                  </a:ext>
                </a:extLst>
              </p:cNvPr>
              <p:cNvCxnSpPr>
                <a:stCxn id="50" idx="3"/>
                <a:endCxn id="43" idx="2"/>
              </p:cNvCxnSpPr>
              <p:nvPr/>
            </p:nvCxnSpPr>
            <p:spPr>
              <a:xfrm flipV="1">
                <a:off x="7835335" y="4971805"/>
                <a:ext cx="798345" cy="9994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E14C3D6-C5BE-E518-6586-D4056C200342}"/>
                  </a:ext>
                </a:extLst>
              </p:cNvPr>
              <p:cNvCxnSpPr>
                <a:stCxn id="50" idx="3"/>
                <a:endCxn id="51" idx="1"/>
              </p:cNvCxnSpPr>
              <p:nvPr/>
            </p:nvCxnSpPr>
            <p:spPr>
              <a:xfrm>
                <a:off x="7835335" y="5971267"/>
                <a:ext cx="161614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F476E37-E2FE-6BDD-ACAE-8E0566E2DBAC}"/>
                  </a:ext>
                </a:extLst>
              </p:cNvPr>
              <p:cNvCxnSpPr>
                <a:stCxn id="51" idx="3"/>
                <a:endCxn id="44" idx="2"/>
              </p:cNvCxnSpPr>
              <p:nvPr/>
            </p:nvCxnSpPr>
            <p:spPr>
              <a:xfrm flipV="1">
                <a:off x="10546629" y="4971805"/>
                <a:ext cx="634456" cy="9994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464534-927F-04AB-7773-C70C19E38962}"/>
                  </a:ext>
                </a:extLst>
              </p:cNvPr>
              <p:cNvSpPr txBox="1"/>
              <p:nvPr/>
            </p:nvSpPr>
            <p:spPr>
              <a:xfrm>
                <a:off x="1091045" y="3813464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12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C9CA29-E185-428D-2208-897C22BD02A2}"/>
                  </a:ext>
                </a:extLst>
              </p:cNvPr>
              <p:cNvSpPr txBox="1"/>
              <p:nvPr/>
            </p:nvSpPr>
            <p:spPr>
              <a:xfrm>
                <a:off x="3226496" y="30209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18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BAA242-2001-D9BA-7E36-888932818D15}"/>
                  </a:ext>
                </a:extLst>
              </p:cNvPr>
              <p:cNvSpPr txBox="1"/>
              <p:nvPr/>
            </p:nvSpPr>
            <p:spPr>
              <a:xfrm>
                <a:off x="5732484" y="3011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A65B56-1B1B-F9E2-84B9-2159F1B4782E}"/>
                  </a:ext>
                </a:extLst>
              </p:cNvPr>
              <p:cNvSpPr txBox="1"/>
              <p:nvPr/>
            </p:nvSpPr>
            <p:spPr>
              <a:xfrm>
                <a:off x="2055815" y="4343915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20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20F0A5D-72BC-9164-7E25-F5A0ABF24925}"/>
                  </a:ext>
                </a:extLst>
              </p:cNvPr>
              <p:cNvSpPr txBox="1"/>
              <p:nvPr/>
            </p:nvSpPr>
            <p:spPr>
              <a:xfrm>
                <a:off x="1153126" y="5248402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D58A8D3-7B0F-1B90-BAE9-64D4FF5A08B5}"/>
                  </a:ext>
                </a:extLst>
              </p:cNvPr>
              <p:cNvSpPr txBox="1"/>
              <p:nvPr/>
            </p:nvSpPr>
            <p:spPr>
              <a:xfrm>
                <a:off x="3185078" y="593137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16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1A55AD-56D0-F3DC-84F3-BF89AC6F3477}"/>
                  </a:ext>
                </a:extLst>
              </p:cNvPr>
              <p:cNvSpPr txBox="1"/>
              <p:nvPr/>
            </p:nvSpPr>
            <p:spPr>
              <a:xfrm>
                <a:off x="4572418" y="436132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16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9B78CFA-DED2-0484-3C7F-BD7BBFE5692B}"/>
                  </a:ext>
                </a:extLst>
              </p:cNvPr>
              <p:cNvSpPr txBox="1"/>
              <p:nvPr/>
            </p:nvSpPr>
            <p:spPr>
              <a:xfrm>
                <a:off x="3667742" y="52143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D6E63F-9207-3620-5768-678DF932025B}"/>
                  </a:ext>
                </a:extLst>
              </p:cNvPr>
              <p:cNvSpPr txBox="1"/>
              <p:nvPr/>
            </p:nvSpPr>
            <p:spPr>
              <a:xfrm>
                <a:off x="6213799" y="52385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2857EC7-0CD4-584F-DC67-745DCAEBB088}"/>
                  </a:ext>
                </a:extLst>
              </p:cNvPr>
              <p:cNvSpPr txBox="1"/>
              <p:nvPr/>
            </p:nvSpPr>
            <p:spPr>
              <a:xfrm>
                <a:off x="5732484" y="593137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ECD464F-36BB-32F8-CAB8-A225DBD8AECA}"/>
                  </a:ext>
                </a:extLst>
              </p:cNvPr>
              <p:cNvSpPr txBox="1"/>
              <p:nvPr/>
            </p:nvSpPr>
            <p:spPr>
              <a:xfrm>
                <a:off x="6321478" y="375098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A2DB985-12F8-8336-7A4D-7F92AC291F76}"/>
                  </a:ext>
                </a:extLst>
              </p:cNvPr>
              <p:cNvSpPr txBox="1"/>
              <p:nvPr/>
            </p:nvSpPr>
            <p:spPr>
              <a:xfrm>
                <a:off x="10027763" y="3470049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14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803C06-73D5-8426-B2D7-D1C751986EF5}"/>
                  </a:ext>
                </a:extLst>
              </p:cNvPr>
              <p:cNvSpPr txBox="1"/>
              <p:nvPr/>
            </p:nvSpPr>
            <p:spPr>
              <a:xfrm>
                <a:off x="7119823" y="4361319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12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407E4-BC1D-D97F-D7D7-4CDCB59D578F}"/>
                  </a:ext>
                </a:extLst>
              </p:cNvPr>
              <p:cNvSpPr txBox="1"/>
              <p:nvPr/>
            </p:nvSpPr>
            <p:spPr>
              <a:xfrm>
                <a:off x="8234428" y="529102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17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14585A-3E53-2EC1-CFFA-8CBB5EADF60F}"/>
                  </a:ext>
                </a:extLst>
              </p:cNvPr>
              <p:cNvSpPr txBox="1"/>
              <p:nvPr/>
            </p:nvSpPr>
            <p:spPr>
              <a:xfrm>
                <a:off x="9667228" y="434391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802F08E-F06E-C1D3-93AD-CB8CA7767035}"/>
                  </a:ext>
                </a:extLst>
              </p:cNvPr>
              <p:cNvSpPr txBox="1"/>
              <p:nvPr/>
            </p:nvSpPr>
            <p:spPr>
              <a:xfrm>
                <a:off x="10829522" y="537793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416539B-D245-0E0B-20EB-5D26722F49BF}"/>
                  </a:ext>
                </a:extLst>
              </p:cNvPr>
              <p:cNvSpPr txBox="1"/>
              <p:nvPr/>
            </p:nvSpPr>
            <p:spPr>
              <a:xfrm>
                <a:off x="8559438" y="592115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30A3E65-F227-0283-F8DF-40C816FD1D1A}"/>
                </a:ext>
              </a:extLst>
            </p:cNvPr>
            <p:cNvSpPr txBox="1"/>
            <p:nvPr/>
          </p:nvSpPr>
          <p:spPr>
            <a:xfrm>
              <a:off x="395721" y="40206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FA2AF17-B8CF-F5E8-09EB-46C63F198856}"/>
                </a:ext>
              </a:extLst>
            </p:cNvPr>
            <p:cNvSpPr txBox="1"/>
            <p:nvPr/>
          </p:nvSpPr>
          <p:spPr>
            <a:xfrm>
              <a:off x="1645371" y="274841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E4AB966-E7C0-6B01-470A-D71B2ECB2193}"/>
                    </a:ext>
                  </a:extLst>
                </p:cNvPr>
                <p:cNvSpPr txBox="1"/>
                <p:nvPr/>
              </p:nvSpPr>
              <p:spPr>
                <a:xfrm>
                  <a:off x="4139287" y="2750569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E4AB966-E7C0-6B01-470A-D71B2ECB21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9287" y="2750569"/>
                  <a:ext cx="4331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D657DA1-65C1-37A4-543E-90220EFF3E44}"/>
                    </a:ext>
                  </a:extLst>
                </p:cNvPr>
                <p:cNvSpPr txBox="1"/>
                <p:nvPr/>
              </p:nvSpPr>
              <p:spPr>
                <a:xfrm>
                  <a:off x="8105555" y="2750559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D657DA1-65C1-37A4-543E-90220EFF3E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5555" y="2750559"/>
                  <a:ext cx="43313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C817845-C1CD-E956-E919-EB94E5FAC33F}"/>
                </a:ext>
              </a:extLst>
            </p:cNvPr>
            <p:cNvSpPr txBox="1"/>
            <p:nvPr/>
          </p:nvSpPr>
          <p:spPr>
            <a:xfrm>
              <a:off x="2991292" y="402063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64FC5DC-2C0D-440C-CB3F-5B6475273191}"/>
                    </a:ext>
                  </a:extLst>
                </p:cNvPr>
                <p:cNvSpPr txBox="1"/>
                <p:nvPr/>
              </p:nvSpPr>
              <p:spPr>
                <a:xfrm>
                  <a:off x="5535542" y="4022770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64FC5DC-2C0D-440C-CB3F-5B64752731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5542" y="4022770"/>
                  <a:ext cx="43313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F10C2E6-EAFC-6298-FFD4-64F9EB5191D9}"/>
                    </a:ext>
                  </a:extLst>
                </p:cNvPr>
                <p:cNvSpPr txBox="1"/>
                <p:nvPr/>
              </p:nvSpPr>
              <p:spPr>
                <a:xfrm>
                  <a:off x="8086103" y="4020633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F10C2E6-EAFC-6298-FFD4-64F9EB519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6103" y="4020633"/>
                  <a:ext cx="43313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7343D5D-5DF4-59F2-55A5-CB2A7D157E22}"/>
                    </a:ext>
                  </a:extLst>
                </p:cNvPr>
                <p:cNvSpPr txBox="1"/>
                <p:nvPr/>
              </p:nvSpPr>
              <p:spPr>
                <a:xfrm>
                  <a:off x="11286635" y="4020633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7343D5D-5DF4-59F2-55A5-CB2A7D157E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86635" y="4020633"/>
                  <a:ext cx="433131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053BB9B-6E4A-9DFF-4EF3-73E3B94F8AF5}"/>
                </a:ext>
              </a:extLst>
            </p:cNvPr>
            <p:cNvSpPr txBox="1"/>
            <p:nvPr/>
          </p:nvSpPr>
          <p:spPr>
            <a:xfrm>
              <a:off x="2302391" y="53397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458811F-E515-3003-2CB0-66D8A3CFBDC5}"/>
                    </a:ext>
                  </a:extLst>
                </p:cNvPr>
                <p:cNvSpPr txBox="1"/>
                <p:nvPr/>
              </p:nvSpPr>
              <p:spPr>
                <a:xfrm>
                  <a:off x="4848015" y="5339712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458811F-E515-3003-2CB0-66D8A3CFBD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8015" y="5339712"/>
                  <a:ext cx="43313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D0C6FF9-C707-EA64-10D6-1E27A2DD2F72}"/>
                    </a:ext>
                  </a:extLst>
                </p:cNvPr>
                <p:cNvSpPr txBox="1"/>
                <p:nvPr/>
              </p:nvSpPr>
              <p:spPr>
                <a:xfrm>
                  <a:off x="7397571" y="5349225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D0C6FF9-C707-EA64-10D6-1E27A2DD2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7571" y="5349225"/>
                  <a:ext cx="43313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17D4E59-EAB8-5723-E2FB-CD6008D602CC}"/>
                    </a:ext>
                  </a:extLst>
                </p:cNvPr>
                <p:cNvSpPr txBox="1"/>
                <p:nvPr/>
              </p:nvSpPr>
              <p:spPr>
                <a:xfrm>
                  <a:off x="10118454" y="5349225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17D4E59-EAB8-5723-E2FB-CD6008D602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8454" y="5349225"/>
                  <a:ext cx="433131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5686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Dijkstra’s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21583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Now visit the neighbours of NIPA, 3 Hatti and Five Star.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Watch </a:t>
            </a:r>
            <a:r>
              <a:rPr lang="en-US" sz="3200" dirty="0" err="1"/>
              <a:t>Lasbela</a:t>
            </a:r>
            <a:r>
              <a:rPr lang="en-US" sz="3200" dirty="0"/>
              <a:t>, its value was updated 2</a:t>
            </a:r>
            <a:r>
              <a:rPr lang="en-US" sz="3200" baseline="30000" dirty="0"/>
              <a:t>nd</a:t>
            </a:r>
            <a:r>
              <a:rPr lang="en-US" sz="3200" dirty="0"/>
              <a:t> time when visiting from Five Star.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C52A045-EA44-C71D-9E03-3F34CF57F561}"/>
              </a:ext>
            </a:extLst>
          </p:cNvPr>
          <p:cNvGrpSpPr/>
          <p:nvPr/>
        </p:nvGrpSpPr>
        <p:grpSpPr>
          <a:xfrm>
            <a:off x="393405" y="2748418"/>
            <a:ext cx="11335256" cy="3552285"/>
            <a:chOff x="393405" y="2748418"/>
            <a:chExt cx="11335256" cy="35522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4DC3A58-670B-C524-AD00-1375EC21F6F4}"/>
                </a:ext>
              </a:extLst>
            </p:cNvPr>
            <p:cNvGrpSpPr/>
            <p:nvPr/>
          </p:nvGrpSpPr>
          <p:grpSpPr>
            <a:xfrm>
              <a:off x="393405" y="3011135"/>
              <a:ext cx="11335256" cy="3289568"/>
              <a:chOff x="393405" y="3011135"/>
              <a:chExt cx="11335256" cy="328956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413108FE-A61F-507E-F3CA-CF289102D733}"/>
                  </a:ext>
                </a:extLst>
              </p:cNvPr>
              <p:cNvGrpSpPr/>
              <p:nvPr/>
            </p:nvGrpSpPr>
            <p:grpSpPr>
              <a:xfrm>
                <a:off x="393405" y="3069462"/>
                <a:ext cx="11335256" cy="3194202"/>
                <a:chOff x="393405" y="3069462"/>
                <a:chExt cx="11335256" cy="3194202"/>
              </a:xfrm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21FA5321-4C8D-F225-F465-CA6CA8C50FFA}"/>
                    </a:ext>
                  </a:extLst>
                </p:cNvPr>
                <p:cNvSpPr/>
                <p:nvPr/>
              </p:nvSpPr>
              <p:spPr>
                <a:xfrm>
                  <a:off x="393405" y="4387015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Water pump</a:t>
                  </a: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6464BB90-999C-93D8-BC92-4D060054E6BE}"/>
                    </a:ext>
                  </a:extLst>
                </p:cNvPr>
                <p:cNvSpPr/>
                <p:nvPr/>
              </p:nvSpPr>
              <p:spPr>
                <a:xfrm>
                  <a:off x="2991293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 Hatti</a:t>
                  </a:r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6DF02B60-D0F9-AC0D-6584-3AB58F157EDB}"/>
                    </a:ext>
                  </a:extLst>
                </p:cNvPr>
                <p:cNvSpPr/>
                <p:nvPr/>
              </p:nvSpPr>
              <p:spPr>
                <a:xfrm>
                  <a:off x="5538698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Saddar</a:t>
                  </a:r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CB706FE6-1250-B8EB-E6F2-83A3517B7441}"/>
                    </a:ext>
                  </a:extLst>
                </p:cNvPr>
                <p:cNvSpPr/>
                <p:nvPr/>
              </p:nvSpPr>
              <p:spPr>
                <a:xfrm>
                  <a:off x="8086103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Light house</a:t>
                  </a:r>
                </a:p>
              </p:txBody>
            </p:sp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67B77114-D86D-C532-25C7-FDCFD208B0CB}"/>
                    </a:ext>
                  </a:extLst>
                </p:cNvPr>
                <p:cNvSpPr/>
                <p:nvPr/>
              </p:nvSpPr>
              <p:spPr>
                <a:xfrm>
                  <a:off x="10633508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Tower</a:t>
                  </a: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B68641B9-0ADC-EA1A-02CB-0DCEE114C4D8}"/>
                    </a:ext>
                  </a:extLst>
                </p:cNvPr>
                <p:cNvSpPr/>
                <p:nvPr/>
              </p:nvSpPr>
              <p:spPr>
                <a:xfrm>
                  <a:off x="1645371" y="3069463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NIPA</a:t>
                  </a:r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8110C858-9F51-3122-C547-CA87B54F8F2C}"/>
                    </a:ext>
                  </a:extLst>
                </p:cNvPr>
                <p:cNvSpPr/>
                <p:nvPr/>
              </p:nvSpPr>
              <p:spPr>
                <a:xfrm>
                  <a:off x="4192776" y="3069463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Bahria Uni</a:t>
                  </a:r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7147B8B7-73FD-BC74-652F-C243FF897A12}"/>
                    </a:ext>
                  </a:extLst>
                </p:cNvPr>
                <p:cNvSpPr/>
                <p:nvPr/>
              </p:nvSpPr>
              <p:spPr>
                <a:xfrm>
                  <a:off x="8105555" y="3069462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Sh</a:t>
                  </a:r>
                  <a:r>
                    <a:rPr lang="en-US" dirty="0"/>
                    <a:t>-e-Faisal</a:t>
                  </a:r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31C1CC02-1249-4C47-FAA5-D7BF2324C20A}"/>
                    </a:ext>
                  </a:extLst>
                </p:cNvPr>
                <p:cNvSpPr/>
                <p:nvPr/>
              </p:nvSpPr>
              <p:spPr>
                <a:xfrm>
                  <a:off x="1645371" y="5678873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Five Star</a:t>
                  </a:r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3E9805D7-1B01-840F-E9C2-F508BB267686}"/>
                    </a:ext>
                  </a:extLst>
                </p:cNvPr>
                <p:cNvSpPr/>
                <p:nvPr/>
              </p:nvSpPr>
              <p:spPr>
                <a:xfrm>
                  <a:off x="4192776" y="5678872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Lasbela</a:t>
                  </a:r>
                  <a:endParaRPr lang="en-US" dirty="0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3689640D-C309-EA5E-1472-81BEF6AB3C18}"/>
                    </a:ext>
                  </a:extLst>
                </p:cNvPr>
                <p:cNvSpPr/>
                <p:nvPr/>
              </p:nvSpPr>
              <p:spPr>
                <a:xfrm>
                  <a:off x="6740182" y="5678871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Soldier Bazar</a:t>
                  </a:r>
                </a:p>
              </p:txBody>
            </p:sp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93EC3938-F71B-12C1-3DAE-589592984B06}"/>
                    </a:ext>
                  </a:extLst>
                </p:cNvPr>
                <p:cNvSpPr/>
                <p:nvPr/>
              </p:nvSpPr>
              <p:spPr>
                <a:xfrm>
                  <a:off x="9451476" y="5678871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Nanakwarra</a:t>
                  </a:r>
                  <a:endParaRPr lang="en-US" dirty="0"/>
                </a:p>
              </p:txBody>
            </p:sp>
          </p:grp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FBFE3084-FF55-15C3-B9C7-FD9B57764E49}"/>
                  </a:ext>
                </a:extLst>
              </p:cNvPr>
              <p:cNvCxnSpPr>
                <a:stCxn id="40" idx="3"/>
                <a:endCxn id="41" idx="1"/>
              </p:cNvCxnSpPr>
              <p:nvPr/>
            </p:nvCxnSpPr>
            <p:spPr>
              <a:xfrm flipV="1">
                <a:off x="1488558" y="4679410"/>
                <a:ext cx="1502735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4A50D758-BCC7-0147-F745-9D1F62FAA5E5}"/>
                  </a:ext>
                </a:extLst>
              </p:cNvPr>
              <p:cNvCxnSpPr>
                <a:stCxn id="41" idx="3"/>
                <a:endCxn id="42" idx="1"/>
              </p:cNvCxnSpPr>
              <p:nvPr/>
            </p:nvCxnSpPr>
            <p:spPr>
              <a:xfrm>
                <a:off x="4086446" y="4679410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0B02CD72-0429-1108-343D-443E89716D98}"/>
                  </a:ext>
                </a:extLst>
              </p:cNvPr>
              <p:cNvCxnSpPr>
                <a:stCxn id="42" idx="3"/>
                <a:endCxn id="43" idx="1"/>
              </p:cNvCxnSpPr>
              <p:nvPr/>
            </p:nvCxnSpPr>
            <p:spPr>
              <a:xfrm>
                <a:off x="6633851" y="4679410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EED29566-2D40-0605-CD44-EB205E0CC484}"/>
                  </a:ext>
                </a:extLst>
              </p:cNvPr>
              <p:cNvCxnSpPr>
                <a:stCxn id="43" idx="3"/>
                <a:endCxn id="44" idx="1"/>
              </p:cNvCxnSpPr>
              <p:nvPr/>
            </p:nvCxnSpPr>
            <p:spPr>
              <a:xfrm>
                <a:off x="9181256" y="4679410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33FCEC15-A5EE-3520-AC68-3334F6720C49}"/>
                  </a:ext>
                </a:extLst>
              </p:cNvPr>
              <p:cNvCxnSpPr>
                <a:stCxn id="40" idx="0"/>
                <a:endCxn id="45" idx="2"/>
              </p:cNvCxnSpPr>
              <p:nvPr/>
            </p:nvCxnSpPr>
            <p:spPr>
              <a:xfrm flipV="1">
                <a:off x="940982" y="3654254"/>
                <a:ext cx="1251966" cy="7327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9BA3031-187E-6C89-24B7-51A341A4BA23}"/>
                  </a:ext>
                </a:extLst>
              </p:cNvPr>
              <p:cNvCxnSpPr>
                <a:stCxn id="45" idx="3"/>
                <a:endCxn id="46" idx="1"/>
              </p:cNvCxnSpPr>
              <p:nvPr/>
            </p:nvCxnSpPr>
            <p:spPr>
              <a:xfrm>
                <a:off x="2740524" y="3361859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3FD8AFFD-5F49-075A-C87B-6882CC5C51BC}"/>
                  </a:ext>
                </a:extLst>
              </p:cNvPr>
              <p:cNvCxnSpPr>
                <a:stCxn id="46" idx="3"/>
                <a:endCxn id="47" idx="1"/>
              </p:cNvCxnSpPr>
              <p:nvPr/>
            </p:nvCxnSpPr>
            <p:spPr>
              <a:xfrm flipV="1">
                <a:off x="5287929" y="3361858"/>
                <a:ext cx="281762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131A393-7E7E-52B9-EF4D-1E6741D69970}"/>
                  </a:ext>
                </a:extLst>
              </p:cNvPr>
              <p:cNvCxnSpPr>
                <a:cxnSpLocks/>
                <a:stCxn id="42" idx="0"/>
                <a:endCxn id="47" idx="2"/>
              </p:cNvCxnSpPr>
              <p:nvPr/>
            </p:nvCxnSpPr>
            <p:spPr>
              <a:xfrm flipV="1">
                <a:off x="6086275" y="3654253"/>
                <a:ext cx="2566857" cy="7327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BB9F0BB-2ED5-58FE-988A-86FBEB971AF3}"/>
                  </a:ext>
                </a:extLst>
              </p:cNvPr>
              <p:cNvCxnSpPr>
                <a:stCxn id="47" idx="3"/>
                <a:endCxn id="44" idx="0"/>
              </p:cNvCxnSpPr>
              <p:nvPr/>
            </p:nvCxnSpPr>
            <p:spPr>
              <a:xfrm>
                <a:off x="9200708" y="3361858"/>
                <a:ext cx="1980377" cy="10251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B2C72DAC-D2AE-8A83-E987-893186DE6E2D}"/>
                  </a:ext>
                </a:extLst>
              </p:cNvPr>
              <p:cNvCxnSpPr>
                <a:stCxn id="40" idx="2"/>
                <a:endCxn id="48" idx="0"/>
              </p:cNvCxnSpPr>
              <p:nvPr/>
            </p:nvCxnSpPr>
            <p:spPr>
              <a:xfrm>
                <a:off x="940982" y="4971806"/>
                <a:ext cx="1251966" cy="7070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A943570-E703-148E-1AB0-A2210696F431}"/>
                  </a:ext>
                </a:extLst>
              </p:cNvPr>
              <p:cNvCxnSpPr>
                <a:stCxn id="48" idx="3"/>
                <a:endCxn id="49" idx="1"/>
              </p:cNvCxnSpPr>
              <p:nvPr/>
            </p:nvCxnSpPr>
            <p:spPr>
              <a:xfrm flipV="1">
                <a:off x="2740524" y="5971268"/>
                <a:ext cx="145225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72958208-F6D5-99FC-FA37-6E8ED61C816A}"/>
                  </a:ext>
                </a:extLst>
              </p:cNvPr>
              <p:cNvCxnSpPr>
                <a:cxnSpLocks/>
                <a:stCxn id="41" idx="2"/>
                <a:endCxn id="49" idx="0"/>
              </p:cNvCxnSpPr>
              <p:nvPr/>
            </p:nvCxnSpPr>
            <p:spPr>
              <a:xfrm>
                <a:off x="3538870" y="4971805"/>
                <a:ext cx="1201483" cy="7070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A2227307-1DB4-267C-05D7-86DA2B6F02B9}"/>
                  </a:ext>
                </a:extLst>
              </p:cNvPr>
              <p:cNvCxnSpPr>
                <a:stCxn id="49" idx="3"/>
                <a:endCxn id="50" idx="1"/>
              </p:cNvCxnSpPr>
              <p:nvPr/>
            </p:nvCxnSpPr>
            <p:spPr>
              <a:xfrm flipV="1">
                <a:off x="5287929" y="5971267"/>
                <a:ext cx="1452253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BFB7ACF-91CE-1D97-34E3-0BBBAB2B2E15}"/>
                  </a:ext>
                </a:extLst>
              </p:cNvPr>
              <p:cNvCxnSpPr>
                <a:cxnSpLocks/>
                <a:stCxn id="42" idx="2"/>
                <a:endCxn id="50" idx="0"/>
              </p:cNvCxnSpPr>
              <p:nvPr/>
            </p:nvCxnSpPr>
            <p:spPr>
              <a:xfrm>
                <a:off x="6086275" y="4971805"/>
                <a:ext cx="1201484" cy="7070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C40873E-A957-E9F8-81ED-D90479DCF6A9}"/>
                  </a:ext>
                </a:extLst>
              </p:cNvPr>
              <p:cNvCxnSpPr>
                <a:stCxn id="50" idx="3"/>
                <a:endCxn id="43" idx="2"/>
              </p:cNvCxnSpPr>
              <p:nvPr/>
            </p:nvCxnSpPr>
            <p:spPr>
              <a:xfrm flipV="1">
                <a:off x="7835335" y="4971805"/>
                <a:ext cx="798345" cy="9994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E14C3D6-C5BE-E518-6586-D4056C200342}"/>
                  </a:ext>
                </a:extLst>
              </p:cNvPr>
              <p:cNvCxnSpPr>
                <a:stCxn id="50" idx="3"/>
                <a:endCxn id="51" idx="1"/>
              </p:cNvCxnSpPr>
              <p:nvPr/>
            </p:nvCxnSpPr>
            <p:spPr>
              <a:xfrm>
                <a:off x="7835335" y="5971267"/>
                <a:ext cx="161614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F476E37-E2FE-6BDD-ACAE-8E0566E2DBAC}"/>
                  </a:ext>
                </a:extLst>
              </p:cNvPr>
              <p:cNvCxnSpPr>
                <a:stCxn id="51" idx="3"/>
                <a:endCxn id="44" idx="2"/>
              </p:cNvCxnSpPr>
              <p:nvPr/>
            </p:nvCxnSpPr>
            <p:spPr>
              <a:xfrm flipV="1">
                <a:off x="10546629" y="4971805"/>
                <a:ext cx="634456" cy="9994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464534-927F-04AB-7773-C70C19E38962}"/>
                  </a:ext>
                </a:extLst>
              </p:cNvPr>
              <p:cNvSpPr txBox="1"/>
              <p:nvPr/>
            </p:nvSpPr>
            <p:spPr>
              <a:xfrm>
                <a:off x="1091045" y="3813464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12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C9CA29-E185-428D-2208-897C22BD02A2}"/>
                  </a:ext>
                </a:extLst>
              </p:cNvPr>
              <p:cNvSpPr txBox="1"/>
              <p:nvPr/>
            </p:nvSpPr>
            <p:spPr>
              <a:xfrm>
                <a:off x="3226496" y="30209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18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BAA242-2001-D9BA-7E36-888932818D15}"/>
                  </a:ext>
                </a:extLst>
              </p:cNvPr>
              <p:cNvSpPr txBox="1"/>
              <p:nvPr/>
            </p:nvSpPr>
            <p:spPr>
              <a:xfrm>
                <a:off x="5732484" y="3011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A65B56-1B1B-F9E2-84B9-2159F1B4782E}"/>
                  </a:ext>
                </a:extLst>
              </p:cNvPr>
              <p:cNvSpPr txBox="1"/>
              <p:nvPr/>
            </p:nvSpPr>
            <p:spPr>
              <a:xfrm>
                <a:off x="2055815" y="4343915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20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20F0A5D-72BC-9164-7E25-F5A0ABF24925}"/>
                  </a:ext>
                </a:extLst>
              </p:cNvPr>
              <p:cNvSpPr txBox="1"/>
              <p:nvPr/>
            </p:nvSpPr>
            <p:spPr>
              <a:xfrm>
                <a:off x="1153126" y="5248402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D58A8D3-7B0F-1B90-BAE9-64D4FF5A08B5}"/>
                  </a:ext>
                </a:extLst>
              </p:cNvPr>
              <p:cNvSpPr txBox="1"/>
              <p:nvPr/>
            </p:nvSpPr>
            <p:spPr>
              <a:xfrm>
                <a:off x="3185078" y="593137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16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1A55AD-56D0-F3DC-84F3-BF89AC6F3477}"/>
                  </a:ext>
                </a:extLst>
              </p:cNvPr>
              <p:cNvSpPr txBox="1"/>
              <p:nvPr/>
            </p:nvSpPr>
            <p:spPr>
              <a:xfrm>
                <a:off x="4572418" y="436132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16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9B78CFA-DED2-0484-3C7F-BD7BBFE5692B}"/>
                  </a:ext>
                </a:extLst>
              </p:cNvPr>
              <p:cNvSpPr txBox="1"/>
              <p:nvPr/>
            </p:nvSpPr>
            <p:spPr>
              <a:xfrm>
                <a:off x="3667742" y="52143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D6E63F-9207-3620-5768-678DF932025B}"/>
                  </a:ext>
                </a:extLst>
              </p:cNvPr>
              <p:cNvSpPr txBox="1"/>
              <p:nvPr/>
            </p:nvSpPr>
            <p:spPr>
              <a:xfrm>
                <a:off x="6213799" y="52385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2857EC7-0CD4-584F-DC67-745DCAEBB088}"/>
                  </a:ext>
                </a:extLst>
              </p:cNvPr>
              <p:cNvSpPr txBox="1"/>
              <p:nvPr/>
            </p:nvSpPr>
            <p:spPr>
              <a:xfrm>
                <a:off x="5732484" y="593137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ECD464F-36BB-32F8-CAB8-A225DBD8AECA}"/>
                  </a:ext>
                </a:extLst>
              </p:cNvPr>
              <p:cNvSpPr txBox="1"/>
              <p:nvPr/>
            </p:nvSpPr>
            <p:spPr>
              <a:xfrm>
                <a:off x="6321478" y="375098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A2DB985-12F8-8336-7A4D-7F92AC291F76}"/>
                  </a:ext>
                </a:extLst>
              </p:cNvPr>
              <p:cNvSpPr txBox="1"/>
              <p:nvPr/>
            </p:nvSpPr>
            <p:spPr>
              <a:xfrm>
                <a:off x="10027763" y="3470049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14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803C06-73D5-8426-B2D7-D1C751986EF5}"/>
                  </a:ext>
                </a:extLst>
              </p:cNvPr>
              <p:cNvSpPr txBox="1"/>
              <p:nvPr/>
            </p:nvSpPr>
            <p:spPr>
              <a:xfrm>
                <a:off x="7119823" y="4361319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12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407E4-BC1D-D97F-D7D7-4CDCB59D578F}"/>
                  </a:ext>
                </a:extLst>
              </p:cNvPr>
              <p:cNvSpPr txBox="1"/>
              <p:nvPr/>
            </p:nvSpPr>
            <p:spPr>
              <a:xfrm>
                <a:off x="8234428" y="529102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17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14585A-3E53-2EC1-CFFA-8CBB5EADF60F}"/>
                  </a:ext>
                </a:extLst>
              </p:cNvPr>
              <p:cNvSpPr txBox="1"/>
              <p:nvPr/>
            </p:nvSpPr>
            <p:spPr>
              <a:xfrm>
                <a:off x="9667228" y="434391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802F08E-F06E-C1D3-93AD-CB8CA7767035}"/>
                  </a:ext>
                </a:extLst>
              </p:cNvPr>
              <p:cNvSpPr txBox="1"/>
              <p:nvPr/>
            </p:nvSpPr>
            <p:spPr>
              <a:xfrm>
                <a:off x="10829522" y="537793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416539B-D245-0E0B-20EB-5D26722F49BF}"/>
                  </a:ext>
                </a:extLst>
              </p:cNvPr>
              <p:cNvSpPr txBox="1"/>
              <p:nvPr/>
            </p:nvSpPr>
            <p:spPr>
              <a:xfrm>
                <a:off x="8559438" y="592115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30A3E65-F227-0283-F8DF-40C816FD1D1A}"/>
                </a:ext>
              </a:extLst>
            </p:cNvPr>
            <p:cNvSpPr txBox="1"/>
            <p:nvPr/>
          </p:nvSpPr>
          <p:spPr>
            <a:xfrm>
              <a:off x="395721" y="40206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FA2AF17-B8CF-F5E8-09EB-46C63F198856}"/>
                </a:ext>
              </a:extLst>
            </p:cNvPr>
            <p:cNvSpPr txBox="1"/>
            <p:nvPr/>
          </p:nvSpPr>
          <p:spPr>
            <a:xfrm>
              <a:off x="1645371" y="274841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E4AB966-E7C0-6B01-470A-D71B2ECB2193}"/>
                </a:ext>
              </a:extLst>
            </p:cNvPr>
            <p:cNvSpPr txBox="1"/>
            <p:nvPr/>
          </p:nvSpPr>
          <p:spPr>
            <a:xfrm>
              <a:off x="4139287" y="275056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D657DA1-65C1-37A4-543E-90220EFF3E44}"/>
                    </a:ext>
                  </a:extLst>
                </p:cNvPr>
                <p:cNvSpPr txBox="1"/>
                <p:nvPr/>
              </p:nvSpPr>
              <p:spPr>
                <a:xfrm>
                  <a:off x="8105555" y="2750559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D657DA1-65C1-37A4-543E-90220EFF3E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5555" y="2750559"/>
                  <a:ext cx="4331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C817845-C1CD-E956-E919-EB94E5FAC33F}"/>
                </a:ext>
              </a:extLst>
            </p:cNvPr>
            <p:cNvSpPr txBox="1"/>
            <p:nvPr/>
          </p:nvSpPr>
          <p:spPr>
            <a:xfrm>
              <a:off x="2991292" y="402063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64FC5DC-2C0D-440C-CB3F-5B6475273191}"/>
                </a:ext>
              </a:extLst>
            </p:cNvPr>
            <p:cNvSpPr txBox="1"/>
            <p:nvPr/>
          </p:nvSpPr>
          <p:spPr>
            <a:xfrm>
              <a:off x="5535542" y="402277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36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F10C2E6-EAFC-6298-FFD4-64F9EB5191D9}"/>
                    </a:ext>
                  </a:extLst>
                </p:cNvPr>
                <p:cNvSpPr txBox="1"/>
                <p:nvPr/>
              </p:nvSpPr>
              <p:spPr>
                <a:xfrm>
                  <a:off x="8086103" y="4020633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F10C2E6-EAFC-6298-FFD4-64F9EB519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6103" y="4020633"/>
                  <a:ext cx="43313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7343D5D-5DF4-59F2-55A5-CB2A7D157E22}"/>
                    </a:ext>
                  </a:extLst>
                </p:cNvPr>
                <p:cNvSpPr txBox="1"/>
                <p:nvPr/>
              </p:nvSpPr>
              <p:spPr>
                <a:xfrm>
                  <a:off x="11286635" y="4020633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7343D5D-5DF4-59F2-55A5-CB2A7D157E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86635" y="4020633"/>
                  <a:ext cx="43313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053BB9B-6E4A-9DFF-4EF3-73E3B94F8AF5}"/>
                </a:ext>
              </a:extLst>
            </p:cNvPr>
            <p:cNvSpPr txBox="1"/>
            <p:nvPr/>
          </p:nvSpPr>
          <p:spPr>
            <a:xfrm>
              <a:off x="2302391" y="53397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458811F-E515-3003-2CB0-66D8A3CFBDC5}"/>
                </a:ext>
              </a:extLst>
            </p:cNvPr>
            <p:cNvSpPr txBox="1"/>
            <p:nvPr/>
          </p:nvSpPr>
          <p:spPr>
            <a:xfrm>
              <a:off x="4848015" y="5339712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trike="sngStrike" dirty="0">
                  <a:solidFill>
                    <a:srgbClr val="00B050"/>
                  </a:solidFill>
                </a:rPr>
                <a:t>27</a:t>
              </a:r>
              <a:r>
                <a:rPr lang="en-US" dirty="0">
                  <a:solidFill>
                    <a:srgbClr val="00B050"/>
                  </a:solidFill>
                </a:rPr>
                <a:t>26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D0C6FF9-C707-EA64-10D6-1E27A2DD2F72}"/>
                    </a:ext>
                  </a:extLst>
                </p:cNvPr>
                <p:cNvSpPr txBox="1"/>
                <p:nvPr/>
              </p:nvSpPr>
              <p:spPr>
                <a:xfrm>
                  <a:off x="7397571" y="5349225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6D0C6FF9-C707-EA64-10D6-1E27A2DD2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7571" y="5349225"/>
                  <a:ext cx="43313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17D4E59-EAB8-5723-E2FB-CD6008D602CC}"/>
                    </a:ext>
                  </a:extLst>
                </p:cNvPr>
                <p:cNvSpPr txBox="1"/>
                <p:nvPr/>
              </p:nvSpPr>
              <p:spPr>
                <a:xfrm>
                  <a:off x="10118454" y="5349225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17D4E59-EAB8-5723-E2FB-CD6008D602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8454" y="5349225"/>
                  <a:ext cx="433131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111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Dijkstra’s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21583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Next visits are from Bahria Uni, Saddar and </a:t>
            </a:r>
            <a:r>
              <a:rPr lang="en-US" sz="3200" dirty="0" err="1"/>
              <a:t>Lasbela</a:t>
            </a:r>
            <a:r>
              <a:rPr lang="en-US" sz="3200" dirty="0"/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 err="1"/>
              <a:t>Sh</a:t>
            </a:r>
            <a:r>
              <a:rPr lang="en-US" sz="3200" dirty="0"/>
              <a:t>-e-Faisal only updated once because route from Saddar is expensive.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929E504-8239-2418-65AD-F15EC7BD7DFD}"/>
              </a:ext>
            </a:extLst>
          </p:cNvPr>
          <p:cNvGrpSpPr/>
          <p:nvPr/>
        </p:nvGrpSpPr>
        <p:grpSpPr>
          <a:xfrm>
            <a:off x="393405" y="2748418"/>
            <a:ext cx="11335256" cy="3552285"/>
            <a:chOff x="393405" y="2748418"/>
            <a:chExt cx="11335256" cy="35522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4DC3A58-670B-C524-AD00-1375EC21F6F4}"/>
                </a:ext>
              </a:extLst>
            </p:cNvPr>
            <p:cNvGrpSpPr/>
            <p:nvPr/>
          </p:nvGrpSpPr>
          <p:grpSpPr>
            <a:xfrm>
              <a:off x="393405" y="3011135"/>
              <a:ext cx="11335256" cy="3289568"/>
              <a:chOff x="393405" y="3011135"/>
              <a:chExt cx="11335256" cy="328956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413108FE-A61F-507E-F3CA-CF289102D733}"/>
                  </a:ext>
                </a:extLst>
              </p:cNvPr>
              <p:cNvGrpSpPr/>
              <p:nvPr/>
            </p:nvGrpSpPr>
            <p:grpSpPr>
              <a:xfrm>
                <a:off x="393405" y="3069462"/>
                <a:ext cx="11335256" cy="3194202"/>
                <a:chOff x="393405" y="3069462"/>
                <a:chExt cx="11335256" cy="3194202"/>
              </a:xfrm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21FA5321-4C8D-F225-F465-CA6CA8C50FFA}"/>
                    </a:ext>
                  </a:extLst>
                </p:cNvPr>
                <p:cNvSpPr/>
                <p:nvPr/>
              </p:nvSpPr>
              <p:spPr>
                <a:xfrm>
                  <a:off x="393405" y="4387015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Water pump</a:t>
                  </a: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6464BB90-999C-93D8-BC92-4D060054E6BE}"/>
                    </a:ext>
                  </a:extLst>
                </p:cNvPr>
                <p:cNvSpPr/>
                <p:nvPr/>
              </p:nvSpPr>
              <p:spPr>
                <a:xfrm>
                  <a:off x="2991293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 Hatti</a:t>
                  </a:r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6DF02B60-D0F9-AC0D-6584-3AB58F157EDB}"/>
                    </a:ext>
                  </a:extLst>
                </p:cNvPr>
                <p:cNvSpPr/>
                <p:nvPr/>
              </p:nvSpPr>
              <p:spPr>
                <a:xfrm>
                  <a:off x="5538698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Saddar</a:t>
                  </a:r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CB706FE6-1250-B8EB-E6F2-83A3517B7441}"/>
                    </a:ext>
                  </a:extLst>
                </p:cNvPr>
                <p:cNvSpPr/>
                <p:nvPr/>
              </p:nvSpPr>
              <p:spPr>
                <a:xfrm>
                  <a:off x="8086103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Light house</a:t>
                  </a:r>
                </a:p>
              </p:txBody>
            </p:sp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67B77114-D86D-C532-25C7-FDCFD208B0CB}"/>
                    </a:ext>
                  </a:extLst>
                </p:cNvPr>
                <p:cNvSpPr/>
                <p:nvPr/>
              </p:nvSpPr>
              <p:spPr>
                <a:xfrm>
                  <a:off x="10633508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Tower</a:t>
                  </a: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B68641B9-0ADC-EA1A-02CB-0DCEE114C4D8}"/>
                    </a:ext>
                  </a:extLst>
                </p:cNvPr>
                <p:cNvSpPr/>
                <p:nvPr/>
              </p:nvSpPr>
              <p:spPr>
                <a:xfrm>
                  <a:off x="1645371" y="3069463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NIPA</a:t>
                  </a:r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8110C858-9F51-3122-C547-CA87B54F8F2C}"/>
                    </a:ext>
                  </a:extLst>
                </p:cNvPr>
                <p:cNvSpPr/>
                <p:nvPr/>
              </p:nvSpPr>
              <p:spPr>
                <a:xfrm>
                  <a:off x="4192776" y="3069463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Bahria Uni</a:t>
                  </a:r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7147B8B7-73FD-BC74-652F-C243FF897A12}"/>
                    </a:ext>
                  </a:extLst>
                </p:cNvPr>
                <p:cNvSpPr/>
                <p:nvPr/>
              </p:nvSpPr>
              <p:spPr>
                <a:xfrm>
                  <a:off x="8105555" y="3069462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Sh</a:t>
                  </a:r>
                  <a:r>
                    <a:rPr lang="en-US" dirty="0"/>
                    <a:t>-e-Faisal</a:t>
                  </a:r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31C1CC02-1249-4C47-FAA5-D7BF2324C20A}"/>
                    </a:ext>
                  </a:extLst>
                </p:cNvPr>
                <p:cNvSpPr/>
                <p:nvPr/>
              </p:nvSpPr>
              <p:spPr>
                <a:xfrm>
                  <a:off x="1645371" y="5678873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Five Star</a:t>
                  </a:r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3E9805D7-1B01-840F-E9C2-F508BB267686}"/>
                    </a:ext>
                  </a:extLst>
                </p:cNvPr>
                <p:cNvSpPr/>
                <p:nvPr/>
              </p:nvSpPr>
              <p:spPr>
                <a:xfrm>
                  <a:off x="4192776" y="5678872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Lasbela</a:t>
                  </a:r>
                  <a:endParaRPr lang="en-US" dirty="0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3689640D-C309-EA5E-1472-81BEF6AB3C18}"/>
                    </a:ext>
                  </a:extLst>
                </p:cNvPr>
                <p:cNvSpPr/>
                <p:nvPr/>
              </p:nvSpPr>
              <p:spPr>
                <a:xfrm>
                  <a:off x="6740182" y="5678871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Soldier Bazar</a:t>
                  </a:r>
                </a:p>
              </p:txBody>
            </p:sp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93EC3938-F71B-12C1-3DAE-589592984B06}"/>
                    </a:ext>
                  </a:extLst>
                </p:cNvPr>
                <p:cNvSpPr/>
                <p:nvPr/>
              </p:nvSpPr>
              <p:spPr>
                <a:xfrm>
                  <a:off x="9451476" y="5678871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Nanakwarra</a:t>
                  </a:r>
                  <a:endParaRPr lang="en-US" dirty="0"/>
                </a:p>
              </p:txBody>
            </p:sp>
          </p:grp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FBFE3084-FF55-15C3-B9C7-FD9B57764E49}"/>
                  </a:ext>
                </a:extLst>
              </p:cNvPr>
              <p:cNvCxnSpPr>
                <a:stCxn id="40" idx="3"/>
                <a:endCxn id="41" idx="1"/>
              </p:cNvCxnSpPr>
              <p:nvPr/>
            </p:nvCxnSpPr>
            <p:spPr>
              <a:xfrm flipV="1">
                <a:off x="1488558" y="4679410"/>
                <a:ext cx="1502735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4A50D758-BCC7-0147-F745-9D1F62FAA5E5}"/>
                  </a:ext>
                </a:extLst>
              </p:cNvPr>
              <p:cNvCxnSpPr>
                <a:stCxn id="41" idx="3"/>
                <a:endCxn id="42" idx="1"/>
              </p:cNvCxnSpPr>
              <p:nvPr/>
            </p:nvCxnSpPr>
            <p:spPr>
              <a:xfrm>
                <a:off x="4086446" y="4679410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0B02CD72-0429-1108-343D-443E89716D98}"/>
                  </a:ext>
                </a:extLst>
              </p:cNvPr>
              <p:cNvCxnSpPr>
                <a:stCxn id="42" idx="3"/>
                <a:endCxn id="43" idx="1"/>
              </p:cNvCxnSpPr>
              <p:nvPr/>
            </p:nvCxnSpPr>
            <p:spPr>
              <a:xfrm>
                <a:off x="6633851" y="4679410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EED29566-2D40-0605-CD44-EB205E0CC484}"/>
                  </a:ext>
                </a:extLst>
              </p:cNvPr>
              <p:cNvCxnSpPr>
                <a:stCxn id="43" idx="3"/>
                <a:endCxn id="44" idx="1"/>
              </p:cNvCxnSpPr>
              <p:nvPr/>
            </p:nvCxnSpPr>
            <p:spPr>
              <a:xfrm>
                <a:off x="9181256" y="4679410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33FCEC15-A5EE-3520-AC68-3334F6720C49}"/>
                  </a:ext>
                </a:extLst>
              </p:cNvPr>
              <p:cNvCxnSpPr>
                <a:stCxn id="40" idx="0"/>
                <a:endCxn id="45" idx="2"/>
              </p:cNvCxnSpPr>
              <p:nvPr/>
            </p:nvCxnSpPr>
            <p:spPr>
              <a:xfrm flipV="1">
                <a:off x="940982" y="3654254"/>
                <a:ext cx="1251966" cy="7327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9BA3031-187E-6C89-24B7-51A341A4BA23}"/>
                  </a:ext>
                </a:extLst>
              </p:cNvPr>
              <p:cNvCxnSpPr>
                <a:stCxn id="45" idx="3"/>
                <a:endCxn id="46" idx="1"/>
              </p:cNvCxnSpPr>
              <p:nvPr/>
            </p:nvCxnSpPr>
            <p:spPr>
              <a:xfrm>
                <a:off x="2740524" y="3361859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3FD8AFFD-5F49-075A-C87B-6882CC5C51BC}"/>
                  </a:ext>
                </a:extLst>
              </p:cNvPr>
              <p:cNvCxnSpPr>
                <a:stCxn id="46" idx="3"/>
                <a:endCxn id="47" idx="1"/>
              </p:cNvCxnSpPr>
              <p:nvPr/>
            </p:nvCxnSpPr>
            <p:spPr>
              <a:xfrm flipV="1">
                <a:off x="5287929" y="3361858"/>
                <a:ext cx="281762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131A393-7E7E-52B9-EF4D-1E6741D69970}"/>
                  </a:ext>
                </a:extLst>
              </p:cNvPr>
              <p:cNvCxnSpPr>
                <a:cxnSpLocks/>
                <a:stCxn id="42" idx="0"/>
                <a:endCxn id="47" idx="2"/>
              </p:cNvCxnSpPr>
              <p:nvPr/>
            </p:nvCxnSpPr>
            <p:spPr>
              <a:xfrm flipV="1">
                <a:off x="6086275" y="3654253"/>
                <a:ext cx="2566857" cy="7327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BB9F0BB-2ED5-58FE-988A-86FBEB971AF3}"/>
                  </a:ext>
                </a:extLst>
              </p:cNvPr>
              <p:cNvCxnSpPr>
                <a:stCxn id="47" idx="3"/>
                <a:endCxn id="44" idx="0"/>
              </p:cNvCxnSpPr>
              <p:nvPr/>
            </p:nvCxnSpPr>
            <p:spPr>
              <a:xfrm>
                <a:off x="9200708" y="3361858"/>
                <a:ext cx="1980377" cy="10251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B2C72DAC-D2AE-8A83-E987-893186DE6E2D}"/>
                  </a:ext>
                </a:extLst>
              </p:cNvPr>
              <p:cNvCxnSpPr>
                <a:stCxn id="40" idx="2"/>
                <a:endCxn id="48" idx="0"/>
              </p:cNvCxnSpPr>
              <p:nvPr/>
            </p:nvCxnSpPr>
            <p:spPr>
              <a:xfrm>
                <a:off x="940982" y="4971806"/>
                <a:ext cx="1251966" cy="7070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A943570-E703-148E-1AB0-A2210696F431}"/>
                  </a:ext>
                </a:extLst>
              </p:cNvPr>
              <p:cNvCxnSpPr>
                <a:stCxn id="48" idx="3"/>
                <a:endCxn id="49" idx="1"/>
              </p:cNvCxnSpPr>
              <p:nvPr/>
            </p:nvCxnSpPr>
            <p:spPr>
              <a:xfrm flipV="1">
                <a:off x="2740524" y="5971268"/>
                <a:ext cx="145225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72958208-F6D5-99FC-FA37-6E8ED61C816A}"/>
                  </a:ext>
                </a:extLst>
              </p:cNvPr>
              <p:cNvCxnSpPr>
                <a:cxnSpLocks/>
                <a:stCxn id="41" idx="2"/>
                <a:endCxn id="49" idx="0"/>
              </p:cNvCxnSpPr>
              <p:nvPr/>
            </p:nvCxnSpPr>
            <p:spPr>
              <a:xfrm>
                <a:off x="3538870" y="4971805"/>
                <a:ext cx="1201483" cy="7070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A2227307-1DB4-267C-05D7-86DA2B6F02B9}"/>
                  </a:ext>
                </a:extLst>
              </p:cNvPr>
              <p:cNvCxnSpPr>
                <a:stCxn id="49" idx="3"/>
                <a:endCxn id="50" idx="1"/>
              </p:cNvCxnSpPr>
              <p:nvPr/>
            </p:nvCxnSpPr>
            <p:spPr>
              <a:xfrm flipV="1">
                <a:off x="5287929" y="5971267"/>
                <a:ext cx="1452253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BFB7ACF-91CE-1D97-34E3-0BBBAB2B2E15}"/>
                  </a:ext>
                </a:extLst>
              </p:cNvPr>
              <p:cNvCxnSpPr>
                <a:cxnSpLocks/>
                <a:stCxn id="42" idx="2"/>
                <a:endCxn id="50" idx="0"/>
              </p:cNvCxnSpPr>
              <p:nvPr/>
            </p:nvCxnSpPr>
            <p:spPr>
              <a:xfrm>
                <a:off x="6086275" y="4971805"/>
                <a:ext cx="1201484" cy="7070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C40873E-A957-E9F8-81ED-D90479DCF6A9}"/>
                  </a:ext>
                </a:extLst>
              </p:cNvPr>
              <p:cNvCxnSpPr>
                <a:stCxn id="50" idx="3"/>
                <a:endCxn id="43" idx="2"/>
              </p:cNvCxnSpPr>
              <p:nvPr/>
            </p:nvCxnSpPr>
            <p:spPr>
              <a:xfrm flipV="1">
                <a:off x="7835335" y="4971805"/>
                <a:ext cx="798345" cy="9994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E14C3D6-C5BE-E518-6586-D4056C200342}"/>
                  </a:ext>
                </a:extLst>
              </p:cNvPr>
              <p:cNvCxnSpPr>
                <a:stCxn id="50" idx="3"/>
                <a:endCxn id="51" idx="1"/>
              </p:cNvCxnSpPr>
              <p:nvPr/>
            </p:nvCxnSpPr>
            <p:spPr>
              <a:xfrm>
                <a:off x="7835335" y="5971267"/>
                <a:ext cx="161614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F476E37-E2FE-6BDD-ACAE-8E0566E2DBAC}"/>
                  </a:ext>
                </a:extLst>
              </p:cNvPr>
              <p:cNvCxnSpPr>
                <a:stCxn id="51" idx="3"/>
                <a:endCxn id="44" idx="2"/>
              </p:cNvCxnSpPr>
              <p:nvPr/>
            </p:nvCxnSpPr>
            <p:spPr>
              <a:xfrm flipV="1">
                <a:off x="10546629" y="4971805"/>
                <a:ext cx="634456" cy="9994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464534-927F-04AB-7773-C70C19E38962}"/>
                  </a:ext>
                </a:extLst>
              </p:cNvPr>
              <p:cNvSpPr txBox="1"/>
              <p:nvPr/>
            </p:nvSpPr>
            <p:spPr>
              <a:xfrm>
                <a:off x="1091045" y="3813464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12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C9CA29-E185-428D-2208-897C22BD02A2}"/>
                  </a:ext>
                </a:extLst>
              </p:cNvPr>
              <p:cNvSpPr txBox="1"/>
              <p:nvPr/>
            </p:nvSpPr>
            <p:spPr>
              <a:xfrm>
                <a:off x="3226496" y="30209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18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BAA242-2001-D9BA-7E36-888932818D15}"/>
                  </a:ext>
                </a:extLst>
              </p:cNvPr>
              <p:cNvSpPr txBox="1"/>
              <p:nvPr/>
            </p:nvSpPr>
            <p:spPr>
              <a:xfrm>
                <a:off x="5732484" y="3011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A65B56-1B1B-F9E2-84B9-2159F1B4782E}"/>
                  </a:ext>
                </a:extLst>
              </p:cNvPr>
              <p:cNvSpPr txBox="1"/>
              <p:nvPr/>
            </p:nvSpPr>
            <p:spPr>
              <a:xfrm>
                <a:off x="2055815" y="4343915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20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20F0A5D-72BC-9164-7E25-F5A0ABF24925}"/>
                  </a:ext>
                </a:extLst>
              </p:cNvPr>
              <p:cNvSpPr txBox="1"/>
              <p:nvPr/>
            </p:nvSpPr>
            <p:spPr>
              <a:xfrm>
                <a:off x="1153126" y="5248402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D58A8D3-7B0F-1B90-BAE9-64D4FF5A08B5}"/>
                  </a:ext>
                </a:extLst>
              </p:cNvPr>
              <p:cNvSpPr txBox="1"/>
              <p:nvPr/>
            </p:nvSpPr>
            <p:spPr>
              <a:xfrm>
                <a:off x="3185078" y="593137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16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1A55AD-56D0-F3DC-84F3-BF89AC6F3477}"/>
                  </a:ext>
                </a:extLst>
              </p:cNvPr>
              <p:cNvSpPr txBox="1"/>
              <p:nvPr/>
            </p:nvSpPr>
            <p:spPr>
              <a:xfrm>
                <a:off x="4572418" y="436132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16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9B78CFA-DED2-0484-3C7F-BD7BBFE5692B}"/>
                  </a:ext>
                </a:extLst>
              </p:cNvPr>
              <p:cNvSpPr txBox="1"/>
              <p:nvPr/>
            </p:nvSpPr>
            <p:spPr>
              <a:xfrm>
                <a:off x="3667742" y="52143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D6E63F-9207-3620-5768-678DF932025B}"/>
                  </a:ext>
                </a:extLst>
              </p:cNvPr>
              <p:cNvSpPr txBox="1"/>
              <p:nvPr/>
            </p:nvSpPr>
            <p:spPr>
              <a:xfrm>
                <a:off x="6213799" y="52385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2857EC7-0CD4-584F-DC67-745DCAEBB088}"/>
                  </a:ext>
                </a:extLst>
              </p:cNvPr>
              <p:cNvSpPr txBox="1"/>
              <p:nvPr/>
            </p:nvSpPr>
            <p:spPr>
              <a:xfrm>
                <a:off x="5732484" y="593137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ECD464F-36BB-32F8-CAB8-A225DBD8AECA}"/>
                  </a:ext>
                </a:extLst>
              </p:cNvPr>
              <p:cNvSpPr txBox="1"/>
              <p:nvPr/>
            </p:nvSpPr>
            <p:spPr>
              <a:xfrm>
                <a:off x="6321478" y="375098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A2DB985-12F8-8336-7A4D-7F92AC291F76}"/>
                  </a:ext>
                </a:extLst>
              </p:cNvPr>
              <p:cNvSpPr txBox="1"/>
              <p:nvPr/>
            </p:nvSpPr>
            <p:spPr>
              <a:xfrm>
                <a:off x="10027763" y="3470049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14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803C06-73D5-8426-B2D7-D1C751986EF5}"/>
                  </a:ext>
                </a:extLst>
              </p:cNvPr>
              <p:cNvSpPr txBox="1"/>
              <p:nvPr/>
            </p:nvSpPr>
            <p:spPr>
              <a:xfrm>
                <a:off x="7119823" y="4361319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12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407E4-BC1D-D97F-D7D7-4CDCB59D578F}"/>
                  </a:ext>
                </a:extLst>
              </p:cNvPr>
              <p:cNvSpPr txBox="1"/>
              <p:nvPr/>
            </p:nvSpPr>
            <p:spPr>
              <a:xfrm>
                <a:off x="8234428" y="529102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17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14585A-3E53-2EC1-CFFA-8CBB5EADF60F}"/>
                  </a:ext>
                </a:extLst>
              </p:cNvPr>
              <p:cNvSpPr txBox="1"/>
              <p:nvPr/>
            </p:nvSpPr>
            <p:spPr>
              <a:xfrm>
                <a:off x="9667228" y="434391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802F08E-F06E-C1D3-93AD-CB8CA7767035}"/>
                  </a:ext>
                </a:extLst>
              </p:cNvPr>
              <p:cNvSpPr txBox="1"/>
              <p:nvPr/>
            </p:nvSpPr>
            <p:spPr>
              <a:xfrm>
                <a:off x="10829522" y="537793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416539B-D245-0E0B-20EB-5D26722F49BF}"/>
                  </a:ext>
                </a:extLst>
              </p:cNvPr>
              <p:cNvSpPr txBox="1"/>
              <p:nvPr/>
            </p:nvSpPr>
            <p:spPr>
              <a:xfrm>
                <a:off x="8559438" y="592115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30A3E65-F227-0283-F8DF-40C816FD1D1A}"/>
                </a:ext>
              </a:extLst>
            </p:cNvPr>
            <p:cNvSpPr txBox="1"/>
            <p:nvPr/>
          </p:nvSpPr>
          <p:spPr>
            <a:xfrm>
              <a:off x="395721" y="40206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FA2AF17-B8CF-F5E8-09EB-46C63F198856}"/>
                </a:ext>
              </a:extLst>
            </p:cNvPr>
            <p:cNvSpPr txBox="1"/>
            <p:nvPr/>
          </p:nvSpPr>
          <p:spPr>
            <a:xfrm>
              <a:off x="1645371" y="274841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E4AB966-E7C0-6B01-470A-D71B2ECB2193}"/>
                </a:ext>
              </a:extLst>
            </p:cNvPr>
            <p:cNvSpPr txBox="1"/>
            <p:nvPr/>
          </p:nvSpPr>
          <p:spPr>
            <a:xfrm>
              <a:off x="4139287" y="275056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D657DA1-65C1-37A4-543E-90220EFF3E44}"/>
                </a:ext>
              </a:extLst>
            </p:cNvPr>
            <p:cNvSpPr txBox="1"/>
            <p:nvPr/>
          </p:nvSpPr>
          <p:spPr>
            <a:xfrm>
              <a:off x="8105555" y="275055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36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C817845-C1CD-E956-E919-EB94E5FAC33F}"/>
                </a:ext>
              </a:extLst>
            </p:cNvPr>
            <p:cNvSpPr txBox="1"/>
            <p:nvPr/>
          </p:nvSpPr>
          <p:spPr>
            <a:xfrm>
              <a:off x="2991292" y="402063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64FC5DC-2C0D-440C-CB3F-5B6475273191}"/>
                </a:ext>
              </a:extLst>
            </p:cNvPr>
            <p:cNvSpPr txBox="1"/>
            <p:nvPr/>
          </p:nvSpPr>
          <p:spPr>
            <a:xfrm>
              <a:off x="5535542" y="402277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36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F10C2E6-EAFC-6298-FFD4-64F9EB5191D9}"/>
                </a:ext>
              </a:extLst>
            </p:cNvPr>
            <p:cNvSpPr txBox="1"/>
            <p:nvPr/>
          </p:nvSpPr>
          <p:spPr>
            <a:xfrm>
              <a:off x="8086103" y="402063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C000"/>
                  </a:solidFill>
                </a:rPr>
                <a:t>48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7343D5D-5DF4-59F2-55A5-CB2A7D157E22}"/>
                    </a:ext>
                  </a:extLst>
                </p:cNvPr>
                <p:cNvSpPr txBox="1"/>
                <p:nvPr/>
              </p:nvSpPr>
              <p:spPr>
                <a:xfrm>
                  <a:off x="11286635" y="4020633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7343D5D-5DF4-59F2-55A5-CB2A7D157E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86635" y="4020633"/>
                  <a:ext cx="43313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053BB9B-6E4A-9DFF-4EF3-73E3B94F8AF5}"/>
                </a:ext>
              </a:extLst>
            </p:cNvPr>
            <p:cNvSpPr txBox="1"/>
            <p:nvPr/>
          </p:nvSpPr>
          <p:spPr>
            <a:xfrm>
              <a:off x="2302391" y="53397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458811F-E515-3003-2CB0-66D8A3CFBDC5}"/>
                </a:ext>
              </a:extLst>
            </p:cNvPr>
            <p:cNvSpPr txBox="1"/>
            <p:nvPr/>
          </p:nvSpPr>
          <p:spPr>
            <a:xfrm>
              <a:off x="4848015" y="5339712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trike="sngStrike" dirty="0">
                  <a:solidFill>
                    <a:srgbClr val="00B050"/>
                  </a:solidFill>
                </a:rPr>
                <a:t>27</a:t>
              </a:r>
              <a:r>
                <a:rPr lang="en-US" dirty="0">
                  <a:solidFill>
                    <a:srgbClr val="00B050"/>
                  </a:solidFill>
                </a:rPr>
                <a:t>26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D0C6FF9-C707-EA64-10D6-1E27A2DD2F72}"/>
                </a:ext>
              </a:extLst>
            </p:cNvPr>
            <p:cNvSpPr txBox="1"/>
            <p:nvPr/>
          </p:nvSpPr>
          <p:spPr>
            <a:xfrm>
              <a:off x="7397571" y="5349225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trike="sngStrike" dirty="0">
                  <a:solidFill>
                    <a:srgbClr val="00B050"/>
                  </a:solidFill>
                </a:rPr>
                <a:t>41</a:t>
              </a:r>
              <a:r>
                <a:rPr lang="en-US" dirty="0">
                  <a:solidFill>
                    <a:srgbClr val="00B050"/>
                  </a:solidFill>
                </a:rPr>
                <a:t>36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17D4E59-EAB8-5723-E2FB-CD6008D602CC}"/>
                    </a:ext>
                  </a:extLst>
                </p:cNvPr>
                <p:cNvSpPr txBox="1"/>
                <p:nvPr/>
              </p:nvSpPr>
              <p:spPr>
                <a:xfrm>
                  <a:off x="10118454" y="5349225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17D4E59-EAB8-5723-E2FB-CD6008D602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18454" y="5349225"/>
                  <a:ext cx="43313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2929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Dijkstra’s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2158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Light house was highlighted with Orange because it was not visited by all of its neighbours. Now it is in Green.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965F416-5AAC-D66E-7085-72E364FC6050}"/>
              </a:ext>
            </a:extLst>
          </p:cNvPr>
          <p:cNvGrpSpPr/>
          <p:nvPr/>
        </p:nvGrpSpPr>
        <p:grpSpPr>
          <a:xfrm>
            <a:off x="393405" y="2748418"/>
            <a:ext cx="11335256" cy="3552285"/>
            <a:chOff x="393405" y="2748418"/>
            <a:chExt cx="11335256" cy="35522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4DC3A58-670B-C524-AD00-1375EC21F6F4}"/>
                </a:ext>
              </a:extLst>
            </p:cNvPr>
            <p:cNvGrpSpPr/>
            <p:nvPr/>
          </p:nvGrpSpPr>
          <p:grpSpPr>
            <a:xfrm>
              <a:off x="393405" y="3011135"/>
              <a:ext cx="11335256" cy="3289568"/>
              <a:chOff x="393405" y="3011135"/>
              <a:chExt cx="11335256" cy="328956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413108FE-A61F-507E-F3CA-CF289102D733}"/>
                  </a:ext>
                </a:extLst>
              </p:cNvPr>
              <p:cNvGrpSpPr/>
              <p:nvPr/>
            </p:nvGrpSpPr>
            <p:grpSpPr>
              <a:xfrm>
                <a:off x="393405" y="3069462"/>
                <a:ext cx="11335256" cy="3194202"/>
                <a:chOff x="393405" y="3069462"/>
                <a:chExt cx="11335256" cy="3194202"/>
              </a:xfrm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21FA5321-4C8D-F225-F465-CA6CA8C50FFA}"/>
                    </a:ext>
                  </a:extLst>
                </p:cNvPr>
                <p:cNvSpPr/>
                <p:nvPr/>
              </p:nvSpPr>
              <p:spPr>
                <a:xfrm>
                  <a:off x="393405" y="4387015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Water pump</a:t>
                  </a: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6464BB90-999C-93D8-BC92-4D060054E6BE}"/>
                    </a:ext>
                  </a:extLst>
                </p:cNvPr>
                <p:cNvSpPr/>
                <p:nvPr/>
              </p:nvSpPr>
              <p:spPr>
                <a:xfrm>
                  <a:off x="2991293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 Hatti</a:t>
                  </a:r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6DF02B60-D0F9-AC0D-6584-3AB58F157EDB}"/>
                    </a:ext>
                  </a:extLst>
                </p:cNvPr>
                <p:cNvSpPr/>
                <p:nvPr/>
              </p:nvSpPr>
              <p:spPr>
                <a:xfrm>
                  <a:off x="5538698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Saddar</a:t>
                  </a:r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CB706FE6-1250-B8EB-E6F2-83A3517B7441}"/>
                    </a:ext>
                  </a:extLst>
                </p:cNvPr>
                <p:cNvSpPr/>
                <p:nvPr/>
              </p:nvSpPr>
              <p:spPr>
                <a:xfrm>
                  <a:off x="8086103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Light house</a:t>
                  </a:r>
                </a:p>
              </p:txBody>
            </p:sp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67B77114-D86D-C532-25C7-FDCFD208B0CB}"/>
                    </a:ext>
                  </a:extLst>
                </p:cNvPr>
                <p:cNvSpPr/>
                <p:nvPr/>
              </p:nvSpPr>
              <p:spPr>
                <a:xfrm>
                  <a:off x="10633508" y="4387014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Tower</a:t>
                  </a: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B68641B9-0ADC-EA1A-02CB-0DCEE114C4D8}"/>
                    </a:ext>
                  </a:extLst>
                </p:cNvPr>
                <p:cNvSpPr/>
                <p:nvPr/>
              </p:nvSpPr>
              <p:spPr>
                <a:xfrm>
                  <a:off x="1645371" y="3069463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NIPA</a:t>
                  </a:r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8110C858-9F51-3122-C547-CA87B54F8F2C}"/>
                    </a:ext>
                  </a:extLst>
                </p:cNvPr>
                <p:cNvSpPr/>
                <p:nvPr/>
              </p:nvSpPr>
              <p:spPr>
                <a:xfrm>
                  <a:off x="4192776" y="3069463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Bahria Uni</a:t>
                  </a:r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7147B8B7-73FD-BC74-652F-C243FF897A12}"/>
                    </a:ext>
                  </a:extLst>
                </p:cNvPr>
                <p:cNvSpPr/>
                <p:nvPr/>
              </p:nvSpPr>
              <p:spPr>
                <a:xfrm>
                  <a:off x="8105555" y="3069462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Sh</a:t>
                  </a:r>
                  <a:r>
                    <a:rPr lang="en-US" dirty="0"/>
                    <a:t>-e-Faisal</a:t>
                  </a:r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31C1CC02-1249-4C47-FAA5-D7BF2324C20A}"/>
                    </a:ext>
                  </a:extLst>
                </p:cNvPr>
                <p:cNvSpPr/>
                <p:nvPr/>
              </p:nvSpPr>
              <p:spPr>
                <a:xfrm>
                  <a:off x="1645371" y="5678873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Five Star</a:t>
                  </a:r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3E9805D7-1B01-840F-E9C2-F508BB267686}"/>
                    </a:ext>
                  </a:extLst>
                </p:cNvPr>
                <p:cNvSpPr/>
                <p:nvPr/>
              </p:nvSpPr>
              <p:spPr>
                <a:xfrm>
                  <a:off x="4192776" y="5678872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Lasbela</a:t>
                  </a:r>
                  <a:endParaRPr lang="en-US" dirty="0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3689640D-C309-EA5E-1472-81BEF6AB3C18}"/>
                    </a:ext>
                  </a:extLst>
                </p:cNvPr>
                <p:cNvSpPr/>
                <p:nvPr/>
              </p:nvSpPr>
              <p:spPr>
                <a:xfrm>
                  <a:off x="6740182" y="5678871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Soldier Bazar</a:t>
                  </a:r>
                </a:p>
              </p:txBody>
            </p:sp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93EC3938-F71B-12C1-3DAE-589592984B06}"/>
                    </a:ext>
                  </a:extLst>
                </p:cNvPr>
                <p:cNvSpPr/>
                <p:nvPr/>
              </p:nvSpPr>
              <p:spPr>
                <a:xfrm>
                  <a:off x="9451476" y="5678871"/>
                  <a:ext cx="1095153" cy="584791"/>
                </a:xfrm>
                <a:prstGeom prst="round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/>
                    <a:t>Nanakwarra</a:t>
                  </a:r>
                  <a:endParaRPr lang="en-US" dirty="0"/>
                </a:p>
              </p:txBody>
            </p:sp>
          </p:grp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FBFE3084-FF55-15C3-B9C7-FD9B57764E49}"/>
                  </a:ext>
                </a:extLst>
              </p:cNvPr>
              <p:cNvCxnSpPr>
                <a:stCxn id="40" idx="3"/>
                <a:endCxn id="41" idx="1"/>
              </p:cNvCxnSpPr>
              <p:nvPr/>
            </p:nvCxnSpPr>
            <p:spPr>
              <a:xfrm flipV="1">
                <a:off x="1488558" y="4679410"/>
                <a:ext cx="1502735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4A50D758-BCC7-0147-F745-9D1F62FAA5E5}"/>
                  </a:ext>
                </a:extLst>
              </p:cNvPr>
              <p:cNvCxnSpPr>
                <a:stCxn id="41" idx="3"/>
                <a:endCxn id="42" idx="1"/>
              </p:cNvCxnSpPr>
              <p:nvPr/>
            </p:nvCxnSpPr>
            <p:spPr>
              <a:xfrm>
                <a:off x="4086446" y="4679410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0B02CD72-0429-1108-343D-443E89716D98}"/>
                  </a:ext>
                </a:extLst>
              </p:cNvPr>
              <p:cNvCxnSpPr>
                <a:stCxn id="42" idx="3"/>
                <a:endCxn id="43" idx="1"/>
              </p:cNvCxnSpPr>
              <p:nvPr/>
            </p:nvCxnSpPr>
            <p:spPr>
              <a:xfrm>
                <a:off x="6633851" y="4679410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EED29566-2D40-0605-CD44-EB205E0CC484}"/>
                  </a:ext>
                </a:extLst>
              </p:cNvPr>
              <p:cNvCxnSpPr>
                <a:stCxn id="43" idx="3"/>
                <a:endCxn id="44" idx="1"/>
              </p:cNvCxnSpPr>
              <p:nvPr/>
            </p:nvCxnSpPr>
            <p:spPr>
              <a:xfrm>
                <a:off x="9181256" y="4679410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33FCEC15-A5EE-3520-AC68-3334F6720C49}"/>
                  </a:ext>
                </a:extLst>
              </p:cNvPr>
              <p:cNvCxnSpPr>
                <a:stCxn id="40" idx="0"/>
                <a:endCxn id="45" idx="2"/>
              </p:cNvCxnSpPr>
              <p:nvPr/>
            </p:nvCxnSpPr>
            <p:spPr>
              <a:xfrm flipV="1">
                <a:off x="940982" y="3654254"/>
                <a:ext cx="1251966" cy="7327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9BA3031-187E-6C89-24B7-51A341A4BA23}"/>
                  </a:ext>
                </a:extLst>
              </p:cNvPr>
              <p:cNvCxnSpPr>
                <a:stCxn id="45" idx="3"/>
                <a:endCxn id="46" idx="1"/>
              </p:cNvCxnSpPr>
              <p:nvPr/>
            </p:nvCxnSpPr>
            <p:spPr>
              <a:xfrm>
                <a:off x="2740524" y="3361859"/>
                <a:ext cx="1452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3FD8AFFD-5F49-075A-C87B-6882CC5C51BC}"/>
                  </a:ext>
                </a:extLst>
              </p:cNvPr>
              <p:cNvCxnSpPr>
                <a:stCxn id="46" idx="3"/>
                <a:endCxn id="47" idx="1"/>
              </p:cNvCxnSpPr>
              <p:nvPr/>
            </p:nvCxnSpPr>
            <p:spPr>
              <a:xfrm flipV="1">
                <a:off x="5287929" y="3361858"/>
                <a:ext cx="281762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131A393-7E7E-52B9-EF4D-1E6741D69970}"/>
                  </a:ext>
                </a:extLst>
              </p:cNvPr>
              <p:cNvCxnSpPr>
                <a:cxnSpLocks/>
                <a:stCxn id="42" idx="0"/>
                <a:endCxn id="47" idx="2"/>
              </p:cNvCxnSpPr>
              <p:nvPr/>
            </p:nvCxnSpPr>
            <p:spPr>
              <a:xfrm flipV="1">
                <a:off x="6086275" y="3654253"/>
                <a:ext cx="2566857" cy="7327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BB9F0BB-2ED5-58FE-988A-86FBEB971AF3}"/>
                  </a:ext>
                </a:extLst>
              </p:cNvPr>
              <p:cNvCxnSpPr>
                <a:stCxn id="47" idx="3"/>
                <a:endCxn id="44" idx="0"/>
              </p:cNvCxnSpPr>
              <p:nvPr/>
            </p:nvCxnSpPr>
            <p:spPr>
              <a:xfrm>
                <a:off x="9200708" y="3361858"/>
                <a:ext cx="1980377" cy="10251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B2C72DAC-D2AE-8A83-E987-893186DE6E2D}"/>
                  </a:ext>
                </a:extLst>
              </p:cNvPr>
              <p:cNvCxnSpPr>
                <a:stCxn id="40" idx="2"/>
                <a:endCxn id="48" idx="0"/>
              </p:cNvCxnSpPr>
              <p:nvPr/>
            </p:nvCxnSpPr>
            <p:spPr>
              <a:xfrm>
                <a:off x="940982" y="4971806"/>
                <a:ext cx="1251966" cy="7070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A943570-E703-148E-1AB0-A2210696F431}"/>
                  </a:ext>
                </a:extLst>
              </p:cNvPr>
              <p:cNvCxnSpPr>
                <a:stCxn id="48" idx="3"/>
                <a:endCxn id="49" idx="1"/>
              </p:cNvCxnSpPr>
              <p:nvPr/>
            </p:nvCxnSpPr>
            <p:spPr>
              <a:xfrm flipV="1">
                <a:off x="2740524" y="5971268"/>
                <a:ext cx="145225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72958208-F6D5-99FC-FA37-6E8ED61C816A}"/>
                  </a:ext>
                </a:extLst>
              </p:cNvPr>
              <p:cNvCxnSpPr>
                <a:cxnSpLocks/>
                <a:stCxn id="41" idx="2"/>
                <a:endCxn id="49" idx="0"/>
              </p:cNvCxnSpPr>
              <p:nvPr/>
            </p:nvCxnSpPr>
            <p:spPr>
              <a:xfrm>
                <a:off x="3538870" y="4971805"/>
                <a:ext cx="1201483" cy="7070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A2227307-1DB4-267C-05D7-86DA2B6F02B9}"/>
                  </a:ext>
                </a:extLst>
              </p:cNvPr>
              <p:cNvCxnSpPr>
                <a:stCxn id="49" idx="3"/>
                <a:endCxn id="50" idx="1"/>
              </p:cNvCxnSpPr>
              <p:nvPr/>
            </p:nvCxnSpPr>
            <p:spPr>
              <a:xfrm flipV="1">
                <a:off x="5287929" y="5971267"/>
                <a:ext cx="1452253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BFB7ACF-91CE-1D97-34E3-0BBBAB2B2E15}"/>
                  </a:ext>
                </a:extLst>
              </p:cNvPr>
              <p:cNvCxnSpPr>
                <a:cxnSpLocks/>
                <a:stCxn id="42" idx="2"/>
                <a:endCxn id="50" idx="0"/>
              </p:cNvCxnSpPr>
              <p:nvPr/>
            </p:nvCxnSpPr>
            <p:spPr>
              <a:xfrm>
                <a:off x="6086275" y="4971805"/>
                <a:ext cx="1201484" cy="7070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C40873E-A957-E9F8-81ED-D90479DCF6A9}"/>
                  </a:ext>
                </a:extLst>
              </p:cNvPr>
              <p:cNvCxnSpPr>
                <a:stCxn id="50" idx="3"/>
                <a:endCxn id="43" idx="2"/>
              </p:cNvCxnSpPr>
              <p:nvPr/>
            </p:nvCxnSpPr>
            <p:spPr>
              <a:xfrm flipV="1">
                <a:off x="7835335" y="4971805"/>
                <a:ext cx="798345" cy="9994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E14C3D6-C5BE-E518-6586-D4056C200342}"/>
                  </a:ext>
                </a:extLst>
              </p:cNvPr>
              <p:cNvCxnSpPr>
                <a:stCxn id="50" idx="3"/>
                <a:endCxn id="51" idx="1"/>
              </p:cNvCxnSpPr>
              <p:nvPr/>
            </p:nvCxnSpPr>
            <p:spPr>
              <a:xfrm>
                <a:off x="7835335" y="5971267"/>
                <a:ext cx="161614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F476E37-E2FE-6BDD-ACAE-8E0566E2DBAC}"/>
                  </a:ext>
                </a:extLst>
              </p:cNvPr>
              <p:cNvCxnSpPr>
                <a:stCxn id="51" idx="3"/>
                <a:endCxn id="44" idx="2"/>
              </p:cNvCxnSpPr>
              <p:nvPr/>
            </p:nvCxnSpPr>
            <p:spPr>
              <a:xfrm flipV="1">
                <a:off x="10546629" y="4971805"/>
                <a:ext cx="634456" cy="9994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464534-927F-04AB-7773-C70C19E38962}"/>
                  </a:ext>
                </a:extLst>
              </p:cNvPr>
              <p:cNvSpPr txBox="1"/>
              <p:nvPr/>
            </p:nvSpPr>
            <p:spPr>
              <a:xfrm>
                <a:off x="1091045" y="3813464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12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C9CA29-E185-428D-2208-897C22BD02A2}"/>
                  </a:ext>
                </a:extLst>
              </p:cNvPr>
              <p:cNvSpPr txBox="1"/>
              <p:nvPr/>
            </p:nvSpPr>
            <p:spPr>
              <a:xfrm>
                <a:off x="3226496" y="3020900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18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BAA242-2001-D9BA-7E36-888932818D15}"/>
                  </a:ext>
                </a:extLst>
              </p:cNvPr>
              <p:cNvSpPr txBox="1"/>
              <p:nvPr/>
            </p:nvSpPr>
            <p:spPr>
              <a:xfrm>
                <a:off x="5732484" y="301113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A65B56-1B1B-F9E2-84B9-2159F1B4782E}"/>
                  </a:ext>
                </a:extLst>
              </p:cNvPr>
              <p:cNvSpPr txBox="1"/>
              <p:nvPr/>
            </p:nvSpPr>
            <p:spPr>
              <a:xfrm>
                <a:off x="2055815" y="4343915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20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20F0A5D-72BC-9164-7E25-F5A0ABF24925}"/>
                  </a:ext>
                </a:extLst>
              </p:cNvPr>
              <p:cNvSpPr txBox="1"/>
              <p:nvPr/>
            </p:nvSpPr>
            <p:spPr>
              <a:xfrm>
                <a:off x="1153126" y="5248402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D58A8D3-7B0F-1B90-BAE9-64D4FF5A08B5}"/>
                  </a:ext>
                </a:extLst>
              </p:cNvPr>
              <p:cNvSpPr txBox="1"/>
              <p:nvPr/>
            </p:nvSpPr>
            <p:spPr>
              <a:xfrm>
                <a:off x="3185078" y="593137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16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1A55AD-56D0-F3DC-84F3-BF89AC6F3477}"/>
                  </a:ext>
                </a:extLst>
              </p:cNvPr>
              <p:cNvSpPr txBox="1"/>
              <p:nvPr/>
            </p:nvSpPr>
            <p:spPr>
              <a:xfrm>
                <a:off x="4572418" y="436132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16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9B78CFA-DED2-0484-3C7F-BD7BBFE5692B}"/>
                  </a:ext>
                </a:extLst>
              </p:cNvPr>
              <p:cNvSpPr txBox="1"/>
              <p:nvPr/>
            </p:nvSpPr>
            <p:spPr>
              <a:xfrm>
                <a:off x="3667742" y="52143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D6E63F-9207-3620-5768-678DF932025B}"/>
                  </a:ext>
                </a:extLst>
              </p:cNvPr>
              <p:cNvSpPr txBox="1"/>
              <p:nvPr/>
            </p:nvSpPr>
            <p:spPr>
              <a:xfrm>
                <a:off x="6213799" y="52385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2857EC7-0CD4-584F-DC67-745DCAEBB088}"/>
                  </a:ext>
                </a:extLst>
              </p:cNvPr>
              <p:cNvSpPr txBox="1"/>
              <p:nvPr/>
            </p:nvSpPr>
            <p:spPr>
              <a:xfrm>
                <a:off x="5732484" y="593137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ECD464F-36BB-32F8-CAB8-A225DBD8AECA}"/>
                  </a:ext>
                </a:extLst>
              </p:cNvPr>
              <p:cNvSpPr txBox="1"/>
              <p:nvPr/>
            </p:nvSpPr>
            <p:spPr>
              <a:xfrm>
                <a:off x="6321478" y="375098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A2DB985-12F8-8336-7A4D-7F92AC291F76}"/>
                  </a:ext>
                </a:extLst>
              </p:cNvPr>
              <p:cNvSpPr txBox="1"/>
              <p:nvPr/>
            </p:nvSpPr>
            <p:spPr>
              <a:xfrm>
                <a:off x="10027763" y="3470049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14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803C06-73D5-8426-B2D7-D1C751986EF5}"/>
                  </a:ext>
                </a:extLst>
              </p:cNvPr>
              <p:cNvSpPr txBox="1"/>
              <p:nvPr/>
            </p:nvSpPr>
            <p:spPr>
              <a:xfrm>
                <a:off x="7119823" y="4361319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12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407E4-BC1D-D97F-D7D7-4CDCB59D578F}"/>
                  </a:ext>
                </a:extLst>
              </p:cNvPr>
              <p:cNvSpPr txBox="1"/>
              <p:nvPr/>
            </p:nvSpPr>
            <p:spPr>
              <a:xfrm>
                <a:off x="8234428" y="5291021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17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014585A-3E53-2EC1-CFFA-8CBB5EADF60F}"/>
                  </a:ext>
                </a:extLst>
              </p:cNvPr>
              <p:cNvSpPr txBox="1"/>
              <p:nvPr/>
            </p:nvSpPr>
            <p:spPr>
              <a:xfrm>
                <a:off x="9667228" y="434391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802F08E-F06E-C1D3-93AD-CB8CA7767035}"/>
                  </a:ext>
                </a:extLst>
              </p:cNvPr>
              <p:cNvSpPr txBox="1"/>
              <p:nvPr/>
            </p:nvSpPr>
            <p:spPr>
              <a:xfrm>
                <a:off x="10829522" y="537793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416539B-D245-0E0B-20EB-5D26722F49BF}"/>
                  </a:ext>
                </a:extLst>
              </p:cNvPr>
              <p:cNvSpPr txBox="1"/>
              <p:nvPr/>
            </p:nvSpPr>
            <p:spPr>
              <a:xfrm>
                <a:off x="8559438" y="592115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8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30A3E65-F227-0283-F8DF-40C816FD1D1A}"/>
                </a:ext>
              </a:extLst>
            </p:cNvPr>
            <p:cNvSpPr txBox="1"/>
            <p:nvPr/>
          </p:nvSpPr>
          <p:spPr>
            <a:xfrm>
              <a:off x="395721" y="40206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FA2AF17-B8CF-F5E8-09EB-46C63F198856}"/>
                </a:ext>
              </a:extLst>
            </p:cNvPr>
            <p:cNvSpPr txBox="1"/>
            <p:nvPr/>
          </p:nvSpPr>
          <p:spPr>
            <a:xfrm>
              <a:off x="1645371" y="274841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E4AB966-E7C0-6B01-470A-D71B2ECB2193}"/>
                </a:ext>
              </a:extLst>
            </p:cNvPr>
            <p:cNvSpPr txBox="1"/>
            <p:nvPr/>
          </p:nvSpPr>
          <p:spPr>
            <a:xfrm>
              <a:off x="4139287" y="275056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D657DA1-65C1-37A4-543E-90220EFF3E44}"/>
                </a:ext>
              </a:extLst>
            </p:cNvPr>
            <p:cNvSpPr txBox="1"/>
            <p:nvPr/>
          </p:nvSpPr>
          <p:spPr>
            <a:xfrm>
              <a:off x="8105555" y="275055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36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C817845-C1CD-E956-E919-EB94E5FAC33F}"/>
                </a:ext>
              </a:extLst>
            </p:cNvPr>
            <p:cNvSpPr txBox="1"/>
            <p:nvPr/>
          </p:nvSpPr>
          <p:spPr>
            <a:xfrm>
              <a:off x="2991292" y="402063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64FC5DC-2C0D-440C-CB3F-5B6475273191}"/>
                </a:ext>
              </a:extLst>
            </p:cNvPr>
            <p:cNvSpPr txBox="1"/>
            <p:nvPr/>
          </p:nvSpPr>
          <p:spPr>
            <a:xfrm>
              <a:off x="5535542" y="402277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36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F10C2E6-EAFC-6298-FFD4-64F9EB5191D9}"/>
                </a:ext>
              </a:extLst>
            </p:cNvPr>
            <p:cNvSpPr txBox="1"/>
            <p:nvPr/>
          </p:nvSpPr>
          <p:spPr>
            <a:xfrm>
              <a:off x="8086103" y="402063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48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7343D5D-5DF4-59F2-55A5-CB2A7D157E22}"/>
                </a:ext>
              </a:extLst>
            </p:cNvPr>
            <p:cNvSpPr txBox="1"/>
            <p:nvPr/>
          </p:nvSpPr>
          <p:spPr>
            <a:xfrm>
              <a:off x="11286635" y="402063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053BB9B-6E4A-9DFF-4EF3-73E3B94F8AF5}"/>
                </a:ext>
              </a:extLst>
            </p:cNvPr>
            <p:cNvSpPr txBox="1"/>
            <p:nvPr/>
          </p:nvSpPr>
          <p:spPr>
            <a:xfrm>
              <a:off x="2302391" y="53397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458811F-E515-3003-2CB0-66D8A3CFBDC5}"/>
                </a:ext>
              </a:extLst>
            </p:cNvPr>
            <p:cNvSpPr txBox="1"/>
            <p:nvPr/>
          </p:nvSpPr>
          <p:spPr>
            <a:xfrm>
              <a:off x="4848015" y="5339712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trike="sngStrike" dirty="0">
                  <a:solidFill>
                    <a:srgbClr val="00B050"/>
                  </a:solidFill>
                </a:rPr>
                <a:t>27</a:t>
              </a:r>
              <a:r>
                <a:rPr lang="en-US" dirty="0">
                  <a:solidFill>
                    <a:srgbClr val="00B050"/>
                  </a:solidFill>
                </a:rPr>
                <a:t>26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D0C6FF9-C707-EA64-10D6-1E27A2DD2F72}"/>
                </a:ext>
              </a:extLst>
            </p:cNvPr>
            <p:cNvSpPr txBox="1"/>
            <p:nvPr/>
          </p:nvSpPr>
          <p:spPr>
            <a:xfrm>
              <a:off x="7397571" y="5349225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trike="sngStrike" dirty="0">
                  <a:solidFill>
                    <a:srgbClr val="00B050"/>
                  </a:solidFill>
                </a:rPr>
                <a:t>41</a:t>
              </a:r>
              <a:r>
                <a:rPr lang="en-US" dirty="0">
                  <a:solidFill>
                    <a:srgbClr val="00B050"/>
                  </a:solidFill>
                </a:rPr>
                <a:t>36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17D4E59-EAB8-5723-E2FB-CD6008D602CC}"/>
                </a:ext>
              </a:extLst>
            </p:cNvPr>
            <p:cNvSpPr txBox="1"/>
            <p:nvPr/>
          </p:nvSpPr>
          <p:spPr>
            <a:xfrm>
              <a:off x="10118454" y="534922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44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101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Dijkstra’s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6545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How do we know we have the shortest path? Let’s fill some tables.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8B1F09-831E-41D5-ABF7-4DAF94E0C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131260"/>
              </p:ext>
            </p:extLst>
          </p:nvPr>
        </p:nvGraphicFramePr>
        <p:xfrm>
          <a:off x="218875" y="2098042"/>
          <a:ext cx="1173480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3784499994"/>
                    </a:ext>
                  </a:extLst>
                </a:gridCol>
                <a:gridCol w="2163645">
                  <a:extLst>
                    <a:ext uri="{9D8B030D-6E8A-4147-A177-3AD203B41FA5}">
                      <a16:colId xmlns:a16="http://schemas.microsoft.com/office/drawing/2014/main" val="2844949415"/>
                    </a:ext>
                  </a:extLst>
                </a:gridCol>
                <a:gridCol w="7534075">
                  <a:extLst>
                    <a:ext uri="{9D8B030D-6E8A-4147-A177-3AD203B41FA5}">
                      <a16:colId xmlns:a16="http://schemas.microsoft.com/office/drawing/2014/main" val="1730482044"/>
                    </a:ext>
                  </a:extLst>
                </a:gridCol>
              </a:tblGrid>
              <a:tr h="268948">
                <a:tc>
                  <a:txBody>
                    <a:bodyPr/>
                    <a:lstStyle/>
                    <a:p>
                      <a:r>
                        <a:rPr lang="en-US" sz="1600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Distance from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999838"/>
                  </a:ext>
                </a:extLst>
              </a:tr>
              <a:tr h="268948">
                <a:tc>
                  <a:txBody>
                    <a:bodyPr/>
                    <a:lstStyle/>
                    <a:p>
                      <a:r>
                        <a:rPr lang="en-US" sz="1600" dirty="0"/>
                        <a:t>Water 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Water pump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769479"/>
                  </a:ext>
                </a:extLst>
              </a:tr>
              <a:tr h="268948">
                <a:tc>
                  <a:txBody>
                    <a:bodyPr/>
                    <a:lstStyle/>
                    <a:p>
                      <a:r>
                        <a:rPr lang="en-US" sz="1600" dirty="0"/>
                        <a:t>NIPA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Water pump -&gt; NIPA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339775"/>
                  </a:ext>
                </a:extLst>
              </a:tr>
              <a:tr h="268948">
                <a:tc>
                  <a:txBody>
                    <a:bodyPr/>
                    <a:lstStyle/>
                    <a:p>
                      <a:r>
                        <a:rPr lang="en-US" sz="1600" dirty="0"/>
                        <a:t>3 Hatti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Water pump -&gt; 3 Hatti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712060"/>
                  </a:ext>
                </a:extLst>
              </a:tr>
              <a:tr h="268948">
                <a:tc>
                  <a:txBody>
                    <a:bodyPr/>
                    <a:lstStyle/>
                    <a:p>
                      <a:r>
                        <a:rPr lang="en-US" sz="1600" dirty="0"/>
                        <a:t>Five 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Water pump -&gt; Five Star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878567"/>
                  </a:ext>
                </a:extLst>
              </a:tr>
              <a:tr h="268948">
                <a:tc>
                  <a:txBody>
                    <a:bodyPr/>
                    <a:lstStyle/>
                    <a:p>
                      <a:r>
                        <a:rPr lang="en-US" sz="1600" dirty="0"/>
                        <a:t>Bahria Uni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Water pump -&gt; NIPA -&gt; Bahria Uni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446033"/>
                  </a:ext>
                </a:extLst>
              </a:tr>
              <a:tr h="268948">
                <a:tc>
                  <a:txBody>
                    <a:bodyPr/>
                    <a:lstStyle/>
                    <a:p>
                      <a:r>
                        <a:rPr lang="en-US" sz="1600" dirty="0"/>
                        <a:t>Saddar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Water pump -&gt; 3 Hatti -&gt; Saddar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16097"/>
                  </a:ext>
                </a:extLst>
              </a:tr>
              <a:tr h="268948">
                <a:tc>
                  <a:txBody>
                    <a:bodyPr/>
                    <a:lstStyle/>
                    <a:p>
                      <a:r>
                        <a:rPr lang="en-US" sz="1600" dirty="0" err="1"/>
                        <a:t>Lasbela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Water pump -&gt; Five Star -&gt; </a:t>
                      </a:r>
                      <a:r>
                        <a:rPr lang="en-US" sz="1600" dirty="0" err="1"/>
                        <a:t>Lasbela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318233"/>
                  </a:ext>
                </a:extLst>
              </a:tr>
              <a:tr h="268948">
                <a:tc>
                  <a:txBody>
                    <a:bodyPr/>
                    <a:lstStyle/>
                    <a:p>
                      <a:r>
                        <a:rPr lang="en-US" sz="1600" dirty="0" err="1"/>
                        <a:t>Sh</a:t>
                      </a:r>
                      <a:r>
                        <a:rPr lang="en-US" sz="1600" dirty="0"/>
                        <a:t>-e-Faisal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Water pump -&gt; NIPA -&gt; Bahria Uni -&gt; </a:t>
                      </a:r>
                      <a:r>
                        <a:rPr lang="en-US" sz="1600" dirty="0" err="1"/>
                        <a:t>Sh</a:t>
                      </a:r>
                      <a:r>
                        <a:rPr lang="en-US" sz="1600" dirty="0"/>
                        <a:t>-e-Faisal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915660"/>
                  </a:ext>
                </a:extLst>
              </a:tr>
              <a:tr h="268948">
                <a:tc>
                  <a:txBody>
                    <a:bodyPr/>
                    <a:lstStyle/>
                    <a:p>
                      <a:r>
                        <a:rPr lang="en-US" sz="1600" dirty="0"/>
                        <a:t>Light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Water pump -&gt; 3 Hatti -&gt; Saddar -&gt; Light house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985765"/>
                  </a:ext>
                </a:extLst>
              </a:tr>
              <a:tr h="268948">
                <a:tc>
                  <a:txBody>
                    <a:bodyPr/>
                    <a:lstStyle/>
                    <a:p>
                      <a:r>
                        <a:rPr lang="en-US" sz="1600" dirty="0"/>
                        <a:t>Soldier Bazar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Water pump -&gt; Five Star -&gt; </a:t>
                      </a:r>
                      <a:r>
                        <a:rPr lang="en-US" sz="1600" dirty="0" err="1"/>
                        <a:t>Lasbela</a:t>
                      </a:r>
                      <a:r>
                        <a:rPr lang="en-US" sz="1600" dirty="0"/>
                        <a:t> -&gt; Soldier Bazar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100509"/>
                  </a:ext>
                </a:extLst>
              </a:tr>
              <a:tr h="268948">
                <a:tc>
                  <a:txBody>
                    <a:bodyPr/>
                    <a:lstStyle/>
                    <a:p>
                      <a:r>
                        <a:rPr lang="en-US" sz="1600" dirty="0" err="1"/>
                        <a:t>Nanakwara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Water pump -&gt; Five Star -&gt; </a:t>
                      </a:r>
                      <a:r>
                        <a:rPr lang="en-US" sz="1600" dirty="0" err="1"/>
                        <a:t>Lasbela</a:t>
                      </a:r>
                      <a:r>
                        <a:rPr lang="en-US" sz="1600" dirty="0"/>
                        <a:t> -&gt; Soldier Bazar -&gt; </a:t>
                      </a:r>
                      <a:r>
                        <a:rPr lang="en-US" sz="1600" dirty="0" err="1"/>
                        <a:t>Nanakwara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234309"/>
                  </a:ext>
                </a:extLst>
              </a:tr>
              <a:tr h="268948">
                <a:tc>
                  <a:txBody>
                    <a:bodyPr/>
                    <a:lstStyle/>
                    <a:p>
                      <a:r>
                        <a:rPr lang="en-US" sz="1600" dirty="0"/>
                        <a:t>Tower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Water pump -&gt; NIPA -&gt; Bahria Uni -&gt; </a:t>
                      </a:r>
                      <a:r>
                        <a:rPr lang="en-US" sz="1600" dirty="0" err="1"/>
                        <a:t>Sh</a:t>
                      </a:r>
                      <a:r>
                        <a:rPr lang="en-US" sz="1600" dirty="0"/>
                        <a:t>-e-Faisal -&gt; Tower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746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70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Dijkstra’s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486821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shortest path from Water Pump to Tower is found to be 50 minute long.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Note that there might be multiple solutions, but </a:t>
            </a:r>
            <a:r>
              <a:rPr lang="en-US" sz="3200" dirty="0" err="1"/>
              <a:t>Dijsktra’s</a:t>
            </a:r>
            <a:r>
              <a:rPr lang="en-US" sz="3200" dirty="0"/>
              <a:t> algorithm finds only one of them.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Secondly, we not only have shortest path from Water pump to Tower, but every node that can be reached from Water pump.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Also note that this algorithm is single source, i.e., the journey can start only from one node.</a:t>
            </a:r>
          </a:p>
        </p:txBody>
      </p:sp>
    </p:spTree>
    <p:extLst>
      <p:ext uri="{BB962C8B-B14F-4D97-AF65-F5344CB8AC3E}">
        <p14:creationId xmlns:p14="http://schemas.microsoft.com/office/powerpoint/2010/main" val="161046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Bellman-Ford Algorithm – DIY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486821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Bellman-Ford algorithm does exactly what Dijkstra’s algorithm does – finding single source shortest path between a pair of nodes.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uses Dynamic design strategy but has worse time complexity than </a:t>
            </a:r>
            <a:r>
              <a:rPr lang="en-US" sz="3200" dirty="0" err="1"/>
              <a:t>Dijsktra’s</a:t>
            </a:r>
            <a:r>
              <a:rPr lang="en-US" sz="3200" dirty="0"/>
              <a:t> algorithm.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Unlike </a:t>
            </a:r>
            <a:r>
              <a:rPr lang="en-US" sz="3200" dirty="0" err="1"/>
              <a:t>Dijsktra’s</a:t>
            </a:r>
            <a:r>
              <a:rPr lang="en-US" sz="3200" dirty="0"/>
              <a:t> algorithm, it can also work on graphs with negative weights.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 err="1"/>
              <a:t>Dijsktra’s</a:t>
            </a:r>
            <a:r>
              <a:rPr lang="en-US" sz="3200" dirty="0"/>
              <a:t> algorithm can loop indefinitely if there is a negative cycle in graph. Bellman-Ford algorithm is capable of detecting them.</a:t>
            </a:r>
          </a:p>
        </p:txBody>
      </p:sp>
    </p:spTree>
    <p:extLst>
      <p:ext uri="{BB962C8B-B14F-4D97-AF65-F5344CB8AC3E}">
        <p14:creationId xmlns:p14="http://schemas.microsoft.com/office/powerpoint/2010/main" val="345570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Kruskal’s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868213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Joseph Kruskal, an American mathematician proposed an algorithm in 1956 to convert a weighted, undirected Graph into a minimum spanning tree using Greedy strategy.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 spanning tree is a sub-graph which contains all nodes of the graph, but number of edges is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200" dirty="0"/>
                  <a:t> to connect all nodes.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Mathematically, if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3200" b="0" i="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sz="3200" b="0" dirty="0">
                    <a:latin typeface="Cambria Math" panose="020405030504060302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problem? The possible number of spanning trees in a graph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den>
                        </m:f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 where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 is the number of cycles.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Meaning exponential growth. Meaning bad news.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 err="1"/>
                  <a:t>Kruska’s</a:t>
                </a:r>
                <a:r>
                  <a:rPr lang="en-US" sz="3200" dirty="0"/>
                  <a:t> algorithm finds a minimum spanning tree (MST) that has minimum cost.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868213"/>
              </a:xfrm>
              <a:prstGeom prst="rect">
                <a:avLst/>
              </a:prstGeom>
              <a:blipFill>
                <a:blip r:embed="rId3"/>
                <a:stretch>
                  <a:fillRect l="-727" t="-876" r="-1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506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Kruskal’s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48563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Let’s reimagine our example of Karachi. This time, you are walking so each road is two-way for you. You have to find out a path (MST) for a marathon that covers all stops while travelling minimum distance.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CD0C895-0BEA-7376-985A-4B43CE972B0B}"/>
              </a:ext>
            </a:extLst>
          </p:cNvPr>
          <p:cNvGrpSpPr/>
          <p:nvPr/>
        </p:nvGrpSpPr>
        <p:grpSpPr>
          <a:xfrm>
            <a:off x="393405" y="3011135"/>
            <a:ext cx="11335256" cy="3289568"/>
            <a:chOff x="393405" y="3011135"/>
            <a:chExt cx="11335256" cy="328956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BA9515B-8D68-F361-10DA-49A11E02068A}"/>
                </a:ext>
              </a:extLst>
            </p:cNvPr>
            <p:cNvGrpSpPr/>
            <p:nvPr/>
          </p:nvGrpSpPr>
          <p:grpSpPr>
            <a:xfrm>
              <a:off x="393405" y="3069462"/>
              <a:ext cx="11335256" cy="3194202"/>
              <a:chOff x="393405" y="3069462"/>
              <a:chExt cx="11335256" cy="3194202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5F158DB1-1136-5495-A4BF-BB4760C4B55F}"/>
                  </a:ext>
                </a:extLst>
              </p:cNvPr>
              <p:cNvSpPr/>
              <p:nvPr/>
            </p:nvSpPr>
            <p:spPr>
              <a:xfrm>
                <a:off x="393405" y="4387015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Water pump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E991C661-C42F-F40C-2570-C36DC1DCDCF4}"/>
                  </a:ext>
                </a:extLst>
              </p:cNvPr>
              <p:cNvSpPr/>
              <p:nvPr/>
            </p:nvSpPr>
            <p:spPr>
              <a:xfrm>
                <a:off x="299129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 Hatti</a:t>
                </a: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5AC916FD-6795-5F0D-2F1B-EBFAEAD140E4}"/>
                  </a:ext>
                </a:extLst>
              </p:cNvPr>
              <p:cNvSpPr/>
              <p:nvPr/>
            </p:nvSpPr>
            <p:spPr>
              <a:xfrm>
                <a:off x="553869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Saddar</a:t>
                </a: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19E906CD-8681-D35A-FBB8-3E686D7CFC46}"/>
                  </a:ext>
                </a:extLst>
              </p:cNvPr>
              <p:cNvSpPr/>
              <p:nvPr/>
            </p:nvSpPr>
            <p:spPr>
              <a:xfrm>
                <a:off x="808610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Light house</a:t>
                </a: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62DB71AC-A26B-BB6B-6173-3FC6934B6E69}"/>
                  </a:ext>
                </a:extLst>
              </p:cNvPr>
              <p:cNvSpPr/>
              <p:nvPr/>
            </p:nvSpPr>
            <p:spPr>
              <a:xfrm>
                <a:off x="1063350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Tower</a:t>
                </a: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E419B493-0DF3-5A95-1AD4-4F5F22A268A7}"/>
                  </a:ext>
                </a:extLst>
              </p:cNvPr>
              <p:cNvSpPr/>
              <p:nvPr/>
            </p:nvSpPr>
            <p:spPr>
              <a:xfrm>
                <a:off x="1645371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NIPA</a:t>
                </a:r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D1C5CCEC-A754-3732-B599-A00FE5D594C4}"/>
                  </a:ext>
                </a:extLst>
              </p:cNvPr>
              <p:cNvSpPr/>
              <p:nvPr/>
            </p:nvSpPr>
            <p:spPr>
              <a:xfrm>
                <a:off x="4192776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Bahria Uni</a:t>
                </a:r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74BB7B66-FFAA-AD93-61D5-13AC211D7C22}"/>
                  </a:ext>
                </a:extLst>
              </p:cNvPr>
              <p:cNvSpPr/>
              <p:nvPr/>
            </p:nvSpPr>
            <p:spPr>
              <a:xfrm>
                <a:off x="8105555" y="306946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Sh</a:t>
                </a:r>
                <a:r>
                  <a:rPr lang="en-US" dirty="0"/>
                  <a:t>-e-Faisal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7B024CAE-793E-3105-98C3-A573BEBF052A}"/>
                  </a:ext>
                </a:extLst>
              </p:cNvPr>
              <p:cNvSpPr/>
              <p:nvPr/>
            </p:nvSpPr>
            <p:spPr>
              <a:xfrm>
                <a:off x="1645371" y="567887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Five Star</a:t>
                </a: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79F744C2-06C6-FBCC-1A2A-E24F43FAE0E6}"/>
                  </a:ext>
                </a:extLst>
              </p:cNvPr>
              <p:cNvSpPr/>
              <p:nvPr/>
            </p:nvSpPr>
            <p:spPr>
              <a:xfrm>
                <a:off x="4192776" y="567887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Lasbela</a:t>
                </a:r>
                <a:endParaRPr lang="en-US" dirty="0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35CC93B2-7FC1-FF53-D3EA-9735D00FDBA2}"/>
                  </a:ext>
                </a:extLst>
              </p:cNvPr>
              <p:cNvSpPr/>
              <p:nvPr/>
            </p:nvSpPr>
            <p:spPr>
              <a:xfrm>
                <a:off x="6740182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Soldier Bazar</a:t>
                </a: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88C4132F-B209-755D-9BDD-D3F9A6529E70}"/>
                  </a:ext>
                </a:extLst>
              </p:cNvPr>
              <p:cNvSpPr/>
              <p:nvPr/>
            </p:nvSpPr>
            <p:spPr>
              <a:xfrm>
                <a:off x="9451476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Nanakwarra</a:t>
                </a:r>
                <a:endParaRPr lang="en-US" dirty="0"/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E9CD0A7-6EBF-72C2-4F4B-ECE5B3540470}"/>
                </a:ext>
              </a:extLst>
            </p:cNvPr>
            <p:cNvCxnSpPr>
              <a:stCxn id="40" idx="3"/>
              <a:endCxn id="41" idx="1"/>
            </p:cNvCxnSpPr>
            <p:nvPr/>
          </p:nvCxnSpPr>
          <p:spPr>
            <a:xfrm flipV="1">
              <a:off x="1488558" y="4679410"/>
              <a:ext cx="1502735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129A3CF-1DFB-0CCF-4230-1B78849787FD}"/>
                </a:ext>
              </a:extLst>
            </p:cNvPr>
            <p:cNvCxnSpPr>
              <a:stCxn id="41" idx="3"/>
              <a:endCxn id="42" idx="1"/>
            </p:cNvCxnSpPr>
            <p:nvPr/>
          </p:nvCxnSpPr>
          <p:spPr>
            <a:xfrm>
              <a:off x="4086446" y="4679410"/>
              <a:ext cx="145225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C0F829D-1089-0430-AE7B-42C9317D6CD0}"/>
                </a:ext>
              </a:extLst>
            </p:cNvPr>
            <p:cNvCxnSpPr>
              <a:stCxn id="42" idx="3"/>
              <a:endCxn id="43" idx="1"/>
            </p:cNvCxnSpPr>
            <p:nvPr/>
          </p:nvCxnSpPr>
          <p:spPr>
            <a:xfrm>
              <a:off x="6633851" y="4679410"/>
              <a:ext cx="145225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A172F2D-07AE-C8FB-9657-5547F0A2C855}"/>
                </a:ext>
              </a:extLst>
            </p:cNvPr>
            <p:cNvCxnSpPr>
              <a:stCxn id="43" idx="3"/>
              <a:endCxn id="44" idx="1"/>
            </p:cNvCxnSpPr>
            <p:nvPr/>
          </p:nvCxnSpPr>
          <p:spPr>
            <a:xfrm>
              <a:off x="9181256" y="4679410"/>
              <a:ext cx="145225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5F0BC77-C9FB-4E09-E729-E513E620E3F2}"/>
                </a:ext>
              </a:extLst>
            </p:cNvPr>
            <p:cNvCxnSpPr>
              <a:stCxn id="40" idx="0"/>
              <a:endCxn id="45" idx="2"/>
            </p:cNvCxnSpPr>
            <p:nvPr/>
          </p:nvCxnSpPr>
          <p:spPr>
            <a:xfrm flipV="1">
              <a:off x="940982" y="3654254"/>
              <a:ext cx="1251966" cy="732761"/>
            </a:xfrm>
            <a:prstGeom prst="straightConnector1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FB8E050-509A-5C14-F5BE-5C0514150F1A}"/>
                </a:ext>
              </a:extLst>
            </p:cNvPr>
            <p:cNvCxnSpPr>
              <a:stCxn id="45" idx="3"/>
              <a:endCxn id="46" idx="1"/>
            </p:cNvCxnSpPr>
            <p:nvPr/>
          </p:nvCxnSpPr>
          <p:spPr>
            <a:xfrm>
              <a:off x="2740524" y="3361859"/>
              <a:ext cx="145225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FF8C142-04FE-C611-A611-7AC835572E58}"/>
                </a:ext>
              </a:extLst>
            </p:cNvPr>
            <p:cNvCxnSpPr>
              <a:stCxn id="46" idx="3"/>
              <a:endCxn id="47" idx="1"/>
            </p:cNvCxnSpPr>
            <p:nvPr/>
          </p:nvCxnSpPr>
          <p:spPr>
            <a:xfrm flipV="1">
              <a:off x="5287929" y="3361858"/>
              <a:ext cx="2817626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DCB7B48-B866-4E72-59F0-E8007A493167}"/>
                </a:ext>
              </a:extLst>
            </p:cNvPr>
            <p:cNvCxnSpPr>
              <a:cxnSpLocks/>
              <a:stCxn id="42" idx="0"/>
              <a:endCxn id="47" idx="2"/>
            </p:cNvCxnSpPr>
            <p:nvPr/>
          </p:nvCxnSpPr>
          <p:spPr>
            <a:xfrm flipV="1">
              <a:off x="6086275" y="3654253"/>
              <a:ext cx="2566857" cy="73276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8E57C17-AA6C-A8BE-4371-EF1DD1547F0F}"/>
                </a:ext>
              </a:extLst>
            </p:cNvPr>
            <p:cNvCxnSpPr>
              <a:stCxn id="47" idx="3"/>
              <a:endCxn id="44" idx="0"/>
            </p:cNvCxnSpPr>
            <p:nvPr/>
          </p:nvCxnSpPr>
          <p:spPr>
            <a:xfrm>
              <a:off x="9200708" y="3361858"/>
              <a:ext cx="1980377" cy="102515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423B3CD-22EB-F97B-07C0-D0205E384B75}"/>
                </a:ext>
              </a:extLst>
            </p:cNvPr>
            <p:cNvCxnSpPr>
              <a:stCxn id="40" idx="2"/>
              <a:endCxn id="48" idx="0"/>
            </p:cNvCxnSpPr>
            <p:nvPr/>
          </p:nvCxnSpPr>
          <p:spPr>
            <a:xfrm>
              <a:off x="940982" y="4971806"/>
              <a:ext cx="1251966" cy="7070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26E68F4-0A41-2060-A4BB-D70C56C44D42}"/>
                </a:ext>
              </a:extLst>
            </p:cNvPr>
            <p:cNvCxnSpPr>
              <a:stCxn id="48" idx="3"/>
              <a:endCxn id="49" idx="1"/>
            </p:cNvCxnSpPr>
            <p:nvPr/>
          </p:nvCxnSpPr>
          <p:spPr>
            <a:xfrm flipV="1">
              <a:off x="2740524" y="5971268"/>
              <a:ext cx="1452252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2E11600-407E-FDB2-6E9A-1503FDDC7E09}"/>
                </a:ext>
              </a:extLst>
            </p:cNvPr>
            <p:cNvCxnSpPr>
              <a:cxnSpLocks/>
              <a:stCxn id="41" idx="2"/>
              <a:endCxn id="49" idx="0"/>
            </p:cNvCxnSpPr>
            <p:nvPr/>
          </p:nvCxnSpPr>
          <p:spPr>
            <a:xfrm>
              <a:off x="3538870" y="4971805"/>
              <a:ext cx="1201483" cy="7070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32701D7-312C-B962-219A-18F5C4C77CDC}"/>
                </a:ext>
              </a:extLst>
            </p:cNvPr>
            <p:cNvCxnSpPr>
              <a:stCxn id="49" idx="3"/>
              <a:endCxn id="50" idx="1"/>
            </p:cNvCxnSpPr>
            <p:nvPr/>
          </p:nvCxnSpPr>
          <p:spPr>
            <a:xfrm flipV="1">
              <a:off x="5287929" y="5971267"/>
              <a:ext cx="1452253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CFEFAF9-6D8A-2334-F14D-B8AC5AD0D702}"/>
                </a:ext>
              </a:extLst>
            </p:cNvPr>
            <p:cNvCxnSpPr>
              <a:cxnSpLocks/>
              <a:stCxn id="42" idx="2"/>
              <a:endCxn id="50" idx="0"/>
            </p:cNvCxnSpPr>
            <p:nvPr/>
          </p:nvCxnSpPr>
          <p:spPr>
            <a:xfrm>
              <a:off x="6086275" y="4971805"/>
              <a:ext cx="1201484" cy="70706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B460963-2277-949C-B710-C7369F524AFF}"/>
                </a:ext>
              </a:extLst>
            </p:cNvPr>
            <p:cNvCxnSpPr>
              <a:stCxn id="50" idx="3"/>
              <a:endCxn id="43" idx="2"/>
            </p:cNvCxnSpPr>
            <p:nvPr/>
          </p:nvCxnSpPr>
          <p:spPr>
            <a:xfrm flipV="1">
              <a:off x="7835335" y="4971805"/>
              <a:ext cx="798345" cy="99946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22231A9-3F79-E41B-1E76-EE4C3237BE56}"/>
                </a:ext>
              </a:extLst>
            </p:cNvPr>
            <p:cNvCxnSpPr>
              <a:stCxn id="50" idx="3"/>
              <a:endCxn id="51" idx="1"/>
            </p:cNvCxnSpPr>
            <p:nvPr/>
          </p:nvCxnSpPr>
          <p:spPr>
            <a:xfrm>
              <a:off x="7835335" y="5971267"/>
              <a:ext cx="1616141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14731B6-2A4E-BF5E-930A-E14860B77CF9}"/>
                </a:ext>
              </a:extLst>
            </p:cNvPr>
            <p:cNvCxnSpPr>
              <a:stCxn id="51" idx="3"/>
              <a:endCxn id="44" idx="2"/>
            </p:cNvCxnSpPr>
            <p:nvPr/>
          </p:nvCxnSpPr>
          <p:spPr>
            <a:xfrm flipV="1">
              <a:off x="10546629" y="4971805"/>
              <a:ext cx="634456" cy="99946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E836A1A-7A7E-432E-F2AE-8CFC29FFCF6F}"/>
                </a:ext>
              </a:extLst>
            </p:cNvPr>
            <p:cNvSpPr txBox="1"/>
            <p:nvPr/>
          </p:nvSpPr>
          <p:spPr>
            <a:xfrm>
              <a:off x="1098499" y="3730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B86160D-2B5A-3DE2-93F5-9BD5A204EA69}"/>
                </a:ext>
              </a:extLst>
            </p:cNvPr>
            <p:cNvSpPr txBox="1"/>
            <p:nvPr/>
          </p:nvSpPr>
          <p:spPr>
            <a:xfrm>
              <a:off x="3226496" y="30209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802C2F-461A-A37A-BB20-2F7D6DA013AC}"/>
                </a:ext>
              </a:extLst>
            </p:cNvPr>
            <p:cNvSpPr txBox="1"/>
            <p:nvPr/>
          </p:nvSpPr>
          <p:spPr>
            <a:xfrm>
              <a:off x="6349626" y="301113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78A81C2-11B4-A6E4-B79C-B0676A90BEF9}"/>
                </a:ext>
              </a:extLst>
            </p:cNvPr>
            <p:cNvSpPr txBox="1"/>
            <p:nvPr/>
          </p:nvSpPr>
          <p:spPr>
            <a:xfrm>
              <a:off x="2055815" y="434391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3E5A1F4-CDC3-E0F1-6EAC-8BD631A10BBC}"/>
                </a:ext>
              </a:extLst>
            </p:cNvPr>
            <p:cNvSpPr txBox="1"/>
            <p:nvPr/>
          </p:nvSpPr>
          <p:spPr>
            <a:xfrm>
              <a:off x="1153126" y="524840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554204-285A-9C08-6F64-73D2BCF862F8}"/>
                </a:ext>
              </a:extLst>
            </p:cNvPr>
            <p:cNvSpPr txBox="1"/>
            <p:nvPr/>
          </p:nvSpPr>
          <p:spPr>
            <a:xfrm>
              <a:off x="3185078" y="593137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97BF44C-CBB0-BC49-BB21-04FFA7DBC591}"/>
                </a:ext>
              </a:extLst>
            </p:cNvPr>
            <p:cNvSpPr txBox="1"/>
            <p:nvPr/>
          </p:nvSpPr>
          <p:spPr>
            <a:xfrm>
              <a:off x="4572418" y="43613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F743BB1-15E4-7344-4325-1EC1DB86CEAA}"/>
                </a:ext>
              </a:extLst>
            </p:cNvPr>
            <p:cNvSpPr txBox="1"/>
            <p:nvPr/>
          </p:nvSpPr>
          <p:spPr>
            <a:xfrm>
              <a:off x="3667742" y="52484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4A4A9AB-32B9-B3A5-569A-560EF8C9EA07}"/>
                </a:ext>
              </a:extLst>
            </p:cNvPr>
            <p:cNvSpPr txBox="1"/>
            <p:nvPr/>
          </p:nvSpPr>
          <p:spPr>
            <a:xfrm>
              <a:off x="6213799" y="52385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41F66B2-950D-026D-9BF2-A080C55556B2}"/>
                </a:ext>
              </a:extLst>
            </p:cNvPr>
            <p:cNvSpPr txBox="1"/>
            <p:nvPr/>
          </p:nvSpPr>
          <p:spPr>
            <a:xfrm>
              <a:off x="5732484" y="593137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4329A1-4CE4-1D79-67B0-3A150E5F9BCF}"/>
                </a:ext>
              </a:extLst>
            </p:cNvPr>
            <p:cNvSpPr txBox="1"/>
            <p:nvPr/>
          </p:nvSpPr>
          <p:spPr>
            <a:xfrm>
              <a:off x="6818137" y="374790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2977078-874F-0F27-0A49-56869843A92A}"/>
                </a:ext>
              </a:extLst>
            </p:cNvPr>
            <p:cNvSpPr txBox="1"/>
            <p:nvPr/>
          </p:nvSpPr>
          <p:spPr>
            <a:xfrm>
              <a:off x="10027763" y="34700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B4F9D78-7E78-A475-F74D-413B9BBC6D92}"/>
                </a:ext>
              </a:extLst>
            </p:cNvPr>
            <p:cNvSpPr txBox="1"/>
            <p:nvPr/>
          </p:nvSpPr>
          <p:spPr>
            <a:xfrm>
              <a:off x="7119823" y="436131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0D26D20-AE78-615F-B766-7C39824FD99B}"/>
                </a:ext>
              </a:extLst>
            </p:cNvPr>
            <p:cNvSpPr txBox="1"/>
            <p:nvPr/>
          </p:nvSpPr>
          <p:spPr>
            <a:xfrm>
              <a:off x="8234428" y="52910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98C37EF-8084-6663-8104-37B57F69DDE8}"/>
                </a:ext>
              </a:extLst>
            </p:cNvPr>
            <p:cNvSpPr txBox="1"/>
            <p:nvPr/>
          </p:nvSpPr>
          <p:spPr>
            <a:xfrm>
              <a:off x="9667228" y="434391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4CE075-C051-41E4-AF2B-54FCDD5FC97B}"/>
                </a:ext>
              </a:extLst>
            </p:cNvPr>
            <p:cNvSpPr txBox="1"/>
            <p:nvPr/>
          </p:nvSpPr>
          <p:spPr>
            <a:xfrm>
              <a:off x="10829522" y="5377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13D5B56-CD53-2F05-A815-AB006DF84DF5}"/>
                </a:ext>
              </a:extLst>
            </p:cNvPr>
            <p:cNvSpPr txBox="1"/>
            <p:nvPr/>
          </p:nvSpPr>
          <p:spPr>
            <a:xfrm>
              <a:off x="8559438" y="592115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7933241-99C2-2442-E1A3-2D7389F6D950}"/>
              </a:ext>
            </a:extLst>
          </p:cNvPr>
          <p:cNvGrpSpPr/>
          <p:nvPr/>
        </p:nvGrpSpPr>
        <p:grpSpPr>
          <a:xfrm>
            <a:off x="2192948" y="3654254"/>
            <a:ext cx="3893327" cy="2024618"/>
            <a:chOff x="2192948" y="3654254"/>
            <a:chExt cx="3893327" cy="2024618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7F6FF01-F8D3-F87A-7148-90A07CAE59D2}"/>
                </a:ext>
              </a:extLst>
            </p:cNvPr>
            <p:cNvCxnSpPr>
              <a:cxnSpLocks/>
              <a:stCxn id="45" idx="2"/>
              <a:endCxn id="41" idx="0"/>
            </p:cNvCxnSpPr>
            <p:nvPr/>
          </p:nvCxnSpPr>
          <p:spPr>
            <a:xfrm>
              <a:off x="2192948" y="3654254"/>
              <a:ext cx="1345922" cy="73276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7858A9C-3CE4-6A12-1D37-9D39E4B41895}"/>
                </a:ext>
              </a:extLst>
            </p:cNvPr>
            <p:cNvSpPr txBox="1"/>
            <p:nvPr/>
          </p:nvSpPr>
          <p:spPr>
            <a:xfrm>
              <a:off x="2924810" y="375912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D68868B-166A-D31D-E179-F0E72D4FF62C}"/>
                </a:ext>
              </a:extLst>
            </p:cNvPr>
            <p:cNvCxnSpPr>
              <a:cxnSpLocks/>
              <a:stCxn id="49" idx="0"/>
              <a:endCxn id="42" idx="2"/>
            </p:cNvCxnSpPr>
            <p:nvPr/>
          </p:nvCxnSpPr>
          <p:spPr>
            <a:xfrm flipV="1">
              <a:off x="4740353" y="4971805"/>
              <a:ext cx="1345922" cy="7070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ED287FD-21B1-8F01-78C7-D5759DF0D169}"/>
                </a:ext>
              </a:extLst>
            </p:cNvPr>
            <p:cNvSpPr txBox="1"/>
            <p:nvPr/>
          </p:nvSpPr>
          <p:spPr>
            <a:xfrm>
              <a:off x="5487482" y="523452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817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Kruskal’s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14856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First possibility: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12+18+6+14+6+8+17+12+16+7+16=132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1485634"/>
              </a:xfrm>
              <a:prstGeom prst="rect">
                <a:avLst/>
              </a:prstGeom>
              <a:blipFill>
                <a:blip r:embed="rId3"/>
                <a:stretch>
                  <a:fillRect t="-1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ACD0C895-0BEA-7376-985A-4B43CE972B0B}"/>
              </a:ext>
            </a:extLst>
          </p:cNvPr>
          <p:cNvGrpSpPr/>
          <p:nvPr/>
        </p:nvGrpSpPr>
        <p:grpSpPr>
          <a:xfrm>
            <a:off x="393405" y="3011135"/>
            <a:ext cx="11335256" cy="3289568"/>
            <a:chOff x="393405" y="3011135"/>
            <a:chExt cx="11335256" cy="328956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BA9515B-8D68-F361-10DA-49A11E02068A}"/>
                </a:ext>
              </a:extLst>
            </p:cNvPr>
            <p:cNvGrpSpPr/>
            <p:nvPr/>
          </p:nvGrpSpPr>
          <p:grpSpPr>
            <a:xfrm>
              <a:off x="393405" y="3069462"/>
              <a:ext cx="11335256" cy="3194202"/>
              <a:chOff x="393405" y="3069462"/>
              <a:chExt cx="11335256" cy="3194202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5F158DB1-1136-5495-A4BF-BB4760C4B55F}"/>
                  </a:ext>
                </a:extLst>
              </p:cNvPr>
              <p:cNvSpPr/>
              <p:nvPr/>
            </p:nvSpPr>
            <p:spPr>
              <a:xfrm>
                <a:off x="393405" y="4387015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Water pump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E991C661-C42F-F40C-2570-C36DC1DCDCF4}"/>
                  </a:ext>
                </a:extLst>
              </p:cNvPr>
              <p:cNvSpPr/>
              <p:nvPr/>
            </p:nvSpPr>
            <p:spPr>
              <a:xfrm>
                <a:off x="299129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 Hatti</a:t>
                </a: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5AC916FD-6795-5F0D-2F1B-EBFAEAD140E4}"/>
                  </a:ext>
                </a:extLst>
              </p:cNvPr>
              <p:cNvSpPr/>
              <p:nvPr/>
            </p:nvSpPr>
            <p:spPr>
              <a:xfrm>
                <a:off x="553869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Saddar</a:t>
                </a: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19E906CD-8681-D35A-FBB8-3E686D7CFC46}"/>
                  </a:ext>
                </a:extLst>
              </p:cNvPr>
              <p:cNvSpPr/>
              <p:nvPr/>
            </p:nvSpPr>
            <p:spPr>
              <a:xfrm>
                <a:off x="808610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Light house</a:t>
                </a: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62DB71AC-A26B-BB6B-6173-3FC6934B6E69}"/>
                  </a:ext>
                </a:extLst>
              </p:cNvPr>
              <p:cNvSpPr/>
              <p:nvPr/>
            </p:nvSpPr>
            <p:spPr>
              <a:xfrm>
                <a:off x="1063350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Tower</a:t>
                </a: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E419B493-0DF3-5A95-1AD4-4F5F22A268A7}"/>
                  </a:ext>
                </a:extLst>
              </p:cNvPr>
              <p:cNvSpPr/>
              <p:nvPr/>
            </p:nvSpPr>
            <p:spPr>
              <a:xfrm>
                <a:off x="1645371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NIPA</a:t>
                </a:r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D1C5CCEC-A754-3732-B599-A00FE5D594C4}"/>
                  </a:ext>
                </a:extLst>
              </p:cNvPr>
              <p:cNvSpPr/>
              <p:nvPr/>
            </p:nvSpPr>
            <p:spPr>
              <a:xfrm>
                <a:off x="4192776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Bahria Uni</a:t>
                </a:r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74BB7B66-FFAA-AD93-61D5-13AC211D7C22}"/>
                  </a:ext>
                </a:extLst>
              </p:cNvPr>
              <p:cNvSpPr/>
              <p:nvPr/>
            </p:nvSpPr>
            <p:spPr>
              <a:xfrm>
                <a:off x="8105555" y="306946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Sh</a:t>
                </a:r>
                <a:r>
                  <a:rPr lang="en-US" dirty="0"/>
                  <a:t>-e-Faisal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7B024CAE-793E-3105-98C3-A573BEBF052A}"/>
                  </a:ext>
                </a:extLst>
              </p:cNvPr>
              <p:cNvSpPr/>
              <p:nvPr/>
            </p:nvSpPr>
            <p:spPr>
              <a:xfrm>
                <a:off x="1645371" y="567887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Five Star</a:t>
                </a: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79F744C2-06C6-FBCC-1A2A-E24F43FAE0E6}"/>
                  </a:ext>
                </a:extLst>
              </p:cNvPr>
              <p:cNvSpPr/>
              <p:nvPr/>
            </p:nvSpPr>
            <p:spPr>
              <a:xfrm>
                <a:off x="4192776" y="567887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Lasbela</a:t>
                </a:r>
                <a:endParaRPr lang="en-US" dirty="0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35CC93B2-7FC1-FF53-D3EA-9735D00FDBA2}"/>
                  </a:ext>
                </a:extLst>
              </p:cNvPr>
              <p:cNvSpPr/>
              <p:nvPr/>
            </p:nvSpPr>
            <p:spPr>
              <a:xfrm>
                <a:off x="6740182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Soldier Bazar</a:t>
                </a: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88C4132F-B209-755D-9BDD-D3F9A6529E70}"/>
                  </a:ext>
                </a:extLst>
              </p:cNvPr>
              <p:cNvSpPr/>
              <p:nvPr/>
            </p:nvSpPr>
            <p:spPr>
              <a:xfrm>
                <a:off x="9451476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Nanakwarra</a:t>
                </a:r>
                <a:endParaRPr lang="en-US" dirty="0"/>
              </a:p>
            </p:txBody>
          </p: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129A3CF-1DFB-0CCF-4230-1B78849787FD}"/>
                </a:ext>
              </a:extLst>
            </p:cNvPr>
            <p:cNvCxnSpPr>
              <a:stCxn id="41" idx="3"/>
              <a:endCxn id="42" idx="1"/>
            </p:cNvCxnSpPr>
            <p:nvPr/>
          </p:nvCxnSpPr>
          <p:spPr>
            <a:xfrm>
              <a:off x="4086446" y="4679410"/>
              <a:ext cx="145225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C0F829D-1089-0430-AE7B-42C9317D6CD0}"/>
                </a:ext>
              </a:extLst>
            </p:cNvPr>
            <p:cNvCxnSpPr>
              <a:stCxn id="42" idx="3"/>
              <a:endCxn id="43" idx="1"/>
            </p:cNvCxnSpPr>
            <p:nvPr/>
          </p:nvCxnSpPr>
          <p:spPr>
            <a:xfrm>
              <a:off x="6633851" y="4679410"/>
              <a:ext cx="145225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5F0BC77-C9FB-4E09-E729-E513E620E3F2}"/>
                </a:ext>
              </a:extLst>
            </p:cNvPr>
            <p:cNvCxnSpPr>
              <a:stCxn id="40" idx="0"/>
              <a:endCxn id="45" idx="2"/>
            </p:cNvCxnSpPr>
            <p:nvPr/>
          </p:nvCxnSpPr>
          <p:spPr>
            <a:xfrm flipV="1">
              <a:off x="940982" y="3654254"/>
              <a:ext cx="1251966" cy="732761"/>
            </a:xfrm>
            <a:prstGeom prst="straightConnector1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FB8E050-509A-5C14-F5BE-5C0514150F1A}"/>
                </a:ext>
              </a:extLst>
            </p:cNvPr>
            <p:cNvCxnSpPr>
              <a:stCxn id="45" idx="3"/>
              <a:endCxn id="46" idx="1"/>
            </p:cNvCxnSpPr>
            <p:nvPr/>
          </p:nvCxnSpPr>
          <p:spPr>
            <a:xfrm>
              <a:off x="2740524" y="3361859"/>
              <a:ext cx="145225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FF8C142-04FE-C611-A611-7AC835572E58}"/>
                </a:ext>
              </a:extLst>
            </p:cNvPr>
            <p:cNvCxnSpPr>
              <a:stCxn id="46" idx="3"/>
              <a:endCxn id="47" idx="1"/>
            </p:cNvCxnSpPr>
            <p:nvPr/>
          </p:nvCxnSpPr>
          <p:spPr>
            <a:xfrm flipV="1">
              <a:off x="5287929" y="3361858"/>
              <a:ext cx="2817626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8E57C17-AA6C-A8BE-4371-EF1DD1547F0F}"/>
                </a:ext>
              </a:extLst>
            </p:cNvPr>
            <p:cNvCxnSpPr>
              <a:stCxn id="47" idx="3"/>
              <a:endCxn id="44" idx="0"/>
            </p:cNvCxnSpPr>
            <p:nvPr/>
          </p:nvCxnSpPr>
          <p:spPr>
            <a:xfrm>
              <a:off x="9200708" y="3361858"/>
              <a:ext cx="1980377" cy="102515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26E68F4-0A41-2060-A4BB-D70C56C44D42}"/>
                </a:ext>
              </a:extLst>
            </p:cNvPr>
            <p:cNvCxnSpPr>
              <a:stCxn id="48" idx="3"/>
              <a:endCxn id="49" idx="1"/>
            </p:cNvCxnSpPr>
            <p:nvPr/>
          </p:nvCxnSpPr>
          <p:spPr>
            <a:xfrm flipV="1">
              <a:off x="2740524" y="5971268"/>
              <a:ext cx="1452252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2E11600-407E-FDB2-6E9A-1503FDDC7E09}"/>
                </a:ext>
              </a:extLst>
            </p:cNvPr>
            <p:cNvCxnSpPr>
              <a:cxnSpLocks/>
              <a:stCxn id="41" idx="2"/>
              <a:endCxn id="49" idx="0"/>
            </p:cNvCxnSpPr>
            <p:nvPr/>
          </p:nvCxnSpPr>
          <p:spPr>
            <a:xfrm>
              <a:off x="3538870" y="4971805"/>
              <a:ext cx="1201483" cy="7070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B460963-2277-949C-B710-C7369F524AFF}"/>
                </a:ext>
              </a:extLst>
            </p:cNvPr>
            <p:cNvCxnSpPr>
              <a:stCxn id="50" idx="3"/>
              <a:endCxn id="43" idx="2"/>
            </p:cNvCxnSpPr>
            <p:nvPr/>
          </p:nvCxnSpPr>
          <p:spPr>
            <a:xfrm flipV="1">
              <a:off x="7835335" y="4971805"/>
              <a:ext cx="798345" cy="99946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22231A9-3F79-E41B-1E76-EE4C3237BE56}"/>
                </a:ext>
              </a:extLst>
            </p:cNvPr>
            <p:cNvCxnSpPr>
              <a:stCxn id="50" idx="3"/>
              <a:endCxn id="51" idx="1"/>
            </p:cNvCxnSpPr>
            <p:nvPr/>
          </p:nvCxnSpPr>
          <p:spPr>
            <a:xfrm>
              <a:off x="7835335" y="5971267"/>
              <a:ext cx="1616141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14731B6-2A4E-BF5E-930A-E14860B77CF9}"/>
                </a:ext>
              </a:extLst>
            </p:cNvPr>
            <p:cNvCxnSpPr>
              <a:stCxn id="51" idx="3"/>
              <a:endCxn id="44" idx="2"/>
            </p:cNvCxnSpPr>
            <p:nvPr/>
          </p:nvCxnSpPr>
          <p:spPr>
            <a:xfrm flipV="1">
              <a:off x="10546629" y="4971805"/>
              <a:ext cx="634456" cy="99946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E836A1A-7A7E-432E-F2AE-8CFC29FFCF6F}"/>
                </a:ext>
              </a:extLst>
            </p:cNvPr>
            <p:cNvSpPr txBox="1"/>
            <p:nvPr/>
          </p:nvSpPr>
          <p:spPr>
            <a:xfrm>
              <a:off x="1098499" y="3730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B86160D-2B5A-3DE2-93F5-9BD5A204EA69}"/>
                </a:ext>
              </a:extLst>
            </p:cNvPr>
            <p:cNvSpPr txBox="1"/>
            <p:nvPr/>
          </p:nvSpPr>
          <p:spPr>
            <a:xfrm>
              <a:off x="3226496" y="30209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802C2F-461A-A37A-BB20-2F7D6DA013AC}"/>
                </a:ext>
              </a:extLst>
            </p:cNvPr>
            <p:cNvSpPr txBox="1"/>
            <p:nvPr/>
          </p:nvSpPr>
          <p:spPr>
            <a:xfrm>
              <a:off x="6249549" y="301113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554204-285A-9C08-6F64-73D2BCF862F8}"/>
                </a:ext>
              </a:extLst>
            </p:cNvPr>
            <p:cNvSpPr txBox="1"/>
            <p:nvPr/>
          </p:nvSpPr>
          <p:spPr>
            <a:xfrm>
              <a:off x="3185078" y="593137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97BF44C-CBB0-BC49-BB21-04FFA7DBC591}"/>
                </a:ext>
              </a:extLst>
            </p:cNvPr>
            <p:cNvSpPr txBox="1"/>
            <p:nvPr/>
          </p:nvSpPr>
          <p:spPr>
            <a:xfrm>
              <a:off x="4572418" y="43613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F743BB1-15E4-7344-4325-1EC1DB86CEAA}"/>
                </a:ext>
              </a:extLst>
            </p:cNvPr>
            <p:cNvSpPr txBox="1"/>
            <p:nvPr/>
          </p:nvSpPr>
          <p:spPr>
            <a:xfrm>
              <a:off x="3667742" y="52484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2977078-874F-0F27-0A49-56869843A92A}"/>
                </a:ext>
              </a:extLst>
            </p:cNvPr>
            <p:cNvSpPr txBox="1"/>
            <p:nvPr/>
          </p:nvSpPr>
          <p:spPr>
            <a:xfrm>
              <a:off x="10027763" y="34700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B4F9D78-7E78-A475-F74D-413B9BBC6D92}"/>
                </a:ext>
              </a:extLst>
            </p:cNvPr>
            <p:cNvSpPr txBox="1"/>
            <p:nvPr/>
          </p:nvSpPr>
          <p:spPr>
            <a:xfrm>
              <a:off x="7119823" y="436131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0D26D20-AE78-615F-B766-7C39824FD99B}"/>
                </a:ext>
              </a:extLst>
            </p:cNvPr>
            <p:cNvSpPr txBox="1"/>
            <p:nvPr/>
          </p:nvSpPr>
          <p:spPr>
            <a:xfrm>
              <a:off x="8234428" y="52910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4CE075-C051-41E4-AF2B-54FCDD5FC97B}"/>
                </a:ext>
              </a:extLst>
            </p:cNvPr>
            <p:cNvSpPr txBox="1"/>
            <p:nvPr/>
          </p:nvSpPr>
          <p:spPr>
            <a:xfrm>
              <a:off x="10829522" y="5377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13D5B56-CD53-2F05-A815-AB006DF84DF5}"/>
                </a:ext>
              </a:extLst>
            </p:cNvPr>
            <p:cNvSpPr txBox="1"/>
            <p:nvPr/>
          </p:nvSpPr>
          <p:spPr>
            <a:xfrm>
              <a:off x="8559438" y="592115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00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Kruskal’s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14856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Second possibility: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10+12+18+6+6+5+10+7+8+6+8=96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1485634"/>
              </a:xfrm>
              <a:prstGeom prst="rect">
                <a:avLst/>
              </a:prstGeom>
              <a:blipFill>
                <a:blip r:embed="rId3"/>
                <a:stretch>
                  <a:fillRect t="-1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F1872B4E-17C3-F148-646D-E3431FCDE409}"/>
              </a:ext>
            </a:extLst>
          </p:cNvPr>
          <p:cNvGrpSpPr/>
          <p:nvPr/>
        </p:nvGrpSpPr>
        <p:grpSpPr>
          <a:xfrm>
            <a:off x="393405" y="3011135"/>
            <a:ext cx="11335256" cy="3289568"/>
            <a:chOff x="393405" y="3011135"/>
            <a:chExt cx="11335256" cy="328956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0F9D2D2-4BC4-754C-83C5-9870033E69C2}"/>
                </a:ext>
              </a:extLst>
            </p:cNvPr>
            <p:cNvGrpSpPr/>
            <p:nvPr/>
          </p:nvGrpSpPr>
          <p:grpSpPr>
            <a:xfrm>
              <a:off x="393405" y="3069462"/>
              <a:ext cx="11335256" cy="3194202"/>
              <a:chOff x="393405" y="3069462"/>
              <a:chExt cx="11335256" cy="3194202"/>
            </a:xfrm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B0C0DA86-1FA6-522C-5110-D8E07B2A2FA0}"/>
                  </a:ext>
                </a:extLst>
              </p:cNvPr>
              <p:cNvSpPr/>
              <p:nvPr/>
            </p:nvSpPr>
            <p:spPr>
              <a:xfrm>
                <a:off x="393405" y="4387015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Water pump</a:t>
                </a:r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ADEA2955-D1B4-7DB3-9A36-738B57FDC899}"/>
                  </a:ext>
                </a:extLst>
              </p:cNvPr>
              <p:cNvSpPr/>
              <p:nvPr/>
            </p:nvSpPr>
            <p:spPr>
              <a:xfrm>
                <a:off x="299129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 Hatti</a:t>
                </a:r>
              </a:p>
            </p:txBody>
          </p:sp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F3737E3A-CE06-4143-6D54-A961E7949B26}"/>
                  </a:ext>
                </a:extLst>
              </p:cNvPr>
              <p:cNvSpPr/>
              <p:nvPr/>
            </p:nvSpPr>
            <p:spPr>
              <a:xfrm>
                <a:off x="553869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Saddar</a:t>
                </a:r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E73685FC-F6F4-E459-FEC3-CCC0F716204F}"/>
                  </a:ext>
                </a:extLst>
              </p:cNvPr>
              <p:cNvSpPr/>
              <p:nvPr/>
            </p:nvSpPr>
            <p:spPr>
              <a:xfrm>
                <a:off x="808610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Light house</a:t>
                </a:r>
              </a:p>
            </p:txBody>
          </p:sp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DA9B4FF3-638E-BBA5-51EE-3DF8BE24FA72}"/>
                  </a:ext>
                </a:extLst>
              </p:cNvPr>
              <p:cNvSpPr/>
              <p:nvPr/>
            </p:nvSpPr>
            <p:spPr>
              <a:xfrm>
                <a:off x="1063350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Tower</a:t>
                </a:r>
              </a:p>
            </p:txBody>
          </p:sp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6192BCFD-B480-0448-0BDA-8679EAE53464}"/>
                  </a:ext>
                </a:extLst>
              </p:cNvPr>
              <p:cNvSpPr/>
              <p:nvPr/>
            </p:nvSpPr>
            <p:spPr>
              <a:xfrm>
                <a:off x="1645371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NIPA</a:t>
                </a:r>
              </a:p>
            </p:txBody>
          </p:sp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0F790E88-F7B7-35B9-37B0-4BEBBFDD6A59}"/>
                  </a:ext>
                </a:extLst>
              </p:cNvPr>
              <p:cNvSpPr/>
              <p:nvPr/>
            </p:nvSpPr>
            <p:spPr>
              <a:xfrm>
                <a:off x="4192776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Bahria Uni</a:t>
                </a:r>
              </a:p>
            </p:txBody>
          </p:sp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4B1D1D46-2B8D-F517-0247-D7CD3371261C}"/>
                  </a:ext>
                </a:extLst>
              </p:cNvPr>
              <p:cNvSpPr/>
              <p:nvPr/>
            </p:nvSpPr>
            <p:spPr>
              <a:xfrm>
                <a:off x="8105555" y="306946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Sh</a:t>
                </a:r>
                <a:r>
                  <a:rPr lang="en-US" dirty="0"/>
                  <a:t>-e-Faisal</a:t>
                </a:r>
              </a:p>
            </p:txBody>
          </p:sp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663EA137-A7B2-FD05-F3DA-1E1E34406633}"/>
                  </a:ext>
                </a:extLst>
              </p:cNvPr>
              <p:cNvSpPr/>
              <p:nvPr/>
            </p:nvSpPr>
            <p:spPr>
              <a:xfrm>
                <a:off x="1645371" y="567887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Five Star</a:t>
                </a:r>
              </a:p>
            </p:txBody>
          </p:sp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id="{5C3351C8-4816-880B-3718-16A272EBF1BD}"/>
                  </a:ext>
                </a:extLst>
              </p:cNvPr>
              <p:cNvSpPr/>
              <p:nvPr/>
            </p:nvSpPr>
            <p:spPr>
              <a:xfrm>
                <a:off x="4192776" y="567887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Lasbela</a:t>
                </a:r>
                <a:endParaRPr lang="en-US" dirty="0"/>
              </a:p>
            </p:txBody>
          </p:sp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A79FAF4F-AD2E-4974-325A-52FFF2427337}"/>
                  </a:ext>
                </a:extLst>
              </p:cNvPr>
              <p:cNvSpPr/>
              <p:nvPr/>
            </p:nvSpPr>
            <p:spPr>
              <a:xfrm>
                <a:off x="6740182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Soldier Bazar</a:t>
                </a:r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A66800A6-F802-0FAD-1B59-41FCA13A792E}"/>
                  </a:ext>
                </a:extLst>
              </p:cNvPr>
              <p:cNvSpPr/>
              <p:nvPr/>
            </p:nvSpPr>
            <p:spPr>
              <a:xfrm>
                <a:off x="9451476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Nanakwarra</a:t>
                </a:r>
                <a:endParaRPr lang="en-US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731A52D-A8E6-F56A-20A2-9D013829252F}"/>
                </a:ext>
              </a:extLst>
            </p:cNvPr>
            <p:cNvCxnSpPr>
              <a:stCxn id="79" idx="3"/>
              <a:endCxn id="80" idx="1"/>
            </p:cNvCxnSpPr>
            <p:nvPr/>
          </p:nvCxnSpPr>
          <p:spPr>
            <a:xfrm>
              <a:off x="9181256" y="4679410"/>
              <a:ext cx="145225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D2C76B5-99FE-58A0-DABB-9873F1BB5538}"/>
                </a:ext>
              </a:extLst>
            </p:cNvPr>
            <p:cNvCxnSpPr>
              <a:stCxn id="76" idx="0"/>
              <a:endCxn id="81" idx="2"/>
            </p:cNvCxnSpPr>
            <p:nvPr/>
          </p:nvCxnSpPr>
          <p:spPr>
            <a:xfrm flipV="1">
              <a:off x="940982" y="3654254"/>
              <a:ext cx="1251966" cy="732761"/>
            </a:xfrm>
            <a:prstGeom prst="straightConnector1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C4F11FD-FF09-40B6-D8EA-F571B2335D32}"/>
                </a:ext>
              </a:extLst>
            </p:cNvPr>
            <p:cNvCxnSpPr>
              <a:stCxn id="81" idx="3"/>
              <a:endCxn id="82" idx="1"/>
            </p:cNvCxnSpPr>
            <p:nvPr/>
          </p:nvCxnSpPr>
          <p:spPr>
            <a:xfrm>
              <a:off x="2740524" y="3361859"/>
              <a:ext cx="145225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1C7AD1A-5B05-C641-CC5B-C9653E89252B}"/>
                </a:ext>
              </a:extLst>
            </p:cNvPr>
            <p:cNvCxnSpPr>
              <a:stCxn id="82" idx="3"/>
              <a:endCxn id="83" idx="1"/>
            </p:cNvCxnSpPr>
            <p:nvPr/>
          </p:nvCxnSpPr>
          <p:spPr>
            <a:xfrm flipV="1">
              <a:off x="5287929" y="3361858"/>
              <a:ext cx="2817626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8C1556D-BBF8-5502-70F0-B48C6CC5517D}"/>
                </a:ext>
              </a:extLst>
            </p:cNvPr>
            <p:cNvCxnSpPr>
              <a:cxnSpLocks/>
              <a:stCxn id="78" idx="0"/>
              <a:endCxn id="83" idx="2"/>
            </p:cNvCxnSpPr>
            <p:nvPr/>
          </p:nvCxnSpPr>
          <p:spPr>
            <a:xfrm flipV="1">
              <a:off x="6086275" y="3654253"/>
              <a:ext cx="2566857" cy="73276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FEC66E0-8E82-0662-104B-4C2FF2D037A6}"/>
                </a:ext>
              </a:extLst>
            </p:cNvPr>
            <p:cNvCxnSpPr>
              <a:stCxn id="76" idx="2"/>
              <a:endCxn id="84" idx="0"/>
            </p:cNvCxnSpPr>
            <p:nvPr/>
          </p:nvCxnSpPr>
          <p:spPr>
            <a:xfrm>
              <a:off x="940982" y="4971806"/>
              <a:ext cx="1251966" cy="7070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1CA38AAE-99D6-0083-BEF8-50684401E1C1}"/>
                </a:ext>
              </a:extLst>
            </p:cNvPr>
            <p:cNvCxnSpPr>
              <a:cxnSpLocks/>
              <a:stCxn id="77" idx="2"/>
              <a:endCxn id="85" idx="0"/>
            </p:cNvCxnSpPr>
            <p:nvPr/>
          </p:nvCxnSpPr>
          <p:spPr>
            <a:xfrm>
              <a:off x="3538870" y="4971805"/>
              <a:ext cx="1201483" cy="7070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8B666E4-85C8-FB38-D0F4-89DCC2F0D58E}"/>
                </a:ext>
              </a:extLst>
            </p:cNvPr>
            <p:cNvCxnSpPr>
              <a:stCxn id="85" idx="3"/>
              <a:endCxn id="86" idx="1"/>
            </p:cNvCxnSpPr>
            <p:nvPr/>
          </p:nvCxnSpPr>
          <p:spPr>
            <a:xfrm flipV="1">
              <a:off x="5287929" y="5971267"/>
              <a:ext cx="1452253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39A71164-1B8C-DA6B-73C1-6A908D367547}"/>
                </a:ext>
              </a:extLst>
            </p:cNvPr>
            <p:cNvCxnSpPr>
              <a:cxnSpLocks/>
              <a:stCxn id="78" idx="2"/>
              <a:endCxn id="86" idx="0"/>
            </p:cNvCxnSpPr>
            <p:nvPr/>
          </p:nvCxnSpPr>
          <p:spPr>
            <a:xfrm>
              <a:off x="6086275" y="4971805"/>
              <a:ext cx="1201484" cy="70706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1B32C25-1E12-7D2D-2099-0336672CB0BB}"/>
                </a:ext>
              </a:extLst>
            </p:cNvPr>
            <p:cNvCxnSpPr>
              <a:stCxn id="86" idx="3"/>
              <a:endCxn id="87" idx="1"/>
            </p:cNvCxnSpPr>
            <p:nvPr/>
          </p:nvCxnSpPr>
          <p:spPr>
            <a:xfrm>
              <a:off x="7835335" y="5971267"/>
              <a:ext cx="1616141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2C38EB9-71D8-EEA3-6EAC-737D34811B26}"/>
                </a:ext>
              </a:extLst>
            </p:cNvPr>
            <p:cNvCxnSpPr>
              <a:stCxn id="87" idx="3"/>
              <a:endCxn id="80" idx="2"/>
            </p:cNvCxnSpPr>
            <p:nvPr/>
          </p:nvCxnSpPr>
          <p:spPr>
            <a:xfrm flipV="1">
              <a:off x="10546629" y="4971805"/>
              <a:ext cx="634456" cy="99946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094AC1C-FFB9-B964-AF57-DE6F20DCCB47}"/>
                </a:ext>
              </a:extLst>
            </p:cNvPr>
            <p:cNvSpPr txBox="1"/>
            <p:nvPr/>
          </p:nvSpPr>
          <p:spPr>
            <a:xfrm>
              <a:off x="1098499" y="3730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654BD6B-0C52-6A59-2E0E-05E091F8675C}"/>
                </a:ext>
              </a:extLst>
            </p:cNvPr>
            <p:cNvSpPr txBox="1"/>
            <p:nvPr/>
          </p:nvSpPr>
          <p:spPr>
            <a:xfrm>
              <a:off x="3226496" y="30209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420058D-CCFE-8C7E-B64F-B3B11E4FEBF7}"/>
                </a:ext>
              </a:extLst>
            </p:cNvPr>
            <p:cNvSpPr txBox="1"/>
            <p:nvPr/>
          </p:nvSpPr>
          <p:spPr>
            <a:xfrm>
              <a:off x="6483008" y="301113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3CE59E8-580D-37FD-4D43-C9ED20D401BA}"/>
                </a:ext>
              </a:extLst>
            </p:cNvPr>
            <p:cNvSpPr txBox="1"/>
            <p:nvPr/>
          </p:nvSpPr>
          <p:spPr>
            <a:xfrm>
              <a:off x="1153126" y="524840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C585D29-B51C-1F10-CC95-71E052FCE296}"/>
                </a:ext>
              </a:extLst>
            </p:cNvPr>
            <p:cNvSpPr txBox="1"/>
            <p:nvPr/>
          </p:nvSpPr>
          <p:spPr>
            <a:xfrm>
              <a:off x="3667742" y="52484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CBBF378-6B5B-F7D2-6AAB-E859F8476D0E}"/>
                </a:ext>
              </a:extLst>
            </p:cNvPr>
            <p:cNvSpPr txBox="1"/>
            <p:nvPr/>
          </p:nvSpPr>
          <p:spPr>
            <a:xfrm>
              <a:off x="6213799" y="52385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11F0C25-27A4-17BE-2896-3FC75AE81CFE}"/>
                </a:ext>
              </a:extLst>
            </p:cNvPr>
            <p:cNvSpPr txBox="1"/>
            <p:nvPr/>
          </p:nvSpPr>
          <p:spPr>
            <a:xfrm>
              <a:off x="5732484" y="593137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5C00EC3-494F-1C17-580E-9AE4C150797E}"/>
                </a:ext>
              </a:extLst>
            </p:cNvPr>
            <p:cNvSpPr txBox="1"/>
            <p:nvPr/>
          </p:nvSpPr>
          <p:spPr>
            <a:xfrm>
              <a:off x="6818137" y="374790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D231BE1-DDAC-BD97-4A9B-16E6F494D0E7}"/>
                </a:ext>
              </a:extLst>
            </p:cNvPr>
            <p:cNvSpPr txBox="1"/>
            <p:nvPr/>
          </p:nvSpPr>
          <p:spPr>
            <a:xfrm>
              <a:off x="9667228" y="434391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941C7D6-9490-42C4-B405-C167D29AE805}"/>
                </a:ext>
              </a:extLst>
            </p:cNvPr>
            <p:cNvSpPr txBox="1"/>
            <p:nvPr/>
          </p:nvSpPr>
          <p:spPr>
            <a:xfrm>
              <a:off x="10829522" y="5377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145DCCB-D478-FBC6-A157-4C1C2D61B404}"/>
                </a:ext>
              </a:extLst>
            </p:cNvPr>
            <p:cNvSpPr txBox="1"/>
            <p:nvPr/>
          </p:nvSpPr>
          <p:spPr>
            <a:xfrm>
              <a:off x="8559438" y="592115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533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Kruskal’s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14856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Third possibility: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=10+12+10+7+8+5+12+8+6+14+6=98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1485634"/>
              </a:xfrm>
              <a:prstGeom prst="rect">
                <a:avLst/>
              </a:prstGeom>
              <a:blipFill>
                <a:blip r:embed="rId3"/>
                <a:stretch>
                  <a:fillRect t="-1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D14F3ECF-1561-7CFD-9A9A-724238625EEF}"/>
              </a:ext>
            </a:extLst>
          </p:cNvPr>
          <p:cNvGrpSpPr/>
          <p:nvPr/>
        </p:nvGrpSpPr>
        <p:grpSpPr>
          <a:xfrm>
            <a:off x="393405" y="3011135"/>
            <a:ext cx="11335256" cy="3252529"/>
            <a:chOff x="393405" y="3011135"/>
            <a:chExt cx="11335256" cy="32525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BA9515B-8D68-F361-10DA-49A11E02068A}"/>
                </a:ext>
              </a:extLst>
            </p:cNvPr>
            <p:cNvGrpSpPr/>
            <p:nvPr/>
          </p:nvGrpSpPr>
          <p:grpSpPr>
            <a:xfrm>
              <a:off x="393405" y="3069462"/>
              <a:ext cx="11335256" cy="3194202"/>
              <a:chOff x="393405" y="3069462"/>
              <a:chExt cx="11335256" cy="3194202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5F158DB1-1136-5495-A4BF-BB4760C4B55F}"/>
                  </a:ext>
                </a:extLst>
              </p:cNvPr>
              <p:cNvSpPr/>
              <p:nvPr/>
            </p:nvSpPr>
            <p:spPr>
              <a:xfrm>
                <a:off x="393405" y="4387015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Water pump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E991C661-C42F-F40C-2570-C36DC1DCDCF4}"/>
                  </a:ext>
                </a:extLst>
              </p:cNvPr>
              <p:cNvSpPr/>
              <p:nvPr/>
            </p:nvSpPr>
            <p:spPr>
              <a:xfrm>
                <a:off x="299129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 Hatti</a:t>
                </a: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5AC916FD-6795-5F0D-2F1B-EBFAEAD140E4}"/>
                  </a:ext>
                </a:extLst>
              </p:cNvPr>
              <p:cNvSpPr/>
              <p:nvPr/>
            </p:nvSpPr>
            <p:spPr>
              <a:xfrm>
                <a:off x="553869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Saddar</a:t>
                </a: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19E906CD-8681-D35A-FBB8-3E686D7CFC46}"/>
                  </a:ext>
                </a:extLst>
              </p:cNvPr>
              <p:cNvSpPr/>
              <p:nvPr/>
            </p:nvSpPr>
            <p:spPr>
              <a:xfrm>
                <a:off x="808610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Light house</a:t>
                </a: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62DB71AC-A26B-BB6B-6173-3FC6934B6E69}"/>
                  </a:ext>
                </a:extLst>
              </p:cNvPr>
              <p:cNvSpPr/>
              <p:nvPr/>
            </p:nvSpPr>
            <p:spPr>
              <a:xfrm>
                <a:off x="1063350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Tower</a:t>
                </a: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E419B493-0DF3-5A95-1AD4-4F5F22A268A7}"/>
                  </a:ext>
                </a:extLst>
              </p:cNvPr>
              <p:cNvSpPr/>
              <p:nvPr/>
            </p:nvSpPr>
            <p:spPr>
              <a:xfrm>
                <a:off x="1645371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NIPA</a:t>
                </a:r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D1C5CCEC-A754-3732-B599-A00FE5D594C4}"/>
                  </a:ext>
                </a:extLst>
              </p:cNvPr>
              <p:cNvSpPr/>
              <p:nvPr/>
            </p:nvSpPr>
            <p:spPr>
              <a:xfrm>
                <a:off x="4192776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Bahria Uni</a:t>
                </a:r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74BB7B66-FFAA-AD93-61D5-13AC211D7C22}"/>
                  </a:ext>
                </a:extLst>
              </p:cNvPr>
              <p:cNvSpPr/>
              <p:nvPr/>
            </p:nvSpPr>
            <p:spPr>
              <a:xfrm>
                <a:off x="8105555" y="306946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Sh</a:t>
                </a:r>
                <a:r>
                  <a:rPr lang="en-US" dirty="0"/>
                  <a:t>-e-Faisal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7B024CAE-793E-3105-98C3-A573BEBF052A}"/>
                  </a:ext>
                </a:extLst>
              </p:cNvPr>
              <p:cNvSpPr/>
              <p:nvPr/>
            </p:nvSpPr>
            <p:spPr>
              <a:xfrm>
                <a:off x="1645371" y="567887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Five Star</a:t>
                </a: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79F744C2-06C6-FBCC-1A2A-E24F43FAE0E6}"/>
                  </a:ext>
                </a:extLst>
              </p:cNvPr>
              <p:cNvSpPr/>
              <p:nvPr/>
            </p:nvSpPr>
            <p:spPr>
              <a:xfrm>
                <a:off x="4192776" y="567887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Lasbela</a:t>
                </a:r>
                <a:endParaRPr lang="en-US" dirty="0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35CC93B2-7FC1-FF53-D3EA-9735D00FDBA2}"/>
                  </a:ext>
                </a:extLst>
              </p:cNvPr>
              <p:cNvSpPr/>
              <p:nvPr/>
            </p:nvSpPr>
            <p:spPr>
              <a:xfrm>
                <a:off x="6740182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Soldier Bazar</a:t>
                </a: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88C4132F-B209-755D-9BDD-D3F9A6529E70}"/>
                  </a:ext>
                </a:extLst>
              </p:cNvPr>
              <p:cNvSpPr/>
              <p:nvPr/>
            </p:nvSpPr>
            <p:spPr>
              <a:xfrm>
                <a:off x="9451476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Nanakwarra</a:t>
                </a:r>
                <a:endParaRPr lang="en-US" dirty="0"/>
              </a:p>
            </p:txBody>
          </p: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C0F829D-1089-0430-AE7B-42C9317D6CD0}"/>
                </a:ext>
              </a:extLst>
            </p:cNvPr>
            <p:cNvCxnSpPr>
              <a:stCxn id="42" idx="3"/>
              <a:endCxn id="43" idx="1"/>
            </p:cNvCxnSpPr>
            <p:nvPr/>
          </p:nvCxnSpPr>
          <p:spPr>
            <a:xfrm>
              <a:off x="6633851" y="4679410"/>
              <a:ext cx="145225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A172F2D-07AE-C8FB-9657-5547F0A2C855}"/>
                </a:ext>
              </a:extLst>
            </p:cNvPr>
            <p:cNvCxnSpPr>
              <a:stCxn id="43" idx="3"/>
              <a:endCxn id="44" idx="1"/>
            </p:cNvCxnSpPr>
            <p:nvPr/>
          </p:nvCxnSpPr>
          <p:spPr>
            <a:xfrm>
              <a:off x="9181256" y="4679410"/>
              <a:ext cx="1452252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5F0BC77-C9FB-4E09-E729-E513E620E3F2}"/>
                </a:ext>
              </a:extLst>
            </p:cNvPr>
            <p:cNvCxnSpPr>
              <a:stCxn id="40" idx="0"/>
              <a:endCxn id="45" idx="2"/>
            </p:cNvCxnSpPr>
            <p:nvPr/>
          </p:nvCxnSpPr>
          <p:spPr>
            <a:xfrm flipV="1">
              <a:off x="940982" y="3654254"/>
              <a:ext cx="1251966" cy="732761"/>
            </a:xfrm>
            <a:prstGeom prst="straightConnector1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FF8C142-04FE-C611-A611-7AC835572E58}"/>
                </a:ext>
              </a:extLst>
            </p:cNvPr>
            <p:cNvCxnSpPr>
              <a:stCxn id="46" idx="3"/>
              <a:endCxn id="47" idx="1"/>
            </p:cNvCxnSpPr>
            <p:nvPr/>
          </p:nvCxnSpPr>
          <p:spPr>
            <a:xfrm flipV="1">
              <a:off x="5287929" y="3361858"/>
              <a:ext cx="2817626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8E57C17-AA6C-A8BE-4371-EF1DD1547F0F}"/>
                </a:ext>
              </a:extLst>
            </p:cNvPr>
            <p:cNvCxnSpPr>
              <a:stCxn id="47" idx="3"/>
              <a:endCxn id="44" idx="0"/>
            </p:cNvCxnSpPr>
            <p:nvPr/>
          </p:nvCxnSpPr>
          <p:spPr>
            <a:xfrm>
              <a:off x="9200708" y="3361858"/>
              <a:ext cx="1980377" cy="102515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423B3CD-22EB-F97B-07C0-D0205E384B75}"/>
                </a:ext>
              </a:extLst>
            </p:cNvPr>
            <p:cNvCxnSpPr>
              <a:stCxn id="40" idx="2"/>
              <a:endCxn id="48" idx="0"/>
            </p:cNvCxnSpPr>
            <p:nvPr/>
          </p:nvCxnSpPr>
          <p:spPr>
            <a:xfrm>
              <a:off x="940982" y="4971806"/>
              <a:ext cx="1251966" cy="7070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2E11600-407E-FDB2-6E9A-1503FDDC7E09}"/>
                </a:ext>
              </a:extLst>
            </p:cNvPr>
            <p:cNvCxnSpPr>
              <a:cxnSpLocks/>
              <a:stCxn id="41" idx="2"/>
              <a:endCxn id="49" idx="0"/>
            </p:cNvCxnSpPr>
            <p:nvPr/>
          </p:nvCxnSpPr>
          <p:spPr>
            <a:xfrm>
              <a:off x="3538870" y="4971805"/>
              <a:ext cx="1201483" cy="7070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CFEFAF9-6D8A-2334-F14D-B8AC5AD0D702}"/>
                </a:ext>
              </a:extLst>
            </p:cNvPr>
            <p:cNvCxnSpPr>
              <a:cxnSpLocks/>
              <a:stCxn id="42" idx="2"/>
              <a:endCxn id="50" idx="0"/>
            </p:cNvCxnSpPr>
            <p:nvPr/>
          </p:nvCxnSpPr>
          <p:spPr>
            <a:xfrm>
              <a:off x="6086275" y="4971805"/>
              <a:ext cx="1201484" cy="70706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14731B6-2A4E-BF5E-930A-E14860B77CF9}"/>
                </a:ext>
              </a:extLst>
            </p:cNvPr>
            <p:cNvCxnSpPr>
              <a:stCxn id="51" idx="3"/>
              <a:endCxn id="44" idx="2"/>
            </p:cNvCxnSpPr>
            <p:nvPr/>
          </p:nvCxnSpPr>
          <p:spPr>
            <a:xfrm flipV="1">
              <a:off x="10546629" y="4971805"/>
              <a:ext cx="634456" cy="99946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E836A1A-7A7E-432E-F2AE-8CFC29FFCF6F}"/>
                </a:ext>
              </a:extLst>
            </p:cNvPr>
            <p:cNvSpPr txBox="1"/>
            <p:nvPr/>
          </p:nvSpPr>
          <p:spPr>
            <a:xfrm>
              <a:off x="1098499" y="3730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802C2F-461A-A37A-BB20-2F7D6DA013AC}"/>
                </a:ext>
              </a:extLst>
            </p:cNvPr>
            <p:cNvSpPr txBox="1"/>
            <p:nvPr/>
          </p:nvSpPr>
          <p:spPr>
            <a:xfrm>
              <a:off x="6349626" y="301113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3E5A1F4-CDC3-E0F1-6EAC-8BD631A10BBC}"/>
                </a:ext>
              </a:extLst>
            </p:cNvPr>
            <p:cNvSpPr txBox="1"/>
            <p:nvPr/>
          </p:nvSpPr>
          <p:spPr>
            <a:xfrm>
              <a:off x="1153126" y="524840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F743BB1-15E4-7344-4325-1EC1DB86CEAA}"/>
                </a:ext>
              </a:extLst>
            </p:cNvPr>
            <p:cNvSpPr txBox="1"/>
            <p:nvPr/>
          </p:nvSpPr>
          <p:spPr>
            <a:xfrm>
              <a:off x="3667742" y="52484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4A4A9AB-32B9-B3A5-569A-560EF8C9EA07}"/>
                </a:ext>
              </a:extLst>
            </p:cNvPr>
            <p:cNvSpPr txBox="1"/>
            <p:nvPr/>
          </p:nvSpPr>
          <p:spPr>
            <a:xfrm>
              <a:off x="6213799" y="52385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2977078-874F-0F27-0A49-56869843A92A}"/>
                </a:ext>
              </a:extLst>
            </p:cNvPr>
            <p:cNvSpPr txBox="1"/>
            <p:nvPr/>
          </p:nvSpPr>
          <p:spPr>
            <a:xfrm>
              <a:off x="10027763" y="34700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B4F9D78-7E78-A475-F74D-413B9BBC6D92}"/>
                </a:ext>
              </a:extLst>
            </p:cNvPr>
            <p:cNvSpPr txBox="1"/>
            <p:nvPr/>
          </p:nvSpPr>
          <p:spPr>
            <a:xfrm>
              <a:off x="7119823" y="436131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98C37EF-8084-6663-8104-37B57F69DDE8}"/>
                </a:ext>
              </a:extLst>
            </p:cNvPr>
            <p:cNvSpPr txBox="1"/>
            <p:nvPr/>
          </p:nvSpPr>
          <p:spPr>
            <a:xfrm>
              <a:off x="9667228" y="434391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4CE075-C051-41E4-AF2B-54FCDD5FC97B}"/>
                </a:ext>
              </a:extLst>
            </p:cNvPr>
            <p:cNvSpPr txBox="1"/>
            <p:nvPr/>
          </p:nvSpPr>
          <p:spPr>
            <a:xfrm>
              <a:off x="10829522" y="5377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7F6FF01-F8D3-F87A-7148-90A07CAE59D2}"/>
                </a:ext>
              </a:extLst>
            </p:cNvPr>
            <p:cNvCxnSpPr>
              <a:cxnSpLocks/>
              <a:stCxn id="45" idx="2"/>
              <a:endCxn id="41" idx="0"/>
            </p:cNvCxnSpPr>
            <p:nvPr/>
          </p:nvCxnSpPr>
          <p:spPr>
            <a:xfrm>
              <a:off x="2192948" y="3654254"/>
              <a:ext cx="1345922" cy="73276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7858A9C-3CE4-6A12-1D37-9D39E4B41895}"/>
                </a:ext>
              </a:extLst>
            </p:cNvPr>
            <p:cNvSpPr txBox="1"/>
            <p:nvPr/>
          </p:nvSpPr>
          <p:spPr>
            <a:xfrm>
              <a:off x="2924810" y="375912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D68868B-166A-D31D-E179-F0E72D4FF62C}"/>
                </a:ext>
              </a:extLst>
            </p:cNvPr>
            <p:cNvCxnSpPr>
              <a:cxnSpLocks/>
              <a:stCxn id="49" idx="0"/>
              <a:endCxn id="42" idx="2"/>
            </p:cNvCxnSpPr>
            <p:nvPr/>
          </p:nvCxnSpPr>
          <p:spPr>
            <a:xfrm flipV="1">
              <a:off x="4740353" y="4971805"/>
              <a:ext cx="1345922" cy="7070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ED287FD-21B1-8F01-78C7-D5759DF0D169}"/>
                </a:ext>
              </a:extLst>
            </p:cNvPr>
            <p:cNvSpPr txBox="1"/>
            <p:nvPr/>
          </p:nvSpPr>
          <p:spPr>
            <a:xfrm>
              <a:off x="5487482" y="523452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493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Kruskal’s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942829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You can find out ALL possibilities and choose the best one. However, it is not practical on large scale.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Kruskal’s Algorithm is simple, but highly efficient.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𝑆𝐸𝑇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𝑆𝑂𝑅𝑇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3200" dirty="0">
                    <a:latin typeface="Cambria Math" panose="02040503050406030204" pitchFamily="18" charset="0"/>
                  </a:rPr>
                  <a:t>	(create an array of edges sorted by weights)</a:t>
                </a:r>
                <a:endParaRPr lang="en-US" sz="3200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𝐴𝐿𝐿𝑂𝐶𝐴𝑇𝐸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b="0" dirty="0">
                    <a:latin typeface="Cambria Math" panose="02040503050406030204" pitchFamily="18" charset="0"/>
                  </a:rPr>
                  <a:t>	(create a list of size equal to vertices)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𝑅𝐸𝑃𝐸𝐴𝑇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𝑊h𝑖𝑙𝑒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3200" dirty="0"/>
                  <a:t>: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𝐼𝑁𝑆𝐸𝑅𝑇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𝑒𝑑𝑔𝑒</m:t>
                        </m:r>
                      </m:e>
                    </m:d>
                  </m:oMath>
                </a14:m>
                <a:endParaRPr lang="en-US" sz="3000" b="0" dirty="0"/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𝐼𝐹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𝐼𝑆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𝐶𝑌𝐶𝐿𝐼𝐶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sz="3000" dirty="0"/>
                  <a:t>, then:</a:t>
                </a:r>
              </a:p>
              <a:p>
                <a:pPr marL="1428750" lvl="2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𝐷𝐸𝐿𝐸𝑇𝐸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𝑒𝑑𝑔𝑒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000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𝑅𝑒𝑡𝑢𝑟𝑛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942829"/>
              </a:xfrm>
              <a:prstGeom prst="rect">
                <a:avLst/>
              </a:prstGeom>
              <a:blipFill>
                <a:blip r:embed="rId3"/>
                <a:stretch>
                  <a:fillRect l="-830" t="-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345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Kruskal’s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69989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Let’s now find MST using Kruskal’s algorithm. The array of sorted edges will be:</a:t>
            </a: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755E5610-E1F1-E865-51FE-4F52385A5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939398"/>
              </p:ext>
            </p:extLst>
          </p:nvPr>
        </p:nvGraphicFramePr>
        <p:xfrm>
          <a:off x="211872" y="2232478"/>
          <a:ext cx="11751380" cy="41071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68929">
                  <a:extLst>
                    <a:ext uri="{9D8B030D-6E8A-4147-A177-3AD203B41FA5}">
                      <a16:colId xmlns:a16="http://schemas.microsoft.com/office/drawing/2014/main" val="4215248126"/>
                    </a:ext>
                  </a:extLst>
                </a:gridCol>
                <a:gridCol w="2168929">
                  <a:extLst>
                    <a:ext uri="{9D8B030D-6E8A-4147-A177-3AD203B41FA5}">
                      <a16:colId xmlns:a16="http://schemas.microsoft.com/office/drawing/2014/main" val="4153291490"/>
                    </a:ext>
                  </a:extLst>
                </a:gridCol>
                <a:gridCol w="1537832">
                  <a:extLst>
                    <a:ext uri="{9D8B030D-6E8A-4147-A177-3AD203B41FA5}">
                      <a16:colId xmlns:a16="http://schemas.microsoft.com/office/drawing/2014/main" val="959489324"/>
                    </a:ext>
                  </a:extLst>
                </a:gridCol>
                <a:gridCol w="2168929">
                  <a:extLst>
                    <a:ext uri="{9D8B030D-6E8A-4147-A177-3AD203B41FA5}">
                      <a16:colId xmlns:a16="http://schemas.microsoft.com/office/drawing/2014/main" val="553897064"/>
                    </a:ext>
                  </a:extLst>
                </a:gridCol>
                <a:gridCol w="2168929">
                  <a:extLst>
                    <a:ext uri="{9D8B030D-6E8A-4147-A177-3AD203B41FA5}">
                      <a16:colId xmlns:a16="http://schemas.microsoft.com/office/drawing/2014/main" val="3089421220"/>
                    </a:ext>
                  </a:extLst>
                </a:gridCol>
                <a:gridCol w="1537832">
                  <a:extLst>
                    <a:ext uri="{9D8B030D-6E8A-4147-A177-3AD203B41FA5}">
                      <a16:colId xmlns:a16="http://schemas.microsoft.com/office/drawing/2014/main" val="1725367306"/>
                    </a:ext>
                  </a:extLst>
                </a:gridCol>
              </a:tblGrid>
              <a:tr h="365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node1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>
                          <a:effectLst/>
                        </a:rPr>
                        <a:t>node2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time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node1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>
                          <a:effectLst/>
                        </a:rPr>
                        <a:t>node2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time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94449814"/>
                  </a:ext>
                </a:extLst>
              </a:tr>
              <a:tr h="365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Saddar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Soldier Bazar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Lasbela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Soldier Bazar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95639566"/>
                  </a:ext>
                </a:extLst>
              </a:tr>
              <a:tr h="365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Bahria Uni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Sh-e-Faisal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Water pump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NIPA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4824196"/>
                  </a:ext>
                </a:extLst>
              </a:tr>
              <a:tr h="365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Saddar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-e-Faisal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Saddar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Light house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78133810"/>
                  </a:ext>
                </a:extLst>
              </a:tr>
              <a:tr h="365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Nanakwara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Tower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Sh-e-Faisal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Tower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62364905"/>
                  </a:ext>
                </a:extLst>
              </a:tr>
              <a:tr h="365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Hatti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Lasbela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Hatti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Saddar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95974642"/>
                  </a:ext>
                </a:extLst>
              </a:tr>
              <a:tr h="365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Saddar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Lasbela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Five Star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Lasbela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85119720"/>
                  </a:ext>
                </a:extLst>
              </a:tr>
              <a:tr h="365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Light hosue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Tower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Soldier Bazar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Light house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54469940"/>
                  </a:ext>
                </a:extLst>
              </a:tr>
              <a:tr h="365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Soldier Bazar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Nanakwara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NIPA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Bahria Uni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05805783"/>
                  </a:ext>
                </a:extLst>
              </a:tr>
              <a:tr h="365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Water pump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Five Star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Water pump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Hatti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21007309"/>
                  </a:ext>
                </a:extLst>
              </a:tr>
              <a:tr h="3650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NIPA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Hatti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05476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28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Kruskal’s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148563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Connect shortest edge: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𝑆𝑎𝑑𝑑𝑎𝑟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𝑆𝑜𝑙𝑑𝑖𝑒𝑟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𝐵𝑎𝑧𝑎𝑟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3200" dirty="0"/>
                  <a:t>, then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𝐵𝑎h𝑟𝑖𝑎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𝑈𝑛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𝑆h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𝐹𝑎𝑖𝑠𝑎𝑙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3200" dirty="0"/>
                  <a:t>, and so on…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1485634"/>
              </a:xfrm>
              <a:prstGeom prst="rect">
                <a:avLst/>
              </a:prstGeom>
              <a:blipFill>
                <a:blip r:embed="rId3"/>
                <a:stretch>
                  <a:fillRect l="-1142" t="-1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C4CE916-DB37-BC7B-476A-31B57EF0BABD}"/>
              </a:ext>
            </a:extLst>
          </p:cNvPr>
          <p:cNvGrpSpPr/>
          <p:nvPr/>
        </p:nvGrpSpPr>
        <p:grpSpPr>
          <a:xfrm>
            <a:off x="5444215" y="4387014"/>
            <a:ext cx="2331692" cy="1876648"/>
            <a:chOff x="5444215" y="4387014"/>
            <a:chExt cx="2331692" cy="1876648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5AC916FD-6795-5F0D-2F1B-EBFAEAD140E4}"/>
                </a:ext>
              </a:extLst>
            </p:cNvPr>
            <p:cNvSpPr/>
            <p:nvPr/>
          </p:nvSpPr>
          <p:spPr>
            <a:xfrm>
              <a:off x="5444215" y="4387014"/>
              <a:ext cx="1111869" cy="5847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Saddar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35CC93B2-7FC1-FF53-D3EA-9735D00FDBA2}"/>
                </a:ext>
              </a:extLst>
            </p:cNvPr>
            <p:cNvSpPr/>
            <p:nvPr/>
          </p:nvSpPr>
          <p:spPr>
            <a:xfrm>
              <a:off x="6664038" y="5678871"/>
              <a:ext cx="1111869" cy="5847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Soldier Bazar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67D924E-895C-F0E6-FC5B-A588688AF1E4}"/>
                </a:ext>
              </a:extLst>
            </p:cNvPr>
            <p:cNvCxnSpPr>
              <a:stCxn id="42" idx="2"/>
              <a:endCxn id="50" idx="0"/>
            </p:cNvCxnSpPr>
            <p:nvPr/>
          </p:nvCxnSpPr>
          <p:spPr>
            <a:xfrm>
              <a:off x="6000150" y="4971805"/>
              <a:ext cx="1219823" cy="70706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636B6BD-EBAD-90BA-5AD0-F85551964BE1}"/>
                </a:ext>
              </a:extLst>
            </p:cNvPr>
            <p:cNvSpPr txBox="1"/>
            <p:nvPr/>
          </p:nvSpPr>
          <p:spPr>
            <a:xfrm>
              <a:off x="6556084" y="502000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FC9C762-DE1C-0377-4340-3F811CD6932E}"/>
              </a:ext>
            </a:extLst>
          </p:cNvPr>
          <p:cNvGrpSpPr/>
          <p:nvPr/>
        </p:nvGrpSpPr>
        <p:grpSpPr>
          <a:xfrm>
            <a:off x="4077749" y="3042319"/>
            <a:ext cx="5084372" cy="611935"/>
            <a:chOff x="4077749" y="3042319"/>
            <a:chExt cx="5084372" cy="611935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D1C5CCEC-A754-3732-B599-A00FE5D594C4}"/>
                </a:ext>
              </a:extLst>
            </p:cNvPr>
            <p:cNvSpPr/>
            <p:nvPr/>
          </p:nvSpPr>
          <p:spPr>
            <a:xfrm>
              <a:off x="4077749" y="3069463"/>
              <a:ext cx="1111869" cy="5847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Bahria Uni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74BB7B66-FFAA-AD93-61D5-13AC211D7C22}"/>
                </a:ext>
              </a:extLst>
            </p:cNvPr>
            <p:cNvSpPr/>
            <p:nvPr/>
          </p:nvSpPr>
          <p:spPr>
            <a:xfrm>
              <a:off x="8050252" y="3069462"/>
              <a:ext cx="1111869" cy="5847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Sh</a:t>
              </a:r>
              <a:r>
                <a:rPr lang="en-US" dirty="0"/>
                <a:t>-e-Faisal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49AB760-C378-97FF-2168-90DE36149A7B}"/>
                </a:ext>
              </a:extLst>
            </p:cNvPr>
            <p:cNvCxnSpPr>
              <a:cxnSpLocks/>
              <a:stCxn id="46" idx="3"/>
              <a:endCxn id="47" idx="1"/>
            </p:cNvCxnSpPr>
            <p:nvPr/>
          </p:nvCxnSpPr>
          <p:spPr>
            <a:xfrm flipV="1">
              <a:off x="5189618" y="3361858"/>
              <a:ext cx="2860634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DB3288-EF52-AA0D-8438-67487562E2BC}"/>
                </a:ext>
              </a:extLst>
            </p:cNvPr>
            <p:cNvSpPr txBox="1"/>
            <p:nvPr/>
          </p:nvSpPr>
          <p:spPr>
            <a:xfrm>
              <a:off x="6469092" y="304231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D12EFF-3CCF-B45E-86FE-F21204AB8004}"/>
              </a:ext>
            </a:extLst>
          </p:cNvPr>
          <p:cNvGrpSpPr/>
          <p:nvPr/>
        </p:nvGrpSpPr>
        <p:grpSpPr>
          <a:xfrm>
            <a:off x="6000150" y="3654253"/>
            <a:ext cx="2606037" cy="732761"/>
            <a:chOff x="6000150" y="3654253"/>
            <a:chExt cx="2606037" cy="732761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5ABE6CE-99D5-35D3-F987-72CC80FAD994}"/>
                </a:ext>
              </a:extLst>
            </p:cNvPr>
            <p:cNvCxnSpPr>
              <a:cxnSpLocks/>
              <a:stCxn id="42" idx="0"/>
              <a:endCxn id="47" idx="2"/>
            </p:cNvCxnSpPr>
            <p:nvPr/>
          </p:nvCxnSpPr>
          <p:spPr>
            <a:xfrm flipV="1">
              <a:off x="6000150" y="3654253"/>
              <a:ext cx="2606037" cy="73276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4CE6EB5-59AA-E8F4-03AA-67838D25783D}"/>
                </a:ext>
              </a:extLst>
            </p:cNvPr>
            <p:cNvSpPr txBox="1"/>
            <p:nvPr/>
          </p:nvSpPr>
          <p:spPr>
            <a:xfrm>
              <a:off x="6997874" y="3655324"/>
              <a:ext cx="301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7A36A9E-A123-90BE-23BA-0001B32CDD94}"/>
              </a:ext>
            </a:extLst>
          </p:cNvPr>
          <p:cNvGrpSpPr/>
          <p:nvPr/>
        </p:nvGrpSpPr>
        <p:grpSpPr>
          <a:xfrm>
            <a:off x="9416717" y="4387014"/>
            <a:ext cx="2311944" cy="1876648"/>
            <a:chOff x="9416717" y="4387014"/>
            <a:chExt cx="2311944" cy="1876648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2DB71AC-A26B-BB6B-6173-3FC6934B6E69}"/>
                </a:ext>
              </a:extLst>
            </p:cNvPr>
            <p:cNvSpPr/>
            <p:nvPr/>
          </p:nvSpPr>
          <p:spPr>
            <a:xfrm>
              <a:off x="10616792" y="4387014"/>
              <a:ext cx="1111869" cy="5847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Tower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88C4132F-B209-755D-9BDD-D3F9A6529E70}"/>
                </a:ext>
              </a:extLst>
            </p:cNvPr>
            <p:cNvSpPr/>
            <p:nvPr/>
          </p:nvSpPr>
          <p:spPr>
            <a:xfrm>
              <a:off x="9416717" y="5678871"/>
              <a:ext cx="1111869" cy="5847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Nanakwara</a:t>
              </a:r>
              <a:endParaRPr lang="en-US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42A589A-05B3-25F9-656E-86ECF8C69931}"/>
                </a:ext>
              </a:extLst>
            </p:cNvPr>
            <p:cNvCxnSpPr>
              <a:cxnSpLocks/>
              <a:stCxn id="51" idx="3"/>
              <a:endCxn id="44" idx="2"/>
            </p:cNvCxnSpPr>
            <p:nvPr/>
          </p:nvCxnSpPr>
          <p:spPr>
            <a:xfrm flipV="1">
              <a:off x="10528586" y="4971805"/>
              <a:ext cx="644141" cy="99946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4FBD87A-01EA-8E69-B97D-A6BC9941B1A7}"/>
                </a:ext>
              </a:extLst>
            </p:cNvPr>
            <p:cNvSpPr txBox="1"/>
            <p:nvPr/>
          </p:nvSpPr>
          <p:spPr>
            <a:xfrm>
              <a:off x="10850656" y="547153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19E8EC7-6C92-40E8-C02C-26D30FB0AD5A}"/>
              </a:ext>
            </a:extLst>
          </p:cNvPr>
          <p:cNvGrpSpPr/>
          <p:nvPr/>
        </p:nvGrpSpPr>
        <p:grpSpPr>
          <a:xfrm>
            <a:off x="2857927" y="4387014"/>
            <a:ext cx="2331691" cy="1876649"/>
            <a:chOff x="2857927" y="4387014"/>
            <a:chExt cx="2331691" cy="1876649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E991C661-C42F-F40C-2570-C36DC1DCDCF4}"/>
                </a:ext>
              </a:extLst>
            </p:cNvPr>
            <p:cNvSpPr/>
            <p:nvPr/>
          </p:nvSpPr>
          <p:spPr>
            <a:xfrm>
              <a:off x="2857927" y="4387014"/>
              <a:ext cx="1111869" cy="5847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 Hatti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79F744C2-06C6-FBCC-1A2A-E24F43FAE0E6}"/>
                </a:ext>
              </a:extLst>
            </p:cNvPr>
            <p:cNvSpPr/>
            <p:nvPr/>
          </p:nvSpPr>
          <p:spPr>
            <a:xfrm>
              <a:off x="4077749" y="5678872"/>
              <a:ext cx="1111869" cy="5847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Lasbela</a:t>
              </a:r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98A5724-6779-3D13-B20A-19E3E964C8F9}"/>
                </a:ext>
              </a:extLst>
            </p:cNvPr>
            <p:cNvSpPr txBox="1"/>
            <p:nvPr/>
          </p:nvSpPr>
          <p:spPr>
            <a:xfrm>
              <a:off x="4023773" y="502000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AB914F6-BF86-2E36-A32A-08EDD1463F49}"/>
                </a:ext>
              </a:extLst>
            </p:cNvPr>
            <p:cNvCxnSpPr>
              <a:cxnSpLocks/>
              <a:stCxn id="41" idx="2"/>
              <a:endCxn id="49" idx="0"/>
            </p:cNvCxnSpPr>
            <p:nvPr/>
          </p:nvCxnSpPr>
          <p:spPr>
            <a:xfrm>
              <a:off x="3413862" y="4971805"/>
              <a:ext cx="1219822" cy="7070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6D9ACAF-2936-6FC7-E625-AF4275D82B1F}"/>
              </a:ext>
            </a:extLst>
          </p:cNvPr>
          <p:cNvGrpSpPr/>
          <p:nvPr/>
        </p:nvGrpSpPr>
        <p:grpSpPr>
          <a:xfrm>
            <a:off x="4633684" y="4971805"/>
            <a:ext cx="1366466" cy="707067"/>
            <a:chOff x="4633684" y="4971805"/>
            <a:chExt cx="1366466" cy="707067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F208DBC-37AE-4D1B-F0D1-7518EA99C169}"/>
                </a:ext>
              </a:extLst>
            </p:cNvPr>
            <p:cNvCxnSpPr>
              <a:cxnSpLocks/>
              <a:stCxn id="49" idx="0"/>
              <a:endCxn id="42" idx="2"/>
            </p:cNvCxnSpPr>
            <p:nvPr/>
          </p:nvCxnSpPr>
          <p:spPr>
            <a:xfrm flipV="1">
              <a:off x="4633684" y="4971805"/>
              <a:ext cx="1366466" cy="707067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888EE28-20E3-9EAB-CF3F-95465566636D}"/>
                </a:ext>
              </a:extLst>
            </p:cNvPr>
            <p:cNvSpPr txBox="1"/>
            <p:nvPr/>
          </p:nvSpPr>
          <p:spPr>
            <a:xfrm>
              <a:off x="5013474" y="501857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1B51901-FFC0-5B97-315C-58FD8434A483}"/>
              </a:ext>
            </a:extLst>
          </p:cNvPr>
          <p:cNvGrpSpPr/>
          <p:nvPr/>
        </p:nvGrpSpPr>
        <p:grpSpPr>
          <a:xfrm>
            <a:off x="8030503" y="4310077"/>
            <a:ext cx="2586289" cy="661728"/>
            <a:chOff x="8030503" y="4310077"/>
            <a:chExt cx="2586289" cy="66172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19E906CD-8681-D35A-FBB8-3E686D7CFC46}"/>
                </a:ext>
              </a:extLst>
            </p:cNvPr>
            <p:cNvSpPr/>
            <p:nvPr/>
          </p:nvSpPr>
          <p:spPr>
            <a:xfrm>
              <a:off x="8030503" y="4387014"/>
              <a:ext cx="1111869" cy="5847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Light house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67D8613-D7D6-30CF-5586-7CC99286C8CA}"/>
                </a:ext>
              </a:extLst>
            </p:cNvPr>
            <p:cNvCxnSpPr>
              <a:cxnSpLocks/>
              <a:stCxn id="44" idx="1"/>
              <a:endCxn id="43" idx="3"/>
            </p:cNvCxnSpPr>
            <p:nvPr/>
          </p:nvCxnSpPr>
          <p:spPr>
            <a:xfrm flipH="1">
              <a:off x="9142372" y="4679410"/>
              <a:ext cx="1474420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0BE2764-CFC6-A758-63F8-2129FC3CAE44}"/>
                </a:ext>
              </a:extLst>
            </p:cNvPr>
            <p:cNvSpPr txBox="1"/>
            <p:nvPr/>
          </p:nvSpPr>
          <p:spPr>
            <a:xfrm>
              <a:off x="9821808" y="431007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40BCA18-C127-B86A-A067-008971F1C146}"/>
              </a:ext>
            </a:extLst>
          </p:cNvPr>
          <p:cNvGrpSpPr/>
          <p:nvPr/>
        </p:nvGrpSpPr>
        <p:grpSpPr>
          <a:xfrm>
            <a:off x="7775907" y="5599076"/>
            <a:ext cx="1640810" cy="372191"/>
            <a:chOff x="7775907" y="5599076"/>
            <a:chExt cx="1640810" cy="372191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74D875F-A0DD-0DE4-0A28-954D94B9F06D}"/>
                </a:ext>
              </a:extLst>
            </p:cNvPr>
            <p:cNvCxnSpPr>
              <a:cxnSpLocks/>
              <a:stCxn id="51" idx="1"/>
              <a:endCxn id="50" idx="3"/>
            </p:cNvCxnSpPr>
            <p:nvPr/>
          </p:nvCxnSpPr>
          <p:spPr>
            <a:xfrm flipH="1">
              <a:off x="7775907" y="5971267"/>
              <a:ext cx="1640810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4E4C616-46C9-8D9D-7AC0-82E1FC7016B7}"/>
                </a:ext>
              </a:extLst>
            </p:cNvPr>
            <p:cNvSpPr txBox="1"/>
            <p:nvPr/>
          </p:nvSpPr>
          <p:spPr>
            <a:xfrm>
              <a:off x="8457620" y="559907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8FE41DE-4455-4474-9FA0-4EF1DAFC2E70}"/>
              </a:ext>
            </a:extLst>
          </p:cNvPr>
          <p:cNvGrpSpPr/>
          <p:nvPr/>
        </p:nvGrpSpPr>
        <p:grpSpPr>
          <a:xfrm>
            <a:off x="220385" y="4387015"/>
            <a:ext cx="2382945" cy="1876649"/>
            <a:chOff x="220385" y="4387015"/>
            <a:chExt cx="2382945" cy="1876649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F158DB1-1136-5495-A4BF-BB4760C4B55F}"/>
                </a:ext>
              </a:extLst>
            </p:cNvPr>
            <p:cNvSpPr/>
            <p:nvPr/>
          </p:nvSpPr>
          <p:spPr>
            <a:xfrm>
              <a:off x="220385" y="4387015"/>
              <a:ext cx="1111869" cy="5847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Water pump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B024CAE-793E-3105-98C3-A573BEBF052A}"/>
                </a:ext>
              </a:extLst>
            </p:cNvPr>
            <p:cNvSpPr/>
            <p:nvPr/>
          </p:nvSpPr>
          <p:spPr>
            <a:xfrm>
              <a:off x="1491461" y="5678873"/>
              <a:ext cx="1111869" cy="5847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Five Star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DE0BBE84-9923-438E-F69D-E8CD07127A3E}"/>
                </a:ext>
              </a:extLst>
            </p:cNvPr>
            <p:cNvCxnSpPr>
              <a:cxnSpLocks/>
              <a:stCxn id="40" idx="2"/>
              <a:endCxn id="48" idx="1"/>
            </p:cNvCxnSpPr>
            <p:nvPr/>
          </p:nvCxnSpPr>
          <p:spPr>
            <a:xfrm>
              <a:off x="776320" y="4971806"/>
              <a:ext cx="715141" cy="999463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48640AB-AF14-2E5F-1377-6229F7C218B9}"/>
                </a:ext>
              </a:extLst>
            </p:cNvPr>
            <p:cNvSpPr txBox="1"/>
            <p:nvPr/>
          </p:nvSpPr>
          <p:spPr>
            <a:xfrm>
              <a:off x="709330" y="536907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925DC2A-2A73-BBD1-F5A1-470E2AE932CD}"/>
              </a:ext>
            </a:extLst>
          </p:cNvPr>
          <p:cNvGrpSpPr/>
          <p:nvPr/>
        </p:nvGrpSpPr>
        <p:grpSpPr>
          <a:xfrm>
            <a:off x="1491461" y="3069463"/>
            <a:ext cx="1922401" cy="1317551"/>
            <a:chOff x="1491461" y="3069463"/>
            <a:chExt cx="1922401" cy="1317551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419B493-0DF3-5A95-1AD4-4F5F22A268A7}"/>
                </a:ext>
              </a:extLst>
            </p:cNvPr>
            <p:cNvSpPr/>
            <p:nvPr/>
          </p:nvSpPr>
          <p:spPr>
            <a:xfrm>
              <a:off x="1491461" y="3069463"/>
              <a:ext cx="1111869" cy="5847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NIPA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331533C-7677-D294-137A-561A8E2BE3D7}"/>
                </a:ext>
              </a:extLst>
            </p:cNvPr>
            <p:cNvCxnSpPr>
              <a:cxnSpLocks/>
              <a:stCxn id="41" idx="0"/>
              <a:endCxn id="45" idx="2"/>
            </p:cNvCxnSpPr>
            <p:nvPr/>
          </p:nvCxnSpPr>
          <p:spPr>
            <a:xfrm flipH="1" flipV="1">
              <a:off x="2047396" y="3654254"/>
              <a:ext cx="1366466" cy="73276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C2317B4-93AA-1235-8964-7B2ED49DCE0A}"/>
                </a:ext>
              </a:extLst>
            </p:cNvPr>
            <p:cNvSpPr txBox="1"/>
            <p:nvPr/>
          </p:nvSpPr>
          <p:spPr>
            <a:xfrm>
              <a:off x="2643868" y="365130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92BF00F-6224-E165-4C32-90B57CD5E0B2}"/>
              </a:ext>
            </a:extLst>
          </p:cNvPr>
          <p:cNvGrpSpPr/>
          <p:nvPr/>
        </p:nvGrpSpPr>
        <p:grpSpPr>
          <a:xfrm>
            <a:off x="709330" y="3361859"/>
            <a:ext cx="782131" cy="1025156"/>
            <a:chOff x="709330" y="3361859"/>
            <a:chExt cx="782131" cy="1025156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5C0F094-5A10-BF38-ADD0-3B4C37D681F1}"/>
                </a:ext>
              </a:extLst>
            </p:cNvPr>
            <p:cNvCxnSpPr>
              <a:cxnSpLocks/>
              <a:stCxn id="40" idx="0"/>
              <a:endCxn id="45" idx="1"/>
            </p:cNvCxnSpPr>
            <p:nvPr/>
          </p:nvCxnSpPr>
          <p:spPr>
            <a:xfrm flipV="1">
              <a:off x="776320" y="3361859"/>
              <a:ext cx="715141" cy="102515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134060F-96D6-4943-B557-71330503967B}"/>
                </a:ext>
              </a:extLst>
            </p:cNvPr>
            <p:cNvSpPr txBox="1"/>
            <p:nvPr/>
          </p:nvSpPr>
          <p:spPr>
            <a:xfrm>
              <a:off x="709330" y="364756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346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Kruskal’s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94282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MST is represented as a set of Edges in the tree.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 rough estimate of how complex this algorithm is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3200" dirty="0"/>
                  <a:t> to insert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200" dirty="0"/>
                  <a:t> edges.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However, using two techniques, we can reduce this time: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Using </a:t>
                </a:r>
                <a:r>
                  <a:rPr lang="en-US" sz="3200" i="1" dirty="0"/>
                  <a:t>Union-Find</a:t>
                </a:r>
                <a:r>
                  <a:rPr lang="en-US" sz="3200" dirty="0"/>
                  <a:t> algorithm to find cycles in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3200" dirty="0"/>
                  <a:t> time.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Using min-heap to insert the edges in already sorted form, which takes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func>
                          <m:func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200" dirty="0"/>
                  <a:t> time.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942829"/>
              </a:xfrm>
              <a:prstGeom prst="rect">
                <a:avLst/>
              </a:prstGeom>
              <a:blipFill>
                <a:blip r:embed="rId3"/>
                <a:stretch>
                  <a:fillRect l="-1349" t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57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Kruskal’s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4942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Therefore, the Kruskal’s algorithm can execute in logarithmic time even in worst case scenario (i.e., when only the costliest edges are cycle-free).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One of the accidental benefits of Kruskal’s algorithm is that even if a graph is not connected, it will still find MST for all the disconnected subgraphs.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0210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Prim’s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4942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Prim’s algorithm uses Greedy approach, but in many ways it is worse than Kruskal’s algorithm.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DIY: solve the same example we solved for Kruskal’s algorithm using Prim’s algorithm.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DIY: find out any single benefit of Prim’s algorithm over Kruskal’s algorithm.</a:t>
            </a:r>
          </a:p>
        </p:txBody>
      </p:sp>
    </p:spTree>
    <p:extLst>
      <p:ext uri="{BB962C8B-B14F-4D97-AF65-F5344CB8AC3E}">
        <p14:creationId xmlns:p14="http://schemas.microsoft.com/office/powerpoint/2010/main" val="363334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Floyd-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Warshall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942829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Floyd-</a:t>
                </a:r>
                <a:r>
                  <a:rPr lang="en-US" sz="3200" dirty="0" err="1"/>
                  <a:t>Warshall</a:t>
                </a:r>
                <a:r>
                  <a:rPr lang="en-US" sz="3200" dirty="0"/>
                  <a:t> algorithm finds shortest paths between all pairs of nodes for both directed and undirected graphs using Dynamic programming.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Robert Floyd and Stephen </a:t>
                </a:r>
                <a:r>
                  <a:rPr lang="en-US" sz="3200" dirty="0" err="1"/>
                  <a:t>Warshall</a:t>
                </a:r>
                <a:r>
                  <a:rPr lang="en-US" sz="3200" dirty="0"/>
                  <a:t> did NOT design this algorithm together. Stephen </a:t>
                </a:r>
                <a:r>
                  <a:rPr lang="en-US" sz="3200" dirty="0" err="1"/>
                  <a:t>Warshall</a:t>
                </a:r>
                <a:r>
                  <a:rPr lang="en-US" sz="3200" dirty="0"/>
                  <a:t> introduced version which finds out shortest paths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Floyd improved it by adding his cycle detection algorithm.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algorithm is relatively expensive with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200" dirty="0"/>
                  <a:t> time as it runs 3-level nested loop.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942829"/>
              </a:xfrm>
              <a:prstGeom prst="rect">
                <a:avLst/>
              </a:prstGeom>
              <a:blipFill>
                <a:blip r:embed="rId3"/>
                <a:stretch>
                  <a:fillRect l="-1038" t="-1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753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Floyd-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Warshall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94282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a given graph, we create a matrix of size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and fill it according to the costs.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 first step, all direct nodes are filled in.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 second step, we check which nodes fall in the middle of other pairs of nodes and update the matrix accordingly.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942829"/>
              </a:xfrm>
              <a:prstGeom prst="rect">
                <a:avLst/>
              </a:prstGeom>
              <a:blipFill>
                <a:blip r:embed="rId3"/>
                <a:stretch>
                  <a:fillRect l="-1142" t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186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Floyd-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Warshall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618819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a given graph, we create a matrix of size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and fill it according to the costs.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618819"/>
              </a:xfrm>
              <a:prstGeom prst="rect">
                <a:avLst/>
              </a:prstGeom>
              <a:blipFill>
                <a:blip r:embed="rId3"/>
                <a:stretch>
                  <a:fillRect l="-727" t="-6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AC81152E-6BB7-A68A-B084-5A934CDB293A}"/>
              </a:ext>
            </a:extLst>
          </p:cNvPr>
          <p:cNvGrpSpPr/>
          <p:nvPr/>
        </p:nvGrpSpPr>
        <p:grpSpPr>
          <a:xfrm>
            <a:off x="6652693" y="2628671"/>
            <a:ext cx="5310707" cy="3691741"/>
            <a:chOff x="5004079" y="3161235"/>
            <a:chExt cx="4645782" cy="32295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C3828FC-BB28-8D7B-108A-DDC8117343DF}"/>
                </a:ext>
              </a:extLst>
            </p:cNvPr>
            <p:cNvGrpSpPr/>
            <p:nvPr/>
          </p:nvGrpSpPr>
          <p:grpSpPr>
            <a:xfrm>
              <a:off x="5004079" y="3208094"/>
              <a:ext cx="4645782" cy="3082115"/>
              <a:chOff x="393405" y="3069463"/>
              <a:chExt cx="7441930" cy="3194201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090956F-F2A9-3756-D67B-01B594E19978}"/>
                  </a:ext>
                </a:extLst>
              </p:cNvPr>
              <p:cNvSpPr/>
              <p:nvPr/>
            </p:nvSpPr>
            <p:spPr>
              <a:xfrm>
                <a:off x="393405" y="4387015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A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95272BDE-8DDA-66E0-244D-66875E80F2FB}"/>
                  </a:ext>
                </a:extLst>
              </p:cNvPr>
              <p:cNvSpPr/>
              <p:nvPr/>
            </p:nvSpPr>
            <p:spPr>
              <a:xfrm>
                <a:off x="299129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C</a:t>
                </a: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3A9F81E5-A8ED-61A0-6E5F-1DD7CF9E57E7}"/>
                  </a:ext>
                </a:extLst>
              </p:cNvPr>
              <p:cNvSpPr/>
              <p:nvPr/>
            </p:nvSpPr>
            <p:spPr>
              <a:xfrm>
                <a:off x="553869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F</a:t>
                </a: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692C51B-D58B-6853-5ED0-6D2D5973B96C}"/>
                  </a:ext>
                </a:extLst>
              </p:cNvPr>
              <p:cNvSpPr/>
              <p:nvPr/>
            </p:nvSpPr>
            <p:spPr>
              <a:xfrm>
                <a:off x="1645371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B</a:t>
                </a:r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57EE76F0-CA5C-A21B-8717-89B15E284EA5}"/>
                  </a:ext>
                </a:extLst>
              </p:cNvPr>
              <p:cNvSpPr/>
              <p:nvPr/>
            </p:nvSpPr>
            <p:spPr>
              <a:xfrm>
                <a:off x="4192776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E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14C86F44-1D64-2C52-0079-1922E5D191E7}"/>
                  </a:ext>
                </a:extLst>
              </p:cNvPr>
              <p:cNvSpPr/>
              <p:nvPr/>
            </p:nvSpPr>
            <p:spPr>
              <a:xfrm>
                <a:off x="1645371" y="567887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D</a:t>
                </a: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E55AF88B-5DAB-4B83-389D-1D51011BBFAE}"/>
                  </a:ext>
                </a:extLst>
              </p:cNvPr>
              <p:cNvSpPr/>
              <p:nvPr/>
            </p:nvSpPr>
            <p:spPr>
              <a:xfrm>
                <a:off x="4192776" y="567887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G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2B789873-3CAC-1649-3117-76DC0E4FFE76}"/>
                  </a:ext>
                </a:extLst>
              </p:cNvPr>
              <p:cNvSpPr/>
              <p:nvPr/>
            </p:nvSpPr>
            <p:spPr>
              <a:xfrm>
                <a:off x="6740182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4309B80-B344-A751-6C30-A26579213A38}"/>
                </a:ext>
              </a:extLst>
            </p:cNvPr>
            <p:cNvCxnSpPr>
              <a:stCxn id="40" idx="3"/>
              <a:endCxn id="41" idx="1"/>
            </p:cNvCxnSpPr>
            <p:nvPr/>
          </p:nvCxnSpPr>
          <p:spPr>
            <a:xfrm flipV="1">
              <a:off x="5687751" y="4761547"/>
              <a:ext cx="938114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9089A1F-EB36-022B-3C06-44B68F7591F5}"/>
                </a:ext>
              </a:extLst>
            </p:cNvPr>
            <p:cNvCxnSpPr>
              <a:stCxn id="41" idx="3"/>
              <a:endCxn id="42" idx="1"/>
            </p:cNvCxnSpPr>
            <p:nvPr/>
          </p:nvCxnSpPr>
          <p:spPr>
            <a:xfrm>
              <a:off x="7309538" y="4761547"/>
              <a:ext cx="906599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985E615-49CE-9C90-D7A3-9D9D84BB8B3C}"/>
                </a:ext>
              </a:extLst>
            </p:cNvPr>
            <p:cNvCxnSpPr>
              <a:cxnSpLocks/>
              <a:stCxn id="42" idx="0"/>
              <a:endCxn id="46" idx="2"/>
            </p:cNvCxnSpPr>
            <p:nvPr/>
          </p:nvCxnSpPr>
          <p:spPr>
            <a:xfrm flipH="1" flipV="1">
              <a:off x="7717753" y="3772364"/>
              <a:ext cx="840220" cy="707048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6F03EFA-CBED-CD73-815D-D522D1E504B2}"/>
                </a:ext>
              </a:extLst>
            </p:cNvPr>
            <p:cNvCxnSpPr>
              <a:stCxn id="40" idx="0"/>
              <a:endCxn id="45" idx="2"/>
            </p:cNvCxnSpPr>
            <p:nvPr/>
          </p:nvCxnSpPr>
          <p:spPr>
            <a:xfrm flipV="1">
              <a:off x="5345916" y="3772364"/>
              <a:ext cx="781566" cy="707048"/>
            </a:xfrm>
            <a:prstGeom prst="straightConnector1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2B9C642-D85C-3490-ED6B-49693011DE29}"/>
                </a:ext>
              </a:extLst>
            </p:cNvPr>
            <p:cNvCxnSpPr>
              <a:stCxn id="45" idx="3"/>
              <a:endCxn id="46" idx="1"/>
            </p:cNvCxnSpPr>
            <p:nvPr/>
          </p:nvCxnSpPr>
          <p:spPr>
            <a:xfrm>
              <a:off x="6469318" y="3490230"/>
              <a:ext cx="906599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38E34DA-6C61-23BC-11AE-C6064879836E}"/>
                </a:ext>
              </a:extLst>
            </p:cNvPr>
            <p:cNvCxnSpPr>
              <a:stCxn id="40" idx="2"/>
              <a:endCxn id="48" idx="0"/>
            </p:cNvCxnSpPr>
            <p:nvPr/>
          </p:nvCxnSpPr>
          <p:spPr>
            <a:xfrm>
              <a:off x="5345916" y="5043683"/>
              <a:ext cx="781566" cy="68225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0A3304F-96CC-26F2-B9D1-B75561B72129}"/>
                </a:ext>
              </a:extLst>
            </p:cNvPr>
            <p:cNvCxnSpPr>
              <a:stCxn id="48" idx="3"/>
              <a:endCxn id="49" idx="1"/>
            </p:cNvCxnSpPr>
            <p:nvPr/>
          </p:nvCxnSpPr>
          <p:spPr>
            <a:xfrm flipV="1">
              <a:off x="6469318" y="6008073"/>
              <a:ext cx="906599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749EB7A-B576-9DCC-08F1-C5730F9736FE}"/>
                </a:ext>
              </a:extLst>
            </p:cNvPr>
            <p:cNvCxnSpPr>
              <a:cxnSpLocks/>
              <a:stCxn id="41" idx="2"/>
              <a:endCxn id="49" idx="0"/>
            </p:cNvCxnSpPr>
            <p:nvPr/>
          </p:nvCxnSpPr>
          <p:spPr>
            <a:xfrm>
              <a:off x="6967702" y="5043682"/>
              <a:ext cx="750051" cy="68225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940065E-49F8-35AC-ED91-4BA2EB711703}"/>
                </a:ext>
              </a:extLst>
            </p:cNvPr>
            <p:cNvCxnSpPr>
              <a:stCxn id="49" idx="3"/>
              <a:endCxn id="50" idx="1"/>
            </p:cNvCxnSpPr>
            <p:nvPr/>
          </p:nvCxnSpPr>
          <p:spPr>
            <a:xfrm flipV="1">
              <a:off x="8059589" y="6008072"/>
              <a:ext cx="906600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0B0A30B-8BC6-C069-7D2B-E0CDAADBB662}"/>
                </a:ext>
              </a:extLst>
            </p:cNvPr>
            <p:cNvCxnSpPr>
              <a:cxnSpLocks/>
              <a:stCxn id="42" idx="2"/>
              <a:endCxn id="50" idx="0"/>
            </p:cNvCxnSpPr>
            <p:nvPr/>
          </p:nvCxnSpPr>
          <p:spPr>
            <a:xfrm>
              <a:off x="8557973" y="5043682"/>
              <a:ext cx="750052" cy="68225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7D74D2F-B2C8-6146-D64C-F36EDC19BB7C}"/>
                </a:ext>
              </a:extLst>
            </p:cNvPr>
            <p:cNvSpPr txBox="1"/>
            <p:nvPr/>
          </p:nvSpPr>
          <p:spPr>
            <a:xfrm>
              <a:off x="5444249" y="3846355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06B7E32-67E6-07A8-71EC-3D97F3CBD881}"/>
                </a:ext>
              </a:extLst>
            </p:cNvPr>
            <p:cNvSpPr txBox="1"/>
            <p:nvPr/>
          </p:nvSpPr>
          <p:spPr>
            <a:xfrm>
              <a:off x="6772696" y="3161235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18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9152A2-E133-B506-BCD6-7BB95C9F5540}"/>
                </a:ext>
              </a:extLst>
            </p:cNvPr>
            <p:cNvSpPr txBox="1"/>
            <p:nvPr/>
          </p:nvSpPr>
          <p:spPr>
            <a:xfrm>
              <a:off x="6041874" y="4437825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312FE5F-9905-2565-457A-F17280DC426C}"/>
                </a:ext>
              </a:extLst>
            </p:cNvPr>
            <p:cNvSpPr txBox="1"/>
            <p:nvPr/>
          </p:nvSpPr>
          <p:spPr>
            <a:xfrm>
              <a:off x="5478351" y="5310573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EA70BBE-E86D-3296-B5F6-1A4B3E9AD900}"/>
                </a:ext>
              </a:extLst>
            </p:cNvPr>
            <p:cNvSpPr txBox="1"/>
            <p:nvPr/>
          </p:nvSpPr>
          <p:spPr>
            <a:xfrm>
              <a:off x="6746840" y="5969577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9E0CFDD-4702-A1C7-E5A5-AF8F93E47984}"/>
                </a:ext>
              </a:extLst>
            </p:cNvPr>
            <p:cNvSpPr txBox="1"/>
            <p:nvPr/>
          </p:nvSpPr>
          <p:spPr>
            <a:xfrm>
              <a:off x="7612916" y="4454620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16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9D97C42-2D2E-30C0-5A67-0EDC894BAF25}"/>
                </a:ext>
              </a:extLst>
            </p:cNvPr>
            <p:cNvSpPr txBox="1"/>
            <p:nvPr/>
          </p:nvSpPr>
          <p:spPr>
            <a:xfrm>
              <a:off x="7048154" y="5310573"/>
              <a:ext cx="232495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7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1BA8856-79C7-D5E7-9F02-F1B2FEC831B0}"/>
                </a:ext>
              </a:extLst>
            </p:cNvPr>
            <p:cNvSpPr txBox="1"/>
            <p:nvPr/>
          </p:nvSpPr>
          <p:spPr>
            <a:xfrm>
              <a:off x="8637583" y="5301020"/>
              <a:ext cx="232495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92DA47-960A-DC18-4620-B262424AB0A4}"/>
                </a:ext>
              </a:extLst>
            </p:cNvPr>
            <p:cNvSpPr txBox="1"/>
            <p:nvPr/>
          </p:nvSpPr>
          <p:spPr>
            <a:xfrm>
              <a:off x="8337112" y="5969576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4D13EA7-0D93-B07E-76B6-A5947D612565}"/>
                </a:ext>
              </a:extLst>
            </p:cNvPr>
            <p:cNvSpPr txBox="1"/>
            <p:nvPr/>
          </p:nvSpPr>
          <p:spPr>
            <a:xfrm>
              <a:off x="8137863" y="3826071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7A2E5671-C063-EBD0-70FA-3D4D839BA5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7462527"/>
                  </p:ext>
                </p:extLst>
              </p:nvPr>
            </p:nvGraphicFramePr>
            <p:xfrm>
              <a:off x="95991" y="2151404"/>
              <a:ext cx="5986989" cy="43240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5221">
                      <a:extLst>
                        <a:ext uri="{9D8B030D-6E8A-4147-A177-3AD203B41FA5}">
                          <a16:colId xmlns:a16="http://schemas.microsoft.com/office/drawing/2014/main" val="2690202433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132132177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654307422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915896079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144494916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384243945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3109141811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1262368992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3911459058"/>
                        </a:ext>
                      </a:extLst>
                    </a:gridCol>
                  </a:tblGrid>
                  <a:tr h="480446">
                    <a:tc>
                      <a:txBody>
                        <a:bodyPr/>
                        <a:lstStyle/>
                        <a:p>
                          <a:pPr algn="ctr"/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5489520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0" spc="-10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0" spc="-10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0" spc="-10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0" spc="-10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6606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3333789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8089233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3572583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74564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2307034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0592260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94540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7A2E5671-C063-EBD0-70FA-3D4D839BA5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7462527"/>
                  </p:ext>
                </p:extLst>
              </p:nvPr>
            </p:nvGraphicFramePr>
            <p:xfrm>
              <a:off x="95991" y="2151404"/>
              <a:ext cx="5986989" cy="43240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5221">
                      <a:extLst>
                        <a:ext uri="{9D8B030D-6E8A-4147-A177-3AD203B41FA5}">
                          <a16:colId xmlns:a16="http://schemas.microsoft.com/office/drawing/2014/main" val="2690202433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132132177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654307422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915896079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144494916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384243945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3109141811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1262368992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3911459058"/>
                        </a:ext>
                      </a:extLst>
                    </a:gridCol>
                  </a:tblGrid>
                  <a:tr h="480446">
                    <a:tc>
                      <a:txBody>
                        <a:bodyPr/>
                        <a:lstStyle/>
                        <a:p>
                          <a:pPr algn="ctr"/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5489520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1835" t="-106329" r="-305505" b="-7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6364" t="-106329" r="-202727" b="-7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2752" t="-106329" r="-104587" b="-7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02752" t="-106329" r="-4587" b="-7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36606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835" t="-206329" r="-505505" b="-6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835" t="-206329" r="-405505" b="-6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6364" t="-206329" r="-202727" b="-6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2752" t="-206329" r="-104587" b="-6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02752" t="-206329" r="-4587" b="-6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3333789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91" t="-306329" r="-600000" b="-5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835" t="-306329" r="-405505" b="-5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1835" t="-306329" r="-305505" b="-5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02752" t="-306329" r="-4587" b="-5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8089233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91" t="-406329" r="-600000" b="-4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835" t="-406329" r="-505505" b="-4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1835" t="-406329" r="-305505" b="-4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6364" t="-406329" r="-202727" b="-4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02752" t="-406329" r="-4587" b="-4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3572583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17" t="-506329" r="-706422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835" t="-506329" r="-505505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835" t="-506329" r="-405505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2752" t="-506329" r="-104587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02752" t="-506329" r="-4587" b="-3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1074564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17" t="-606329" r="-706422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91" t="-606329" r="-600000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835" t="-606329" r="-405505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2752" t="-606329" r="-104587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2307034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17" t="-706329" r="-706422" b="-1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91" t="-706329" r="-600000" b="-1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1835" t="-706329" r="-305505" b="-1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6364" t="-706329" r="-202727" b="-1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0592260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917" t="-806329" r="-706422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91" t="-806329" r="-600000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1835" t="-806329" r="-505505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1835" t="-806329" r="-405505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1835" t="-806329" r="-305505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94540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0890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Floyd-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Warshall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618819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Now let’s pick ‘A’ as middle node and see which two nodes it connects.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C81152E-6BB7-A68A-B084-5A934CDB293A}"/>
              </a:ext>
            </a:extLst>
          </p:cNvPr>
          <p:cNvGrpSpPr/>
          <p:nvPr/>
        </p:nvGrpSpPr>
        <p:grpSpPr>
          <a:xfrm>
            <a:off x="6652693" y="2628671"/>
            <a:ext cx="5310707" cy="3691741"/>
            <a:chOff x="5004079" y="3161235"/>
            <a:chExt cx="4645782" cy="32295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C3828FC-BB28-8D7B-108A-DDC8117343DF}"/>
                </a:ext>
              </a:extLst>
            </p:cNvPr>
            <p:cNvGrpSpPr/>
            <p:nvPr/>
          </p:nvGrpSpPr>
          <p:grpSpPr>
            <a:xfrm>
              <a:off x="5004079" y="3208094"/>
              <a:ext cx="4645782" cy="3082115"/>
              <a:chOff x="393405" y="3069463"/>
              <a:chExt cx="7441930" cy="3194201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090956F-F2A9-3756-D67B-01B594E19978}"/>
                  </a:ext>
                </a:extLst>
              </p:cNvPr>
              <p:cNvSpPr/>
              <p:nvPr/>
            </p:nvSpPr>
            <p:spPr>
              <a:xfrm>
                <a:off x="393405" y="4387015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A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95272BDE-8DDA-66E0-244D-66875E80F2FB}"/>
                  </a:ext>
                </a:extLst>
              </p:cNvPr>
              <p:cNvSpPr/>
              <p:nvPr/>
            </p:nvSpPr>
            <p:spPr>
              <a:xfrm>
                <a:off x="299129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C</a:t>
                </a: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3A9F81E5-A8ED-61A0-6E5F-1DD7CF9E57E7}"/>
                  </a:ext>
                </a:extLst>
              </p:cNvPr>
              <p:cNvSpPr/>
              <p:nvPr/>
            </p:nvSpPr>
            <p:spPr>
              <a:xfrm>
                <a:off x="553869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F</a:t>
                </a: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692C51B-D58B-6853-5ED0-6D2D5973B96C}"/>
                  </a:ext>
                </a:extLst>
              </p:cNvPr>
              <p:cNvSpPr/>
              <p:nvPr/>
            </p:nvSpPr>
            <p:spPr>
              <a:xfrm>
                <a:off x="1645371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B</a:t>
                </a:r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57EE76F0-CA5C-A21B-8717-89B15E284EA5}"/>
                  </a:ext>
                </a:extLst>
              </p:cNvPr>
              <p:cNvSpPr/>
              <p:nvPr/>
            </p:nvSpPr>
            <p:spPr>
              <a:xfrm>
                <a:off x="4192776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E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14C86F44-1D64-2C52-0079-1922E5D191E7}"/>
                  </a:ext>
                </a:extLst>
              </p:cNvPr>
              <p:cNvSpPr/>
              <p:nvPr/>
            </p:nvSpPr>
            <p:spPr>
              <a:xfrm>
                <a:off x="1645371" y="567887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D</a:t>
                </a: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E55AF88B-5DAB-4B83-389D-1D51011BBFAE}"/>
                  </a:ext>
                </a:extLst>
              </p:cNvPr>
              <p:cNvSpPr/>
              <p:nvPr/>
            </p:nvSpPr>
            <p:spPr>
              <a:xfrm>
                <a:off x="4192776" y="567887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G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2B789873-3CAC-1649-3117-76DC0E4FFE76}"/>
                  </a:ext>
                </a:extLst>
              </p:cNvPr>
              <p:cNvSpPr/>
              <p:nvPr/>
            </p:nvSpPr>
            <p:spPr>
              <a:xfrm>
                <a:off x="6740182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4309B80-B344-A751-6C30-A26579213A38}"/>
                </a:ext>
              </a:extLst>
            </p:cNvPr>
            <p:cNvCxnSpPr>
              <a:stCxn id="40" idx="3"/>
              <a:endCxn id="41" idx="1"/>
            </p:cNvCxnSpPr>
            <p:nvPr/>
          </p:nvCxnSpPr>
          <p:spPr>
            <a:xfrm flipV="1">
              <a:off x="5687751" y="4761547"/>
              <a:ext cx="938114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9089A1F-EB36-022B-3C06-44B68F7591F5}"/>
                </a:ext>
              </a:extLst>
            </p:cNvPr>
            <p:cNvCxnSpPr>
              <a:stCxn id="41" idx="3"/>
              <a:endCxn id="42" idx="1"/>
            </p:cNvCxnSpPr>
            <p:nvPr/>
          </p:nvCxnSpPr>
          <p:spPr>
            <a:xfrm>
              <a:off x="7309538" y="4761547"/>
              <a:ext cx="906599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985E615-49CE-9C90-D7A3-9D9D84BB8B3C}"/>
                </a:ext>
              </a:extLst>
            </p:cNvPr>
            <p:cNvCxnSpPr>
              <a:cxnSpLocks/>
              <a:stCxn id="42" idx="0"/>
              <a:endCxn id="46" idx="2"/>
            </p:cNvCxnSpPr>
            <p:nvPr/>
          </p:nvCxnSpPr>
          <p:spPr>
            <a:xfrm flipH="1" flipV="1">
              <a:off x="7717753" y="3772364"/>
              <a:ext cx="840220" cy="707048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6F03EFA-CBED-CD73-815D-D522D1E504B2}"/>
                </a:ext>
              </a:extLst>
            </p:cNvPr>
            <p:cNvCxnSpPr>
              <a:stCxn id="40" idx="0"/>
              <a:endCxn id="45" idx="2"/>
            </p:cNvCxnSpPr>
            <p:nvPr/>
          </p:nvCxnSpPr>
          <p:spPr>
            <a:xfrm flipV="1">
              <a:off x="5345916" y="3772364"/>
              <a:ext cx="781566" cy="707048"/>
            </a:xfrm>
            <a:prstGeom prst="straightConnector1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2B9C642-D85C-3490-ED6B-49693011DE29}"/>
                </a:ext>
              </a:extLst>
            </p:cNvPr>
            <p:cNvCxnSpPr>
              <a:stCxn id="45" idx="3"/>
              <a:endCxn id="46" idx="1"/>
            </p:cNvCxnSpPr>
            <p:nvPr/>
          </p:nvCxnSpPr>
          <p:spPr>
            <a:xfrm>
              <a:off x="6469318" y="3490230"/>
              <a:ext cx="906599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38E34DA-6C61-23BC-11AE-C6064879836E}"/>
                </a:ext>
              </a:extLst>
            </p:cNvPr>
            <p:cNvCxnSpPr>
              <a:stCxn id="40" idx="2"/>
              <a:endCxn id="48" idx="0"/>
            </p:cNvCxnSpPr>
            <p:nvPr/>
          </p:nvCxnSpPr>
          <p:spPr>
            <a:xfrm>
              <a:off x="5345916" y="5043683"/>
              <a:ext cx="781566" cy="68225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0A3304F-96CC-26F2-B9D1-B75561B72129}"/>
                </a:ext>
              </a:extLst>
            </p:cNvPr>
            <p:cNvCxnSpPr>
              <a:stCxn id="48" idx="3"/>
              <a:endCxn id="49" idx="1"/>
            </p:cNvCxnSpPr>
            <p:nvPr/>
          </p:nvCxnSpPr>
          <p:spPr>
            <a:xfrm flipV="1">
              <a:off x="6469318" y="6008073"/>
              <a:ext cx="906599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749EB7A-B576-9DCC-08F1-C5730F9736FE}"/>
                </a:ext>
              </a:extLst>
            </p:cNvPr>
            <p:cNvCxnSpPr>
              <a:cxnSpLocks/>
              <a:stCxn id="41" idx="2"/>
              <a:endCxn id="49" idx="0"/>
            </p:cNvCxnSpPr>
            <p:nvPr/>
          </p:nvCxnSpPr>
          <p:spPr>
            <a:xfrm>
              <a:off x="6967702" y="5043682"/>
              <a:ext cx="750051" cy="68225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940065E-49F8-35AC-ED91-4BA2EB711703}"/>
                </a:ext>
              </a:extLst>
            </p:cNvPr>
            <p:cNvCxnSpPr>
              <a:stCxn id="49" idx="3"/>
              <a:endCxn id="50" idx="1"/>
            </p:cNvCxnSpPr>
            <p:nvPr/>
          </p:nvCxnSpPr>
          <p:spPr>
            <a:xfrm flipV="1">
              <a:off x="8059589" y="6008072"/>
              <a:ext cx="906600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0B0A30B-8BC6-C069-7D2B-E0CDAADBB662}"/>
                </a:ext>
              </a:extLst>
            </p:cNvPr>
            <p:cNvCxnSpPr>
              <a:cxnSpLocks/>
              <a:stCxn id="42" idx="2"/>
              <a:endCxn id="50" idx="0"/>
            </p:cNvCxnSpPr>
            <p:nvPr/>
          </p:nvCxnSpPr>
          <p:spPr>
            <a:xfrm>
              <a:off x="8557973" y="5043682"/>
              <a:ext cx="750052" cy="68225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7D74D2F-B2C8-6146-D64C-F36EDC19BB7C}"/>
                </a:ext>
              </a:extLst>
            </p:cNvPr>
            <p:cNvSpPr txBox="1"/>
            <p:nvPr/>
          </p:nvSpPr>
          <p:spPr>
            <a:xfrm>
              <a:off x="5444249" y="3846355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06B7E32-67E6-07A8-71EC-3D97F3CBD881}"/>
                </a:ext>
              </a:extLst>
            </p:cNvPr>
            <p:cNvSpPr txBox="1"/>
            <p:nvPr/>
          </p:nvSpPr>
          <p:spPr>
            <a:xfrm>
              <a:off x="6772696" y="3161235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18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9152A2-E133-B506-BCD6-7BB95C9F5540}"/>
                </a:ext>
              </a:extLst>
            </p:cNvPr>
            <p:cNvSpPr txBox="1"/>
            <p:nvPr/>
          </p:nvSpPr>
          <p:spPr>
            <a:xfrm>
              <a:off x="6041874" y="4437825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312FE5F-9905-2565-457A-F17280DC426C}"/>
                </a:ext>
              </a:extLst>
            </p:cNvPr>
            <p:cNvSpPr txBox="1"/>
            <p:nvPr/>
          </p:nvSpPr>
          <p:spPr>
            <a:xfrm>
              <a:off x="5478351" y="5310573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EA70BBE-E86D-3296-B5F6-1A4B3E9AD900}"/>
                </a:ext>
              </a:extLst>
            </p:cNvPr>
            <p:cNvSpPr txBox="1"/>
            <p:nvPr/>
          </p:nvSpPr>
          <p:spPr>
            <a:xfrm>
              <a:off x="6746840" y="5969577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9E0CFDD-4702-A1C7-E5A5-AF8F93E47984}"/>
                </a:ext>
              </a:extLst>
            </p:cNvPr>
            <p:cNvSpPr txBox="1"/>
            <p:nvPr/>
          </p:nvSpPr>
          <p:spPr>
            <a:xfrm>
              <a:off x="7612916" y="4454620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16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9D97C42-2D2E-30C0-5A67-0EDC894BAF25}"/>
                </a:ext>
              </a:extLst>
            </p:cNvPr>
            <p:cNvSpPr txBox="1"/>
            <p:nvPr/>
          </p:nvSpPr>
          <p:spPr>
            <a:xfrm>
              <a:off x="7048154" y="5310573"/>
              <a:ext cx="232495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7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1BA8856-79C7-D5E7-9F02-F1B2FEC831B0}"/>
                </a:ext>
              </a:extLst>
            </p:cNvPr>
            <p:cNvSpPr txBox="1"/>
            <p:nvPr/>
          </p:nvSpPr>
          <p:spPr>
            <a:xfrm>
              <a:off x="8637583" y="5301020"/>
              <a:ext cx="232495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92DA47-960A-DC18-4620-B262424AB0A4}"/>
                </a:ext>
              </a:extLst>
            </p:cNvPr>
            <p:cNvSpPr txBox="1"/>
            <p:nvPr/>
          </p:nvSpPr>
          <p:spPr>
            <a:xfrm>
              <a:off x="8337112" y="5969576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4D13EA7-0D93-B07E-76B6-A5947D612565}"/>
                </a:ext>
              </a:extLst>
            </p:cNvPr>
            <p:cNvSpPr txBox="1"/>
            <p:nvPr/>
          </p:nvSpPr>
          <p:spPr>
            <a:xfrm>
              <a:off x="8137863" y="3826071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7A2E5671-C063-EBD0-70FA-3D4D839BA5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3420398"/>
                  </p:ext>
                </p:extLst>
              </p:nvPr>
            </p:nvGraphicFramePr>
            <p:xfrm>
              <a:off x="95991" y="2151404"/>
              <a:ext cx="5986989" cy="43240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5221">
                      <a:extLst>
                        <a:ext uri="{9D8B030D-6E8A-4147-A177-3AD203B41FA5}">
                          <a16:colId xmlns:a16="http://schemas.microsoft.com/office/drawing/2014/main" val="2690202433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132132177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654307422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915896079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144494916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384243945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3109141811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1262368992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3911459058"/>
                        </a:ext>
                      </a:extLst>
                    </a:gridCol>
                  </a:tblGrid>
                  <a:tr h="480446">
                    <a:tc>
                      <a:txBody>
                        <a:bodyPr/>
                        <a:lstStyle/>
                        <a:p>
                          <a:pPr algn="ctr"/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5489520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20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10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0" spc="-10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0" spc="-10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0" spc="-10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0" spc="-10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36606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12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3333789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20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8089233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3572583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74564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2307034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0592260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94540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7A2E5671-C063-EBD0-70FA-3D4D839BA5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3420398"/>
                  </p:ext>
                </p:extLst>
              </p:nvPr>
            </p:nvGraphicFramePr>
            <p:xfrm>
              <a:off x="95991" y="2151404"/>
              <a:ext cx="5986989" cy="43240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5221">
                      <a:extLst>
                        <a:ext uri="{9D8B030D-6E8A-4147-A177-3AD203B41FA5}">
                          <a16:colId xmlns:a16="http://schemas.microsoft.com/office/drawing/2014/main" val="2690202433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132132177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654307422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915896079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144494916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384243945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3109141811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1262368992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3911459058"/>
                        </a:ext>
                      </a:extLst>
                    </a:gridCol>
                  </a:tblGrid>
                  <a:tr h="480446">
                    <a:tc>
                      <a:txBody>
                        <a:bodyPr/>
                        <a:lstStyle/>
                        <a:p>
                          <a:pPr algn="ctr"/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5489520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20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10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835" t="-106329" r="-305505" b="-7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6364" t="-106329" r="-202727" b="-7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2752" t="-106329" r="-104587" b="-7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2752" t="-106329" r="-4587" b="-7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36606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12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835" t="-206329" r="-505505" b="-6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6364" t="-206329" r="-202727" b="-6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2752" t="-206329" r="-104587" b="-6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2752" t="-206329" r="-4587" b="-6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3333789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20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91" t="-306329" r="-600000" b="-5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1835" t="-306329" r="-405505" b="-5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835" t="-306329" r="-305505" b="-5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2752" t="-306329" r="-4587" b="-5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8089233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91" t="-406329" r="-600000" b="-4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835" t="-406329" r="-505505" b="-4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835" t="-406329" r="-305505" b="-4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6364" t="-406329" r="-202727" b="-4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2752" t="-406329" r="-4587" b="-4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3572583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17" t="-506329" r="-706422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835" t="-506329" r="-505505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1835" t="-506329" r="-405505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2752" t="-506329" r="-104587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2752" t="-506329" r="-4587" b="-3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1074564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17" t="-606329" r="-706422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91" t="-606329" r="-600000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1835" t="-606329" r="-405505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2752" t="-606329" r="-104587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2307034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17" t="-706329" r="-706422" b="-1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91" t="-706329" r="-600000" b="-1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835" t="-706329" r="-305505" b="-1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6364" t="-706329" r="-202727" b="-1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0592260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17" t="-806329" r="-706422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91" t="-806329" r="-600000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835" t="-806329" r="-505505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1835" t="-806329" r="-405505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835" t="-806329" r="-305505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94540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6449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Floyd-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Warshall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61881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Let’s do another iteration for ‘C’ as middle node.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C81152E-6BB7-A68A-B084-5A934CDB293A}"/>
              </a:ext>
            </a:extLst>
          </p:cNvPr>
          <p:cNvGrpSpPr/>
          <p:nvPr/>
        </p:nvGrpSpPr>
        <p:grpSpPr>
          <a:xfrm>
            <a:off x="6652693" y="2628671"/>
            <a:ext cx="5310707" cy="3691741"/>
            <a:chOff x="5004079" y="3161235"/>
            <a:chExt cx="4645782" cy="32295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C3828FC-BB28-8D7B-108A-DDC8117343DF}"/>
                </a:ext>
              </a:extLst>
            </p:cNvPr>
            <p:cNvGrpSpPr/>
            <p:nvPr/>
          </p:nvGrpSpPr>
          <p:grpSpPr>
            <a:xfrm>
              <a:off x="5004079" y="3208094"/>
              <a:ext cx="4645782" cy="3082115"/>
              <a:chOff x="393405" y="3069463"/>
              <a:chExt cx="7441930" cy="3194201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090956F-F2A9-3756-D67B-01B594E19978}"/>
                  </a:ext>
                </a:extLst>
              </p:cNvPr>
              <p:cNvSpPr/>
              <p:nvPr/>
            </p:nvSpPr>
            <p:spPr>
              <a:xfrm>
                <a:off x="393405" y="4387015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A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95272BDE-8DDA-66E0-244D-66875E80F2FB}"/>
                  </a:ext>
                </a:extLst>
              </p:cNvPr>
              <p:cNvSpPr/>
              <p:nvPr/>
            </p:nvSpPr>
            <p:spPr>
              <a:xfrm>
                <a:off x="299129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C</a:t>
                </a: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3A9F81E5-A8ED-61A0-6E5F-1DD7CF9E57E7}"/>
                  </a:ext>
                </a:extLst>
              </p:cNvPr>
              <p:cNvSpPr/>
              <p:nvPr/>
            </p:nvSpPr>
            <p:spPr>
              <a:xfrm>
                <a:off x="553869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F</a:t>
                </a: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692C51B-D58B-6853-5ED0-6D2D5973B96C}"/>
                  </a:ext>
                </a:extLst>
              </p:cNvPr>
              <p:cNvSpPr/>
              <p:nvPr/>
            </p:nvSpPr>
            <p:spPr>
              <a:xfrm>
                <a:off x="1645371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B</a:t>
                </a:r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57EE76F0-CA5C-A21B-8717-89B15E284EA5}"/>
                  </a:ext>
                </a:extLst>
              </p:cNvPr>
              <p:cNvSpPr/>
              <p:nvPr/>
            </p:nvSpPr>
            <p:spPr>
              <a:xfrm>
                <a:off x="4192776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E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14C86F44-1D64-2C52-0079-1922E5D191E7}"/>
                  </a:ext>
                </a:extLst>
              </p:cNvPr>
              <p:cNvSpPr/>
              <p:nvPr/>
            </p:nvSpPr>
            <p:spPr>
              <a:xfrm>
                <a:off x="1645371" y="567887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D</a:t>
                </a: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E55AF88B-5DAB-4B83-389D-1D51011BBFAE}"/>
                  </a:ext>
                </a:extLst>
              </p:cNvPr>
              <p:cNvSpPr/>
              <p:nvPr/>
            </p:nvSpPr>
            <p:spPr>
              <a:xfrm>
                <a:off x="4192776" y="567887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G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2B789873-3CAC-1649-3117-76DC0E4FFE76}"/>
                  </a:ext>
                </a:extLst>
              </p:cNvPr>
              <p:cNvSpPr/>
              <p:nvPr/>
            </p:nvSpPr>
            <p:spPr>
              <a:xfrm>
                <a:off x="6740182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4309B80-B344-A751-6C30-A26579213A38}"/>
                </a:ext>
              </a:extLst>
            </p:cNvPr>
            <p:cNvCxnSpPr>
              <a:stCxn id="40" idx="3"/>
              <a:endCxn id="41" idx="1"/>
            </p:cNvCxnSpPr>
            <p:nvPr/>
          </p:nvCxnSpPr>
          <p:spPr>
            <a:xfrm flipV="1">
              <a:off x="5687751" y="4761547"/>
              <a:ext cx="938114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9089A1F-EB36-022B-3C06-44B68F7591F5}"/>
                </a:ext>
              </a:extLst>
            </p:cNvPr>
            <p:cNvCxnSpPr>
              <a:stCxn id="41" idx="3"/>
              <a:endCxn id="42" idx="1"/>
            </p:cNvCxnSpPr>
            <p:nvPr/>
          </p:nvCxnSpPr>
          <p:spPr>
            <a:xfrm>
              <a:off x="7309538" y="4761547"/>
              <a:ext cx="906599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985E615-49CE-9C90-D7A3-9D9D84BB8B3C}"/>
                </a:ext>
              </a:extLst>
            </p:cNvPr>
            <p:cNvCxnSpPr>
              <a:cxnSpLocks/>
              <a:stCxn id="42" idx="0"/>
              <a:endCxn id="46" idx="2"/>
            </p:cNvCxnSpPr>
            <p:nvPr/>
          </p:nvCxnSpPr>
          <p:spPr>
            <a:xfrm flipH="1" flipV="1">
              <a:off x="7717753" y="3772364"/>
              <a:ext cx="840220" cy="707048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6F03EFA-CBED-CD73-815D-D522D1E504B2}"/>
                </a:ext>
              </a:extLst>
            </p:cNvPr>
            <p:cNvCxnSpPr>
              <a:stCxn id="40" idx="0"/>
              <a:endCxn id="45" idx="2"/>
            </p:cNvCxnSpPr>
            <p:nvPr/>
          </p:nvCxnSpPr>
          <p:spPr>
            <a:xfrm flipV="1">
              <a:off x="5345916" y="3772364"/>
              <a:ext cx="781566" cy="707048"/>
            </a:xfrm>
            <a:prstGeom prst="straightConnector1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2B9C642-D85C-3490-ED6B-49693011DE29}"/>
                </a:ext>
              </a:extLst>
            </p:cNvPr>
            <p:cNvCxnSpPr>
              <a:stCxn id="45" idx="3"/>
              <a:endCxn id="46" idx="1"/>
            </p:cNvCxnSpPr>
            <p:nvPr/>
          </p:nvCxnSpPr>
          <p:spPr>
            <a:xfrm>
              <a:off x="6469318" y="3490230"/>
              <a:ext cx="906599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38E34DA-6C61-23BC-11AE-C6064879836E}"/>
                </a:ext>
              </a:extLst>
            </p:cNvPr>
            <p:cNvCxnSpPr>
              <a:stCxn id="40" idx="2"/>
              <a:endCxn id="48" idx="0"/>
            </p:cNvCxnSpPr>
            <p:nvPr/>
          </p:nvCxnSpPr>
          <p:spPr>
            <a:xfrm>
              <a:off x="5345916" y="5043683"/>
              <a:ext cx="781566" cy="68225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0A3304F-96CC-26F2-B9D1-B75561B72129}"/>
                </a:ext>
              </a:extLst>
            </p:cNvPr>
            <p:cNvCxnSpPr>
              <a:stCxn id="48" idx="3"/>
              <a:endCxn id="49" idx="1"/>
            </p:cNvCxnSpPr>
            <p:nvPr/>
          </p:nvCxnSpPr>
          <p:spPr>
            <a:xfrm flipV="1">
              <a:off x="6469318" y="6008073"/>
              <a:ext cx="906599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749EB7A-B576-9DCC-08F1-C5730F9736FE}"/>
                </a:ext>
              </a:extLst>
            </p:cNvPr>
            <p:cNvCxnSpPr>
              <a:cxnSpLocks/>
              <a:stCxn id="41" idx="2"/>
              <a:endCxn id="49" idx="0"/>
            </p:cNvCxnSpPr>
            <p:nvPr/>
          </p:nvCxnSpPr>
          <p:spPr>
            <a:xfrm>
              <a:off x="6967702" y="5043682"/>
              <a:ext cx="750051" cy="68225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940065E-49F8-35AC-ED91-4BA2EB711703}"/>
                </a:ext>
              </a:extLst>
            </p:cNvPr>
            <p:cNvCxnSpPr>
              <a:stCxn id="49" idx="3"/>
              <a:endCxn id="50" idx="1"/>
            </p:cNvCxnSpPr>
            <p:nvPr/>
          </p:nvCxnSpPr>
          <p:spPr>
            <a:xfrm flipV="1">
              <a:off x="8059589" y="6008072"/>
              <a:ext cx="906600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0B0A30B-8BC6-C069-7D2B-E0CDAADBB662}"/>
                </a:ext>
              </a:extLst>
            </p:cNvPr>
            <p:cNvCxnSpPr>
              <a:cxnSpLocks/>
              <a:stCxn id="42" idx="2"/>
              <a:endCxn id="50" idx="0"/>
            </p:cNvCxnSpPr>
            <p:nvPr/>
          </p:nvCxnSpPr>
          <p:spPr>
            <a:xfrm>
              <a:off x="8557973" y="5043682"/>
              <a:ext cx="750052" cy="68225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7D74D2F-B2C8-6146-D64C-F36EDC19BB7C}"/>
                </a:ext>
              </a:extLst>
            </p:cNvPr>
            <p:cNvSpPr txBox="1"/>
            <p:nvPr/>
          </p:nvSpPr>
          <p:spPr>
            <a:xfrm>
              <a:off x="5444249" y="3846355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06B7E32-67E6-07A8-71EC-3D97F3CBD881}"/>
                </a:ext>
              </a:extLst>
            </p:cNvPr>
            <p:cNvSpPr txBox="1"/>
            <p:nvPr/>
          </p:nvSpPr>
          <p:spPr>
            <a:xfrm>
              <a:off x="6772696" y="3161235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18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9152A2-E133-B506-BCD6-7BB95C9F5540}"/>
                </a:ext>
              </a:extLst>
            </p:cNvPr>
            <p:cNvSpPr txBox="1"/>
            <p:nvPr/>
          </p:nvSpPr>
          <p:spPr>
            <a:xfrm>
              <a:off x="6041874" y="4437825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312FE5F-9905-2565-457A-F17280DC426C}"/>
                </a:ext>
              </a:extLst>
            </p:cNvPr>
            <p:cNvSpPr txBox="1"/>
            <p:nvPr/>
          </p:nvSpPr>
          <p:spPr>
            <a:xfrm>
              <a:off x="5478351" y="5310573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EA70BBE-E86D-3296-B5F6-1A4B3E9AD900}"/>
                </a:ext>
              </a:extLst>
            </p:cNvPr>
            <p:cNvSpPr txBox="1"/>
            <p:nvPr/>
          </p:nvSpPr>
          <p:spPr>
            <a:xfrm>
              <a:off x="6746840" y="5969577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9E0CFDD-4702-A1C7-E5A5-AF8F93E47984}"/>
                </a:ext>
              </a:extLst>
            </p:cNvPr>
            <p:cNvSpPr txBox="1"/>
            <p:nvPr/>
          </p:nvSpPr>
          <p:spPr>
            <a:xfrm>
              <a:off x="7612916" y="4454620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16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9D97C42-2D2E-30C0-5A67-0EDC894BAF25}"/>
                </a:ext>
              </a:extLst>
            </p:cNvPr>
            <p:cNvSpPr txBox="1"/>
            <p:nvPr/>
          </p:nvSpPr>
          <p:spPr>
            <a:xfrm>
              <a:off x="7048154" y="5310573"/>
              <a:ext cx="232495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7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1BA8856-79C7-D5E7-9F02-F1B2FEC831B0}"/>
                </a:ext>
              </a:extLst>
            </p:cNvPr>
            <p:cNvSpPr txBox="1"/>
            <p:nvPr/>
          </p:nvSpPr>
          <p:spPr>
            <a:xfrm>
              <a:off x="8637583" y="5301020"/>
              <a:ext cx="232495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92DA47-960A-DC18-4620-B262424AB0A4}"/>
                </a:ext>
              </a:extLst>
            </p:cNvPr>
            <p:cNvSpPr txBox="1"/>
            <p:nvPr/>
          </p:nvSpPr>
          <p:spPr>
            <a:xfrm>
              <a:off x="8337112" y="5969576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4D13EA7-0D93-B07E-76B6-A5947D612565}"/>
                </a:ext>
              </a:extLst>
            </p:cNvPr>
            <p:cNvSpPr txBox="1"/>
            <p:nvPr/>
          </p:nvSpPr>
          <p:spPr>
            <a:xfrm>
              <a:off x="8137863" y="3826071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7B54A0B-260C-6A42-C565-0B1555CA57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0197158"/>
                  </p:ext>
                </p:extLst>
              </p:nvPr>
            </p:nvGraphicFramePr>
            <p:xfrm>
              <a:off x="95991" y="2151404"/>
              <a:ext cx="5986989" cy="43240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5221">
                      <a:extLst>
                        <a:ext uri="{9D8B030D-6E8A-4147-A177-3AD203B41FA5}">
                          <a16:colId xmlns:a16="http://schemas.microsoft.com/office/drawing/2014/main" val="2690202433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132132177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654307422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915896079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144494916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384243945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3109141811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1262368992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3911459058"/>
                        </a:ext>
                      </a:extLst>
                    </a:gridCol>
                  </a:tblGrid>
                  <a:tr h="480446">
                    <a:tc>
                      <a:txBody>
                        <a:bodyPr/>
                        <a:lstStyle/>
                        <a:p>
                          <a:pPr algn="ctr"/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5489520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20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0" spc="-10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kern="0" spc="-100" baseline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6606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3333789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20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16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7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8089233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3572583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74564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b="1" u="sng" kern="0" spc="-100" baseline="0" dirty="0" smtClean="0"/>
                                  <m:t>36</m:t>
                                </m:r>
                              </m:oMath>
                            </m:oMathPara>
                          </a14:m>
                          <a:endParaRPr lang="en-US" sz="2000" b="1" u="sng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16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2307034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7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0592260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-10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94540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7B54A0B-260C-6A42-C565-0B1555CA57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0197158"/>
                  </p:ext>
                </p:extLst>
              </p:nvPr>
            </p:nvGraphicFramePr>
            <p:xfrm>
              <a:off x="95991" y="2151404"/>
              <a:ext cx="5986989" cy="43240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5221">
                      <a:extLst>
                        <a:ext uri="{9D8B030D-6E8A-4147-A177-3AD203B41FA5}">
                          <a16:colId xmlns:a16="http://schemas.microsoft.com/office/drawing/2014/main" val="2690202433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132132177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654307422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915896079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144494916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2384243945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3109141811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1262368992"/>
                        </a:ext>
                      </a:extLst>
                    </a:gridCol>
                    <a:gridCol w="665221">
                      <a:extLst>
                        <a:ext uri="{9D8B030D-6E8A-4147-A177-3AD203B41FA5}">
                          <a16:colId xmlns:a16="http://schemas.microsoft.com/office/drawing/2014/main" val="3911459058"/>
                        </a:ext>
                      </a:extLst>
                    </a:gridCol>
                  </a:tblGrid>
                  <a:tr h="480446">
                    <a:tc>
                      <a:txBody>
                        <a:bodyPr/>
                        <a:lstStyle/>
                        <a:p>
                          <a:pPr algn="ctr"/>
                          <a:endParaRPr lang="en-US" sz="2000" kern="0" spc="-100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5489520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20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835" t="-106329" r="-305505" b="-7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2752" t="-106329" r="-4587" b="-7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36606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835" t="-206329" r="-505505" b="-6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6364" t="-206329" r="-202727" b="-6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2752" t="-206329" r="-104587" b="-6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2752" t="-206329" r="-4587" b="-6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3333789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20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91" t="-306329" r="-600000" b="-5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1835" t="-306329" r="-405505" b="-5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835" t="-306329" r="-305505" b="-5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16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7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2752" t="-306329" r="-4587" b="-5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8089233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91" t="-406329" r="-600000" b="-4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835" t="-406329" r="-505505" b="-4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835" t="-406329" r="-305505" b="-4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6364" t="-406329" r="-202727" b="-4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2752" t="-406329" r="-4587" b="-4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3572583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17" t="-506329" r="-706422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835" t="-506329" r="-505505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1835" t="-506329" r="-405505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2752" t="-506329" r="-104587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02752" t="-506329" r="-4587" b="-303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1074564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17" t="-606329" r="-706422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91" t="-606329" r="-600000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16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1835" t="-606329" r="-405505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02752" t="-606329" r="-104587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2307034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91" t="-706329" r="-600000" b="-1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kern="0" spc="-100" baseline="0" dirty="0"/>
                            <a:t>7</a:t>
                          </a:r>
                        </a:p>
                      </a:txBody>
                      <a:tcPr>
                        <a:solidFill>
                          <a:srgbClr val="E9975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835" t="-706329" r="-305505" b="-1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6364" t="-706329" r="-202727" b="-1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0592260"/>
                      </a:ext>
                    </a:extLst>
                  </a:tr>
                  <a:tr h="4804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17" t="-806329" r="-706422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9091" t="-806329" r="-600000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835" t="-806329" r="-505505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1835" t="-806329" r="-405505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835" t="-806329" r="-305505" b="-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kern="0" spc="-100" baseline="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94540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1348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Floyd-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Warshall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61881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Similarly, we repeat the process for all nodes to get final table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C81152E-6BB7-A68A-B084-5A934CDB293A}"/>
              </a:ext>
            </a:extLst>
          </p:cNvPr>
          <p:cNvGrpSpPr/>
          <p:nvPr/>
        </p:nvGrpSpPr>
        <p:grpSpPr>
          <a:xfrm>
            <a:off x="6652693" y="2628671"/>
            <a:ext cx="5310707" cy="3691741"/>
            <a:chOff x="5004079" y="3161235"/>
            <a:chExt cx="4645782" cy="32295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C3828FC-BB28-8D7B-108A-DDC8117343DF}"/>
                </a:ext>
              </a:extLst>
            </p:cNvPr>
            <p:cNvGrpSpPr/>
            <p:nvPr/>
          </p:nvGrpSpPr>
          <p:grpSpPr>
            <a:xfrm>
              <a:off x="5004079" y="3208094"/>
              <a:ext cx="4645782" cy="3082115"/>
              <a:chOff x="393405" y="3069463"/>
              <a:chExt cx="7441930" cy="3194201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3090956F-F2A9-3756-D67B-01B594E19978}"/>
                  </a:ext>
                </a:extLst>
              </p:cNvPr>
              <p:cNvSpPr/>
              <p:nvPr/>
            </p:nvSpPr>
            <p:spPr>
              <a:xfrm>
                <a:off x="393405" y="4387015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A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95272BDE-8DDA-66E0-244D-66875E80F2FB}"/>
                  </a:ext>
                </a:extLst>
              </p:cNvPr>
              <p:cNvSpPr/>
              <p:nvPr/>
            </p:nvSpPr>
            <p:spPr>
              <a:xfrm>
                <a:off x="299129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C</a:t>
                </a: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3A9F81E5-A8ED-61A0-6E5F-1DD7CF9E57E7}"/>
                  </a:ext>
                </a:extLst>
              </p:cNvPr>
              <p:cNvSpPr/>
              <p:nvPr/>
            </p:nvSpPr>
            <p:spPr>
              <a:xfrm>
                <a:off x="553869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F</a:t>
                </a: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692C51B-D58B-6853-5ED0-6D2D5973B96C}"/>
                  </a:ext>
                </a:extLst>
              </p:cNvPr>
              <p:cNvSpPr/>
              <p:nvPr/>
            </p:nvSpPr>
            <p:spPr>
              <a:xfrm>
                <a:off x="1645371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B</a:t>
                </a:r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57EE76F0-CA5C-A21B-8717-89B15E284EA5}"/>
                  </a:ext>
                </a:extLst>
              </p:cNvPr>
              <p:cNvSpPr/>
              <p:nvPr/>
            </p:nvSpPr>
            <p:spPr>
              <a:xfrm>
                <a:off x="4192776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E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14C86F44-1D64-2C52-0079-1922E5D191E7}"/>
                  </a:ext>
                </a:extLst>
              </p:cNvPr>
              <p:cNvSpPr/>
              <p:nvPr/>
            </p:nvSpPr>
            <p:spPr>
              <a:xfrm>
                <a:off x="1645371" y="567887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D</a:t>
                </a: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E55AF88B-5DAB-4B83-389D-1D51011BBFAE}"/>
                  </a:ext>
                </a:extLst>
              </p:cNvPr>
              <p:cNvSpPr/>
              <p:nvPr/>
            </p:nvSpPr>
            <p:spPr>
              <a:xfrm>
                <a:off x="4192776" y="567887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G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2B789873-3CAC-1649-3117-76DC0E4FFE76}"/>
                  </a:ext>
                </a:extLst>
              </p:cNvPr>
              <p:cNvSpPr/>
              <p:nvPr/>
            </p:nvSpPr>
            <p:spPr>
              <a:xfrm>
                <a:off x="6740182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4309B80-B344-A751-6C30-A26579213A38}"/>
                </a:ext>
              </a:extLst>
            </p:cNvPr>
            <p:cNvCxnSpPr>
              <a:stCxn id="40" idx="3"/>
              <a:endCxn id="41" idx="1"/>
            </p:cNvCxnSpPr>
            <p:nvPr/>
          </p:nvCxnSpPr>
          <p:spPr>
            <a:xfrm flipV="1">
              <a:off x="5687751" y="4761547"/>
              <a:ext cx="938114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9089A1F-EB36-022B-3C06-44B68F7591F5}"/>
                </a:ext>
              </a:extLst>
            </p:cNvPr>
            <p:cNvCxnSpPr>
              <a:stCxn id="41" idx="3"/>
              <a:endCxn id="42" idx="1"/>
            </p:cNvCxnSpPr>
            <p:nvPr/>
          </p:nvCxnSpPr>
          <p:spPr>
            <a:xfrm>
              <a:off x="7309538" y="4761547"/>
              <a:ext cx="906599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985E615-49CE-9C90-D7A3-9D9D84BB8B3C}"/>
                </a:ext>
              </a:extLst>
            </p:cNvPr>
            <p:cNvCxnSpPr>
              <a:cxnSpLocks/>
              <a:stCxn id="42" idx="0"/>
              <a:endCxn id="46" idx="2"/>
            </p:cNvCxnSpPr>
            <p:nvPr/>
          </p:nvCxnSpPr>
          <p:spPr>
            <a:xfrm flipH="1" flipV="1">
              <a:off x="7717753" y="3772364"/>
              <a:ext cx="840220" cy="707048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6F03EFA-CBED-CD73-815D-D522D1E504B2}"/>
                </a:ext>
              </a:extLst>
            </p:cNvPr>
            <p:cNvCxnSpPr>
              <a:stCxn id="40" idx="0"/>
              <a:endCxn id="45" idx="2"/>
            </p:cNvCxnSpPr>
            <p:nvPr/>
          </p:nvCxnSpPr>
          <p:spPr>
            <a:xfrm flipV="1">
              <a:off x="5345916" y="3772364"/>
              <a:ext cx="781566" cy="707048"/>
            </a:xfrm>
            <a:prstGeom prst="straightConnector1">
              <a:avLst/>
            </a:prstGeom>
            <a:ln w="19050" cap="flat" cmpd="sng" algn="ctr">
              <a:solidFill>
                <a:schemeClr val="accent4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2B9C642-D85C-3490-ED6B-49693011DE29}"/>
                </a:ext>
              </a:extLst>
            </p:cNvPr>
            <p:cNvCxnSpPr>
              <a:stCxn id="45" idx="3"/>
              <a:endCxn id="46" idx="1"/>
            </p:cNvCxnSpPr>
            <p:nvPr/>
          </p:nvCxnSpPr>
          <p:spPr>
            <a:xfrm>
              <a:off x="6469318" y="3490230"/>
              <a:ext cx="906599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38E34DA-6C61-23BC-11AE-C6064879836E}"/>
                </a:ext>
              </a:extLst>
            </p:cNvPr>
            <p:cNvCxnSpPr>
              <a:stCxn id="40" idx="2"/>
              <a:endCxn id="48" idx="0"/>
            </p:cNvCxnSpPr>
            <p:nvPr/>
          </p:nvCxnSpPr>
          <p:spPr>
            <a:xfrm>
              <a:off x="5345916" y="5043683"/>
              <a:ext cx="781566" cy="68225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0A3304F-96CC-26F2-B9D1-B75561B72129}"/>
                </a:ext>
              </a:extLst>
            </p:cNvPr>
            <p:cNvCxnSpPr>
              <a:stCxn id="48" idx="3"/>
              <a:endCxn id="49" idx="1"/>
            </p:cNvCxnSpPr>
            <p:nvPr/>
          </p:nvCxnSpPr>
          <p:spPr>
            <a:xfrm flipV="1">
              <a:off x="6469318" y="6008073"/>
              <a:ext cx="906599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749EB7A-B576-9DCC-08F1-C5730F9736FE}"/>
                </a:ext>
              </a:extLst>
            </p:cNvPr>
            <p:cNvCxnSpPr>
              <a:cxnSpLocks/>
              <a:stCxn id="41" idx="2"/>
              <a:endCxn id="49" idx="0"/>
            </p:cNvCxnSpPr>
            <p:nvPr/>
          </p:nvCxnSpPr>
          <p:spPr>
            <a:xfrm>
              <a:off x="6967702" y="5043682"/>
              <a:ext cx="750051" cy="682256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940065E-49F8-35AC-ED91-4BA2EB711703}"/>
                </a:ext>
              </a:extLst>
            </p:cNvPr>
            <p:cNvCxnSpPr>
              <a:stCxn id="49" idx="3"/>
              <a:endCxn id="50" idx="1"/>
            </p:cNvCxnSpPr>
            <p:nvPr/>
          </p:nvCxnSpPr>
          <p:spPr>
            <a:xfrm flipV="1">
              <a:off x="8059589" y="6008072"/>
              <a:ext cx="906600" cy="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0B0A30B-8BC6-C069-7D2B-E0CDAADBB662}"/>
                </a:ext>
              </a:extLst>
            </p:cNvPr>
            <p:cNvCxnSpPr>
              <a:cxnSpLocks/>
              <a:stCxn id="42" idx="2"/>
              <a:endCxn id="50" idx="0"/>
            </p:cNvCxnSpPr>
            <p:nvPr/>
          </p:nvCxnSpPr>
          <p:spPr>
            <a:xfrm>
              <a:off x="8557973" y="5043682"/>
              <a:ext cx="750052" cy="682255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7D74D2F-B2C8-6146-D64C-F36EDC19BB7C}"/>
                </a:ext>
              </a:extLst>
            </p:cNvPr>
            <p:cNvSpPr txBox="1"/>
            <p:nvPr/>
          </p:nvSpPr>
          <p:spPr>
            <a:xfrm>
              <a:off x="5444249" y="3846355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06B7E32-67E6-07A8-71EC-3D97F3CBD881}"/>
                </a:ext>
              </a:extLst>
            </p:cNvPr>
            <p:cNvSpPr txBox="1"/>
            <p:nvPr/>
          </p:nvSpPr>
          <p:spPr>
            <a:xfrm>
              <a:off x="6772696" y="3161235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18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9152A2-E133-B506-BCD6-7BB95C9F5540}"/>
                </a:ext>
              </a:extLst>
            </p:cNvPr>
            <p:cNvSpPr txBox="1"/>
            <p:nvPr/>
          </p:nvSpPr>
          <p:spPr>
            <a:xfrm>
              <a:off x="6041874" y="4437825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20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312FE5F-9905-2565-457A-F17280DC426C}"/>
                </a:ext>
              </a:extLst>
            </p:cNvPr>
            <p:cNvSpPr txBox="1"/>
            <p:nvPr/>
          </p:nvSpPr>
          <p:spPr>
            <a:xfrm>
              <a:off x="5478351" y="5310573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EA70BBE-E86D-3296-B5F6-1A4B3E9AD900}"/>
                </a:ext>
              </a:extLst>
            </p:cNvPr>
            <p:cNvSpPr txBox="1"/>
            <p:nvPr/>
          </p:nvSpPr>
          <p:spPr>
            <a:xfrm>
              <a:off x="6746840" y="5969577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9E0CFDD-4702-A1C7-E5A5-AF8F93E47984}"/>
                </a:ext>
              </a:extLst>
            </p:cNvPr>
            <p:cNvSpPr txBox="1"/>
            <p:nvPr/>
          </p:nvSpPr>
          <p:spPr>
            <a:xfrm>
              <a:off x="7612916" y="4454620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16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9D97C42-2D2E-30C0-5A67-0EDC894BAF25}"/>
                </a:ext>
              </a:extLst>
            </p:cNvPr>
            <p:cNvSpPr txBox="1"/>
            <p:nvPr/>
          </p:nvSpPr>
          <p:spPr>
            <a:xfrm>
              <a:off x="7048154" y="5310573"/>
              <a:ext cx="232495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7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1BA8856-79C7-D5E7-9F02-F1B2FEC831B0}"/>
                </a:ext>
              </a:extLst>
            </p:cNvPr>
            <p:cNvSpPr txBox="1"/>
            <p:nvPr/>
          </p:nvSpPr>
          <p:spPr>
            <a:xfrm>
              <a:off x="8637583" y="5301020"/>
              <a:ext cx="232495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92DA47-960A-DC18-4620-B262424AB0A4}"/>
                </a:ext>
              </a:extLst>
            </p:cNvPr>
            <p:cNvSpPr txBox="1"/>
            <p:nvPr/>
          </p:nvSpPr>
          <p:spPr>
            <a:xfrm>
              <a:off x="8337112" y="5969576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4D13EA7-0D93-B07E-76B6-A5947D612565}"/>
                </a:ext>
              </a:extLst>
            </p:cNvPr>
            <p:cNvSpPr txBox="1"/>
            <p:nvPr/>
          </p:nvSpPr>
          <p:spPr>
            <a:xfrm>
              <a:off x="8137863" y="3826071"/>
              <a:ext cx="316357" cy="421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12</a:t>
              </a:r>
            </a:p>
          </p:txBody>
        </p:sp>
      </p:grp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7A2E5671-C063-EBD0-70FA-3D4D839BA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559786"/>
              </p:ext>
            </p:extLst>
          </p:nvPr>
        </p:nvGraphicFramePr>
        <p:xfrm>
          <a:off x="95991" y="2151404"/>
          <a:ext cx="5986989" cy="4324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221">
                  <a:extLst>
                    <a:ext uri="{9D8B030D-6E8A-4147-A177-3AD203B41FA5}">
                      <a16:colId xmlns:a16="http://schemas.microsoft.com/office/drawing/2014/main" val="2690202433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132132177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2654307422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2915896079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2144494916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2384243945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3109141811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1262368992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3911459058"/>
                    </a:ext>
                  </a:extLst>
                </a:gridCol>
              </a:tblGrid>
              <a:tr h="480446">
                <a:tc>
                  <a:txBody>
                    <a:bodyPr/>
                    <a:lstStyle/>
                    <a:p>
                      <a:pPr algn="ctr"/>
                      <a:endParaRPr lang="en-US" sz="2000" kern="0" spc="-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489520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6606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333789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089233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572583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074564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307034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592260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454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4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Floyd-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Warshall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Algorithm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5875616" cy="4807924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This matrix will be used in same dynamic programming fashion to reach from one node to another.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example, the path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3200" dirty="0"/>
                  <a:t> can be found as: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Go to row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000" dirty="0"/>
                  <a:t>, column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3000" dirty="0"/>
                  <a:t>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Find the neighbours of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3000" dirty="0"/>
                  <a:t> which minimizes the distance.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Iterate that neighbour and check its neighbours as well.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Repeat until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000" dirty="0"/>
                  <a:t> </a:t>
                </a:r>
                <a:r>
                  <a:rPr lang="en-US" sz="3000"/>
                  <a:t>is reached.</a:t>
                </a: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5875616" cy="4807924"/>
              </a:xfrm>
              <a:prstGeom prst="rect">
                <a:avLst/>
              </a:prstGeom>
              <a:blipFill>
                <a:blip r:embed="rId3"/>
                <a:stretch>
                  <a:fillRect l="-1452" t="-887" r="-2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7A2E5671-C063-EBD0-70FA-3D4D839BA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829218"/>
              </p:ext>
            </p:extLst>
          </p:nvPr>
        </p:nvGraphicFramePr>
        <p:xfrm>
          <a:off x="6096000" y="1722609"/>
          <a:ext cx="5986989" cy="4324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221">
                  <a:extLst>
                    <a:ext uri="{9D8B030D-6E8A-4147-A177-3AD203B41FA5}">
                      <a16:colId xmlns:a16="http://schemas.microsoft.com/office/drawing/2014/main" val="2690202433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132132177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2654307422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2915896079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2144494916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2384243945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3109141811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1262368992"/>
                    </a:ext>
                  </a:extLst>
                </a:gridCol>
                <a:gridCol w="665221">
                  <a:extLst>
                    <a:ext uri="{9D8B030D-6E8A-4147-A177-3AD203B41FA5}">
                      <a16:colId xmlns:a16="http://schemas.microsoft.com/office/drawing/2014/main" val="3911459058"/>
                    </a:ext>
                  </a:extLst>
                </a:gridCol>
              </a:tblGrid>
              <a:tr h="480446">
                <a:tc>
                  <a:txBody>
                    <a:bodyPr/>
                    <a:lstStyle/>
                    <a:p>
                      <a:pPr algn="ctr"/>
                      <a:endParaRPr lang="en-US" sz="2000" kern="0" spc="-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489520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6606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333789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089233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572583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074564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307034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592260"/>
                  </a:ext>
                </a:extLst>
              </a:tr>
              <a:tr h="480446"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0" spc="-100" baseline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454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60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8353</TotalTime>
  <Words>2425</Words>
  <Application>Microsoft Office PowerPoint</Application>
  <PresentationFormat>Widescreen</PresentationFormat>
  <Paragraphs>1070</Paragraphs>
  <Slides>30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 Narrow</vt:lpstr>
      <vt:lpstr>Arial</vt:lpstr>
      <vt:lpstr>Biome Light</vt:lpstr>
      <vt:lpstr>Calibri</vt:lpstr>
      <vt:lpstr>Calibri Light</vt:lpstr>
      <vt:lpstr>Cambria Math</vt:lpstr>
      <vt:lpstr>Wingdings</vt:lpstr>
      <vt:lpstr>Office Theme</vt:lpstr>
      <vt:lpstr>DESIGN AND ANALYSIS OF ALGORITHMS (113939)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220</cp:revision>
  <dcterms:created xsi:type="dcterms:W3CDTF">2022-11-22T20:08:03Z</dcterms:created>
  <dcterms:modified xsi:type="dcterms:W3CDTF">2026-01-27T07:07:06Z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