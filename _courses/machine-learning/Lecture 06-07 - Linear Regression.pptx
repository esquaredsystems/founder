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9.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1.xml" ContentType="application/vnd.openxmlformats-officedocument.drawingml.chartshape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5" r:id="rId1"/>
  </p:sldMasterIdLst>
  <p:notesMasterIdLst>
    <p:notesMasterId r:id="rId38"/>
  </p:notesMasterIdLst>
  <p:sldIdLst>
    <p:sldId id="256" r:id="rId2"/>
    <p:sldId id="261" r:id="rId3"/>
    <p:sldId id="262" r:id="rId4"/>
    <p:sldId id="263" r:id="rId5"/>
    <p:sldId id="264" r:id="rId6"/>
    <p:sldId id="265" r:id="rId7"/>
    <p:sldId id="266" r:id="rId8"/>
    <p:sldId id="297" r:id="rId9"/>
    <p:sldId id="298" r:id="rId10"/>
    <p:sldId id="299" r:id="rId11"/>
    <p:sldId id="267" r:id="rId12"/>
    <p:sldId id="268" r:id="rId13"/>
    <p:sldId id="269" r:id="rId14"/>
    <p:sldId id="270" r:id="rId15"/>
    <p:sldId id="274" r:id="rId16"/>
    <p:sldId id="300" r:id="rId17"/>
    <p:sldId id="301" r:id="rId18"/>
    <p:sldId id="305" r:id="rId19"/>
    <p:sldId id="275" r:id="rId20"/>
    <p:sldId id="276" r:id="rId21"/>
    <p:sldId id="277" r:id="rId22"/>
    <p:sldId id="278" r:id="rId23"/>
    <p:sldId id="284" r:id="rId24"/>
    <p:sldId id="285" r:id="rId25"/>
    <p:sldId id="287" r:id="rId26"/>
    <p:sldId id="288" r:id="rId27"/>
    <p:sldId id="302" r:id="rId28"/>
    <p:sldId id="303" r:id="rId29"/>
    <p:sldId id="304" r:id="rId30"/>
    <p:sldId id="289" r:id="rId31"/>
    <p:sldId id="290" r:id="rId32"/>
    <p:sldId id="291" r:id="rId33"/>
    <p:sldId id="292" r:id="rId34"/>
    <p:sldId id="294" r:id="rId35"/>
    <p:sldId id="306" r:id="rId36"/>
    <p:sldId id="296" r:id="rId37"/>
  </p:sldIdLst>
  <p:sldSz cx="9144000" cy="5143500" type="screen16x9"/>
  <p:notesSz cx="6858000" cy="9144000"/>
  <p:embeddedFontLst>
    <p:embeddedFont>
      <p:font typeface="Aptos Narrow" panose="020B0604020202020204" charset="0"/>
      <p:regular r:id="rId39"/>
      <p:bold r:id="rId40"/>
      <p:italic r:id="rId41"/>
      <p:boldItalic r:id="rId42"/>
    </p:embeddedFont>
    <p:embeddedFont>
      <p:font typeface="Cambria Math" panose="02040503050406030204" pitchFamily="18" charset="0"/>
      <p:regular r:id="rId43"/>
    </p:embeddedFont>
    <p:embeddedFont>
      <p:font typeface="Georgia" panose="02040502050405020303" pitchFamily="18" charset="0"/>
      <p:regular r:id="rId44"/>
      <p:bold r:id="rId45"/>
      <p:italic r:id="rId46"/>
      <p:boldItalic r:id="rId47"/>
    </p:embeddedFont>
    <p:embeddedFont>
      <p:font typeface="Lato" panose="020B0604020202020204" charset="0"/>
      <p:regular r:id="rId48"/>
      <p:bold r:id="rId49"/>
      <p:italic r:id="rId50"/>
      <p:boldItalic r:id="rId51"/>
    </p:embeddedFont>
    <p:embeddedFont>
      <p:font typeface="Lexend" panose="020B0604020202020204" charset="0"/>
      <p:regular r:id="rId52"/>
      <p:bold r:id="rId53"/>
    </p:embeddedFont>
    <p:embeddedFont>
      <p:font typeface="Raleway" panose="020B0604020202020204" charset="0"/>
      <p:regular r:id="rId54"/>
      <p:bold r:id="rId55"/>
      <p:italic r:id="rId56"/>
      <p:boldItalic r:id="rId57"/>
    </p:embeddedFont>
    <p:embeddedFont>
      <p:font typeface="Roboto" panose="020B0604020202020204" charset="0"/>
      <p:regular r:id="rId58"/>
      <p:bold r:id="rId59"/>
      <p:italic r:id="rId60"/>
      <p:boldItalic r:id="rId6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1591C0-22D3-4DF2-B4FD-807357C37427}" v="28" dt="2025-07-19T14:10:08.0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font" Target="fonts/font12.fntdata"/><Relationship Id="rId55" Type="http://schemas.openxmlformats.org/officeDocument/2006/relationships/font" Target="fonts/font17.fntdata"/><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font" Target="fonts/font15.fntdata"/><Relationship Id="rId58" Type="http://schemas.openxmlformats.org/officeDocument/2006/relationships/font" Target="fonts/font20.fntdata"/><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font" Target="fonts/font2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font" Target="fonts/font10.fntdata"/><Relationship Id="rId56" Type="http://schemas.openxmlformats.org/officeDocument/2006/relationships/font" Target="fonts/font18.fntdata"/><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1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59" Type="http://schemas.openxmlformats.org/officeDocument/2006/relationships/font" Target="fonts/font21.fntdata"/><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font" Target="fonts/font3.fntdata"/><Relationship Id="rId54" Type="http://schemas.openxmlformats.org/officeDocument/2006/relationships/font" Target="fonts/font16.fntdata"/><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1.fntdata"/><Relationship Id="rId57" Type="http://schemas.openxmlformats.org/officeDocument/2006/relationships/font" Target="fonts/font1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6.fntdata"/><Relationship Id="rId52" Type="http://schemas.openxmlformats.org/officeDocument/2006/relationships/font" Target="fonts/font14.fntdata"/><Relationship Id="rId60" Type="http://schemas.openxmlformats.org/officeDocument/2006/relationships/font" Target="fonts/font22.fntdata"/><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font" Target="fonts/font1.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9F1591C0-22D3-4DF2-B4FD-807357C37427}"/>
    <pc:docChg chg="custSel delSld modSld">
      <pc:chgData name="Owais Ahmed" userId="6abc7d4556b3b071" providerId="LiveId" clId="{9F1591C0-22D3-4DF2-B4FD-807357C37427}" dt="2025-07-19T14:10:08.086" v="31" actId="20577"/>
      <pc:docMkLst>
        <pc:docMk/>
      </pc:docMkLst>
      <pc:sldChg chg="modSp mod">
        <pc:chgData name="Owais Ahmed" userId="6abc7d4556b3b071" providerId="LiveId" clId="{9F1591C0-22D3-4DF2-B4FD-807357C37427}" dt="2025-07-19T12:14:13.246" v="2" actId="27636"/>
        <pc:sldMkLst>
          <pc:docMk/>
          <pc:sldMk cId="0" sldId="256"/>
        </pc:sldMkLst>
        <pc:spChg chg="mod">
          <ac:chgData name="Owais Ahmed" userId="6abc7d4556b3b071" providerId="LiveId" clId="{9F1591C0-22D3-4DF2-B4FD-807357C37427}" dt="2025-07-19T12:14:13.246" v="2" actId="27636"/>
          <ac:spMkLst>
            <pc:docMk/>
            <pc:sldMk cId="0" sldId="256"/>
            <ac:spMk id="98" creationId="{00000000-0000-0000-0000-000000000000}"/>
          </ac:spMkLst>
        </pc:spChg>
      </pc:sldChg>
      <pc:sldChg chg="del">
        <pc:chgData name="Owais Ahmed" userId="6abc7d4556b3b071" providerId="LiveId" clId="{9F1591C0-22D3-4DF2-B4FD-807357C37427}" dt="2025-07-19T12:14:04.897" v="0" actId="47"/>
        <pc:sldMkLst>
          <pc:docMk/>
          <pc:sldMk cId="0" sldId="257"/>
        </pc:sldMkLst>
      </pc:sldChg>
      <pc:sldChg chg="del">
        <pc:chgData name="Owais Ahmed" userId="6abc7d4556b3b071" providerId="LiveId" clId="{9F1591C0-22D3-4DF2-B4FD-807357C37427}" dt="2025-07-19T12:23:29.271" v="4" actId="47"/>
        <pc:sldMkLst>
          <pc:docMk/>
          <pc:sldMk cId="0" sldId="258"/>
        </pc:sldMkLst>
      </pc:sldChg>
      <pc:sldChg chg="del">
        <pc:chgData name="Owais Ahmed" userId="6abc7d4556b3b071" providerId="LiveId" clId="{9F1591C0-22D3-4DF2-B4FD-807357C37427}" dt="2025-07-19T12:14:25.583" v="3" actId="47"/>
        <pc:sldMkLst>
          <pc:docMk/>
          <pc:sldMk cId="0" sldId="259"/>
        </pc:sldMkLst>
      </pc:sldChg>
      <pc:sldChg chg="del">
        <pc:chgData name="Owais Ahmed" userId="6abc7d4556b3b071" providerId="LiveId" clId="{9F1591C0-22D3-4DF2-B4FD-807357C37427}" dt="2025-07-19T12:23:39.606" v="5" actId="47"/>
        <pc:sldMkLst>
          <pc:docMk/>
          <pc:sldMk cId="0" sldId="260"/>
        </pc:sldMkLst>
      </pc:sldChg>
      <pc:sldChg chg="modAnim">
        <pc:chgData name="Owais Ahmed" userId="6abc7d4556b3b071" providerId="LiveId" clId="{9F1591C0-22D3-4DF2-B4FD-807357C37427}" dt="2025-07-19T12:27:22.699" v="24"/>
        <pc:sldMkLst>
          <pc:docMk/>
          <pc:sldMk cId="0" sldId="267"/>
        </pc:sldMkLst>
      </pc:sldChg>
      <pc:sldChg chg="modSp mod">
        <pc:chgData name="Owais Ahmed" userId="6abc7d4556b3b071" providerId="LiveId" clId="{9F1591C0-22D3-4DF2-B4FD-807357C37427}" dt="2025-07-19T12:28:19.354" v="25" actId="20577"/>
        <pc:sldMkLst>
          <pc:docMk/>
          <pc:sldMk cId="0" sldId="268"/>
        </pc:sldMkLst>
        <pc:spChg chg="mod">
          <ac:chgData name="Owais Ahmed" userId="6abc7d4556b3b071" providerId="LiveId" clId="{9F1591C0-22D3-4DF2-B4FD-807357C37427}" dt="2025-07-19T12:28:19.354" v="25" actId="20577"/>
          <ac:spMkLst>
            <pc:docMk/>
            <pc:sldMk cId="0" sldId="268"/>
            <ac:spMk id="227" creationId="{00000000-0000-0000-0000-000000000000}"/>
          </ac:spMkLst>
        </pc:spChg>
      </pc:sldChg>
      <pc:sldChg chg="modSp modNotesTx">
        <pc:chgData name="Owais Ahmed" userId="6abc7d4556b3b071" providerId="LiveId" clId="{9F1591C0-22D3-4DF2-B4FD-807357C37427}" dt="2025-07-19T12:29:58.632" v="27" actId="6549"/>
        <pc:sldMkLst>
          <pc:docMk/>
          <pc:sldMk cId="0" sldId="270"/>
        </pc:sldMkLst>
        <pc:spChg chg="mod">
          <ac:chgData name="Owais Ahmed" userId="6abc7d4556b3b071" providerId="LiveId" clId="{9F1591C0-22D3-4DF2-B4FD-807357C37427}" dt="2025-07-19T12:29:19.045" v="26" actId="113"/>
          <ac:spMkLst>
            <pc:docMk/>
            <pc:sldMk cId="0" sldId="270"/>
            <ac:spMk id="244" creationId="{00000000-0000-0000-0000-000000000000}"/>
          </ac:spMkLst>
        </pc:spChg>
      </pc:sldChg>
      <pc:sldChg chg="modSp mod">
        <pc:chgData name="Owais Ahmed" userId="6abc7d4556b3b071" providerId="LiveId" clId="{9F1591C0-22D3-4DF2-B4FD-807357C37427}" dt="2025-07-19T14:10:08.086" v="31" actId="20577"/>
        <pc:sldMkLst>
          <pc:docMk/>
          <pc:sldMk cId="0" sldId="278"/>
        </pc:sldMkLst>
        <pc:spChg chg="mod">
          <ac:chgData name="Owais Ahmed" userId="6abc7d4556b3b071" providerId="LiveId" clId="{9F1591C0-22D3-4DF2-B4FD-807357C37427}" dt="2025-07-19T14:10:08.086" v="31" actId="20577"/>
          <ac:spMkLst>
            <pc:docMk/>
            <pc:sldMk cId="0" sldId="278"/>
            <ac:spMk id="300" creationId="{00000000-0000-0000-0000-000000000000}"/>
          </ac:spMkLst>
        </pc:spChg>
      </pc:sldChg>
      <pc:sldChg chg="modSp">
        <pc:chgData name="Owais Ahmed" userId="6abc7d4556b3b071" providerId="LiveId" clId="{9F1591C0-22D3-4DF2-B4FD-807357C37427}" dt="2025-07-19T12:26:35.363" v="22" actId="20577"/>
        <pc:sldMkLst>
          <pc:docMk/>
          <pc:sldMk cId="2292632424" sldId="299"/>
        </pc:sldMkLst>
        <pc:spChg chg="mod">
          <ac:chgData name="Owais Ahmed" userId="6abc7d4556b3b071" providerId="LiveId" clId="{9F1591C0-22D3-4DF2-B4FD-807357C37427}" dt="2025-07-19T12:26:35.363" v="22" actId="20577"/>
          <ac:spMkLst>
            <pc:docMk/>
            <pc:sldMk cId="2292632424" sldId="299"/>
            <ac:spMk id="208" creationId="{24601BB7-EAD4-6665-EC58-3ECF02A803EF}"/>
          </ac:spMkLst>
        </pc:spChg>
      </pc:sldChg>
      <pc:sldMasterChg chg="delSldLayout">
        <pc:chgData name="Owais Ahmed" userId="6abc7d4556b3b071" providerId="LiveId" clId="{9F1591C0-22D3-4DF2-B4FD-807357C37427}" dt="2025-07-19T12:23:39.606" v="5" actId="47"/>
        <pc:sldMasterMkLst>
          <pc:docMk/>
          <pc:sldMasterMk cId="0" sldId="2147483655"/>
        </pc:sldMasterMkLst>
        <pc:sldLayoutChg chg="del">
          <pc:chgData name="Owais Ahmed" userId="6abc7d4556b3b071" providerId="LiveId" clId="{9F1591C0-22D3-4DF2-B4FD-807357C37427}" dt="2025-07-19T12:23:39.606" v="5" actId="47"/>
          <pc:sldLayoutMkLst>
            <pc:docMk/>
            <pc:sldMasterMk cId="0" sldId="2147483655"/>
            <pc:sldLayoutMk cId="0" sldId="2147483654"/>
          </pc:sldLayoutMkLst>
        </pc:sldLayoutChg>
      </pc:sldMasterChg>
    </pc:docChg>
  </pc:docChgLst>
  <pc:docChgLst>
    <pc:chgData name="Owais Ahmed" userId="6abc7d4556b3b071" providerId="LiveId" clId="{C8AAAA6A-245D-4DA2-AE31-C4727ED0858E}"/>
    <pc:docChg chg="undo redo custSel addSld delSld modSld sldOrd">
      <pc:chgData name="Owais Ahmed" userId="6abc7d4556b3b071" providerId="LiveId" clId="{C8AAAA6A-245D-4DA2-AE31-C4727ED0858E}" dt="2025-04-13T16:29:30.351" v="6204" actId="14100"/>
      <pc:docMkLst>
        <pc:docMk/>
      </pc:docMkLst>
      <pc:sldChg chg="modSp mod">
        <pc:chgData name="Owais Ahmed" userId="6abc7d4556b3b071" providerId="LiveId" clId="{C8AAAA6A-245D-4DA2-AE31-C4727ED0858E}" dt="2025-04-13T08:40:38.182" v="15" actId="20577"/>
        <pc:sldMkLst>
          <pc:docMk/>
          <pc:sldMk cId="0" sldId="256"/>
        </pc:sldMkLst>
      </pc:sldChg>
      <pc:sldChg chg="modSp add del mod">
        <pc:chgData name="Owais Ahmed" userId="6abc7d4556b3b071" providerId="LiveId" clId="{C8AAAA6A-245D-4DA2-AE31-C4727ED0858E}" dt="2025-04-13T08:41:03.941" v="18" actId="404"/>
        <pc:sldMkLst>
          <pc:docMk/>
          <pc:sldMk cId="0" sldId="257"/>
        </pc:sldMkLst>
      </pc:sldChg>
      <pc:sldChg chg="modSp mod">
        <pc:chgData name="Owais Ahmed" userId="6abc7d4556b3b071" providerId="LiveId" clId="{C8AAAA6A-245D-4DA2-AE31-C4727ED0858E}" dt="2025-04-13T09:06:43.658" v="35" actId="27636"/>
        <pc:sldMkLst>
          <pc:docMk/>
          <pc:sldMk cId="0" sldId="260"/>
        </pc:sldMkLst>
      </pc:sldChg>
      <pc:sldChg chg="addSp delSp modSp mod">
        <pc:chgData name="Owais Ahmed" userId="6abc7d4556b3b071" providerId="LiveId" clId="{C8AAAA6A-245D-4DA2-AE31-C4727ED0858E}" dt="2025-04-13T09:39:33.559" v="1433" actId="1076"/>
        <pc:sldMkLst>
          <pc:docMk/>
          <pc:sldMk cId="0" sldId="267"/>
        </pc:sldMkLst>
      </pc:sldChg>
      <pc:sldChg chg="modSp mod">
        <pc:chgData name="Owais Ahmed" userId="6abc7d4556b3b071" providerId="LiveId" clId="{C8AAAA6A-245D-4DA2-AE31-C4727ED0858E}" dt="2025-04-13T09:45:34.958" v="1566" actId="20577"/>
        <pc:sldMkLst>
          <pc:docMk/>
          <pc:sldMk cId="0" sldId="268"/>
        </pc:sldMkLst>
      </pc:sldChg>
      <pc:sldChg chg="ord modNotes">
        <pc:chgData name="Owais Ahmed" userId="6abc7d4556b3b071" providerId="LiveId" clId="{C8AAAA6A-245D-4DA2-AE31-C4727ED0858E}" dt="2025-04-13T09:06:41.615" v="22" actId="20578"/>
        <pc:sldMkLst>
          <pc:docMk/>
          <pc:sldMk cId="0" sldId="269"/>
        </pc:sldMkLst>
      </pc:sldChg>
      <pc:sldChg chg="modSp mod modAnim">
        <pc:chgData name="Owais Ahmed" userId="6abc7d4556b3b071" providerId="LiveId" clId="{C8AAAA6A-245D-4DA2-AE31-C4727ED0858E}" dt="2025-04-13T09:41:55.675" v="1500" actId="6549"/>
        <pc:sldMkLst>
          <pc:docMk/>
          <pc:sldMk cId="0" sldId="270"/>
        </pc:sldMkLst>
      </pc:sldChg>
      <pc:sldChg chg="del">
        <pc:chgData name="Owais Ahmed" userId="6abc7d4556b3b071" providerId="LiveId" clId="{C8AAAA6A-245D-4DA2-AE31-C4727ED0858E}" dt="2025-04-13T09:42:13.055" v="1501" actId="47"/>
        <pc:sldMkLst>
          <pc:docMk/>
          <pc:sldMk cId="0" sldId="271"/>
        </pc:sldMkLst>
      </pc:sldChg>
      <pc:sldChg chg="del">
        <pc:chgData name="Owais Ahmed" userId="6abc7d4556b3b071" providerId="LiveId" clId="{C8AAAA6A-245D-4DA2-AE31-C4727ED0858E}" dt="2025-04-13T09:42:19.179" v="1502" actId="47"/>
        <pc:sldMkLst>
          <pc:docMk/>
          <pc:sldMk cId="0" sldId="272"/>
        </pc:sldMkLst>
      </pc:sldChg>
      <pc:sldChg chg="modSp del mod">
        <pc:chgData name="Owais Ahmed" userId="6abc7d4556b3b071" providerId="LiveId" clId="{C8AAAA6A-245D-4DA2-AE31-C4727ED0858E}" dt="2025-04-13T09:42:19.673" v="1503" actId="47"/>
        <pc:sldMkLst>
          <pc:docMk/>
          <pc:sldMk cId="0" sldId="273"/>
        </pc:sldMkLst>
      </pc:sldChg>
      <pc:sldChg chg="modSp mod modAnim">
        <pc:chgData name="Owais Ahmed" userId="6abc7d4556b3b071" providerId="LiveId" clId="{C8AAAA6A-245D-4DA2-AE31-C4727ED0858E}" dt="2025-04-13T09:49:35.093" v="1677" actId="6549"/>
        <pc:sldMkLst>
          <pc:docMk/>
          <pc:sldMk cId="0" sldId="274"/>
        </pc:sldMkLst>
      </pc:sldChg>
      <pc:sldChg chg="addSp delSp modSp mod">
        <pc:chgData name="Owais Ahmed" userId="6abc7d4556b3b071" providerId="LiveId" clId="{C8AAAA6A-245D-4DA2-AE31-C4727ED0858E}" dt="2025-04-13T10:29:07.185" v="3020" actId="20577"/>
        <pc:sldMkLst>
          <pc:docMk/>
          <pc:sldMk cId="0" sldId="275"/>
        </pc:sldMkLst>
      </pc:sldChg>
      <pc:sldChg chg="addSp delSp modSp mod modAnim">
        <pc:chgData name="Owais Ahmed" userId="6abc7d4556b3b071" providerId="LiveId" clId="{C8AAAA6A-245D-4DA2-AE31-C4727ED0858E}" dt="2025-04-13T10:32:08.478" v="3042"/>
        <pc:sldMkLst>
          <pc:docMk/>
          <pc:sldMk cId="0" sldId="276"/>
        </pc:sldMkLst>
      </pc:sldChg>
      <pc:sldChg chg="modSp mod modAnim">
        <pc:chgData name="Owais Ahmed" userId="6abc7d4556b3b071" providerId="LiveId" clId="{C8AAAA6A-245D-4DA2-AE31-C4727ED0858E}" dt="2025-04-13T10:32:15.636" v="3044"/>
        <pc:sldMkLst>
          <pc:docMk/>
          <pc:sldMk cId="0" sldId="277"/>
        </pc:sldMkLst>
      </pc:sldChg>
      <pc:sldChg chg="addSp modSp mod modAnim modNotes">
        <pc:chgData name="Owais Ahmed" userId="6abc7d4556b3b071" providerId="LiveId" clId="{C8AAAA6A-245D-4DA2-AE31-C4727ED0858E}" dt="2025-04-13T10:33:05.340" v="3054"/>
        <pc:sldMkLst>
          <pc:docMk/>
          <pc:sldMk cId="0" sldId="278"/>
        </pc:sldMkLst>
      </pc:sldChg>
      <pc:sldChg chg="del">
        <pc:chgData name="Owais Ahmed" userId="6abc7d4556b3b071" providerId="LiveId" clId="{C8AAAA6A-245D-4DA2-AE31-C4727ED0858E}" dt="2025-04-13T10:31:19.143" v="3032" actId="47"/>
        <pc:sldMkLst>
          <pc:docMk/>
          <pc:sldMk cId="0" sldId="279"/>
        </pc:sldMkLst>
      </pc:sldChg>
      <pc:sldChg chg="del">
        <pc:chgData name="Owais Ahmed" userId="6abc7d4556b3b071" providerId="LiveId" clId="{C8AAAA6A-245D-4DA2-AE31-C4727ED0858E}" dt="2025-04-13T10:31:19.638" v="3033" actId="47"/>
        <pc:sldMkLst>
          <pc:docMk/>
          <pc:sldMk cId="0" sldId="280"/>
        </pc:sldMkLst>
      </pc:sldChg>
      <pc:sldChg chg="del">
        <pc:chgData name="Owais Ahmed" userId="6abc7d4556b3b071" providerId="LiveId" clId="{C8AAAA6A-245D-4DA2-AE31-C4727ED0858E}" dt="2025-04-13T10:31:26.813" v="3035" actId="47"/>
        <pc:sldMkLst>
          <pc:docMk/>
          <pc:sldMk cId="0" sldId="281"/>
        </pc:sldMkLst>
      </pc:sldChg>
      <pc:sldChg chg="del">
        <pc:chgData name="Owais Ahmed" userId="6abc7d4556b3b071" providerId="LiveId" clId="{C8AAAA6A-245D-4DA2-AE31-C4727ED0858E}" dt="2025-04-13T10:33:17.335" v="3055" actId="47"/>
        <pc:sldMkLst>
          <pc:docMk/>
          <pc:sldMk cId="0" sldId="282"/>
        </pc:sldMkLst>
      </pc:sldChg>
      <pc:sldChg chg="del">
        <pc:chgData name="Owais Ahmed" userId="6abc7d4556b3b071" providerId="LiveId" clId="{C8AAAA6A-245D-4DA2-AE31-C4727ED0858E}" dt="2025-04-13T10:33:18.073" v="3056" actId="47"/>
        <pc:sldMkLst>
          <pc:docMk/>
          <pc:sldMk cId="0" sldId="283"/>
        </pc:sldMkLst>
      </pc:sldChg>
      <pc:sldChg chg="delSp modSp mod delAnim modAnim modNotes">
        <pc:chgData name="Owais Ahmed" userId="6abc7d4556b3b071" providerId="LiveId" clId="{C8AAAA6A-245D-4DA2-AE31-C4727ED0858E}" dt="2025-04-13T11:06:24.443" v="3887" actId="20577"/>
        <pc:sldMkLst>
          <pc:docMk/>
          <pc:sldMk cId="0" sldId="284"/>
        </pc:sldMkLst>
      </pc:sldChg>
      <pc:sldChg chg="modSp mod modAnim">
        <pc:chgData name="Owais Ahmed" userId="6abc7d4556b3b071" providerId="LiveId" clId="{C8AAAA6A-245D-4DA2-AE31-C4727ED0858E}" dt="2025-04-13T10:41:53.054" v="3340"/>
        <pc:sldMkLst>
          <pc:docMk/>
          <pc:sldMk cId="0" sldId="285"/>
        </pc:sldMkLst>
      </pc:sldChg>
      <pc:sldChg chg="del">
        <pc:chgData name="Owais Ahmed" userId="6abc7d4556b3b071" providerId="LiveId" clId="{C8AAAA6A-245D-4DA2-AE31-C4727ED0858E}" dt="2025-04-13T10:41:06.941" v="3247" actId="47"/>
        <pc:sldMkLst>
          <pc:docMk/>
          <pc:sldMk cId="0" sldId="286"/>
        </pc:sldMkLst>
      </pc:sldChg>
      <pc:sldChg chg="delSp modSp mod modAnim">
        <pc:chgData name="Owais Ahmed" userId="6abc7d4556b3b071" providerId="LiveId" clId="{C8AAAA6A-245D-4DA2-AE31-C4727ED0858E}" dt="2025-04-13T10:43:59.820" v="3359" actId="20577"/>
        <pc:sldMkLst>
          <pc:docMk/>
          <pc:sldMk cId="0" sldId="287"/>
        </pc:sldMkLst>
      </pc:sldChg>
      <pc:sldChg chg="addSp delSp modSp mod">
        <pc:chgData name="Owais Ahmed" userId="6abc7d4556b3b071" providerId="LiveId" clId="{C8AAAA6A-245D-4DA2-AE31-C4727ED0858E}" dt="2025-04-13T11:22:25.951" v="4412" actId="14100"/>
        <pc:sldMkLst>
          <pc:docMk/>
          <pc:sldMk cId="0" sldId="288"/>
        </pc:sldMkLst>
      </pc:sldChg>
      <pc:sldChg chg="addSp delSp modSp mod addAnim delAnim modAnim">
        <pc:chgData name="Owais Ahmed" userId="6abc7d4556b3b071" providerId="LiveId" clId="{C8AAAA6A-245D-4DA2-AE31-C4727ED0858E}" dt="2025-04-13T16:19:29.218" v="5666" actId="14734"/>
        <pc:sldMkLst>
          <pc:docMk/>
          <pc:sldMk cId="0" sldId="291"/>
        </pc:sldMkLst>
      </pc:sldChg>
      <pc:sldChg chg="modSp mod modAnim">
        <pc:chgData name="Owais Ahmed" userId="6abc7d4556b3b071" providerId="LiveId" clId="{C8AAAA6A-245D-4DA2-AE31-C4727ED0858E}" dt="2025-04-13T16:25:20.019" v="5928" actId="113"/>
        <pc:sldMkLst>
          <pc:docMk/>
          <pc:sldMk cId="0" sldId="292"/>
        </pc:sldMkLst>
      </pc:sldChg>
      <pc:sldChg chg="del">
        <pc:chgData name="Owais Ahmed" userId="6abc7d4556b3b071" providerId="LiveId" clId="{C8AAAA6A-245D-4DA2-AE31-C4727ED0858E}" dt="2025-04-13T16:14:19.843" v="5431" actId="47"/>
        <pc:sldMkLst>
          <pc:docMk/>
          <pc:sldMk cId="0" sldId="293"/>
        </pc:sldMkLst>
      </pc:sldChg>
      <pc:sldChg chg="addSp delSp modSp mod">
        <pc:chgData name="Owais Ahmed" userId="6abc7d4556b3b071" providerId="LiveId" clId="{C8AAAA6A-245D-4DA2-AE31-C4727ED0858E}" dt="2025-04-13T16:29:09.545" v="6202" actId="20577"/>
        <pc:sldMkLst>
          <pc:docMk/>
          <pc:sldMk cId="0" sldId="294"/>
        </pc:sldMkLst>
      </pc:sldChg>
      <pc:sldChg chg="modSp mod">
        <pc:chgData name="Owais Ahmed" userId="6abc7d4556b3b071" providerId="LiveId" clId="{C8AAAA6A-245D-4DA2-AE31-C4727ED0858E}" dt="2025-04-13T16:29:30.351" v="6204" actId="14100"/>
        <pc:sldMkLst>
          <pc:docMk/>
          <pc:sldMk cId="0" sldId="295"/>
        </pc:sldMkLst>
      </pc:sldChg>
      <pc:sldChg chg="addSp delSp modSp add mod modAnim chgLayout">
        <pc:chgData name="Owais Ahmed" userId="6abc7d4556b3b071" providerId="LiveId" clId="{C8AAAA6A-245D-4DA2-AE31-C4727ED0858E}" dt="2025-04-13T09:27:32.368" v="946" actId="6549"/>
        <pc:sldMkLst>
          <pc:docMk/>
          <pc:sldMk cId="235601526" sldId="297"/>
        </pc:sldMkLst>
      </pc:sldChg>
      <pc:sldChg chg="modSp add del mod">
        <pc:chgData name="Owais Ahmed" userId="6abc7d4556b3b071" providerId="LiveId" clId="{C8AAAA6A-245D-4DA2-AE31-C4727ED0858E}" dt="2025-04-13T09:07:13.284" v="114" actId="47"/>
        <pc:sldMkLst>
          <pc:docMk/>
          <pc:sldMk cId="4227847229" sldId="297"/>
        </pc:sldMkLst>
      </pc:sldChg>
      <pc:sldChg chg="addSp delSp modSp add mod delAnim modAnim">
        <pc:chgData name="Owais Ahmed" userId="6abc7d4556b3b071" providerId="LiveId" clId="{C8AAAA6A-245D-4DA2-AE31-C4727ED0858E}" dt="2025-04-13T09:27:36.355" v="952" actId="20577"/>
        <pc:sldMkLst>
          <pc:docMk/>
          <pc:sldMk cId="2962159768" sldId="298"/>
        </pc:sldMkLst>
      </pc:sldChg>
      <pc:sldChg chg="modSp add mod ord modAnim">
        <pc:chgData name="Owais Ahmed" userId="6abc7d4556b3b071" providerId="LiveId" clId="{C8AAAA6A-245D-4DA2-AE31-C4727ED0858E}" dt="2025-04-13T09:30:56.274" v="1351"/>
        <pc:sldMkLst>
          <pc:docMk/>
          <pc:sldMk cId="2292632424" sldId="299"/>
        </pc:sldMkLst>
      </pc:sldChg>
      <pc:sldChg chg="addSp delSp modSp add mod ord addAnim delAnim modAnim">
        <pc:chgData name="Owais Ahmed" userId="6abc7d4556b3b071" providerId="LiveId" clId="{C8AAAA6A-245D-4DA2-AE31-C4727ED0858E}" dt="2025-04-13T10:22:52.108" v="2645" actId="20577"/>
        <pc:sldMkLst>
          <pc:docMk/>
          <pc:sldMk cId="1862798080" sldId="300"/>
        </pc:sldMkLst>
      </pc:sldChg>
      <pc:sldChg chg="add del">
        <pc:chgData name="Owais Ahmed" userId="6abc7d4556b3b071" providerId="LiveId" clId="{C8AAAA6A-245D-4DA2-AE31-C4727ED0858E}" dt="2025-04-13T09:39:42.457" v="1434" actId="47"/>
        <pc:sldMkLst>
          <pc:docMk/>
          <pc:sldMk cId="3430364462" sldId="300"/>
        </pc:sldMkLst>
      </pc:sldChg>
      <pc:sldChg chg="addSp delSp modSp add mod addAnim delAnim modAnim">
        <pc:chgData name="Owais Ahmed" userId="6abc7d4556b3b071" providerId="LiveId" clId="{C8AAAA6A-245D-4DA2-AE31-C4727ED0858E}" dt="2025-04-13T12:42:05.005" v="5395" actId="14100"/>
        <pc:sldMkLst>
          <pc:docMk/>
          <pc:sldMk cId="494484566" sldId="301"/>
        </pc:sldMkLst>
      </pc:sldChg>
      <pc:sldChg chg="modSp add mod">
        <pc:chgData name="Owais Ahmed" userId="6abc7d4556b3b071" providerId="LiveId" clId="{C8AAAA6A-245D-4DA2-AE31-C4727ED0858E}" dt="2025-04-13T11:22:01.830" v="4407" actId="20577"/>
        <pc:sldMkLst>
          <pc:docMk/>
          <pc:sldMk cId="1595871876" sldId="302"/>
        </pc:sldMkLst>
      </pc:sldChg>
      <pc:sldChg chg="add del">
        <pc:chgData name="Owais Ahmed" userId="6abc7d4556b3b071" providerId="LiveId" clId="{C8AAAA6A-245D-4DA2-AE31-C4727ED0858E}" dt="2025-04-13T10:29:16.035" v="3021" actId="47"/>
        <pc:sldMkLst>
          <pc:docMk/>
          <pc:sldMk cId="2408841719" sldId="302"/>
        </pc:sldMkLst>
      </pc:sldChg>
      <pc:sldChg chg="modSp add mod">
        <pc:chgData name="Owais Ahmed" userId="6abc7d4556b3b071" providerId="LiveId" clId="{C8AAAA6A-245D-4DA2-AE31-C4727ED0858E}" dt="2025-04-13T11:58:22.906" v="5101" actId="20577"/>
        <pc:sldMkLst>
          <pc:docMk/>
          <pc:sldMk cId="2966805542" sldId="303"/>
        </pc:sldMkLst>
      </pc:sldChg>
      <pc:sldChg chg="modSp add mod modNotesTx">
        <pc:chgData name="Owais Ahmed" userId="6abc7d4556b3b071" providerId="LiveId" clId="{C8AAAA6A-245D-4DA2-AE31-C4727ED0858E}" dt="2025-04-13T12:02:50.340" v="5394" actId="20577"/>
        <pc:sldMkLst>
          <pc:docMk/>
          <pc:sldMk cId="2944140302" sldId="304"/>
        </pc:sldMkLst>
      </pc:sldChg>
      <pc:sldChg chg="modSp add mod">
        <pc:chgData name="Owais Ahmed" userId="6abc7d4556b3b071" providerId="LiveId" clId="{C8AAAA6A-245D-4DA2-AE31-C4727ED0858E}" dt="2025-04-13T13:12:39.440" v="5428" actId="20577"/>
        <pc:sldMkLst>
          <pc:docMk/>
          <pc:sldMk cId="3501756624" sldId="305"/>
        </pc:sldMkLst>
      </pc:sldChg>
      <pc:sldChg chg="modSp add mod">
        <pc:chgData name="Owais Ahmed" userId="6abc7d4556b3b071" providerId="LiveId" clId="{C8AAAA6A-245D-4DA2-AE31-C4727ED0858E}" dt="2025-04-13T13:13:09.645" v="5430"/>
        <pc:sldMkLst>
          <pc:docMk/>
          <pc:sldMk cId="1580499985" sldId="306"/>
        </pc:sldMkLst>
      </pc:sldChg>
    </pc:docChg>
  </pc:docChgLst>
  <pc:docChgLst>
    <pc:chgData name="Owais Ahmed" userId="6abc7d4556b3b071" providerId="LiveId" clId="{DBC4A898-B4A1-45F3-A1C7-E47F8BD483C3}"/>
    <pc:docChg chg="undo custSel delSld modSld sldOrd">
      <pc:chgData name="Owais Ahmed" userId="6abc7d4556b3b071" providerId="LiveId" clId="{DBC4A898-B4A1-45F3-A1C7-E47F8BD483C3}" dt="2025-04-25T12:38:43.719" v="517" actId="20577"/>
      <pc:docMkLst>
        <pc:docMk/>
      </pc:docMkLst>
      <pc:sldChg chg="modAnim">
        <pc:chgData name="Owais Ahmed" userId="6abc7d4556b3b071" providerId="LiveId" clId="{DBC4A898-B4A1-45F3-A1C7-E47F8BD483C3}" dt="2025-04-19T13:01:34.940" v="0"/>
        <pc:sldMkLst>
          <pc:docMk/>
          <pc:sldMk cId="0" sldId="287"/>
        </pc:sldMkLst>
      </pc:sldChg>
      <pc:sldChg chg="ord">
        <pc:chgData name="Owais Ahmed" userId="6abc7d4556b3b071" providerId="LiveId" clId="{DBC4A898-B4A1-45F3-A1C7-E47F8BD483C3}" dt="2025-04-19T13:39:47.416" v="3"/>
        <pc:sldMkLst>
          <pc:docMk/>
          <pc:sldMk cId="0" sldId="291"/>
        </pc:sldMkLst>
      </pc:sldChg>
      <pc:sldChg chg="ord">
        <pc:chgData name="Owais Ahmed" userId="6abc7d4556b3b071" providerId="LiveId" clId="{DBC4A898-B4A1-45F3-A1C7-E47F8BD483C3}" dt="2025-04-19T13:39:47.416" v="3"/>
        <pc:sldMkLst>
          <pc:docMk/>
          <pc:sldMk cId="0" sldId="292"/>
        </pc:sldMkLst>
      </pc:sldChg>
      <pc:sldChg chg="ord">
        <pc:chgData name="Owais Ahmed" userId="6abc7d4556b3b071" providerId="LiveId" clId="{DBC4A898-B4A1-45F3-A1C7-E47F8BD483C3}" dt="2025-04-19T13:39:47.416" v="3"/>
        <pc:sldMkLst>
          <pc:docMk/>
          <pc:sldMk cId="0" sldId="294"/>
        </pc:sldMkLst>
      </pc:sldChg>
      <pc:sldChg chg="del">
        <pc:chgData name="Owais Ahmed" userId="6abc7d4556b3b071" providerId="LiveId" clId="{DBC4A898-B4A1-45F3-A1C7-E47F8BD483C3}" dt="2025-04-19T13:38:45.214" v="1" actId="47"/>
        <pc:sldMkLst>
          <pc:docMk/>
          <pc:sldMk cId="0" sldId="295"/>
        </pc:sldMkLst>
      </pc:sldChg>
      <pc:sldChg chg="addSp modSp mod">
        <pc:chgData name="Owais Ahmed" userId="6abc7d4556b3b071" providerId="LiveId" clId="{DBC4A898-B4A1-45F3-A1C7-E47F8BD483C3}" dt="2025-04-25T12:38:43.719" v="517" actId="20577"/>
        <pc:sldMkLst>
          <pc:docMk/>
          <pc:sldMk cId="3501756624" sldId="305"/>
        </pc:sldMkLst>
        <pc:spChg chg="add mod">
          <ac:chgData name="Owais Ahmed" userId="6abc7d4556b3b071" providerId="LiveId" clId="{DBC4A898-B4A1-45F3-A1C7-E47F8BD483C3}" dt="2025-04-25T12:38:43.719" v="517" actId="20577"/>
          <ac:spMkLst>
            <pc:docMk/>
            <pc:sldMk cId="3501756624" sldId="305"/>
            <ac:spMk id="2" creationId="{DC51F235-A0EA-81A3-00D4-6A062FCFCB7C}"/>
          </ac:spMkLst>
        </pc:spChg>
      </pc:sldChg>
      <pc:sldChg chg="addSp modSp mod">
        <pc:chgData name="Owais Ahmed" userId="6abc7d4556b3b071" providerId="LiveId" clId="{DBC4A898-B4A1-45F3-A1C7-E47F8BD483C3}" dt="2025-04-19T13:44:11.370" v="442" actId="20577"/>
        <pc:sldMkLst>
          <pc:docMk/>
          <pc:sldMk cId="1580499985" sldId="306"/>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1.xml"/></Relationships>
</file>

<file path=ppt/charts/_rels/chart4.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320" b="0" i="0" u="none" strike="noStrike" kern="1200" spc="0" baseline="0">
                <a:solidFill>
                  <a:sysClr val="windowText" lastClr="000000"/>
                </a:solidFill>
                <a:latin typeface="+mn-lt"/>
                <a:ea typeface="+mn-ea"/>
                <a:cs typeface="+mn-cs"/>
              </a:defRPr>
            </a:pPr>
            <a:r>
              <a:rPr lang="en-US"/>
              <a:t>Exam Scores</a:t>
            </a:r>
          </a:p>
        </c:rich>
      </c:tx>
      <c:overlay val="0"/>
      <c:spPr>
        <a:noFill/>
        <a:ln>
          <a:noFill/>
        </a:ln>
        <a:effectLst/>
      </c:spPr>
      <c:txPr>
        <a:bodyPr rot="0" spcFirstLastPara="1" vertOverflow="ellipsis" vert="horz" wrap="square" anchor="ctr" anchorCtr="1"/>
        <a:lstStyle/>
        <a:p>
          <a:pPr>
            <a:defRPr sz="1320" b="0" i="0" u="none" strike="noStrike" kern="1200" spc="0" baseline="0">
              <a:solidFill>
                <a:sysClr val="windowText" lastClr="000000"/>
              </a:solidFill>
              <a:latin typeface="+mn-lt"/>
              <a:ea typeface="+mn-ea"/>
              <a:cs typeface="+mn-cs"/>
            </a:defRPr>
          </a:pPr>
          <a:endParaRPr lang="en-PK"/>
        </a:p>
      </c:txPr>
    </c:title>
    <c:autoTitleDeleted val="0"/>
    <c:plotArea>
      <c:layout/>
      <c:scatterChart>
        <c:scatterStyle val="lineMarker"/>
        <c:varyColors val="0"/>
        <c:ser>
          <c:idx val="0"/>
          <c:order val="0"/>
          <c:tx>
            <c:strRef>
              <c:f>'single-var'!$C$1</c:f>
              <c:strCache>
                <c:ptCount val="1"/>
                <c:pt idx="0">
                  <c:v>Exam Score</c:v>
                </c:pt>
              </c:strCache>
            </c:strRef>
          </c:tx>
          <c:spPr>
            <a:ln w="38100" cap="rnd">
              <a:no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PK"/>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'single-var'!$B$2:$B$10</c:f>
              <c:numCache>
                <c:formatCode>General</c:formatCode>
                <c:ptCount val="9"/>
                <c:pt idx="0">
                  <c:v>2</c:v>
                </c:pt>
                <c:pt idx="1">
                  <c:v>4</c:v>
                </c:pt>
                <c:pt idx="2">
                  <c:v>3</c:v>
                </c:pt>
                <c:pt idx="3">
                  <c:v>6</c:v>
                </c:pt>
                <c:pt idx="4">
                  <c:v>5</c:v>
                </c:pt>
                <c:pt idx="5">
                  <c:v>4</c:v>
                </c:pt>
                <c:pt idx="6">
                  <c:v>7</c:v>
                </c:pt>
                <c:pt idx="7">
                  <c:v>3</c:v>
                </c:pt>
                <c:pt idx="8">
                  <c:v>1</c:v>
                </c:pt>
              </c:numCache>
            </c:numRef>
          </c:xVal>
          <c:yVal>
            <c:numRef>
              <c:f>'single-var'!$C$2:$C$10</c:f>
              <c:numCache>
                <c:formatCode>General</c:formatCode>
                <c:ptCount val="9"/>
                <c:pt idx="0">
                  <c:v>67</c:v>
                </c:pt>
                <c:pt idx="1">
                  <c:v>62</c:v>
                </c:pt>
                <c:pt idx="2">
                  <c:v>61</c:v>
                </c:pt>
                <c:pt idx="3">
                  <c:v>93</c:v>
                </c:pt>
                <c:pt idx="5">
                  <c:v>76</c:v>
                </c:pt>
                <c:pt idx="6">
                  <c:v>71</c:v>
                </c:pt>
                <c:pt idx="7">
                  <c:v>69</c:v>
                </c:pt>
                <c:pt idx="8">
                  <c:v>52</c:v>
                </c:pt>
              </c:numCache>
            </c:numRef>
          </c:yVal>
          <c:smooth val="0"/>
          <c:extLst>
            <c:ext xmlns:c16="http://schemas.microsoft.com/office/drawing/2014/chart" uri="{C3380CC4-5D6E-409C-BE32-E72D297353CC}">
              <c16:uniqueId val="{00000000-2F07-4636-859E-7985B7DCE204}"/>
            </c:ext>
          </c:extLst>
        </c:ser>
        <c:dLbls>
          <c:dLblPos val="t"/>
          <c:showLegendKey val="0"/>
          <c:showVal val="1"/>
          <c:showCatName val="0"/>
          <c:showSerName val="0"/>
          <c:showPercent val="0"/>
          <c:showBubbleSize val="0"/>
        </c:dLbls>
        <c:axId val="1809922687"/>
        <c:axId val="1809925087"/>
      </c:scatterChart>
      <c:valAx>
        <c:axId val="1809922687"/>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r>
                  <a:rPr lang="en-GB"/>
                  <a:t>Hours of Study</a:t>
                </a:r>
              </a:p>
            </c:rich>
          </c:tx>
          <c:overlay val="0"/>
          <c:spPr>
            <a:noFill/>
            <a:ln>
              <a:noFill/>
            </a:ln>
            <a:effectLst/>
          </c:spPr>
          <c:txPr>
            <a:bodyPr rot="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PK"/>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PK"/>
          </a:p>
        </c:txPr>
        <c:crossAx val="1809925087"/>
        <c:crosses val="autoZero"/>
        <c:crossBetween val="midCat"/>
      </c:valAx>
      <c:valAx>
        <c:axId val="1809925087"/>
        <c:scaling>
          <c:orientation val="minMax"/>
          <c:min val="5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PK"/>
          </a:p>
        </c:txPr>
        <c:crossAx val="1809922687"/>
        <c:crosses val="autoZero"/>
        <c:crossBetween val="midCat"/>
      </c:valAx>
      <c:spPr>
        <a:noFill/>
        <a:ln>
          <a:noFill/>
        </a:ln>
        <a:effectLst/>
      </c:spPr>
    </c:plotArea>
    <c:plotVisOnly val="1"/>
    <c:dispBlanksAs val="gap"/>
    <c:showDLblsOverMax val="0"/>
  </c:chart>
  <c:spPr>
    <a:noFill/>
    <a:ln>
      <a:noFill/>
    </a:ln>
    <a:effectLst/>
  </c:spPr>
  <c:txPr>
    <a:bodyPr/>
    <a:lstStyle/>
    <a:p>
      <a:pPr>
        <a:defRPr sz="1100">
          <a:solidFill>
            <a:sysClr val="windowText" lastClr="000000"/>
          </a:solidFill>
        </a:defRPr>
      </a:pPr>
      <a:endParaRPr lang="en-PK"/>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80" b="0" i="0" u="none" strike="noStrike" kern="1200" spc="0" baseline="0">
                <a:solidFill>
                  <a:sysClr val="windowText" lastClr="000000"/>
                </a:solidFill>
                <a:latin typeface="+mn-lt"/>
                <a:ea typeface="+mn-ea"/>
                <a:cs typeface="+mn-cs"/>
              </a:defRPr>
            </a:pPr>
            <a:r>
              <a:rPr lang="en-US"/>
              <a:t>Exam Scores</a:t>
            </a:r>
          </a:p>
        </c:rich>
      </c:tx>
      <c:overlay val="0"/>
      <c:spPr>
        <a:noFill/>
        <a:ln>
          <a:noFill/>
        </a:ln>
        <a:effectLst/>
      </c:spPr>
      <c:txPr>
        <a:bodyPr rot="0" spcFirstLastPara="1" vertOverflow="ellipsis" vert="horz" wrap="square" anchor="ctr" anchorCtr="1"/>
        <a:lstStyle/>
        <a:p>
          <a:pPr>
            <a:defRPr sz="1080" b="0" i="0" u="none" strike="noStrike" kern="1200" spc="0" baseline="0">
              <a:solidFill>
                <a:sysClr val="windowText" lastClr="000000"/>
              </a:solidFill>
              <a:latin typeface="+mn-lt"/>
              <a:ea typeface="+mn-ea"/>
              <a:cs typeface="+mn-cs"/>
            </a:defRPr>
          </a:pPr>
          <a:endParaRPr lang="en-PK"/>
        </a:p>
      </c:txPr>
    </c:title>
    <c:autoTitleDeleted val="0"/>
    <c:plotArea>
      <c:layout/>
      <c:scatterChart>
        <c:scatterStyle val="lineMarker"/>
        <c:varyColors val="0"/>
        <c:ser>
          <c:idx val="0"/>
          <c:order val="0"/>
          <c:tx>
            <c:strRef>
              <c:f>'single-var'!$C$1</c:f>
              <c:strCache>
                <c:ptCount val="1"/>
                <c:pt idx="0">
                  <c:v>Exam Score</c:v>
                </c:pt>
              </c:strCache>
            </c:strRef>
          </c:tx>
          <c:spPr>
            <a:ln w="38100" cap="rnd">
              <a:no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PK"/>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trendline>
            <c:spPr>
              <a:ln w="19050" cap="rnd">
                <a:solidFill>
                  <a:schemeClr val="accent1"/>
                </a:solidFill>
                <a:prstDash val="sysDot"/>
              </a:ln>
              <a:effectLst/>
            </c:spPr>
            <c:trendlineType val="linear"/>
            <c:dispRSqr val="0"/>
            <c:dispEq val="0"/>
          </c:trendline>
          <c:xVal>
            <c:numRef>
              <c:f>'single-var'!$B$2:$B$10</c:f>
              <c:numCache>
                <c:formatCode>General</c:formatCode>
                <c:ptCount val="9"/>
                <c:pt idx="0">
                  <c:v>2</c:v>
                </c:pt>
                <c:pt idx="1">
                  <c:v>4</c:v>
                </c:pt>
                <c:pt idx="2">
                  <c:v>3</c:v>
                </c:pt>
                <c:pt idx="3">
                  <c:v>6</c:v>
                </c:pt>
                <c:pt idx="4">
                  <c:v>5</c:v>
                </c:pt>
                <c:pt idx="5">
                  <c:v>4</c:v>
                </c:pt>
                <c:pt idx="6">
                  <c:v>7</c:v>
                </c:pt>
                <c:pt idx="7">
                  <c:v>3</c:v>
                </c:pt>
                <c:pt idx="8">
                  <c:v>1</c:v>
                </c:pt>
              </c:numCache>
            </c:numRef>
          </c:xVal>
          <c:yVal>
            <c:numRef>
              <c:f>'single-var'!$C$2:$C$10</c:f>
              <c:numCache>
                <c:formatCode>General</c:formatCode>
                <c:ptCount val="9"/>
                <c:pt idx="0">
                  <c:v>67</c:v>
                </c:pt>
                <c:pt idx="1">
                  <c:v>62</c:v>
                </c:pt>
                <c:pt idx="2">
                  <c:v>61</c:v>
                </c:pt>
                <c:pt idx="3">
                  <c:v>93</c:v>
                </c:pt>
                <c:pt idx="5">
                  <c:v>76</c:v>
                </c:pt>
                <c:pt idx="6">
                  <c:v>71</c:v>
                </c:pt>
                <c:pt idx="7">
                  <c:v>69</c:v>
                </c:pt>
                <c:pt idx="8">
                  <c:v>52</c:v>
                </c:pt>
              </c:numCache>
            </c:numRef>
          </c:yVal>
          <c:smooth val="0"/>
          <c:extLst>
            <c:ext xmlns:c16="http://schemas.microsoft.com/office/drawing/2014/chart" uri="{C3380CC4-5D6E-409C-BE32-E72D297353CC}">
              <c16:uniqueId val="{00000000-2F07-4636-859E-7985B7DCE204}"/>
            </c:ext>
          </c:extLst>
        </c:ser>
        <c:dLbls>
          <c:dLblPos val="t"/>
          <c:showLegendKey val="0"/>
          <c:showVal val="1"/>
          <c:showCatName val="0"/>
          <c:showSerName val="0"/>
          <c:showPercent val="0"/>
          <c:showBubbleSize val="0"/>
        </c:dLbls>
        <c:axId val="1809922687"/>
        <c:axId val="1809925087"/>
      </c:scatterChart>
      <c:valAx>
        <c:axId val="1809922687"/>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r>
                  <a:rPr lang="en-GB"/>
                  <a:t>Hours of Study</a:t>
                </a:r>
              </a:p>
            </c:rich>
          </c:tx>
          <c:overlay val="0"/>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PK"/>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PK"/>
          </a:p>
        </c:txPr>
        <c:crossAx val="1809925087"/>
        <c:crosses val="autoZero"/>
        <c:crossBetween val="midCat"/>
      </c:valAx>
      <c:valAx>
        <c:axId val="1809925087"/>
        <c:scaling>
          <c:orientation val="minMax"/>
          <c:min val="5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PK"/>
          </a:p>
        </c:txPr>
        <c:crossAx val="1809922687"/>
        <c:crosses val="autoZero"/>
        <c:crossBetween val="midCat"/>
      </c:valAx>
      <c:spPr>
        <a:noFill/>
        <a:ln>
          <a:noFill/>
        </a:ln>
        <a:effectLst/>
      </c:spPr>
    </c:plotArea>
    <c:plotVisOnly val="1"/>
    <c:dispBlanksAs val="gap"/>
    <c:showDLblsOverMax val="0"/>
  </c:chart>
  <c:spPr>
    <a:noFill/>
    <a:ln>
      <a:noFill/>
    </a:ln>
    <a:effectLst/>
  </c:spPr>
  <c:txPr>
    <a:bodyPr/>
    <a:lstStyle/>
    <a:p>
      <a:pPr>
        <a:defRPr sz="900">
          <a:solidFill>
            <a:sysClr val="windowText" lastClr="000000"/>
          </a:solidFill>
        </a:defRPr>
      </a:pPr>
      <a:endParaRPr lang="en-PK"/>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80" b="0" i="0" u="none" strike="noStrike" kern="1200" spc="0" baseline="0">
                <a:solidFill>
                  <a:sysClr val="windowText" lastClr="000000"/>
                </a:solidFill>
                <a:latin typeface="+mn-lt"/>
                <a:ea typeface="+mn-ea"/>
                <a:cs typeface="+mn-cs"/>
              </a:defRPr>
            </a:pPr>
            <a:r>
              <a:rPr lang="en-US"/>
              <a:t>Exam Scores</a:t>
            </a:r>
          </a:p>
        </c:rich>
      </c:tx>
      <c:overlay val="0"/>
      <c:spPr>
        <a:noFill/>
        <a:ln>
          <a:noFill/>
        </a:ln>
        <a:effectLst/>
      </c:spPr>
      <c:txPr>
        <a:bodyPr rot="0" spcFirstLastPara="1" vertOverflow="ellipsis" vert="horz" wrap="square" anchor="ctr" anchorCtr="1"/>
        <a:lstStyle/>
        <a:p>
          <a:pPr>
            <a:defRPr sz="1080" b="0" i="0" u="none" strike="noStrike" kern="1200" spc="0" baseline="0">
              <a:solidFill>
                <a:sysClr val="windowText" lastClr="000000"/>
              </a:solidFill>
              <a:latin typeface="+mn-lt"/>
              <a:ea typeface="+mn-ea"/>
              <a:cs typeface="+mn-cs"/>
            </a:defRPr>
          </a:pPr>
          <a:endParaRPr lang="en-PK"/>
        </a:p>
      </c:txPr>
    </c:title>
    <c:autoTitleDeleted val="0"/>
    <c:plotArea>
      <c:layout/>
      <c:scatterChart>
        <c:scatterStyle val="lineMarker"/>
        <c:varyColors val="0"/>
        <c:ser>
          <c:idx val="0"/>
          <c:order val="0"/>
          <c:tx>
            <c:strRef>
              <c:f>'single-var'!$C$1</c:f>
              <c:strCache>
                <c:ptCount val="1"/>
                <c:pt idx="0">
                  <c:v>Exam Score</c:v>
                </c:pt>
              </c:strCache>
            </c:strRef>
          </c:tx>
          <c:spPr>
            <a:ln w="38100" cap="rnd">
              <a:no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PK"/>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trendline>
            <c:spPr>
              <a:ln w="19050" cap="rnd">
                <a:solidFill>
                  <a:schemeClr val="accent1"/>
                </a:solidFill>
                <a:prstDash val="sysDot"/>
              </a:ln>
              <a:effectLst/>
            </c:spPr>
            <c:trendlineType val="linear"/>
            <c:dispRSqr val="0"/>
            <c:dispEq val="0"/>
          </c:trendline>
          <c:xVal>
            <c:numRef>
              <c:f>'single-var'!$B$2:$B$10</c:f>
              <c:numCache>
                <c:formatCode>General</c:formatCode>
                <c:ptCount val="9"/>
                <c:pt idx="0">
                  <c:v>2</c:v>
                </c:pt>
                <c:pt idx="1">
                  <c:v>4</c:v>
                </c:pt>
                <c:pt idx="2">
                  <c:v>3</c:v>
                </c:pt>
                <c:pt idx="3">
                  <c:v>6</c:v>
                </c:pt>
                <c:pt idx="4">
                  <c:v>5</c:v>
                </c:pt>
                <c:pt idx="5">
                  <c:v>4</c:v>
                </c:pt>
                <c:pt idx="6">
                  <c:v>7</c:v>
                </c:pt>
                <c:pt idx="7">
                  <c:v>3</c:v>
                </c:pt>
                <c:pt idx="8">
                  <c:v>1</c:v>
                </c:pt>
              </c:numCache>
            </c:numRef>
          </c:xVal>
          <c:yVal>
            <c:numRef>
              <c:f>'single-var'!$C$2:$C$10</c:f>
              <c:numCache>
                <c:formatCode>General</c:formatCode>
                <c:ptCount val="9"/>
                <c:pt idx="0">
                  <c:v>67</c:v>
                </c:pt>
                <c:pt idx="1">
                  <c:v>62</c:v>
                </c:pt>
                <c:pt idx="2">
                  <c:v>61</c:v>
                </c:pt>
                <c:pt idx="3">
                  <c:v>93</c:v>
                </c:pt>
                <c:pt idx="5">
                  <c:v>76</c:v>
                </c:pt>
                <c:pt idx="6">
                  <c:v>71</c:v>
                </c:pt>
                <c:pt idx="7">
                  <c:v>69</c:v>
                </c:pt>
                <c:pt idx="8">
                  <c:v>52</c:v>
                </c:pt>
              </c:numCache>
            </c:numRef>
          </c:yVal>
          <c:smooth val="0"/>
          <c:extLst>
            <c:ext xmlns:c16="http://schemas.microsoft.com/office/drawing/2014/chart" uri="{C3380CC4-5D6E-409C-BE32-E72D297353CC}">
              <c16:uniqueId val="{00000001-5545-4736-AD69-83E2DB20671A}"/>
            </c:ext>
          </c:extLst>
        </c:ser>
        <c:dLbls>
          <c:dLblPos val="t"/>
          <c:showLegendKey val="0"/>
          <c:showVal val="1"/>
          <c:showCatName val="0"/>
          <c:showSerName val="0"/>
          <c:showPercent val="0"/>
          <c:showBubbleSize val="0"/>
        </c:dLbls>
        <c:axId val="1809922687"/>
        <c:axId val="1809925087"/>
      </c:scatterChart>
      <c:valAx>
        <c:axId val="1809922687"/>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r>
                  <a:rPr lang="en-GB"/>
                  <a:t>Hours of Study</a:t>
                </a:r>
              </a:p>
            </c:rich>
          </c:tx>
          <c:overlay val="0"/>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PK"/>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PK"/>
          </a:p>
        </c:txPr>
        <c:crossAx val="1809925087"/>
        <c:crosses val="autoZero"/>
        <c:crossBetween val="midCat"/>
      </c:valAx>
      <c:valAx>
        <c:axId val="1809925087"/>
        <c:scaling>
          <c:orientation val="minMax"/>
          <c:min val="5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PK"/>
          </a:p>
        </c:txPr>
        <c:crossAx val="1809922687"/>
        <c:crosses val="autoZero"/>
        <c:crossBetween val="midCat"/>
      </c:valAx>
      <c:spPr>
        <a:noFill/>
        <a:ln>
          <a:noFill/>
        </a:ln>
        <a:effectLst/>
      </c:spPr>
    </c:plotArea>
    <c:plotVisOnly val="1"/>
    <c:dispBlanksAs val="gap"/>
    <c:showDLblsOverMax val="0"/>
  </c:chart>
  <c:spPr>
    <a:noFill/>
    <a:ln>
      <a:noFill/>
    </a:ln>
    <a:effectLst/>
  </c:spPr>
  <c:txPr>
    <a:bodyPr/>
    <a:lstStyle/>
    <a:p>
      <a:pPr>
        <a:defRPr sz="900">
          <a:solidFill>
            <a:sysClr val="windowText" lastClr="000000"/>
          </a:solidFill>
        </a:defRPr>
      </a:pPr>
      <a:endParaRPr lang="en-PK"/>
    </a:p>
  </c:txPr>
  <c:externalData r:id="rId3">
    <c:autoUpdate val="0"/>
  </c:externalData>
  <c:userShapes r:id="rId4"/>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320" b="0" i="1" u="none" strike="noStrike" kern="1200" spc="0" baseline="0">
                <a:solidFill>
                  <a:sysClr val="windowText" lastClr="000000"/>
                </a:solidFill>
                <a:latin typeface="+mn-lt"/>
                <a:ea typeface="+mn-ea"/>
                <a:cs typeface="+mn-cs"/>
              </a:defRPr>
            </a:pPr>
            <a:r>
              <a:rPr lang="en-GB" i="1"/>
              <a:t>y=x</a:t>
            </a:r>
          </a:p>
        </c:rich>
      </c:tx>
      <c:overlay val="0"/>
      <c:spPr>
        <a:noFill/>
        <a:ln>
          <a:noFill/>
        </a:ln>
        <a:effectLst/>
      </c:spPr>
      <c:txPr>
        <a:bodyPr rot="0" spcFirstLastPara="1" vertOverflow="ellipsis" vert="horz" wrap="square" anchor="ctr" anchorCtr="1"/>
        <a:lstStyle/>
        <a:p>
          <a:pPr>
            <a:defRPr sz="1320" b="0" i="1" u="none" strike="noStrike" kern="1200" spc="0" baseline="0">
              <a:solidFill>
                <a:sysClr val="windowText" lastClr="000000"/>
              </a:solidFill>
              <a:latin typeface="+mn-lt"/>
              <a:ea typeface="+mn-ea"/>
              <a:cs typeface="+mn-cs"/>
            </a:defRPr>
          </a:pPr>
          <a:endParaRPr lang="en-PK"/>
        </a:p>
      </c:txPr>
    </c:title>
    <c:autoTitleDeleted val="0"/>
    <c:plotArea>
      <c:layout/>
      <c:scatterChart>
        <c:scatterStyle val="lineMarker"/>
        <c:varyColors val="0"/>
        <c:ser>
          <c:idx val="0"/>
          <c:order val="0"/>
          <c:tx>
            <c:strRef>
              <c:f>'single-var'!$B$24</c:f>
              <c:strCache>
                <c:ptCount val="1"/>
                <c:pt idx="0">
                  <c:v>y</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'single-var'!$A$25:$A$35</c:f>
              <c:numCache>
                <c:formatCode>General</c:formatCode>
                <c:ptCount val="11"/>
                <c:pt idx="0">
                  <c:v>0</c:v>
                </c:pt>
                <c:pt idx="1">
                  <c:v>1</c:v>
                </c:pt>
                <c:pt idx="2">
                  <c:v>2</c:v>
                </c:pt>
                <c:pt idx="3">
                  <c:v>3</c:v>
                </c:pt>
                <c:pt idx="4">
                  <c:v>4</c:v>
                </c:pt>
                <c:pt idx="5">
                  <c:v>5</c:v>
                </c:pt>
                <c:pt idx="6">
                  <c:v>6</c:v>
                </c:pt>
                <c:pt idx="7">
                  <c:v>7</c:v>
                </c:pt>
                <c:pt idx="8">
                  <c:v>8</c:v>
                </c:pt>
                <c:pt idx="9">
                  <c:v>9</c:v>
                </c:pt>
              </c:numCache>
            </c:numRef>
          </c:xVal>
          <c:yVal>
            <c:numRef>
              <c:f>'single-var'!$B$25:$B$35</c:f>
              <c:numCache>
                <c:formatCode>General</c:formatCode>
                <c:ptCount val="11"/>
                <c:pt idx="0">
                  <c:v>0</c:v>
                </c:pt>
                <c:pt idx="1">
                  <c:v>1</c:v>
                </c:pt>
                <c:pt idx="2">
                  <c:v>2</c:v>
                </c:pt>
                <c:pt idx="3">
                  <c:v>3</c:v>
                </c:pt>
                <c:pt idx="4">
                  <c:v>4</c:v>
                </c:pt>
                <c:pt idx="5">
                  <c:v>5</c:v>
                </c:pt>
                <c:pt idx="6">
                  <c:v>6</c:v>
                </c:pt>
                <c:pt idx="7">
                  <c:v>7</c:v>
                </c:pt>
                <c:pt idx="8">
                  <c:v>8</c:v>
                </c:pt>
                <c:pt idx="9">
                  <c:v>9</c:v>
                </c:pt>
              </c:numCache>
            </c:numRef>
          </c:yVal>
          <c:smooth val="0"/>
          <c:extLst>
            <c:ext xmlns:c16="http://schemas.microsoft.com/office/drawing/2014/chart" uri="{C3380CC4-5D6E-409C-BE32-E72D297353CC}">
              <c16:uniqueId val="{00000000-FB6C-4B2A-95AE-BC901765BA76}"/>
            </c:ext>
          </c:extLst>
        </c:ser>
        <c:dLbls>
          <c:showLegendKey val="0"/>
          <c:showVal val="0"/>
          <c:showCatName val="0"/>
          <c:showSerName val="0"/>
          <c:showPercent val="0"/>
          <c:showBubbleSize val="0"/>
        </c:dLbls>
        <c:axId val="1754509375"/>
        <c:axId val="1754509855"/>
      </c:scatterChart>
      <c:valAx>
        <c:axId val="1754509375"/>
        <c:scaling>
          <c:orientation val="minMax"/>
          <c:max val="1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r>
                  <a:rPr lang="en-GB"/>
                  <a:t>x</a:t>
                </a:r>
              </a:p>
            </c:rich>
          </c:tx>
          <c:overlay val="0"/>
          <c:spPr>
            <a:noFill/>
            <a:ln>
              <a:noFill/>
            </a:ln>
            <a:effectLst/>
          </c:spPr>
          <c:txPr>
            <a:bodyPr rot="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PK"/>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PK"/>
          </a:p>
        </c:txPr>
        <c:crossAx val="1754509855"/>
        <c:crosses val="autoZero"/>
        <c:crossBetween val="midCat"/>
        <c:majorUnit val="1"/>
      </c:valAx>
      <c:valAx>
        <c:axId val="1754509855"/>
        <c:scaling>
          <c:orientation val="minMax"/>
          <c:max val="1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r>
                  <a:rPr lang="en-GB"/>
                  <a:t>y</a:t>
                </a:r>
              </a:p>
            </c:rich>
          </c:tx>
          <c:overlay val="0"/>
          <c:spPr>
            <a:noFill/>
            <a:ln>
              <a:noFill/>
            </a:ln>
            <a:effectLst/>
          </c:spPr>
          <c:txPr>
            <a:bodyPr rot="-540000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PK"/>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PK"/>
          </a:p>
        </c:txPr>
        <c:crossAx val="1754509375"/>
        <c:crosses val="autoZero"/>
        <c:crossBetween val="midCat"/>
      </c:valAx>
      <c:spPr>
        <a:noFill/>
        <a:ln>
          <a:noFill/>
        </a:ln>
        <a:effectLst/>
      </c:spPr>
    </c:plotArea>
    <c:plotVisOnly val="1"/>
    <c:dispBlanksAs val="gap"/>
    <c:showDLblsOverMax val="0"/>
  </c:chart>
  <c:spPr>
    <a:noFill/>
    <a:ln>
      <a:noFill/>
    </a:ln>
    <a:effectLst/>
  </c:spPr>
  <c:txPr>
    <a:bodyPr/>
    <a:lstStyle/>
    <a:p>
      <a:pPr>
        <a:defRPr sz="1100">
          <a:solidFill>
            <a:sysClr val="windowText" lastClr="000000"/>
          </a:solidFill>
        </a:defRPr>
      </a:pPr>
      <a:endParaRPr lang="en-PK"/>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320" b="0" i="1" u="none" strike="noStrike" kern="1200" spc="0" baseline="0">
                <a:solidFill>
                  <a:sysClr val="windowText" lastClr="000000"/>
                </a:solidFill>
                <a:latin typeface="+mn-lt"/>
                <a:ea typeface="+mn-ea"/>
                <a:cs typeface="+mn-cs"/>
              </a:defRPr>
            </a:pPr>
            <a:r>
              <a:rPr lang="en-GB" i="1"/>
              <a:t>y=x+c</a:t>
            </a:r>
          </a:p>
        </c:rich>
      </c:tx>
      <c:overlay val="0"/>
      <c:spPr>
        <a:noFill/>
        <a:ln>
          <a:noFill/>
        </a:ln>
        <a:effectLst/>
      </c:spPr>
      <c:txPr>
        <a:bodyPr rot="0" spcFirstLastPara="1" vertOverflow="ellipsis" vert="horz" wrap="square" anchor="ctr" anchorCtr="1"/>
        <a:lstStyle/>
        <a:p>
          <a:pPr>
            <a:defRPr sz="1320" b="0" i="1" u="none" strike="noStrike" kern="1200" spc="0" baseline="0">
              <a:solidFill>
                <a:sysClr val="windowText" lastClr="000000"/>
              </a:solidFill>
              <a:latin typeface="+mn-lt"/>
              <a:ea typeface="+mn-ea"/>
              <a:cs typeface="+mn-cs"/>
            </a:defRPr>
          </a:pPr>
          <a:endParaRPr lang="en-PK"/>
        </a:p>
      </c:txPr>
    </c:title>
    <c:autoTitleDeleted val="0"/>
    <c:plotArea>
      <c:layout/>
      <c:scatterChart>
        <c:scatterStyle val="lineMarker"/>
        <c:varyColors val="0"/>
        <c:ser>
          <c:idx val="0"/>
          <c:order val="0"/>
          <c:tx>
            <c:strRef>
              <c:f>'single-var'!$C$24</c:f>
              <c:strCache>
                <c:ptCount val="1"/>
                <c:pt idx="0">
                  <c:v>y+1</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'single-var'!$A$25:$A$35</c:f>
              <c:numCache>
                <c:formatCode>General</c:formatCode>
                <c:ptCount val="11"/>
                <c:pt idx="0">
                  <c:v>0</c:v>
                </c:pt>
                <c:pt idx="1">
                  <c:v>1</c:v>
                </c:pt>
                <c:pt idx="2">
                  <c:v>2</c:v>
                </c:pt>
                <c:pt idx="3">
                  <c:v>3</c:v>
                </c:pt>
                <c:pt idx="4">
                  <c:v>4</c:v>
                </c:pt>
                <c:pt idx="5">
                  <c:v>5</c:v>
                </c:pt>
                <c:pt idx="6">
                  <c:v>6</c:v>
                </c:pt>
                <c:pt idx="7">
                  <c:v>7</c:v>
                </c:pt>
                <c:pt idx="8">
                  <c:v>8</c:v>
                </c:pt>
                <c:pt idx="9">
                  <c:v>9</c:v>
                </c:pt>
              </c:numCache>
            </c:numRef>
          </c:xVal>
          <c:yVal>
            <c:numRef>
              <c:f>'single-var'!$C$25:$C$35</c:f>
              <c:numCache>
                <c:formatCode>General</c:formatCode>
                <c:ptCount val="11"/>
                <c:pt idx="0">
                  <c:v>1</c:v>
                </c:pt>
                <c:pt idx="1">
                  <c:v>2</c:v>
                </c:pt>
                <c:pt idx="2">
                  <c:v>3</c:v>
                </c:pt>
                <c:pt idx="3">
                  <c:v>4</c:v>
                </c:pt>
                <c:pt idx="4">
                  <c:v>5</c:v>
                </c:pt>
                <c:pt idx="5">
                  <c:v>6</c:v>
                </c:pt>
                <c:pt idx="6">
                  <c:v>7</c:v>
                </c:pt>
                <c:pt idx="7">
                  <c:v>8</c:v>
                </c:pt>
                <c:pt idx="8">
                  <c:v>9</c:v>
                </c:pt>
                <c:pt idx="9">
                  <c:v>10</c:v>
                </c:pt>
              </c:numCache>
            </c:numRef>
          </c:yVal>
          <c:smooth val="0"/>
          <c:extLst>
            <c:ext xmlns:c16="http://schemas.microsoft.com/office/drawing/2014/chart" uri="{C3380CC4-5D6E-409C-BE32-E72D297353CC}">
              <c16:uniqueId val="{00000000-5C6C-412C-9B28-AFC758067ABC}"/>
            </c:ext>
          </c:extLst>
        </c:ser>
        <c:dLbls>
          <c:showLegendKey val="0"/>
          <c:showVal val="0"/>
          <c:showCatName val="0"/>
          <c:showSerName val="0"/>
          <c:showPercent val="0"/>
          <c:showBubbleSize val="0"/>
        </c:dLbls>
        <c:axId val="1754509375"/>
        <c:axId val="1754509855"/>
      </c:scatterChart>
      <c:valAx>
        <c:axId val="1754509375"/>
        <c:scaling>
          <c:orientation val="minMax"/>
          <c:max val="1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r>
                  <a:rPr lang="en-GB"/>
                  <a:t>x</a:t>
                </a:r>
              </a:p>
            </c:rich>
          </c:tx>
          <c:overlay val="0"/>
          <c:spPr>
            <a:noFill/>
            <a:ln>
              <a:noFill/>
            </a:ln>
            <a:effectLst/>
          </c:spPr>
          <c:txPr>
            <a:bodyPr rot="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PK"/>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PK"/>
          </a:p>
        </c:txPr>
        <c:crossAx val="1754509855"/>
        <c:crosses val="autoZero"/>
        <c:crossBetween val="midCat"/>
        <c:majorUnit val="1"/>
      </c:valAx>
      <c:valAx>
        <c:axId val="1754509855"/>
        <c:scaling>
          <c:orientation val="minMax"/>
          <c:max val="1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r>
                  <a:rPr lang="en-GB"/>
                  <a:t>y</a:t>
                </a:r>
              </a:p>
            </c:rich>
          </c:tx>
          <c:overlay val="0"/>
          <c:spPr>
            <a:noFill/>
            <a:ln>
              <a:noFill/>
            </a:ln>
            <a:effectLst/>
          </c:spPr>
          <c:txPr>
            <a:bodyPr rot="-540000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PK"/>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PK"/>
          </a:p>
        </c:txPr>
        <c:crossAx val="1754509375"/>
        <c:crosses val="autoZero"/>
        <c:crossBetween val="midCat"/>
      </c:valAx>
      <c:spPr>
        <a:noFill/>
        <a:ln>
          <a:noFill/>
        </a:ln>
        <a:effectLst/>
      </c:spPr>
    </c:plotArea>
    <c:plotVisOnly val="1"/>
    <c:dispBlanksAs val="gap"/>
    <c:showDLblsOverMax val="0"/>
  </c:chart>
  <c:spPr>
    <a:noFill/>
    <a:ln>
      <a:noFill/>
    </a:ln>
    <a:effectLst/>
  </c:spPr>
  <c:txPr>
    <a:bodyPr/>
    <a:lstStyle/>
    <a:p>
      <a:pPr>
        <a:defRPr sz="1100">
          <a:solidFill>
            <a:sysClr val="windowText" lastClr="000000"/>
          </a:solidFill>
        </a:defRPr>
      </a:pPr>
      <a:endParaRPr lang="en-PK"/>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320" b="0" i="0" u="none" strike="noStrike" kern="1200" spc="0" baseline="0">
                <a:solidFill>
                  <a:sysClr val="windowText" lastClr="000000"/>
                </a:solidFill>
                <a:latin typeface="+mn-lt"/>
                <a:ea typeface="+mn-ea"/>
                <a:cs typeface="+mn-cs"/>
              </a:defRPr>
            </a:pPr>
            <a:r>
              <a:rPr lang="en-US"/>
              <a:t>Exam Scores</a:t>
            </a:r>
          </a:p>
        </c:rich>
      </c:tx>
      <c:overlay val="0"/>
      <c:spPr>
        <a:noFill/>
        <a:ln>
          <a:noFill/>
        </a:ln>
        <a:effectLst/>
      </c:spPr>
      <c:txPr>
        <a:bodyPr rot="0" spcFirstLastPara="1" vertOverflow="ellipsis" vert="horz" wrap="square" anchor="ctr" anchorCtr="1"/>
        <a:lstStyle/>
        <a:p>
          <a:pPr>
            <a:defRPr sz="1320" b="0" i="0" u="none" strike="noStrike" kern="1200" spc="0" baseline="0">
              <a:solidFill>
                <a:sysClr val="windowText" lastClr="000000"/>
              </a:solidFill>
              <a:latin typeface="+mn-lt"/>
              <a:ea typeface="+mn-ea"/>
              <a:cs typeface="+mn-cs"/>
            </a:defRPr>
          </a:pPr>
          <a:endParaRPr lang="en-PK"/>
        </a:p>
      </c:txPr>
    </c:title>
    <c:autoTitleDeleted val="0"/>
    <c:plotArea>
      <c:layout/>
      <c:scatterChart>
        <c:scatterStyle val="lineMarker"/>
        <c:varyColors val="0"/>
        <c:ser>
          <c:idx val="0"/>
          <c:order val="0"/>
          <c:tx>
            <c:strRef>
              <c:f>'single-var'!$C$1</c:f>
              <c:strCache>
                <c:ptCount val="1"/>
                <c:pt idx="0">
                  <c:v>Exam Score</c:v>
                </c:pt>
              </c:strCache>
            </c:strRef>
          </c:tx>
          <c:spPr>
            <a:ln w="38100" cap="rnd">
              <a:no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PK"/>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trendline>
            <c:spPr>
              <a:ln w="19050" cap="rnd">
                <a:solidFill>
                  <a:schemeClr val="accent1"/>
                </a:solidFill>
                <a:prstDash val="sysDot"/>
              </a:ln>
              <a:effectLst/>
            </c:spPr>
            <c:trendlineType val="linear"/>
            <c:dispRSqr val="0"/>
            <c:dispEq val="0"/>
          </c:trendline>
          <c:xVal>
            <c:numRef>
              <c:f>'single-var'!$B$2:$B$10</c:f>
              <c:numCache>
                <c:formatCode>General</c:formatCode>
                <c:ptCount val="9"/>
                <c:pt idx="0">
                  <c:v>2</c:v>
                </c:pt>
                <c:pt idx="1">
                  <c:v>4</c:v>
                </c:pt>
                <c:pt idx="2">
                  <c:v>3</c:v>
                </c:pt>
                <c:pt idx="3">
                  <c:v>6</c:v>
                </c:pt>
                <c:pt idx="4">
                  <c:v>5</c:v>
                </c:pt>
                <c:pt idx="5">
                  <c:v>4</c:v>
                </c:pt>
                <c:pt idx="6">
                  <c:v>7</c:v>
                </c:pt>
                <c:pt idx="7">
                  <c:v>3</c:v>
                </c:pt>
                <c:pt idx="8">
                  <c:v>1</c:v>
                </c:pt>
              </c:numCache>
            </c:numRef>
          </c:xVal>
          <c:yVal>
            <c:numRef>
              <c:f>'single-var'!$C$2:$C$10</c:f>
              <c:numCache>
                <c:formatCode>General</c:formatCode>
                <c:ptCount val="9"/>
                <c:pt idx="0">
                  <c:v>67</c:v>
                </c:pt>
                <c:pt idx="1">
                  <c:v>62</c:v>
                </c:pt>
                <c:pt idx="2">
                  <c:v>61</c:v>
                </c:pt>
                <c:pt idx="3">
                  <c:v>93</c:v>
                </c:pt>
                <c:pt idx="4">
                  <c:v>70</c:v>
                </c:pt>
                <c:pt idx="5">
                  <c:v>76</c:v>
                </c:pt>
                <c:pt idx="6">
                  <c:v>71</c:v>
                </c:pt>
                <c:pt idx="7">
                  <c:v>69</c:v>
                </c:pt>
                <c:pt idx="8">
                  <c:v>52</c:v>
                </c:pt>
              </c:numCache>
            </c:numRef>
          </c:yVal>
          <c:smooth val="0"/>
          <c:extLst>
            <c:ext xmlns:c16="http://schemas.microsoft.com/office/drawing/2014/chart" uri="{C3380CC4-5D6E-409C-BE32-E72D297353CC}">
              <c16:uniqueId val="{00000001-FC63-4DC8-9389-E7AB64DCBE9B}"/>
            </c:ext>
          </c:extLst>
        </c:ser>
        <c:dLbls>
          <c:dLblPos val="t"/>
          <c:showLegendKey val="0"/>
          <c:showVal val="1"/>
          <c:showCatName val="0"/>
          <c:showSerName val="0"/>
          <c:showPercent val="0"/>
          <c:showBubbleSize val="0"/>
        </c:dLbls>
        <c:axId val="1809922687"/>
        <c:axId val="1809925087"/>
      </c:scatterChart>
      <c:valAx>
        <c:axId val="1809922687"/>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r>
                  <a:rPr lang="en-GB"/>
                  <a:t>Hours of Study</a:t>
                </a:r>
              </a:p>
            </c:rich>
          </c:tx>
          <c:overlay val="0"/>
          <c:spPr>
            <a:noFill/>
            <a:ln>
              <a:noFill/>
            </a:ln>
            <a:effectLst/>
          </c:spPr>
          <c:txPr>
            <a:bodyPr rot="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PK"/>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PK"/>
          </a:p>
        </c:txPr>
        <c:crossAx val="1809925087"/>
        <c:crosses val="autoZero"/>
        <c:crossBetween val="midCat"/>
      </c:valAx>
      <c:valAx>
        <c:axId val="1809925087"/>
        <c:scaling>
          <c:orientation val="minMax"/>
          <c:min val="5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r>
                  <a:rPr lang="en-GB"/>
                  <a:t>Exam Score</a:t>
                </a:r>
              </a:p>
            </c:rich>
          </c:tx>
          <c:overlay val="0"/>
          <c:spPr>
            <a:noFill/>
            <a:ln>
              <a:noFill/>
            </a:ln>
            <a:effectLst/>
          </c:spPr>
          <c:txPr>
            <a:bodyPr rot="-540000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PK"/>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PK"/>
          </a:p>
        </c:txPr>
        <c:crossAx val="1809922687"/>
        <c:crosses val="autoZero"/>
        <c:crossBetween val="midCat"/>
      </c:valAx>
      <c:spPr>
        <a:noFill/>
        <a:ln>
          <a:noFill/>
        </a:ln>
        <a:effectLst/>
      </c:spPr>
    </c:plotArea>
    <c:plotVisOnly val="1"/>
    <c:dispBlanksAs val="gap"/>
    <c:showDLblsOverMax val="0"/>
  </c:chart>
  <c:spPr>
    <a:noFill/>
    <a:ln>
      <a:noFill/>
    </a:ln>
    <a:effectLst/>
  </c:spPr>
  <c:txPr>
    <a:bodyPr/>
    <a:lstStyle/>
    <a:p>
      <a:pPr>
        <a:defRPr sz="1100">
          <a:solidFill>
            <a:sysClr val="windowText" lastClr="000000"/>
          </a:solidFill>
        </a:defRPr>
      </a:pPr>
      <a:endParaRPr lang="en-PK"/>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0.08547</cdr:x>
      <cdr:y>0.4889</cdr:y>
    </cdr:from>
    <cdr:to>
      <cdr:x>0.63345</cdr:x>
      <cdr:y>0.79721</cdr:y>
    </cdr:to>
    <cdr:grpSp>
      <cdr:nvGrpSpPr>
        <cdr:cNvPr id="12" name="Group 11">
          <a:extLst xmlns:a="http://schemas.openxmlformats.org/drawingml/2006/main">
            <a:ext uri="{FF2B5EF4-FFF2-40B4-BE49-F238E27FC236}">
              <a16:creationId xmlns:a16="http://schemas.microsoft.com/office/drawing/2014/main" id="{D068DD85-AACA-EFE5-F6A1-CCC01D228F22}"/>
            </a:ext>
          </a:extLst>
        </cdr:cNvPr>
        <cdr:cNvGrpSpPr/>
      </cdr:nvGrpSpPr>
      <cdr:grpSpPr>
        <a:xfrm xmlns:a="http://schemas.openxmlformats.org/drawingml/2006/main">
          <a:off x="366722" y="1258618"/>
          <a:ext cx="2351188" cy="793710"/>
          <a:chOff x="366713" y="1258618"/>
          <a:chExt cx="2351191" cy="793714"/>
        </a:xfrm>
      </cdr:grpSpPr>
      <cdr:cxnSp macro="">
        <cdr:nvCxnSpPr>
          <cdr:cNvPr id="3" name="Straight Connector 2">
            <a:extLst xmlns:a="http://schemas.openxmlformats.org/drawingml/2006/main">
              <a:ext uri="{FF2B5EF4-FFF2-40B4-BE49-F238E27FC236}">
                <a16:creationId xmlns:a16="http://schemas.microsoft.com/office/drawing/2014/main" id="{0D7A7F4D-32C5-44BB-5C84-48360F8A525C}"/>
              </a:ext>
            </a:extLst>
          </cdr:cNvPr>
          <cdr:cNvCxnSpPr/>
        </cdr:nvCxnSpPr>
        <cdr:spPr>
          <a:xfrm xmlns:a="http://schemas.openxmlformats.org/drawingml/2006/main">
            <a:off x="2715601" y="1267572"/>
            <a:ext cx="0" cy="784760"/>
          </a:xfrm>
          <a:prstGeom xmlns:a="http://schemas.openxmlformats.org/drawingml/2006/main" prst="line">
            <a:avLst/>
          </a:prstGeom>
          <a:ln xmlns:a="http://schemas.openxmlformats.org/drawingml/2006/main" w="19050" cap="flat" cmpd="sng" algn="ctr">
            <a:solidFill>
              <a:schemeClr val="accent3"/>
            </a:solidFill>
            <a:prstDash val="dash"/>
            <a:round/>
            <a:headEnd type="none" w="med" len="med"/>
            <a:tailEnd type="none" w="med" len="med"/>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cxnSp>
      <cdr:cxnSp macro="">
        <cdr:nvCxnSpPr>
          <cdr:cNvPr id="4" name="Straight Connector 3">
            <a:extLst xmlns:a="http://schemas.openxmlformats.org/drawingml/2006/main">
              <a:ext uri="{FF2B5EF4-FFF2-40B4-BE49-F238E27FC236}">
                <a16:creationId xmlns:a16="http://schemas.microsoft.com/office/drawing/2014/main" id="{BC7F9CE8-79C1-85DA-1A70-634A6CAC4647}"/>
              </a:ext>
            </a:extLst>
          </cdr:cNvPr>
          <cdr:cNvCxnSpPr/>
        </cdr:nvCxnSpPr>
        <cdr:spPr>
          <a:xfrm xmlns:a="http://schemas.openxmlformats.org/drawingml/2006/main" flipH="1">
            <a:off x="366713" y="1258618"/>
            <a:ext cx="2351191" cy="0"/>
          </a:xfrm>
          <a:prstGeom xmlns:a="http://schemas.openxmlformats.org/drawingml/2006/main" prst="line">
            <a:avLst/>
          </a:prstGeom>
          <a:ln xmlns:a="http://schemas.openxmlformats.org/drawingml/2006/main" w="19050" cap="flat" cmpd="sng" algn="ctr">
            <a:solidFill>
              <a:schemeClr val="accent3"/>
            </a:solidFill>
            <a:prstDash val="dash"/>
            <a:round/>
            <a:headEnd type="none" w="med" len="med"/>
            <a:tailEnd type="none" w="med" len="med"/>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cxnSp>
    </cdr:grp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wired.com/story/deepfakes-getting-better-theyre-easy-spot/"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6" name="Google Shape;9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f0cfc5f271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2f0cfc5f271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5" name="Google Shape;165;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2f0cfc5f271_0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1" name="Google Shape;181;g2f0cfc5f271_0_1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2f0cfc5f271_0_3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9" name="Google Shape;189;g2f0cfc5f271_0_3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7" name="Google Shape;197;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u="sng">
                <a:solidFill>
                  <a:schemeClr val="hlink"/>
                </a:solidFill>
                <a:hlinkClick r:id="rId3"/>
              </a:rPr>
              <a:t>https://www.wired.com/story/deepfakes-getting-better-theyre-easy-spot/</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5" name="Google Shape;205;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D27A02B4-C114-3088-4CE0-4E037474D32F}"/>
            </a:ext>
          </a:extLst>
        </p:cNvPr>
        <p:cNvGrpSpPr/>
        <p:nvPr/>
      </p:nvGrpSpPr>
      <p:grpSpPr>
        <a:xfrm>
          <a:off x="0" y="0"/>
          <a:ext cx="0" cy="0"/>
          <a:chOff x="0" y="0"/>
          <a:chExt cx="0" cy="0"/>
        </a:xfrm>
      </p:grpSpPr>
      <p:sp>
        <p:nvSpPr>
          <p:cNvPr id="210" name="Google Shape;210;p16:notes">
            <a:extLst>
              <a:ext uri="{FF2B5EF4-FFF2-40B4-BE49-F238E27FC236}">
                <a16:creationId xmlns:a16="http://schemas.microsoft.com/office/drawing/2014/main" id="{D88B842D-7272-E835-D419-D64957DA75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1" name="Google Shape;211;p16:notes">
            <a:extLst>
              <a:ext uri="{FF2B5EF4-FFF2-40B4-BE49-F238E27FC236}">
                <a16:creationId xmlns:a16="http://schemas.microsoft.com/office/drawing/2014/main" id="{A63AC81F-E03B-63EF-62A1-5732C27EB24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834562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EC4F3EE0-9E21-83D3-4F75-0F8C30F0C247}"/>
            </a:ext>
          </a:extLst>
        </p:cNvPr>
        <p:cNvGrpSpPr/>
        <p:nvPr/>
      </p:nvGrpSpPr>
      <p:grpSpPr>
        <a:xfrm>
          <a:off x="0" y="0"/>
          <a:ext cx="0" cy="0"/>
          <a:chOff x="0" y="0"/>
          <a:chExt cx="0" cy="0"/>
        </a:xfrm>
      </p:grpSpPr>
      <p:sp>
        <p:nvSpPr>
          <p:cNvPr id="210" name="Google Shape;210;p16:notes">
            <a:extLst>
              <a:ext uri="{FF2B5EF4-FFF2-40B4-BE49-F238E27FC236}">
                <a16:creationId xmlns:a16="http://schemas.microsoft.com/office/drawing/2014/main" id="{7EF7189D-E00F-FBFB-03DB-AD7D1D2E2B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1" name="Google Shape;211;p16:notes">
            <a:extLst>
              <a:ext uri="{FF2B5EF4-FFF2-40B4-BE49-F238E27FC236}">
                <a16:creationId xmlns:a16="http://schemas.microsoft.com/office/drawing/2014/main" id="{F6EDF3B7-6F14-EB39-2593-318932BBC4D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328949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a:extLst>
            <a:ext uri="{FF2B5EF4-FFF2-40B4-BE49-F238E27FC236}">
              <a16:creationId xmlns:a16="http://schemas.microsoft.com/office/drawing/2014/main" id="{52C1D1CA-B93A-3A31-1E41-0B23207B941D}"/>
            </a:ext>
          </a:extLst>
        </p:cNvPr>
        <p:cNvGrpSpPr/>
        <p:nvPr/>
      </p:nvGrpSpPr>
      <p:grpSpPr>
        <a:xfrm>
          <a:off x="0" y="0"/>
          <a:ext cx="0" cy="0"/>
          <a:chOff x="0" y="0"/>
          <a:chExt cx="0" cy="0"/>
        </a:xfrm>
      </p:grpSpPr>
      <p:sp>
        <p:nvSpPr>
          <p:cNvPr id="204" name="Google Shape;204;p15:notes">
            <a:extLst>
              <a:ext uri="{FF2B5EF4-FFF2-40B4-BE49-F238E27FC236}">
                <a16:creationId xmlns:a16="http://schemas.microsoft.com/office/drawing/2014/main" id="{606B8C50-B4D8-3368-9EC1-221DFCDFA1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5" name="Google Shape;205;p15:notes">
            <a:extLst>
              <a:ext uri="{FF2B5EF4-FFF2-40B4-BE49-F238E27FC236}">
                <a16:creationId xmlns:a16="http://schemas.microsoft.com/office/drawing/2014/main" id="{978B2FF6-2718-76AC-EEDF-8E3949291E0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390351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1" name="Google Shape;211;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2" name="Google Shape;222;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6" name="Google Shape;236;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1" name="Google Shape;241;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330200" algn="l" rtl="0">
              <a:lnSpc>
                <a:spcPct val="115000"/>
              </a:lnSpc>
              <a:spcBef>
                <a:spcPts val="0"/>
              </a:spcBef>
              <a:spcAft>
                <a:spcPts val="0"/>
              </a:spcAft>
              <a:buClr>
                <a:srgbClr val="595959"/>
              </a:buClr>
              <a:buSzPts val="1600"/>
              <a:buFont typeface="Lato"/>
              <a:buChar char="●"/>
            </a:pPr>
            <a:r>
              <a:rPr lang="en" sz="1600">
                <a:solidFill>
                  <a:srgbClr val="595959"/>
                </a:solidFill>
                <a:latin typeface="Lato"/>
                <a:ea typeface="Lato"/>
                <a:cs typeface="Lato"/>
                <a:sym typeface="Lato"/>
              </a:rPr>
              <a:t>Machine learning is about inferring </a:t>
            </a:r>
            <a:endParaRPr sz="1600">
              <a:solidFill>
                <a:srgbClr val="595959"/>
              </a:solidFill>
              <a:latin typeface="Lato"/>
              <a:ea typeface="Lato"/>
              <a:cs typeface="Lato"/>
              <a:sym typeface="Lato"/>
            </a:endParaRPr>
          </a:p>
          <a:p>
            <a:pPr marL="914400" lvl="1" indent="-330200" algn="l" rtl="0">
              <a:lnSpc>
                <a:spcPct val="115000"/>
              </a:lnSpc>
              <a:spcBef>
                <a:spcPts val="0"/>
              </a:spcBef>
              <a:spcAft>
                <a:spcPts val="0"/>
              </a:spcAft>
              <a:buClr>
                <a:srgbClr val="595959"/>
              </a:buClr>
              <a:buSzPts val="1600"/>
              <a:buFont typeface="Lato"/>
              <a:buChar char="○"/>
            </a:pPr>
            <a:r>
              <a:rPr lang="en" sz="1600">
                <a:solidFill>
                  <a:srgbClr val="595959"/>
                </a:solidFill>
                <a:latin typeface="Lato"/>
                <a:ea typeface="Lato"/>
                <a:cs typeface="Lato"/>
                <a:sym typeface="Lato"/>
              </a:rPr>
              <a:t>the underlying function that maps some input variable x to some output variable y</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2f0cfc5f271_0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5" name="Google Shape;265;g2f0cfc5f271_0_1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1F3362AD-ED8F-69A6-232D-0251C466CC62}"/>
            </a:ext>
          </a:extLst>
        </p:cNvPr>
        <p:cNvGrpSpPr/>
        <p:nvPr/>
      </p:nvGrpSpPr>
      <p:grpSpPr>
        <a:xfrm>
          <a:off x="0" y="0"/>
          <a:ext cx="0" cy="0"/>
          <a:chOff x="0" y="0"/>
          <a:chExt cx="0" cy="0"/>
        </a:xfrm>
      </p:grpSpPr>
      <p:sp>
        <p:nvSpPr>
          <p:cNvPr id="210" name="Google Shape;210;p16:notes">
            <a:extLst>
              <a:ext uri="{FF2B5EF4-FFF2-40B4-BE49-F238E27FC236}">
                <a16:creationId xmlns:a16="http://schemas.microsoft.com/office/drawing/2014/main" id="{DAD513BB-BAC5-2203-D6D8-56DCDF46B0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1" name="Google Shape;211;p16:notes">
            <a:extLst>
              <a:ext uri="{FF2B5EF4-FFF2-40B4-BE49-F238E27FC236}">
                <a16:creationId xmlns:a16="http://schemas.microsoft.com/office/drawing/2014/main" id="{AE719907-D034-E09D-001F-3D10A636C4A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485557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2AEF55E1-395C-9E31-878F-0308F1C8BC6C}"/>
            </a:ext>
          </a:extLst>
        </p:cNvPr>
        <p:cNvGrpSpPr/>
        <p:nvPr/>
      </p:nvGrpSpPr>
      <p:grpSpPr>
        <a:xfrm>
          <a:off x="0" y="0"/>
          <a:ext cx="0" cy="0"/>
          <a:chOff x="0" y="0"/>
          <a:chExt cx="0" cy="0"/>
        </a:xfrm>
      </p:grpSpPr>
      <p:sp>
        <p:nvSpPr>
          <p:cNvPr id="210" name="Google Shape;210;p16:notes">
            <a:extLst>
              <a:ext uri="{FF2B5EF4-FFF2-40B4-BE49-F238E27FC236}">
                <a16:creationId xmlns:a16="http://schemas.microsoft.com/office/drawing/2014/main" id="{34655B95-E0C1-75E4-6EDC-B749B6E00B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1" name="Google Shape;211;p16:notes">
            <a:extLst>
              <a:ext uri="{FF2B5EF4-FFF2-40B4-BE49-F238E27FC236}">
                <a16:creationId xmlns:a16="http://schemas.microsoft.com/office/drawing/2014/main" id="{14105E4A-5C5D-43CF-00BA-82A4EDD0789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254517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a:extLst>
            <a:ext uri="{FF2B5EF4-FFF2-40B4-BE49-F238E27FC236}">
              <a16:creationId xmlns:a16="http://schemas.microsoft.com/office/drawing/2014/main" id="{A88F19D2-4C41-3ABC-B0E9-7DAFEA918FD1}"/>
            </a:ext>
          </a:extLst>
        </p:cNvPr>
        <p:cNvGrpSpPr/>
        <p:nvPr/>
      </p:nvGrpSpPr>
      <p:grpSpPr>
        <a:xfrm>
          <a:off x="0" y="0"/>
          <a:ext cx="0" cy="0"/>
          <a:chOff x="0" y="0"/>
          <a:chExt cx="0" cy="0"/>
        </a:xfrm>
      </p:grpSpPr>
      <p:sp>
        <p:nvSpPr>
          <p:cNvPr id="235" name="Google Shape;235;p20:notes">
            <a:extLst>
              <a:ext uri="{FF2B5EF4-FFF2-40B4-BE49-F238E27FC236}">
                <a16:creationId xmlns:a16="http://schemas.microsoft.com/office/drawing/2014/main" id="{25AA0E84-84B7-1269-F3B0-9DD469FCFE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6" name="Google Shape;236;p20:notes">
            <a:extLst>
              <a:ext uri="{FF2B5EF4-FFF2-40B4-BE49-F238E27FC236}">
                <a16:creationId xmlns:a16="http://schemas.microsoft.com/office/drawing/2014/main" id="{E6D8D2E2-1642-E924-994E-32F4AB62044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146612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1" name="Google Shape;271;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8" name="Google Shape;278;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8" name="Google Shape;288;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5" name="Google Shape;295;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30c55c31da5_0_7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4" name="Google Shape;344;g30c55c31da5_0_7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sz="1050">
                <a:solidFill>
                  <a:srgbClr val="3C4043"/>
                </a:solidFill>
                <a:highlight>
                  <a:srgbClr val="FFFFFF"/>
                </a:highlight>
                <a:latin typeface="Roboto"/>
                <a:ea typeface="Roboto"/>
                <a:cs typeface="Roboto"/>
                <a:sym typeface="Roboto"/>
              </a:rPr>
              <a:t>Could put a side comment here to reinforce the key ML concepts of 1) task 2) experience 3) performance measure. MSE is the performance measure. What are the task and experience in the iris dataset example?</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1" name="Google Shape;351;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3" name="Google Shape;363;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42857"/>
              </a:lnSpc>
              <a:spcBef>
                <a:spcPts val="0"/>
              </a:spcBef>
              <a:spcAft>
                <a:spcPts val="0"/>
              </a:spcAft>
              <a:buClr>
                <a:schemeClr val="dk1"/>
              </a:buClr>
              <a:buSzPts val="1100"/>
              <a:buFont typeface="Arial"/>
              <a:buNone/>
            </a:pPr>
            <a:r>
              <a:rPr lang="en" sz="1050">
                <a:solidFill>
                  <a:srgbClr val="3C4043"/>
                </a:solidFill>
                <a:highlight>
                  <a:srgbClr val="FFFFFF"/>
                </a:highlight>
                <a:latin typeface="Roboto"/>
                <a:ea typeface="Roboto"/>
                <a:cs typeface="Roboto"/>
                <a:sym typeface="Roboto"/>
              </a:rPr>
              <a:t>Introduce the notion of taking the derivative of MSE and taking the coefficients where it is the smallest.</a:t>
            </a:r>
            <a:endParaRPr sz="1050">
              <a:solidFill>
                <a:srgbClr val="3C4043"/>
              </a:solidFill>
              <a:highlight>
                <a:srgbClr val="FFFFFF"/>
              </a:highlight>
              <a:latin typeface="Roboto"/>
              <a:ea typeface="Roboto"/>
              <a:cs typeface="Roboto"/>
              <a:sym typeface="Roboto"/>
            </a:endParaRPr>
          </a:p>
          <a:p>
            <a:pPr marL="0" lvl="0" indent="0" algn="l" rtl="0">
              <a:lnSpc>
                <a:spcPct val="142857"/>
              </a:lnSpc>
              <a:spcBef>
                <a:spcPts val="0"/>
              </a:spcBef>
              <a:spcAft>
                <a:spcPts val="0"/>
              </a:spcAft>
              <a:buClr>
                <a:schemeClr val="dk1"/>
              </a:buClr>
              <a:buSzPts val="1100"/>
              <a:buFont typeface="Arial"/>
              <a:buNone/>
            </a:pPr>
            <a:r>
              <a:rPr lang="en" sz="1050">
                <a:solidFill>
                  <a:srgbClr val="3C4043"/>
                </a:solidFill>
                <a:highlight>
                  <a:srgbClr val="FFFFFF"/>
                </a:highlight>
                <a:latin typeface="Roboto"/>
                <a:ea typeface="Roboto"/>
                <a:cs typeface="Roboto"/>
                <a:sym typeface="Roboto"/>
              </a:rPr>
              <a:t>Possible remark that we can do this because MSE is convex so there is only one minimum.</a:t>
            </a:r>
            <a:endParaRPr>
              <a:solidFill>
                <a:schemeClr val="dk1"/>
              </a:solidFill>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2" name="Google Shape;372;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a:extLst>
            <a:ext uri="{FF2B5EF4-FFF2-40B4-BE49-F238E27FC236}">
              <a16:creationId xmlns:a16="http://schemas.microsoft.com/office/drawing/2014/main" id="{1DBE5338-1290-238D-AF4D-F310503F7E02}"/>
            </a:ext>
          </a:extLst>
        </p:cNvPr>
        <p:cNvGrpSpPr/>
        <p:nvPr/>
      </p:nvGrpSpPr>
      <p:grpSpPr>
        <a:xfrm>
          <a:off x="0" y="0"/>
          <a:ext cx="0" cy="0"/>
          <a:chOff x="0" y="0"/>
          <a:chExt cx="0" cy="0"/>
        </a:xfrm>
      </p:grpSpPr>
      <p:sp>
        <p:nvSpPr>
          <p:cNvPr id="371" name="Google Shape;371;p32:notes">
            <a:extLst>
              <a:ext uri="{FF2B5EF4-FFF2-40B4-BE49-F238E27FC236}">
                <a16:creationId xmlns:a16="http://schemas.microsoft.com/office/drawing/2014/main" id="{901E2DB8-D756-1995-19A8-3B2DF47673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2" name="Google Shape;372;p32:notes">
            <a:extLst>
              <a:ext uri="{FF2B5EF4-FFF2-40B4-BE49-F238E27FC236}">
                <a16:creationId xmlns:a16="http://schemas.microsoft.com/office/drawing/2014/main" id="{94429AD5-74BD-64D8-D8F5-AA8A23E33FD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734973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a:extLst>
            <a:ext uri="{FF2B5EF4-FFF2-40B4-BE49-F238E27FC236}">
              <a16:creationId xmlns:a16="http://schemas.microsoft.com/office/drawing/2014/main" id="{86CEE416-0551-9D5B-812D-A5EF787660E8}"/>
            </a:ext>
          </a:extLst>
        </p:cNvPr>
        <p:cNvGrpSpPr/>
        <p:nvPr/>
      </p:nvGrpSpPr>
      <p:grpSpPr>
        <a:xfrm>
          <a:off x="0" y="0"/>
          <a:ext cx="0" cy="0"/>
          <a:chOff x="0" y="0"/>
          <a:chExt cx="0" cy="0"/>
        </a:xfrm>
      </p:grpSpPr>
      <p:sp>
        <p:nvSpPr>
          <p:cNvPr id="371" name="Google Shape;371;p32:notes">
            <a:extLst>
              <a:ext uri="{FF2B5EF4-FFF2-40B4-BE49-F238E27FC236}">
                <a16:creationId xmlns:a16="http://schemas.microsoft.com/office/drawing/2014/main" id="{429B0321-A1DE-BD76-1FDF-B22D971A23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2" name="Google Shape;372;p32:notes">
            <a:extLst>
              <a:ext uri="{FF2B5EF4-FFF2-40B4-BE49-F238E27FC236}">
                <a16:creationId xmlns:a16="http://schemas.microsoft.com/office/drawing/2014/main" id="{FEC2D540-C310-6429-5085-FA1E337280D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185742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a:extLst>
            <a:ext uri="{FF2B5EF4-FFF2-40B4-BE49-F238E27FC236}">
              <a16:creationId xmlns:a16="http://schemas.microsoft.com/office/drawing/2014/main" id="{711A7895-8EBC-402C-4BCA-0E6D84500F48}"/>
            </a:ext>
          </a:extLst>
        </p:cNvPr>
        <p:cNvGrpSpPr/>
        <p:nvPr/>
      </p:nvGrpSpPr>
      <p:grpSpPr>
        <a:xfrm>
          <a:off x="0" y="0"/>
          <a:ext cx="0" cy="0"/>
          <a:chOff x="0" y="0"/>
          <a:chExt cx="0" cy="0"/>
        </a:xfrm>
      </p:grpSpPr>
      <p:sp>
        <p:nvSpPr>
          <p:cNvPr id="371" name="Google Shape;371;p32:notes">
            <a:extLst>
              <a:ext uri="{FF2B5EF4-FFF2-40B4-BE49-F238E27FC236}">
                <a16:creationId xmlns:a16="http://schemas.microsoft.com/office/drawing/2014/main" id="{A39BDBBC-7DD0-B9CA-8107-1B6D38A1BC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2" name="Google Shape;372;p32:notes">
            <a:extLst>
              <a:ext uri="{FF2B5EF4-FFF2-40B4-BE49-F238E27FC236}">
                <a16:creationId xmlns:a16="http://schemas.microsoft.com/office/drawing/2014/main" id="{72FE1F6A-D22D-EB08-010A-16E23B232A5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Note! This is an alternate formula for slope</a:t>
            </a:r>
            <a:endParaRPr/>
          </a:p>
        </p:txBody>
      </p:sp>
    </p:spTree>
    <p:extLst>
      <p:ext uri="{BB962C8B-B14F-4D97-AF65-F5344CB8AC3E}">
        <p14:creationId xmlns:p14="http://schemas.microsoft.com/office/powerpoint/2010/main" val="24963339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1" name="Google Shape;381;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8" name="Google Shape;38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2f0cfc5f271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2f0cfc5f271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2f0cfc5f271_0_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4" name="Google Shape;414;g2f0cfc5f271_0_3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2f0cfc5f271_0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8" name="Google Shape;428;g2f0cfc5f271_0_3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a:extLst>
            <a:ext uri="{FF2B5EF4-FFF2-40B4-BE49-F238E27FC236}">
              <a16:creationId xmlns:a16="http://schemas.microsoft.com/office/drawing/2014/main" id="{D822E0A8-E6CD-412C-9CB4-7B956AE8B406}"/>
            </a:ext>
          </a:extLst>
        </p:cNvPr>
        <p:cNvGrpSpPr/>
        <p:nvPr/>
      </p:nvGrpSpPr>
      <p:grpSpPr>
        <a:xfrm>
          <a:off x="0" y="0"/>
          <a:ext cx="0" cy="0"/>
          <a:chOff x="0" y="0"/>
          <a:chExt cx="0" cy="0"/>
        </a:xfrm>
      </p:grpSpPr>
      <p:sp>
        <p:nvSpPr>
          <p:cNvPr id="235" name="Google Shape;235;p20:notes">
            <a:extLst>
              <a:ext uri="{FF2B5EF4-FFF2-40B4-BE49-F238E27FC236}">
                <a16:creationId xmlns:a16="http://schemas.microsoft.com/office/drawing/2014/main" id="{870AD498-898F-4B02-C533-BDBE671B26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6" name="Google Shape;236;p20:notes">
            <a:extLst>
              <a:ext uri="{FF2B5EF4-FFF2-40B4-BE49-F238E27FC236}">
                <a16:creationId xmlns:a16="http://schemas.microsoft.com/office/drawing/2014/main" id="{A6D0B5AF-1B8E-75B0-D3E9-1FB6D7D2434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706928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5" name="Google Shape;445;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5000"/>
              <a:buFont typeface="Lexend"/>
              <a:buNone/>
              <a:defRPr sz="5000" b="0">
                <a:latin typeface="Lexend"/>
                <a:ea typeface="Lexend"/>
                <a:cs typeface="Lexend"/>
                <a:sym typeface="Lexend"/>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2" name="Google Shape;12;p2"/>
          <p:cNvSpPr txBox="1">
            <a:spLocks noGrp="1"/>
          </p:cNvSpPr>
          <p:nvPr>
            <p:ph type="subTitle" idx="1"/>
          </p:nvPr>
        </p:nvSpPr>
        <p:spPr>
          <a:xfrm>
            <a:off x="729452" y="298715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800"/>
              <a:buNone/>
              <a:defRPr sz="18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grpSp>
        <p:nvGrpSpPr>
          <p:cNvPr id="13" name="Google Shape;13;p2"/>
          <p:cNvGrpSpPr/>
          <p:nvPr/>
        </p:nvGrpSpPr>
        <p:grpSpPr>
          <a:xfrm>
            <a:off x="830525" y="1179325"/>
            <a:ext cx="1559599" cy="47474"/>
            <a:chOff x="830559" y="793309"/>
            <a:chExt cx="7759198" cy="433550"/>
          </a:xfrm>
        </p:grpSpPr>
        <p:sp>
          <p:nvSpPr>
            <p:cNvPr id="14" name="Google Shape;14;p2"/>
            <p:cNvSpPr/>
            <p:nvPr/>
          </p:nvSpPr>
          <p:spPr>
            <a:xfrm rot="-5400000">
              <a:off x="2950806" y="235459"/>
              <a:ext cx="433500" cy="1549200"/>
            </a:xfrm>
            <a:prstGeom prst="rect">
              <a:avLst/>
            </a:prstGeom>
            <a:solidFill>
              <a:srgbClr val="2063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5400000">
              <a:off x="1395009" y="228909"/>
              <a:ext cx="433500" cy="1562400"/>
            </a:xfrm>
            <a:prstGeom prst="rect">
              <a:avLst/>
            </a:prstGeom>
            <a:solidFill>
              <a:srgbClr val="173F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rot="-5400000">
              <a:off x="4500006" y="235459"/>
              <a:ext cx="433500" cy="1549200"/>
            </a:xfrm>
            <a:prstGeom prst="rect">
              <a:avLst/>
            </a:prstGeom>
            <a:solidFill>
              <a:srgbClr val="3CA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5400000">
              <a:off x="6049206" y="235459"/>
              <a:ext cx="433500" cy="1549200"/>
            </a:xfrm>
            <a:prstGeom prst="rect">
              <a:avLst/>
            </a:prstGeom>
            <a:solidFill>
              <a:srgbClr val="F6D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rot="-5400000">
              <a:off x="7598406" y="235459"/>
              <a:ext cx="433500" cy="1549200"/>
            </a:xfrm>
            <a:prstGeom prst="rect">
              <a:avLst/>
            </a:prstGeom>
            <a:solidFill>
              <a:srgbClr val="ED55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9" name="Google Shape;19;p2"/>
          <p:cNvPicPr preferRelativeResize="0"/>
          <p:nvPr/>
        </p:nvPicPr>
        <p:blipFill>
          <a:blip r:embed="rId2">
            <a:alphaModFix/>
          </a:blip>
          <a:stretch>
            <a:fillRect/>
          </a:stretch>
        </p:blipFill>
        <p:spPr>
          <a:xfrm>
            <a:off x="7989902" y="24945"/>
            <a:ext cx="1095101" cy="437925"/>
          </a:xfrm>
          <a:prstGeom prst="rect">
            <a:avLst/>
          </a:prstGeom>
          <a:noFill/>
          <a:ln>
            <a:noFill/>
          </a:ln>
        </p:spPr>
      </p:pic>
      <p:pic>
        <p:nvPicPr>
          <p:cNvPr id="20" name="Google Shape;20;p2"/>
          <p:cNvPicPr preferRelativeResize="0"/>
          <p:nvPr/>
        </p:nvPicPr>
        <p:blipFill>
          <a:blip r:embed="rId3">
            <a:alphaModFix/>
          </a:blip>
          <a:stretch>
            <a:fillRect/>
          </a:stretch>
        </p:blipFill>
        <p:spPr>
          <a:xfrm>
            <a:off x="-12" y="24927"/>
            <a:ext cx="981636" cy="437925"/>
          </a:xfrm>
          <a:prstGeom prst="rect">
            <a:avLst/>
          </a:prstGeom>
          <a:noFill/>
          <a:ln>
            <a:noFill/>
          </a:ln>
        </p:spPr>
      </p:pic>
      <p:pic>
        <p:nvPicPr>
          <p:cNvPr id="21" name="Google Shape;21;p2"/>
          <p:cNvPicPr preferRelativeResize="0"/>
          <p:nvPr/>
        </p:nvPicPr>
        <p:blipFill>
          <a:blip r:embed="rId2">
            <a:alphaModFix/>
          </a:blip>
          <a:stretch>
            <a:fillRect/>
          </a:stretch>
        </p:blipFill>
        <p:spPr>
          <a:xfrm>
            <a:off x="5481075" y="3678725"/>
            <a:ext cx="3662925" cy="14647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section title">
  <p:cSld name="TITLE_1">
    <p:bg>
      <p:bgPr>
        <a:solidFill>
          <a:schemeClr val="lt2"/>
        </a:solidFill>
        <a:effectLst/>
      </p:bgPr>
    </p:bg>
    <p:spTree>
      <p:nvGrpSpPr>
        <p:cNvPr id="1" name="Shape 22"/>
        <p:cNvGrpSpPr/>
        <p:nvPr/>
      </p:nvGrpSpPr>
      <p:grpSpPr>
        <a:xfrm>
          <a:off x="0" y="0"/>
          <a:ext cx="0" cy="0"/>
          <a:chOff x="0" y="0"/>
          <a:chExt cx="0" cy="0"/>
        </a:xfrm>
      </p:grpSpPr>
      <p:sp>
        <p:nvSpPr>
          <p:cNvPr id="23" name="Google Shape;23;p3"/>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3400"/>
              <a:buFont typeface="Lexend"/>
              <a:buNone/>
              <a:defRPr sz="3400" b="0">
                <a:latin typeface="Lexend"/>
                <a:ea typeface="Lexend"/>
                <a:cs typeface="Lexend"/>
                <a:sym typeface="Lexend"/>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grpSp>
        <p:nvGrpSpPr>
          <p:cNvPr id="25" name="Google Shape;25;p3"/>
          <p:cNvGrpSpPr/>
          <p:nvPr/>
        </p:nvGrpSpPr>
        <p:grpSpPr>
          <a:xfrm>
            <a:off x="830525" y="1179325"/>
            <a:ext cx="1559599" cy="47474"/>
            <a:chOff x="830559" y="793309"/>
            <a:chExt cx="7759198" cy="433550"/>
          </a:xfrm>
        </p:grpSpPr>
        <p:sp>
          <p:nvSpPr>
            <p:cNvPr id="26" name="Google Shape;26;p3"/>
            <p:cNvSpPr/>
            <p:nvPr/>
          </p:nvSpPr>
          <p:spPr>
            <a:xfrm rot="-5400000">
              <a:off x="2950806" y="235459"/>
              <a:ext cx="433500" cy="1549200"/>
            </a:xfrm>
            <a:prstGeom prst="rect">
              <a:avLst/>
            </a:prstGeom>
            <a:solidFill>
              <a:srgbClr val="2063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5400000">
              <a:off x="1395009" y="228909"/>
              <a:ext cx="433500" cy="1562400"/>
            </a:xfrm>
            <a:prstGeom prst="rect">
              <a:avLst/>
            </a:prstGeom>
            <a:solidFill>
              <a:srgbClr val="173F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rot="-5400000">
              <a:off x="4500006" y="235459"/>
              <a:ext cx="433500" cy="1549200"/>
            </a:xfrm>
            <a:prstGeom prst="rect">
              <a:avLst/>
            </a:prstGeom>
            <a:solidFill>
              <a:srgbClr val="3CA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rot="-5400000">
              <a:off x="6049206" y="235459"/>
              <a:ext cx="433500" cy="1549200"/>
            </a:xfrm>
            <a:prstGeom prst="rect">
              <a:avLst/>
            </a:prstGeom>
            <a:solidFill>
              <a:srgbClr val="F6D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rot="-5400000">
              <a:off x="7598406" y="235459"/>
              <a:ext cx="433500" cy="1549200"/>
            </a:xfrm>
            <a:prstGeom prst="rect">
              <a:avLst/>
            </a:prstGeom>
            <a:solidFill>
              <a:srgbClr val="ED55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1" name="Google Shape;31;p3"/>
          <p:cNvPicPr preferRelativeResize="0"/>
          <p:nvPr/>
        </p:nvPicPr>
        <p:blipFill>
          <a:blip r:embed="rId2">
            <a:alphaModFix/>
          </a:blip>
          <a:stretch>
            <a:fillRect/>
          </a:stretch>
        </p:blipFill>
        <p:spPr>
          <a:xfrm>
            <a:off x="7989902" y="24945"/>
            <a:ext cx="1095101" cy="4379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32"/>
        <p:cNvGrpSpPr/>
        <p:nvPr/>
      </p:nvGrpSpPr>
      <p:grpSpPr>
        <a:xfrm>
          <a:off x="0" y="0"/>
          <a:ext cx="0" cy="0"/>
          <a:chOff x="0" y="0"/>
          <a:chExt cx="0" cy="0"/>
        </a:xfrm>
      </p:grpSpPr>
      <p:sp>
        <p:nvSpPr>
          <p:cNvPr id="33" name="Google Shape;33;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txBox="1">
            <a:spLocks noGrp="1"/>
          </p:cNvSpPr>
          <p:nvPr>
            <p:ph type="title"/>
          </p:nvPr>
        </p:nvSpPr>
        <p:spPr>
          <a:xfrm>
            <a:off x="72780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3200"/>
              <a:buFont typeface="Lexend"/>
              <a:buNone/>
              <a:defRPr sz="3200" b="0">
                <a:latin typeface="Lexend"/>
                <a:ea typeface="Lexend"/>
                <a:cs typeface="Lexend"/>
                <a:sym typeface="Lexend"/>
              </a:defRPr>
            </a:lvl1pPr>
            <a:lvl2pPr lvl="1">
              <a:spcBef>
                <a:spcPts val="0"/>
              </a:spcBef>
              <a:spcAft>
                <a:spcPts val="0"/>
              </a:spcAft>
              <a:buSzPts val="2600"/>
              <a:buFont typeface="Lexend"/>
              <a:buNone/>
              <a:defRPr sz="2600">
                <a:latin typeface="Lexend"/>
                <a:ea typeface="Lexend"/>
                <a:cs typeface="Lexend"/>
                <a:sym typeface="Lexend"/>
              </a:defRPr>
            </a:lvl2pPr>
            <a:lvl3pPr lvl="2">
              <a:spcBef>
                <a:spcPts val="0"/>
              </a:spcBef>
              <a:spcAft>
                <a:spcPts val="0"/>
              </a:spcAft>
              <a:buSzPts val="2600"/>
              <a:buFont typeface="Lexend"/>
              <a:buNone/>
              <a:defRPr sz="2600">
                <a:latin typeface="Lexend"/>
                <a:ea typeface="Lexend"/>
                <a:cs typeface="Lexend"/>
                <a:sym typeface="Lexend"/>
              </a:defRPr>
            </a:lvl3pPr>
            <a:lvl4pPr lvl="3">
              <a:spcBef>
                <a:spcPts val="0"/>
              </a:spcBef>
              <a:spcAft>
                <a:spcPts val="0"/>
              </a:spcAft>
              <a:buSzPts val="2600"/>
              <a:buFont typeface="Lexend"/>
              <a:buNone/>
              <a:defRPr sz="2600">
                <a:latin typeface="Lexend"/>
                <a:ea typeface="Lexend"/>
                <a:cs typeface="Lexend"/>
                <a:sym typeface="Lexend"/>
              </a:defRPr>
            </a:lvl4pPr>
            <a:lvl5pPr lvl="4">
              <a:spcBef>
                <a:spcPts val="0"/>
              </a:spcBef>
              <a:spcAft>
                <a:spcPts val="0"/>
              </a:spcAft>
              <a:buSzPts val="2600"/>
              <a:buFont typeface="Lexend"/>
              <a:buNone/>
              <a:defRPr sz="2600">
                <a:latin typeface="Lexend"/>
                <a:ea typeface="Lexend"/>
                <a:cs typeface="Lexend"/>
                <a:sym typeface="Lexend"/>
              </a:defRPr>
            </a:lvl5pPr>
            <a:lvl6pPr lvl="5">
              <a:spcBef>
                <a:spcPts val="0"/>
              </a:spcBef>
              <a:spcAft>
                <a:spcPts val="0"/>
              </a:spcAft>
              <a:buSzPts val="2600"/>
              <a:buFont typeface="Lexend"/>
              <a:buNone/>
              <a:defRPr sz="2600">
                <a:latin typeface="Lexend"/>
                <a:ea typeface="Lexend"/>
                <a:cs typeface="Lexend"/>
                <a:sym typeface="Lexend"/>
              </a:defRPr>
            </a:lvl6pPr>
            <a:lvl7pPr lvl="6">
              <a:spcBef>
                <a:spcPts val="0"/>
              </a:spcBef>
              <a:spcAft>
                <a:spcPts val="0"/>
              </a:spcAft>
              <a:buSzPts val="2600"/>
              <a:buFont typeface="Lexend"/>
              <a:buNone/>
              <a:defRPr sz="2600">
                <a:latin typeface="Lexend"/>
                <a:ea typeface="Lexend"/>
                <a:cs typeface="Lexend"/>
                <a:sym typeface="Lexend"/>
              </a:defRPr>
            </a:lvl7pPr>
            <a:lvl8pPr lvl="7">
              <a:spcBef>
                <a:spcPts val="0"/>
              </a:spcBef>
              <a:spcAft>
                <a:spcPts val="0"/>
              </a:spcAft>
              <a:buSzPts val="2600"/>
              <a:buFont typeface="Lexend"/>
              <a:buNone/>
              <a:defRPr sz="2600">
                <a:latin typeface="Lexend"/>
                <a:ea typeface="Lexend"/>
                <a:cs typeface="Lexend"/>
                <a:sym typeface="Lexend"/>
              </a:defRPr>
            </a:lvl8pPr>
            <a:lvl9pPr lvl="8">
              <a:spcBef>
                <a:spcPts val="0"/>
              </a:spcBef>
              <a:spcAft>
                <a:spcPts val="0"/>
              </a:spcAft>
              <a:buSzPts val="2600"/>
              <a:buFont typeface="Lexend"/>
              <a:buNone/>
              <a:defRPr sz="2600">
                <a:latin typeface="Lexend"/>
                <a:ea typeface="Lexend"/>
                <a:cs typeface="Lexend"/>
                <a:sym typeface="Lexend"/>
              </a:defRPr>
            </a:lvl9pPr>
          </a:lstStyle>
          <a:p>
            <a:endParaRPr/>
          </a:p>
        </p:txBody>
      </p:sp>
      <p:grpSp>
        <p:nvGrpSpPr>
          <p:cNvPr id="35" name="Google Shape;35;p4"/>
          <p:cNvGrpSpPr/>
          <p:nvPr/>
        </p:nvGrpSpPr>
        <p:grpSpPr>
          <a:xfrm>
            <a:off x="830525" y="1179325"/>
            <a:ext cx="1559599" cy="47474"/>
            <a:chOff x="830559" y="793309"/>
            <a:chExt cx="7759198" cy="433550"/>
          </a:xfrm>
        </p:grpSpPr>
        <p:sp>
          <p:nvSpPr>
            <p:cNvPr id="36" name="Google Shape;36;p4"/>
            <p:cNvSpPr/>
            <p:nvPr/>
          </p:nvSpPr>
          <p:spPr>
            <a:xfrm rot="-5400000">
              <a:off x="2950806" y="235459"/>
              <a:ext cx="433500" cy="1549200"/>
            </a:xfrm>
            <a:prstGeom prst="rect">
              <a:avLst/>
            </a:prstGeom>
            <a:solidFill>
              <a:srgbClr val="2063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4"/>
            <p:cNvSpPr/>
            <p:nvPr/>
          </p:nvSpPr>
          <p:spPr>
            <a:xfrm rot="-5400000">
              <a:off x="1395009" y="228909"/>
              <a:ext cx="433500" cy="1562400"/>
            </a:xfrm>
            <a:prstGeom prst="rect">
              <a:avLst/>
            </a:prstGeom>
            <a:solidFill>
              <a:srgbClr val="173F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4"/>
            <p:cNvSpPr/>
            <p:nvPr/>
          </p:nvSpPr>
          <p:spPr>
            <a:xfrm rot="-5400000">
              <a:off x="4500006" y="235459"/>
              <a:ext cx="433500" cy="1549200"/>
            </a:xfrm>
            <a:prstGeom prst="rect">
              <a:avLst/>
            </a:prstGeom>
            <a:solidFill>
              <a:srgbClr val="3CA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4"/>
            <p:cNvSpPr/>
            <p:nvPr/>
          </p:nvSpPr>
          <p:spPr>
            <a:xfrm rot="-5400000">
              <a:off x="6049206" y="235459"/>
              <a:ext cx="433500" cy="1549200"/>
            </a:xfrm>
            <a:prstGeom prst="rect">
              <a:avLst/>
            </a:prstGeom>
            <a:solidFill>
              <a:srgbClr val="F6D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4"/>
            <p:cNvSpPr/>
            <p:nvPr/>
          </p:nvSpPr>
          <p:spPr>
            <a:xfrm rot="-5400000">
              <a:off x="7598406" y="235459"/>
              <a:ext cx="433500" cy="1549200"/>
            </a:xfrm>
            <a:prstGeom prst="rect">
              <a:avLst/>
            </a:prstGeom>
            <a:solidFill>
              <a:srgbClr val="ED55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1" name="Google Shape;41;p4"/>
          <p:cNvPicPr preferRelativeResize="0"/>
          <p:nvPr/>
        </p:nvPicPr>
        <p:blipFill>
          <a:blip r:embed="rId2">
            <a:alphaModFix/>
          </a:blip>
          <a:stretch>
            <a:fillRect/>
          </a:stretch>
        </p:blipFill>
        <p:spPr>
          <a:xfrm>
            <a:off x="7989902" y="24945"/>
            <a:ext cx="1095101" cy="437925"/>
          </a:xfrm>
          <a:prstGeom prst="rect">
            <a:avLst/>
          </a:prstGeom>
          <a:noFill/>
          <a:ln>
            <a:noFill/>
          </a:ln>
        </p:spPr>
      </p:pic>
      <p:pic>
        <p:nvPicPr>
          <p:cNvPr id="42" name="Google Shape;42;p4"/>
          <p:cNvPicPr preferRelativeResize="0"/>
          <p:nvPr/>
        </p:nvPicPr>
        <p:blipFill>
          <a:blip r:embed="rId3">
            <a:alphaModFix/>
          </a:blip>
          <a:stretch>
            <a:fillRect/>
          </a:stretch>
        </p:blipFill>
        <p:spPr>
          <a:xfrm>
            <a:off x="-12" y="4705527"/>
            <a:ext cx="981636" cy="43792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1">
  <p:cSld name="SECTION_TITLE_AND_DESCRIPTION_1">
    <p:spTree>
      <p:nvGrpSpPr>
        <p:cNvPr id="1" name="Shape 43"/>
        <p:cNvGrpSpPr/>
        <p:nvPr/>
      </p:nvGrpSpPr>
      <p:grpSpPr>
        <a:xfrm>
          <a:off x="0" y="0"/>
          <a:ext cx="0" cy="0"/>
          <a:chOff x="0" y="0"/>
          <a:chExt cx="0" cy="0"/>
        </a:xfrm>
      </p:grpSpPr>
      <p:sp>
        <p:nvSpPr>
          <p:cNvPr id="44" name="Google Shape;44;p5"/>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5"/>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800"/>
              <a:buFont typeface="Lexend"/>
              <a:buNone/>
              <a:defRPr b="0">
                <a:latin typeface="Lexend"/>
                <a:ea typeface="Lexend"/>
                <a:cs typeface="Lexend"/>
                <a:sym typeface="Lexend"/>
              </a:defRPr>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5"/>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grpSp>
        <p:nvGrpSpPr>
          <p:cNvPr id="47" name="Google Shape;47;p5"/>
          <p:cNvGrpSpPr/>
          <p:nvPr/>
        </p:nvGrpSpPr>
        <p:grpSpPr>
          <a:xfrm>
            <a:off x="830525" y="1179325"/>
            <a:ext cx="1559599" cy="47474"/>
            <a:chOff x="830559" y="793309"/>
            <a:chExt cx="7759198" cy="433550"/>
          </a:xfrm>
        </p:grpSpPr>
        <p:sp>
          <p:nvSpPr>
            <p:cNvPr id="48" name="Google Shape;48;p5"/>
            <p:cNvSpPr/>
            <p:nvPr/>
          </p:nvSpPr>
          <p:spPr>
            <a:xfrm rot="-5400000">
              <a:off x="2950806" y="235459"/>
              <a:ext cx="433500" cy="1549200"/>
            </a:xfrm>
            <a:prstGeom prst="rect">
              <a:avLst/>
            </a:prstGeom>
            <a:solidFill>
              <a:srgbClr val="2063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5"/>
            <p:cNvSpPr/>
            <p:nvPr/>
          </p:nvSpPr>
          <p:spPr>
            <a:xfrm rot="-5400000">
              <a:off x="1395009" y="228909"/>
              <a:ext cx="433500" cy="1562400"/>
            </a:xfrm>
            <a:prstGeom prst="rect">
              <a:avLst/>
            </a:prstGeom>
            <a:solidFill>
              <a:srgbClr val="173F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5"/>
            <p:cNvSpPr/>
            <p:nvPr/>
          </p:nvSpPr>
          <p:spPr>
            <a:xfrm rot="-5400000">
              <a:off x="4500006" y="235459"/>
              <a:ext cx="433500" cy="1549200"/>
            </a:xfrm>
            <a:prstGeom prst="rect">
              <a:avLst/>
            </a:prstGeom>
            <a:solidFill>
              <a:srgbClr val="3CA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rot="-5400000">
              <a:off x="6049206" y="235459"/>
              <a:ext cx="433500" cy="1549200"/>
            </a:xfrm>
            <a:prstGeom prst="rect">
              <a:avLst/>
            </a:prstGeom>
            <a:solidFill>
              <a:srgbClr val="F6D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5"/>
            <p:cNvSpPr/>
            <p:nvPr/>
          </p:nvSpPr>
          <p:spPr>
            <a:xfrm rot="-5400000">
              <a:off x="7598406" y="235459"/>
              <a:ext cx="433500" cy="1549200"/>
            </a:xfrm>
            <a:prstGeom prst="rect">
              <a:avLst/>
            </a:prstGeom>
            <a:solidFill>
              <a:srgbClr val="ED55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3" name="Google Shape;53;p5"/>
          <p:cNvPicPr preferRelativeResize="0"/>
          <p:nvPr/>
        </p:nvPicPr>
        <p:blipFill>
          <a:blip r:embed="rId2">
            <a:alphaModFix/>
          </a:blip>
          <a:stretch>
            <a:fillRect/>
          </a:stretch>
        </p:blipFill>
        <p:spPr>
          <a:xfrm>
            <a:off x="7989902" y="24945"/>
            <a:ext cx="1095101" cy="43792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slide" type="tx">
  <p:cSld name="TITLE_AND_BODY">
    <p:spTree>
      <p:nvGrpSpPr>
        <p:cNvPr id="1" name="Shape 54"/>
        <p:cNvGrpSpPr/>
        <p:nvPr/>
      </p:nvGrpSpPr>
      <p:grpSpPr>
        <a:xfrm>
          <a:off x="0" y="0"/>
          <a:ext cx="0" cy="0"/>
          <a:chOff x="0" y="0"/>
          <a:chExt cx="0" cy="0"/>
        </a:xfrm>
      </p:grpSpPr>
      <p:sp>
        <p:nvSpPr>
          <p:cNvPr id="55" name="Google Shape;55;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6"/>
          <p:cNvSpPr txBox="1">
            <a:spLocks noGrp="1"/>
          </p:cNvSpPr>
          <p:nvPr>
            <p:ph type="title"/>
          </p:nvPr>
        </p:nvSpPr>
        <p:spPr>
          <a:xfrm>
            <a:off x="620075" y="677188"/>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3000"/>
              <a:buFont typeface="Lexend"/>
              <a:buNone/>
              <a:defRPr sz="3000" b="0">
                <a:latin typeface="Lexend"/>
                <a:ea typeface="Lexend"/>
                <a:cs typeface="Lexend"/>
                <a:sym typeface="Lexend"/>
              </a:defRPr>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7" name="Google Shape;57;p6"/>
          <p:cNvSpPr txBox="1">
            <a:spLocks noGrp="1"/>
          </p:cNvSpPr>
          <p:nvPr>
            <p:ph type="body" idx="1"/>
          </p:nvPr>
        </p:nvSpPr>
        <p:spPr>
          <a:xfrm>
            <a:off x="727650" y="1356627"/>
            <a:ext cx="7688700" cy="3348900"/>
          </a:xfrm>
          <a:prstGeom prst="rect">
            <a:avLst/>
          </a:prstGeom>
        </p:spPr>
        <p:txBody>
          <a:bodyPr spcFirstLastPara="1" wrap="square" lIns="91425" tIns="91425" rIns="91425" bIns="91425" anchor="t" anchorCtr="0">
            <a:normAutofit/>
          </a:bodyPr>
          <a:lstStyle>
            <a:lvl1pPr marL="457200" lvl="0" indent="-342900">
              <a:lnSpc>
                <a:spcPct val="150000"/>
              </a:lnSpc>
              <a:spcBef>
                <a:spcPts val="0"/>
              </a:spcBef>
              <a:spcAft>
                <a:spcPts val="0"/>
              </a:spcAft>
              <a:buSzPts val="1800"/>
              <a:buChar char="●"/>
              <a:defRPr sz="1800"/>
            </a:lvl1pPr>
            <a:lvl2pPr marL="914400" lvl="1" indent="-330200">
              <a:lnSpc>
                <a:spcPct val="150000"/>
              </a:lnSpc>
              <a:spcBef>
                <a:spcPts val="0"/>
              </a:spcBef>
              <a:spcAft>
                <a:spcPts val="0"/>
              </a:spcAft>
              <a:buSzPts val="1600"/>
              <a:buChar char="○"/>
              <a:defRPr sz="1600"/>
            </a:lvl2pPr>
            <a:lvl3pPr marL="1371600" lvl="2" indent="-330200">
              <a:lnSpc>
                <a:spcPct val="150000"/>
              </a:lnSpc>
              <a:spcBef>
                <a:spcPts val="0"/>
              </a:spcBef>
              <a:spcAft>
                <a:spcPts val="0"/>
              </a:spcAft>
              <a:buSzPts val="1600"/>
              <a:buChar char="■"/>
              <a:defRPr sz="1600"/>
            </a:lvl3pPr>
            <a:lvl4pPr marL="1828800" lvl="3" indent="-330200">
              <a:lnSpc>
                <a:spcPct val="150000"/>
              </a:lnSpc>
              <a:spcBef>
                <a:spcPts val="0"/>
              </a:spcBef>
              <a:spcAft>
                <a:spcPts val="0"/>
              </a:spcAft>
              <a:buSzPts val="1600"/>
              <a:buChar char="●"/>
              <a:defRPr sz="1600"/>
            </a:lvl4pPr>
            <a:lvl5pPr marL="2286000" lvl="4" indent="-330200">
              <a:lnSpc>
                <a:spcPct val="150000"/>
              </a:lnSpc>
              <a:spcBef>
                <a:spcPts val="0"/>
              </a:spcBef>
              <a:spcAft>
                <a:spcPts val="0"/>
              </a:spcAft>
              <a:buSzPts val="1600"/>
              <a:buChar char="○"/>
              <a:defRPr sz="1600"/>
            </a:lvl5pPr>
            <a:lvl6pPr marL="2743200" lvl="5" indent="-330200">
              <a:lnSpc>
                <a:spcPct val="150000"/>
              </a:lnSpc>
              <a:spcBef>
                <a:spcPts val="0"/>
              </a:spcBef>
              <a:spcAft>
                <a:spcPts val="0"/>
              </a:spcAft>
              <a:buSzPts val="1600"/>
              <a:buChar char="■"/>
              <a:defRPr sz="1600"/>
            </a:lvl6pPr>
            <a:lvl7pPr marL="3200400" lvl="6" indent="-330200">
              <a:lnSpc>
                <a:spcPct val="150000"/>
              </a:lnSpc>
              <a:spcBef>
                <a:spcPts val="0"/>
              </a:spcBef>
              <a:spcAft>
                <a:spcPts val="0"/>
              </a:spcAft>
              <a:buSzPts val="1600"/>
              <a:buChar char="●"/>
              <a:defRPr sz="1600"/>
            </a:lvl7pPr>
            <a:lvl8pPr marL="3657600" lvl="7" indent="-330200">
              <a:lnSpc>
                <a:spcPct val="150000"/>
              </a:lnSpc>
              <a:spcBef>
                <a:spcPts val="0"/>
              </a:spcBef>
              <a:spcAft>
                <a:spcPts val="0"/>
              </a:spcAft>
              <a:buSzPts val="1600"/>
              <a:buChar char="○"/>
              <a:defRPr sz="1600"/>
            </a:lvl8pPr>
            <a:lvl9pPr marL="4114800" lvl="8" indent="-330200">
              <a:lnSpc>
                <a:spcPct val="150000"/>
              </a:lnSpc>
              <a:spcBef>
                <a:spcPts val="0"/>
              </a:spcBef>
              <a:spcAft>
                <a:spcPts val="0"/>
              </a:spcAft>
              <a:buSzPts val="1600"/>
              <a:buChar char="■"/>
              <a:defRPr sz="1600"/>
            </a:lvl9pPr>
          </a:lstStyle>
          <a:p>
            <a:endParaRPr/>
          </a:p>
        </p:txBody>
      </p:sp>
      <p:grpSp>
        <p:nvGrpSpPr>
          <p:cNvPr id="58" name="Google Shape;58;p6"/>
          <p:cNvGrpSpPr/>
          <p:nvPr/>
        </p:nvGrpSpPr>
        <p:grpSpPr>
          <a:xfrm>
            <a:off x="729450" y="629725"/>
            <a:ext cx="1559599" cy="47474"/>
            <a:chOff x="830559" y="793309"/>
            <a:chExt cx="7759198" cy="433550"/>
          </a:xfrm>
        </p:grpSpPr>
        <p:sp>
          <p:nvSpPr>
            <p:cNvPr id="59" name="Google Shape;59;p6"/>
            <p:cNvSpPr/>
            <p:nvPr/>
          </p:nvSpPr>
          <p:spPr>
            <a:xfrm rot="-5400000">
              <a:off x="2950806" y="235459"/>
              <a:ext cx="433500" cy="1549200"/>
            </a:xfrm>
            <a:prstGeom prst="rect">
              <a:avLst/>
            </a:prstGeom>
            <a:solidFill>
              <a:srgbClr val="2063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6"/>
            <p:cNvSpPr/>
            <p:nvPr/>
          </p:nvSpPr>
          <p:spPr>
            <a:xfrm rot="-5400000">
              <a:off x="1395009" y="228909"/>
              <a:ext cx="433500" cy="1562400"/>
            </a:xfrm>
            <a:prstGeom prst="rect">
              <a:avLst/>
            </a:prstGeom>
            <a:solidFill>
              <a:srgbClr val="173F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6"/>
            <p:cNvSpPr/>
            <p:nvPr/>
          </p:nvSpPr>
          <p:spPr>
            <a:xfrm rot="-5400000">
              <a:off x="4500006" y="235459"/>
              <a:ext cx="433500" cy="1549200"/>
            </a:xfrm>
            <a:prstGeom prst="rect">
              <a:avLst/>
            </a:prstGeom>
            <a:solidFill>
              <a:srgbClr val="3CA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6"/>
            <p:cNvSpPr/>
            <p:nvPr/>
          </p:nvSpPr>
          <p:spPr>
            <a:xfrm rot="-5400000">
              <a:off x="6049206" y="235459"/>
              <a:ext cx="433500" cy="1549200"/>
            </a:xfrm>
            <a:prstGeom prst="rect">
              <a:avLst/>
            </a:prstGeom>
            <a:solidFill>
              <a:srgbClr val="F6D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6"/>
            <p:cNvSpPr/>
            <p:nvPr/>
          </p:nvSpPr>
          <p:spPr>
            <a:xfrm rot="-5400000">
              <a:off x="7598406" y="235459"/>
              <a:ext cx="433500" cy="1549200"/>
            </a:xfrm>
            <a:prstGeom prst="rect">
              <a:avLst/>
            </a:prstGeom>
            <a:solidFill>
              <a:srgbClr val="ED55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4" name="Google Shape;64;p6"/>
          <p:cNvPicPr preferRelativeResize="0"/>
          <p:nvPr/>
        </p:nvPicPr>
        <p:blipFill>
          <a:blip r:embed="rId2">
            <a:alphaModFix/>
          </a:blip>
          <a:stretch>
            <a:fillRect/>
          </a:stretch>
        </p:blipFill>
        <p:spPr>
          <a:xfrm>
            <a:off x="7989902" y="24945"/>
            <a:ext cx="1095101" cy="43792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slide">
  <p:cSld name="TITLE_AND_BODY_2">
    <p:spTree>
      <p:nvGrpSpPr>
        <p:cNvPr id="1" name="Shape 65"/>
        <p:cNvGrpSpPr/>
        <p:nvPr/>
      </p:nvGrpSpPr>
      <p:grpSpPr>
        <a:xfrm>
          <a:off x="0" y="0"/>
          <a:ext cx="0" cy="0"/>
          <a:chOff x="0" y="0"/>
          <a:chExt cx="0" cy="0"/>
        </a:xfrm>
      </p:grpSpPr>
      <p:sp>
        <p:nvSpPr>
          <p:cNvPr id="66" name="Google Shape;66;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7"/>
          <p:cNvSpPr txBox="1">
            <a:spLocks noGrp="1"/>
          </p:cNvSpPr>
          <p:nvPr>
            <p:ph type="title"/>
          </p:nvPr>
        </p:nvSpPr>
        <p:spPr>
          <a:xfrm>
            <a:off x="620075" y="677188"/>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3000"/>
              <a:buFont typeface="Lexend"/>
              <a:buNone/>
              <a:defRPr sz="3000" b="0">
                <a:latin typeface="Lexend"/>
                <a:ea typeface="Lexend"/>
                <a:cs typeface="Lexend"/>
                <a:sym typeface="Lexend"/>
              </a:defRPr>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8" name="Google Shape;68;p7"/>
          <p:cNvSpPr txBox="1">
            <a:spLocks noGrp="1"/>
          </p:cNvSpPr>
          <p:nvPr>
            <p:ph type="body" idx="1"/>
          </p:nvPr>
        </p:nvSpPr>
        <p:spPr>
          <a:xfrm>
            <a:off x="727650" y="1356625"/>
            <a:ext cx="4516200" cy="3348900"/>
          </a:xfrm>
          <a:prstGeom prst="rect">
            <a:avLst/>
          </a:prstGeom>
        </p:spPr>
        <p:txBody>
          <a:bodyPr spcFirstLastPara="1" wrap="square" lIns="91425" tIns="91425" rIns="91425" bIns="91425" anchor="t" anchorCtr="0">
            <a:normAutofit/>
          </a:bodyPr>
          <a:lstStyle>
            <a:lvl1pPr marL="457200" lvl="0" indent="-342900">
              <a:lnSpc>
                <a:spcPct val="150000"/>
              </a:lnSpc>
              <a:spcBef>
                <a:spcPts val="0"/>
              </a:spcBef>
              <a:spcAft>
                <a:spcPts val="0"/>
              </a:spcAft>
              <a:buSzPts val="1800"/>
              <a:buChar char="➔"/>
              <a:defRPr sz="1800"/>
            </a:lvl1pPr>
            <a:lvl2pPr marL="914400" lvl="1" indent="-330200">
              <a:lnSpc>
                <a:spcPct val="150000"/>
              </a:lnSpc>
              <a:spcBef>
                <a:spcPts val="0"/>
              </a:spcBef>
              <a:spcAft>
                <a:spcPts val="0"/>
              </a:spcAft>
              <a:buSzPts val="1600"/>
              <a:buChar char="◆"/>
              <a:defRPr sz="1600"/>
            </a:lvl2pPr>
            <a:lvl3pPr marL="1371600" lvl="2" indent="-330200">
              <a:lnSpc>
                <a:spcPct val="150000"/>
              </a:lnSpc>
              <a:spcBef>
                <a:spcPts val="0"/>
              </a:spcBef>
              <a:spcAft>
                <a:spcPts val="0"/>
              </a:spcAft>
              <a:buSzPts val="1600"/>
              <a:buChar char="●"/>
              <a:defRPr sz="1600"/>
            </a:lvl3pPr>
            <a:lvl4pPr marL="1828800" lvl="3" indent="-330200">
              <a:lnSpc>
                <a:spcPct val="150000"/>
              </a:lnSpc>
              <a:spcBef>
                <a:spcPts val="0"/>
              </a:spcBef>
              <a:spcAft>
                <a:spcPts val="0"/>
              </a:spcAft>
              <a:buSzPts val="1600"/>
              <a:buChar char="○"/>
              <a:defRPr sz="1600"/>
            </a:lvl4pPr>
            <a:lvl5pPr marL="2286000" lvl="4" indent="-330200">
              <a:lnSpc>
                <a:spcPct val="150000"/>
              </a:lnSpc>
              <a:spcBef>
                <a:spcPts val="0"/>
              </a:spcBef>
              <a:spcAft>
                <a:spcPts val="0"/>
              </a:spcAft>
              <a:buSzPts val="1600"/>
              <a:buChar char="◆"/>
              <a:defRPr sz="1600"/>
            </a:lvl5pPr>
            <a:lvl6pPr marL="2743200" lvl="5" indent="-330200">
              <a:lnSpc>
                <a:spcPct val="150000"/>
              </a:lnSpc>
              <a:spcBef>
                <a:spcPts val="0"/>
              </a:spcBef>
              <a:spcAft>
                <a:spcPts val="0"/>
              </a:spcAft>
              <a:buSzPts val="1600"/>
              <a:buChar char="●"/>
              <a:defRPr sz="1600"/>
            </a:lvl6pPr>
            <a:lvl7pPr marL="3200400" lvl="6" indent="-330200">
              <a:lnSpc>
                <a:spcPct val="150000"/>
              </a:lnSpc>
              <a:spcBef>
                <a:spcPts val="0"/>
              </a:spcBef>
              <a:spcAft>
                <a:spcPts val="0"/>
              </a:spcAft>
              <a:buSzPts val="1600"/>
              <a:buChar char="○"/>
              <a:defRPr sz="1600"/>
            </a:lvl7pPr>
            <a:lvl8pPr marL="3657600" lvl="7" indent="-330200">
              <a:lnSpc>
                <a:spcPct val="150000"/>
              </a:lnSpc>
              <a:spcBef>
                <a:spcPts val="0"/>
              </a:spcBef>
              <a:spcAft>
                <a:spcPts val="0"/>
              </a:spcAft>
              <a:buSzPts val="1600"/>
              <a:buChar char="◆"/>
              <a:defRPr sz="1600"/>
            </a:lvl8pPr>
            <a:lvl9pPr marL="4114800" lvl="8" indent="-330200">
              <a:lnSpc>
                <a:spcPct val="150000"/>
              </a:lnSpc>
              <a:spcBef>
                <a:spcPts val="0"/>
              </a:spcBef>
              <a:spcAft>
                <a:spcPts val="0"/>
              </a:spcAft>
              <a:buSzPts val="1600"/>
              <a:buChar char="●"/>
              <a:defRPr sz="1600"/>
            </a:lvl9pPr>
          </a:lstStyle>
          <a:p>
            <a:endParaRPr/>
          </a:p>
        </p:txBody>
      </p:sp>
      <p:grpSp>
        <p:nvGrpSpPr>
          <p:cNvPr id="69" name="Google Shape;69;p7"/>
          <p:cNvGrpSpPr/>
          <p:nvPr/>
        </p:nvGrpSpPr>
        <p:grpSpPr>
          <a:xfrm>
            <a:off x="729450" y="629725"/>
            <a:ext cx="1559599" cy="47474"/>
            <a:chOff x="830559" y="793309"/>
            <a:chExt cx="7759198" cy="433550"/>
          </a:xfrm>
        </p:grpSpPr>
        <p:sp>
          <p:nvSpPr>
            <p:cNvPr id="70" name="Google Shape;70;p7"/>
            <p:cNvSpPr/>
            <p:nvPr/>
          </p:nvSpPr>
          <p:spPr>
            <a:xfrm rot="-5400000">
              <a:off x="2950806" y="235459"/>
              <a:ext cx="433500" cy="1549200"/>
            </a:xfrm>
            <a:prstGeom prst="rect">
              <a:avLst/>
            </a:prstGeom>
            <a:solidFill>
              <a:srgbClr val="2063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7"/>
            <p:cNvSpPr/>
            <p:nvPr/>
          </p:nvSpPr>
          <p:spPr>
            <a:xfrm rot="-5400000">
              <a:off x="1395009" y="228909"/>
              <a:ext cx="433500" cy="1562400"/>
            </a:xfrm>
            <a:prstGeom prst="rect">
              <a:avLst/>
            </a:prstGeom>
            <a:solidFill>
              <a:srgbClr val="173F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7"/>
            <p:cNvSpPr/>
            <p:nvPr/>
          </p:nvSpPr>
          <p:spPr>
            <a:xfrm rot="-5400000">
              <a:off x="4500006" y="235459"/>
              <a:ext cx="433500" cy="1549200"/>
            </a:xfrm>
            <a:prstGeom prst="rect">
              <a:avLst/>
            </a:prstGeom>
            <a:solidFill>
              <a:srgbClr val="3CA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7"/>
            <p:cNvSpPr/>
            <p:nvPr/>
          </p:nvSpPr>
          <p:spPr>
            <a:xfrm rot="-5400000">
              <a:off x="6049206" y="235459"/>
              <a:ext cx="433500" cy="1549200"/>
            </a:xfrm>
            <a:prstGeom prst="rect">
              <a:avLst/>
            </a:prstGeom>
            <a:solidFill>
              <a:srgbClr val="F6D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7"/>
            <p:cNvSpPr/>
            <p:nvPr/>
          </p:nvSpPr>
          <p:spPr>
            <a:xfrm rot="-5400000">
              <a:off x="7598406" y="235459"/>
              <a:ext cx="433500" cy="1549200"/>
            </a:xfrm>
            <a:prstGeom prst="rect">
              <a:avLst/>
            </a:prstGeom>
            <a:solidFill>
              <a:srgbClr val="ED55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5" name="Google Shape;75;p7"/>
          <p:cNvPicPr preferRelativeResize="0"/>
          <p:nvPr/>
        </p:nvPicPr>
        <p:blipFill>
          <a:blip r:embed="rId2">
            <a:alphaModFix/>
          </a:blip>
          <a:stretch>
            <a:fillRect/>
          </a:stretch>
        </p:blipFill>
        <p:spPr>
          <a:xfrm>
            <a:off x="7989902" y="24945"/>
            <a:ext cx="1095101" cy="437925"/>
          </a:xfrm>
          <a:prstGeom prst="rect">
            <a:avLst/>
          </a:prstGeom>
          <a:noFill/>
          <a:ln>
            <a:noFill/>
          </a:ln>
        </p:spPr>
      </p:pic>
      <p:pic>
        <p:nvPicPr>
          <p:cNvPr id="76" name="Google Shape;76;p7"/>
          <p:cNvPicPr preferRelativeResize="0"/>
          <p:nvPr/>
        </p:nvPicPr>
        <p:blipFill>
          <a:blip r:embed="rId3">
            <a:alphaModFix/>
          </a:blip>
          <a:stretch>
            <a:fillRect/>
          </a:stretch>
        </p:blipFill>
        <p:spPr>
          <a:xfrm>
            <a:off x="6048198" y="1401800"/>
            <a:ext cx="2558575" cy="2558575"/>
          </a:xfrm>
          <a:prstGeom prst="rect">
            <a:avLst/>
          </a:prstGeom>
          <a:noFill/>
          <a:ln>
            <a:noFill/>
          </a:ln>
        </p:spPr>
      </p:pic>
      <p:sp>
        <p:nvSpPr>
          <p:cNvPr id="77" name="Google Shape;77;p7"/>
          <p:cNvSpPr txBox="1">
            <a:spLocks noGrp="1"/>
          </p:cNvSpPr>
          <p:nvPr>
            <p:ph type="subTitle" idx="2"/>
          </p:nvPr>
        </p:nvSpPr>
        <p:spPr>
          <a:xfrm>
            <a:off x="6132050" y="3876925"/>
            <a:ext cx="2309100" cy="487800"/>
          </a:xfrm>
          <a:prstGeom prst="rect">
            <a:avLst/>
          </a:prstGeom>
        </p:spPr>
        <p:txBody>
          <a:bodyPr spcFirstLastPara="1" wrap="square" lIns="91425" tIns="91425" rIns="91425" bIns="91425" anchor="t" anchorCtr="0">
            <a:normAutofit/>
          </a:bodyPr>
          <a:lstStyle>
            <a:lvl1pPr lvl="0">
              <a:spcBef>
                <a:spcPts val="0"/>
              </a:spcBef>
              <a:spcAft>
                <a:spcPts val="0"/>
              </a:spcAft>
              <a:buSzPts val="13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hyperlink" Target="https://pubs.acs.org/doi/10.1021/acs.jcim.3c01496" TargetMode="External"/><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hyperlink" Target="https://yann.lecun.com/exdb/mnist/"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hyperlink" Target="https://yann.lecun.com/exdb/mnist/"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hyperlink" Target="https://cdn.openai.com/papers/dall-e-3.pdf"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5.xml"/><Relationship Id="rId5" Type="http://schemas.openxmlformats.org/officeDocument/2006/relationships/image" Target="../media/image14.png"/><Relationship Id="rId4" Type="http://schemas.openxmlformats.org/officeDocument/2006/relationships/chart" Target="../charts/chart6.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9"/>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ct val="93333"/>
              <a:buNone/>
            </a:pPr>
            <a:r>
              <a:rPr lang="en"/>
              <a:t>Linear Regression</a:t>
            </a:r>
            <a:endParaRPr/>
          </a:p>
        </p:txBody>
      </p:sp>
      <p:sp>
        <p:nvSpPr>
          <p:cNvPr id="99" name="Google Shape;99;p9"/>
          <p:cNvSpPr txBox="1">
            <a:spLocks noGrp="1"/>
          </p:cNvSpPr>
          <p:nvPr>
            <p:ph type="subTitle" idx="1"/>
          </p:nvPr>
        </p:nvSpPr>
        <p:spPr>
          <a:xfrm>
            <a:off x="729625" y="3172900"/>
            <a:ext cx="7688100" cy="814200"/>
          </a:xfrm>
          <a:prstGeom prst="rect">
            <a:avLst/>
          </a:prstGeom>
          <a:noFill/>
          <a:ln>
            <a:noFill/>
          </a:ln>
        </p:spPr>
        <p:txBody>
          <a:bodyPr spcFirstLastPara="1" wrap="square" lIns="91425" tIns="91425" rIns="91425" bIns="91425" anchor="t" anchorCtr="0">
            <a:normAutofit lnSpcReduction="10000"/>
          </a:bodyPr>
          <a:lstStyle/>
          <a:p>
            <a:pPr marL="0" lvl="0" indent="0" algn="l" rtl="0">
              <a:lnSpc>
                <a:spcPct val="80000"/>
              </a:lnSpc>
              <a:spcBef>
                <a:spcPts val="0"/>
              </a:spcBef>
              <a:spcAft>
                <a:spcPts val="0"/>
              </a:spcAft>
              <a:buSzPct val="88888"/>
              <a:buNone/>
            </a:pPr>
            <a:endParaRPr>
              <a:latin typeface="Arial"/>
              <a:ea typeface="Arial"/>
              <a:cs typeface="Arial"/>
              <a:sym typeface="Arial"/>
            </a:endParaRPr>
          </a:p>
          <a:p>
            <a:pPr marL="0" lvl="0" indent="0" algn="l" rtl="0">
              <a:lnSpc>
                <a:spcPct val="80000"/>
              </a:lnSpc>
              <a:spcBef>
                <a:spcPts val="0"/>
              </a:spcBef>
              <a:spcAft>
                <a:spcPts val="0"/>
              </a:spcAft>
              <a:buSzPct val="88888"/>
              <a:buNone/>
            </a:pPr>
            <a:r>
              <a:rPr lang="en">
                <a:latin typeface="Arial"/>
                <a:ea typeface="Arial"/>
                <a:cs typeface="Arial"/>
                <a:sym typeface="Arial"/>
              </a:rPr>
              <a:t>Content created by: Mélanie Roschewitz, Kamilė Stankevičiūtė, Sonal Joshi, Owais Hussain</a:t>
            </a:r>
            <a:endParaRPr>
              <a:latin typeface="Arial"/>
              <a:ea typeface="Arial"/>
              <a:cs typeface="Arial"/>
              <a:sym typeface="Arial"/>
            </a:endParaRPr>
          </a:p>
          <a:p>
            <a:pPr marL="0" lvl="0" indent="0" algn="l" rtl="0">
              <a:lnSpc>
                <a:spcPct val="80000"/>
              </a:lnSpc>
              <a:spcBef>
                <a:spcPts val="0"/>
              </a:spcBef>
              <a:spcAft>
                <a:spcPts val="0"/>
              </a:spcAft>
              <a:buSzPct val="88888"/>
              <a:buNone/>
            </a:pPr>
            <a:endParaRPr>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14"/>
          <p:cNvSpPr/>
          <p:nvPr/>
        </p:nvSpPr>
        <p:spPr>
          <a:xfrm>
            <a:off x="6830149" y="1562850"/>
            <a:ext cx="2138400" cy="2604600"/>
          </a:xfrm>
          <a:prstGeom prst="roundRect">
            <a:avLst>
              <a:gd name="adj" fmla="val 16667"/>
            </a:avLst>
          </a:prstGeom>
          <a:solidFill>
            <a:srgbClr val="FFF2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2" name="Google Shape;142;p14"/>
          <p:cNvSpPr/>
          <p:nvPr/>
        </p:nvSpPr>
        <p:spPr>
          <a:xfrm>
            <a:off x="4611162" y="1562850"/>
            <a:ext cx="2024100" cy="2646000"/>
          </a:xfrm>
          <a:prstGeom prst="roundRect">
            <a:avLst>
              <a:gd name="adj" fmla="val 16667"/>
            </a:avLst>
          </a:prstGeom>
          <a:solidFill>
            <a:srgbClr val="FFF2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3" name="Google Shape;143;p14"/>
          <p:cNvSpPr/>
          <p:nvPr/>
        </p:nvSpPr>
        <p:spPr>
          <a:xfrm>
            <a:off x="2429287" y="1562850"/>
            <a:ext cx="2024100" cy="2646000"/>
          </a:xfrm>
          <a:prstGeom prst="roundRect">
            <a:avLst>
              <a:gd name="adj" fmla="val 16667"/>
            </a:avLst>
          </a:prstGeom>
          <a:solidFill>
            <a:srgbClr val="FFF2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4" name="Google Shape;144;p14"/>
          <p:cNvSpPr/>
          <p:nvPr/>
        </p:nvSpPr>
        <p:spPr>
          <a:xfrm>
            <a:off x="185075" y="1562850"/>
            <a:ext cx="2104500" cy="2646000"/>
          </a:xfrm>
          <a:prstGeom prst="roundRect">
            <a:avLst>
              <a:gd name="adj" fmla="val 16667"/>
            </a:avLst>
          </a:prstGeom>
          <a:solidFill>
            <a:srgbClr val="FFF2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5" name="Google Shape;145;p14"/>
          <p:cNvSpPr txBox="1">
            <a:spLocks noGrp="1"/>
          </p:cNvSpPr>
          <p:nvPr>
            <p:ph type="title"/>
          </p:nvPr>
        </p:nvSpPr>
        <p:spPr>
          <a:xfrm>
            <a:off x="620075" y="677188"/>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Generative ML tasks</a:t>
            </a:r>
            <a:endParaRPr/>
          </a:p>
        </p:txBody>
      </p:sp>
      <p:grpSp>
        <p:nvGrpSpPr>
          <p:cNvPr id="146" name="Google Shape;146;p14"/>
          <p:cNvGrpSpPr/>
          <p:nvPr/>
        </p:nvGrpSpPr>
        <p:grpSpPr>
          <a:xfrm>
            <a:off x="2561225" y="2616452"/>
            <a:ext cx="1714100" cy="815700"/>
            <a:chOff x="2714250" y="2387852"/>
            <a:chExt cx="1714100" cy="815700"/>
          </a:xfrm>
        </p:grpSpPr>
        <p:pic>
          <p:nvPicPr>
            <p:cNvPr id="147" name="Google Shape;147;p14"/>
            <p:cNvPicPr preferRelativeResize="0"/>
            <p:nvPr/>
          </p:nvPicPr>
          <p:blipFill>
            <a:blip r:embed="rId3">
              <a:alphaModFix/>
            </a:blip>
            <a:stretch>
              <a:fillRect/>
            </a:stretch>
          </p:blipFill>
          <p:spPr>
            <a:xfrm>
              <a:off x="3612650" y="2387852"/>
              <a:ext cx="815700" cy="815700"/>
            </a:xfrm>
            <a:prstGeom prst="rect">
              <a:avLst/>
            </a:prstGeom>
            <a:noFill/>
            <a:ln>
              <a:noFill/>
            </a:ln>
          </p:spPr>
        </p:pic>
        <p:grpSp>
          <p:nvGrpSpPr>
            <p:cNvPr id="148" name="Google Shape;148;p14"/>
            <p:cNvGrpSpPr/>
            <p:nvPr/>
          </p:nvGrpSpPr>
          <p:grpSpPr>
            <a:xfrm>
              <a:off x="2714250" y="2434897"/>
              <a:ext cx="898325" cy="721625"/>
              <a:chOff x="2714250" y="2434897"/>
              <a:chExt cx="898325" cy="721625"/>
            </a:xfrm>
          </p:grpSpPr>
          <p:pic>
            <p:nvPicPr>
              <p:cNvPr id="149" name="Google Shape;149;p14"/>
              <p:cNvPicPr preferRelativeResize="0"/>
              <p:nvPr/>
            </p:nvPicPr>
            <p:blipFill>
              <a:blip r:embed="rId4">
                <a:alphaModFix/>
              </a:blip>
              <a:stretch>
                <a:fillRect/>
              </a:stretch>
            </p:blipFill>
            <p:spPr>
              <a:xfrm>
                <a:off x="2714250" y="2434897"/>
                <a:ext cx="721625" cy="721625"/>
              </a:xfrm>
              <a:prstGeom prst="rect">
                <a:avLst/>
              </a:prstGeom>
              <a:noFill/>
              <a:ln>
                <a:noFill/>
              </a:ln>
            </p:spPr>
          </p:pic>
          <p:cxnSp>
            <p:nvCxnSpPr>
              <p:cNvPr id="150" name="Google Shape;150;p14"/>
              <p:cNvCxnSpPr>
                <a:stCxn id="149" idx="3"/>
                <a:endCxn id="147" idx="1"/>
              </p:cNvCxnSpPr>
              <p:nvPr/>
            </p:nvCxnSpPr>
            <p:spPr>
              <a:xfrm>
                <a:off x="3435875" y="2795710"/>
                <a:ext cx="176700" cy="0"/>
              </a:xfrm>
              <a:prstGeom prst="straightConnector1">
                <a:avLst/>
              </a:prstGeom>
              <a:noFill/>
              <a:ln w="9525" cap="flat" cmpd="sng">
                <a:solidFill>
                  <a:schemeClr val="dk2"/>
                </a:solidFill>
                <a:prstDash val="solid"/>
                <a:round/>
                <a:headEnd type="none" w="med" len="med"/>
                <a:tailEnd type="triangle" w="med" len="med"/>
              </a:ln>
            </p:spPr>
          </p:cxnSp>
        </p:grpSp>
      </p:grpSp>
      <p:sp>
        <p:nvSpPr>
          <p:cNvPr id="151" name="Google Shape;151;p14"/>
          <p:cNvSpPr txBox="1"/>
          <p:nvPr/>
        </p:nvSpPr>
        <p:spPr>
          <a:xfrm>
            <a:off x="2455150" y="1636725"/>
            <a:ext cx="19611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a:solidFill>
                  <a:schemeClr val="accent1"/>
                </a:solidFill>
                <a:latin typeface="Lato"/>
                <a:ea typeface="Lato"/>
                <a:cs typeface="Lato"/>
                <a:sym typeface="Lato"/>
              </a:rPr>
              <a:t>Text-to-speech</a:t>
            </a:r>
            <a:endParaRPr sz="1300">
              <a:solidFill>
                <a:schemeClr val="accent1"/>
              </a:solidFill>
              <a:latin typeface="Lato"/>
              <a:ea typeface="Lato"/>
              <a:cs typeface="Lato"/>
              <a:sym typeface="Lato"/>
            </a:endParaRPr>
          </a:p>
        </p:txBody>
      </p:sp>
      <p:sp>
        <p:nvSpPr>
          <p:cNvPr id="152" name="Google Shape;152;p14"/>
          <p:cNvSpPr txBox="1"/>
          <p:nvPr/>
        </p:nvSpPr>
        <p:spPr>
          <a:xfrm>
            <a:off x="2429275" y="1948500"/>
            <a:ext cx="20241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chemeClr val="accent1"/>
                </a:solidFill>
                <a:latin typeface="Lato"/>
                <a:ea typeface="Lato"/>
                <a:cs typeface="Lato"/>
                <a:sym typeface="Lato"/>
              </a:rPr>
              <a:t>Write the transcript of this recording</a:t>
            </a:r>
            <a:endParaRPr sz="900">
              <a:solidFill>
                <a:schemeClr val="accent1"/>
              </a:solidFill>
              <a:latin typeface="Lato"/>
              <a:ea typeface="Lato"/>
              <a:cs typeface="Lato"/>
              <a:sym typeface="Lato"/>
            </a:endParaRPr>
          </a:p>
        </p:txBody>
      </p:sp>
      <p:pic>
        <p:nvPicPr>
          <p:cNvPr id="153" name="Google Shape;153;p14"/>
          <p:cNvPicPr preferRelativeResize="0"/>
          <p:nvPr/>
        </p:nvPicPr>
        <p:blipFill>
          <a:blip r:embed="rId5">
            <a:alphaModFix/>
          </a:blip>
          <a:stretch>
            <a:fillRect/>
          </a:stretch>
        </p:blipFill>
        <p:spPr>
          <a:xfrm>
            <a:off x="536550" y="2616475"/>
            <a:ext cx="1403875" cy="1309475"/>
          </a:xfrm>
          <a:prstGeom prst="rect">
            <a:avLst/>
          </a:prstGeom>
          <a:noFill/>
          <a:ln>
            <a:noFill/>
          </a:ln>
        </p:spPr>
      </p:pic>
      <p:sp>
        <p:nvSpPr>
          <p:cNvPr id="154" name="Google Shape;154;p14"/>
          <p:cNvSpPr txBox="1"/>
          <p:nvPr/>
        </p:nvSpPr>
        <p:spPr>
          <a:xfrm>
            <a:off x="289288" y="1636719"/>
            <a:ext cx="18984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a:solidFill>
                  <a:schemeClr val="accent1"/>
                </a:solidFill>
                <a:latin typeface="Lato"/>
                <a:ea typeface="Lato"/>
                <a:cs typeface="Lato"/>
                <a:sym typeface="Lato"/>
              </a:rPr>
              <a:t>Image generation</a:t>
            </a:r>
            <a:endParaRPr sz="1300">
              <a:solidFill>
                <a:schemeClr val="accent1"/>
              </a:solidFill>
              <a:latin typeface="Lato"/>
              <a:ea typeface="Lato"/>
              <a:cs typeface="Lato"/>
              <a:sym typeface="Lato"/>
            </a:endParaRPr>
          </a:p>
        </p:txBody>
      </p:sp>
      <p:sp>
        <p:nvSpPr>
          <p:cNvPr id="155" name="Google Shape;155;p14"/>
          <p:cNvSpPr txBox="1"/>
          <p:nvPr/>
        </p:nvSpPr>
        <p:spPr>
          <a:xfrm>
            <a:off x="21838" y="1948488"/>
            <a:ext cx="2433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chemeClr val="accent1"/>
                </a:solidFill>
                <a:latin typeface="Lato"/>
                <a:ea typeface="Lato"/>
                <a:cs typeface="Lato"/>
                <a:sym typeface="Lato"/>
              </a:rPr>
              <a:t>Generate image given text instructions</a:t>
            </a:r>
            <a:endParaRPr sz="900">
              <a:solidFill>
                <a:schemeClr val="accent1"/>
              </a:solidFill>
              <a:latin typeface="Lato"/>
              <a:ea typeface="Lato"/>
              <a:cs typeface="Lato"/>
              <a:sym typeface="Lato"/>
            </a:endParaRPr>
          </a:p>
        </p:txBody>
      </p:sp>
      <p:pic>
        <p:nvPicPr>
          <p:cNvPr id="156" name="Google Shape;156;p14"/>
          <p:cNvPicPr preferRelativeResize="0"/>
          <p:nvPr/>
        </p:nvPicPr>
        <p:blipFill>
          <a:blip r:embed="rId6">
            <a:alphaModFix/>
          </a:blip>
          <a:stretch>
            <a:fillRect/>
          </a:stretch>
        </p:blipFill>
        <p:spPr>
          <a:xfrm>
            <a:off x="4725575" y="2189863"/>
            <a:ext cx="1795250" cy="1823399"/>
          </a:xfrm>
          <a:prstGeom prst="rect">
            <a:avLst/>
          </a:prstGeom>
          <a:noFill/>
          <a:ln>
            <a:noFill/>
          </a:ln>
        </p:spPr>
      </p:pic>
      <p:sp>
        <p:nvSpPr>
          <p:cNvPr id="157" name="Google Shape;157;p14"/>
          <p:cNvSpPr txBox="1"/>
          <p:nvPr/>
        </p:nvSpPr>
        <p:spPr>
          <a:xfrm>
            <a:off x="4593100" y="1636725"/>
            <a:ext cx="20241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a:solidFill>
                  <a:schemeClr val="accent1"/>
                </a:solidFill>
                <a:latin typeface="Lato"/>
                <a:ea typeface="Lato"/>
                <a:cs typeface="Lato"/>
                <a:sym typeface="Lato"/>
              </a:rPr>
              <a:t>Conversational agents</a:t>
            </a:r>
            <a:endParaRPr sz="1300">
              <a:solidFill>
                <a:schemeClr val="accent1"/>
              </a:solidFill>
              <a:latin typeface="Lato"/>
              <a:ea typeface="Lato"/>
              <a:cs typeface="Lato"/>
              <a:sym typeface="Lato"/>
            </a:endParaRPr>
          </a:p>
        </p:txBody>
      </p:sp>
      <p:sp>
        <p:nvSpPr>
          <p:cNvPr id="158" name="Google Shape;158;p14"/>
          <p:cNvSpPr txBox="1"/>
          <p:nvPr/>
        </p:nvSpPr>
        <p:spPr>
          <a:xfrm>
            <a:off x="6793025" y="3519625"/>
            <a:ext cx="2275800" cy="544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800">
                <a:latin typeface="Lato"/>
                <a:ea typeface="Lato"/>
                <a:cs typeface="Lato"/>
                <a:sym typeface="Lato"/>
              </a:rPr>
              <a:t>Schema from </a:t>
            </a:r>
            <a:r>
              <a:rPr lang="en" sz="800" i="1">
                <a:latin typeface="Lato"/>
                <a:ea typeface="Lato"/>
                <a:cs typeface="Lato"/>
                <a:sym typeface="Lato"/>
              </a:rPr>
              <a:t>Deep Generative Models in De Novo Drug Molecule Generation, Pang et al, 2023</a:t>
            </a:r>
            <a:br>
              <a:rPr lang="en" sz="900" i="1">
                <a:latin typeface="Lato"/>
                <a:ea typeface="Lato"/>
                <a:cs typeface="Lato"/>
                <a:sym typeface="Lato"/>
              </a:rPr>
            </a:br>
            <a:r>
              <a:rPr lang="en" sz="500" u="sng">
                <a:solidFill>
                  <a:schemeClr val="hlink"/>
                </a:solidFill>
                <a:hlinkClick r:id="rId7"/>
              </a:rPr>
              <a:t>https://pubs.acs.org/doi/10.1021/acs.jcim.3c01496</a:t>
            </a:r>
            <a:endParaRPr sz="300" i="1">
              <a:latin typeface="Lato"/>
              <a:ea typeface="Lato"/>
              <a:cs typeface="Lato"/>
              <a:sym typeface="Lato"/>
            </a:endParaRPr>
          </a:p>
        </p:txBody>
      </p:sp>
      <p:pic>
        <p:nvPicPr>
          <p:cNvPr id="159" name="Google Shape;159;p14"/>
          <p:cNvPicPr preferRelativeResize="0"/>
          <p:nvPr/>
        </p:nvPicPr>
        <p:blipFill>
          <a:blip r:embed="rId8">
            <a:alphaModFix/>
          </a:blip>
          <a:stretch>
            <a:fillRect/>
          </a:stretch>
        </p:blipFill>
        <p:spPr>
          <a:xfrm>
            <a:off x="6971075" y="2204224"/>
            <a:ext cx="1898400" cy="1321846"/>
          </a:xfrm>
          <a:prstGeom prst="rect">
            <a:avLst/>
          </a:prstGeom>
          <a:noFill/>
          <a:ln>
            <a:noFill/>
          </a:ln>
        </p:spPr>
      </p:pic>
      <p:sp>
        <p:nvSpPr>
          <p:cNvPr id="160" name="Google Shape;160;p14"/>
          <p:cNvSpPr txBox="1"/>
          <p:nvPr/>
        </p:nvSpPr>
        <p:spPr>
          <a:xfrm>
            <a:off x="6916850" y="1636719"/>
            <a:ext cx="19650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a:solidFill>
                  <a:schemeClr val="accent1"/>
                </a:solidFill>
                <a:latin typeface="Lato"/>
                <a:ea typeface="Lato"/>
                <a:cs typeface="Lato"/>
                <a:sym typeface="Lato"/>
              </a:rPr>
              <a:t>Drug design</a:t>
            </a:r>
            <a:endParaRPr sz="1300">
              <a:solidFill>
                <a:schemeClr val="accent1"/>
              </a:solidFill>
              <a:latin typeface="Lato"/>
              <a:ea typeface="Lato"/>
              <a:cs typeface="Lato"/>
              <a:sym typeface="Lato"/>
            </a:endParaRPr>
          </a:p>
        </p:txBody>
      </p:sp>
      <p:sp>
        <p:nvSpPr>
          <p:cNvPr id="161" name="Google Shape;161;p14"/>
          <p:cNvSpPr txBox="1"/>
          <p:nvPr/>
        </p:nvSpPr>
        <p:spPr>
          <a:xfrm>
            <a:off x="21838" y="2285825"/>
            <a:ext cx="24333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chemeClr val="accent1"/>
                </a:solidFill>
                <a:latin typeface="Courier New"/>
                <a:ea typeface="Courier New"/>
                <a:cs typeface="Courier New"/>
                <a:sym typeface="Courier New"/>
              </a:rPr>
              <a:t>“A cat sitting on a table”</a:t>
            </a:r>
            <a:endParaRPr sz="1000">
              <a:solidFill>
                <a:schemeClr val="accent1"/>
              </a:solidFill>
              <a:latin typeface="Courier New"/>
              <a:ea typeface="Courier New"/>
              <a:cs typeface="Courier New"/>
              <a:sym typeface="Courier New"/>
            </a:endParaRPr>
          </a:p>
        </p:txBody>
      </p:sp>
      <p:sp>
        <p:nvSpPr>
          <p:cNvPr id="162" name="Google Shape;162;p14"/>
          <p:cNvSpPr txBox="1"/>
          <p:nvPr/>
        </p:nvSpPr>
        <p:spPr>
          <a:xfrm>
            <a:off x="6830150" y="1881113"/>
            <a:ext cx="21384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chemeClr val="accent1"/>
                </a:solidFill>
                <a:latin typeface="Lato"/>
                <a:ea typeface="Lato"/>
                <a:cs typeface="Lato"/>
                <a:sym typeface="Lato"/>
              </a:rPr>
              <a:t>Finding molecules targeting a disease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5"/>
          <p:cNvSpPr/>
          <p:nvPr/>
        </p:nvSpPr>
        <p:spPr>
          <a:xfrm>
            <a:off x="1734200" y="2647150"/>
            <a:ext cx="4949100" cy="1856400"/>
          </a:xfrm>
          <a:prstGeom prst="roundRect">
            <a:avLst>
              <a:gd name="adj" fmla="val 16667"/>
            </a:avLst>
          </a:prstGeom>
          <a:solidFill>
            <a:srgbClr val="FFF2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68" name="Google Shape;168;p15"/>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Generative vs Discriminative models</a:t>
            </a:r>
            <a:endParaRPr/>
          </a:p>
        </p:txBody>
      </p:sp>
      <p:sp>
        <p:nvSpPr>
          <p:cNvPr id="169" name="Google Shape;169;p15"/>
          <p:cNvSpPr txBox="1">
            <a:spLocks noGrp="1"/>
          </p:cNvSpPr>
          <p:nvPr>
            <p:ph type="body" idx="1"/>
          </p:nvPr>
        </p:nvSpPr>
        <p:spPr>
          <a:xfrm>
            <a:off x="727650" y="1356625"/>
            <a:ext cx="7688700" cy="1334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852"/>
              <a:buNone/>
            </a:pPr>
            <a:r>
              <a:rPr lang="en" sz="1600" b="1"/>
              <a:t>Discriminative</a:t>
            </a:r>
            <a:r>
              <a:rPr lang="en" sz="1600"/>
              <a:t> models </a:t>
            </a:r>
            <a:endParaRPr sz="1600"/>
          </a:p>
          <a:p>
            <a:pPr marL="457200" lvl="0" indent="-330200" algn="l" rtl="0">
              <a:lnSpc>
                <a:spcPct val="115000"/>
              </a:lnSpc>
              <a:spcBef>
                <a:spcPts val="1200"/>
              </a:spcBef>
              <a:spcAft>
                <a:spcPts val="0"/>
              </a:spcAft>
              <a:buSzPts val="1600"/>
              <a:buChar char="●"/>
            </a:pPr>
            <a:r>
              <a:rPr lang="en" sz="1600"/>
              <a:t>Designed to learn the </a:t>
            </a:r>
            <a:r>
              <a:rPr lang="en" sz="1600" b="1"/>
              <a:t>mapping</a:t>
            </a:r>
            <a:r>
              <a:rPr lang="en" sz="1600"/>
              <a:t> from </a:t>
            </a:r>
            <a:r>
              <a:rPr lang="en" sz="1600" b="1"/>
              <a:t>inputs</a:t>
            </a:r>
            <a:r>
              <a:rPr lang="en" sz="1600"/>
              <a:t> (e.g. images) to </a:t>
            </a:r>
            <a:r>
              <a:rPr lang="en" sz="1600" b="1"/>
              <a:t>labels </a:t>
            </a:r>
            <a:r>
              <a:rPr lang="en" sz="1600"/>
              <a:t>(=annotations), in order to predict the labels for new examples.</a:t>
            </a:r>
            <a:endParaRPr sz="1600"/>
          </a:p>
          <a:p>
            <a:pPr marL="457200" lvl="0" indent="0" algn="l" rtl="0">
              <a:lnSpc>
                <a:spcPct val="115000"/>
              </a:lnSpc>
              <a:spcBef>
                <a:spcPts val="1200"/>
              </a:spcBef>
              <a:spcAft>
                <a:spcPts val="1200"/>
              </a:spcAft>
              <a:buSzPts val="852"/>
              <a:buNone/>
            </a:pPr>
            <a:endParaRPr sz="1600"/>
          </a:p>
        </p:txBody>
      </p:sp>
      <p:grpSp>
        <p:nvGrpSpPr>
          <p:cNvPr id="170" name="Google Shape;170;p15"/>
          <p:cNvGrpSpPr/>
          <p:nvPr/>
        </p:nvGrpSpPr>
        <p:grpSpPr>
          <a:xfrm>
            <a:off x="1793007" y="2835261"/>
            <a:ext cx="5342855" cy="1619036"/>
            <a:chOff x="2837625" y="2065443"/>
            <a:chExt cx="4775950" cy="1355182"/>
          </a:xfrm>
        </p:grpSpPr>
        <p:pic>
          <p:nvPicPr>
            <p:cNvPr id="171" name="Google Shape;171;p15"/>
            <p:cNvPicPr preferRelativeResize="0"/>
            <p:nvPr/>
          </p:nvPicPr>
          <p:blipFill rotWithShape="1">
            <a:blip r:embed="rId3">
              <a:alphaModFix/>
            </a:blip>
            <a:srcRect l="11028" t="37833" r="77787" b="33290"/>
            <a:stretch/>
          </p:blipFill>
          <p:spPr>
            <a:xfrm>
              <a:off x="2999875" y="2276100"/>
              <a:ext cx="547725" cy="424301"/>
            </a:xfrm>
            <a:prstGeom prst="rect">
              <a:avLst/>
            </a:prstGeom>
            <a:noFill/>
            <a:ln>
              <a:noFill/>
            </a:ln>
          </p:spPr>
        </p:pic>
        <p:pic>
          <p:nvPicPr>
            <p:cNvPr id="172" name="Google Shape;172;p15"/>
            <p:cNvPicPr preferRelativeResize="0"/>
            <p:nvPr/>
          </p:nvPicPr>
          <p:blipFill rotWithShape="1">
            <a:blip r:embed="rId4">
              <a:alphaModFix/>
            </a:blip>
            <a:srcRect/>
            <a:stretch/>
          </p:blipFill>
          <p:spPr>
            <a:xfrm>
              <a:off x="4504375" y="2065443"/>
              <a:ext cx="1066200" cy="845600"/>
            </a:xfrm>
            <a:prstGeom prst="rect">
              <a:avLst/>
            </a:prstGeom>
            <a:noFill/>
            <a:ln>
              <a:noFill/>
            </a:ln>
          </p:spPr>
        </p:pic>
        <p:cxnSp>
          <p:nvCxnSpPr>
            <p:cNvPr id="173" name="Google Shape;173;p15"/>
            <p:cNvCxnSpPr/>
            <p:nvPr/>
          </p:nvCxnSpPr>
          <p:spPr>
            <a:xfrm>
              <a:off x="3652500" y="2490650"/>
              <a:ext cx="608400" cy="0"/>
            </a:xfrm>
            <a:prstGeom prst="straightConnector1">
              <a:avLst/>
            </a:prstGeom>
            <a:noFill/>
            <a:ln w="9525" cap="flat" cmpd="sng">
              <a:solidFill>
                <a:schemeClr val="dk2"/>
              </a:solidFill>
              <a:prstDash val="solid"/>
              <a:round/>
              <a:headEnd type="none" w="sm" len="sm"/>
              <a:tailEnd type="triangle" w="med" len="med"/>
            </a:ln>
          </p:spPr>
        </p:cxnSp>
        <p:cxnSp>
          <p:nvCxnSpPr>
            <p:cNvPr id="174" name="Google Shape;174;p15"/>
            <p:cNvCxnSpPr/>
            <p:nvPr/>
          </p:nvCxnSpPr>
          <p:spPr>
            <a:xfrm>
              <a:off x="5616450" y="2490650"/>
              <a:ext cx="588600" cy="0"/>
            </a:xfrm>
            <a:prstGeom prst="straightConnector1">
              <a:avLst/>
            </a:prstGeom>
            <a:noFill/>
            <a:ln w="9525" cap="flat" cmpd="sng">
              <a:solidFill>
                <a:schemeClr val="dk2"/>
              </a:solidFill>
              <a:prstDash val="solid"/>
              <a:round/>
              <a:headEnd type="none" w="sm" len="sm"/>
              <a:tailEnd type="triangle" w="med" len="med"/>
            </a:ln>
          </p:spPr>
        </p:cxnSp>
        <p:sp>
          <p:nvSpPr>
            <p:cNvPr id="175" name="Google Shape;175;p15"/>
            <p:cNvSpPr txBox="1"/>
            <p:nvPr/>
          </p:nvSpPr>
          <p:spPr>
            <a:xfrm>
              <a:off x="6351475" y="2208350"/>
              <a:ext cx="1262100" cy="463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0" i="1" u="none" strike="noStrike" cap="none">
                  <a:solidFill>
                    <a:srgbClr val="999999"/>
                  </a:solidFill>
                  <a:latin typeface="Lato"/>
                  <a:ea typeface="Lato"/>
                  <a:cs typeface="Lato"/>
                  <a:sym typeface="Lato"/>
                </a:rPr>
                <a:t>It’s a </a:t>
              </a:r>
              <a:r>
                <a:rPr lang="en" sz="2400" b="0" i="1" u="none" strike="noStrike" cap="none">
                  <a:solidFill>
                    <a:srgbClr val="000000"/>
                  </a:solidFill>
                  <a:latin typeface="Lato"/>
                  <a:ea typeface="Lato"/>
                  <a:cs typeface="Lato"/>
                  <a:sym typeface="Lato"/>
                </a:rPr>
                <a:t>5 </a:t>
              </a:r>
              <a:r>
                <a:rPr lang="en" sz="1200" b="0" i="1" u="none" strike="noStrike" cap="none">
                  <a:solidFill>
                    <a:srgbClr val="999999"/>
                  </a:solidFill>
                  <a:latin typeface="Lato"/>
                  <a:ea typeface="Lato"/>
                  <a:cs typeface="Lato"/>
                  <a:sym typeface="Lato"/>
                </a:rPr>
                <a:t>!</a:t>
              </a:r>
              <a:endParaRPr sz="1200" b="0" i="1" u="none" strike="noStrike" cap="none">
                <a:solidFill>
                  <a:srgbClr val="000000"/>
                </a:solidFill>
                <a:latin typeface="Lato"/>
                <a:ea typeface="Lato"/>
                <a:cs typeface="Lato"/>
                <a:sym typeface="Lato"/>
              </a:endParaRPr>
            </a:p>
          </p:txBody>
        </p:sp>
        <p:sp>
          <p:nvSpPr>
            <p:cNvPr id="176" name="Google Shape;176;p15"/>
            <p:cNvSpPr txBox="1"/>
            <p:nvPr/>
          </p:nvSpPr>
          <p:spPr>
            <a:xfrm>
              <a:off x="2837625" y="2638575"/>
              <a:ext cx="1262100" cy="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0" i="1" u="none" strike="noStrike" cap="none">
                  <a:solidFill>
                    <a:srgbClr val="000000"/>
                  </a:solidFill>
                  <a:latin typeface="Lato"/>
                  <a:ea typeface="Lato"/>
                  <a:cs typeface="Lato"/>
                  <a:sym typeface="Lato"/>
                </a:rPr>
                <a:t>input image</a:t>
              </a:r>
              <a:endParaRPr sz="1200" b="0" i="1" u="none" strike="noStrike" cap="none">
                <a:solidFill>
                  <a:srgbClr val="000000"/>
                </a:solidFill>
                <a:latin typeface="Lato"/>
                <a:ea typeface="Lato"/>
                <a:cs typeface="Lato"/>
                <a:sym typeface="Lato"/>
              </a:endParaRPr>
            </a:p>
          </p:txBody>
        </p:sp>
        <p:sp>
          <p:nvSpPr>
            <p:cNvPr id="177" name="Google Shape;177;p15"/>
            <p:cNvSpPr txBox="1"/>
            <p:nvPr/>
          </p:nvSpPr>
          <p:spPr>
            <a:xfrm>
              <a:off x="4058875" y="2815225"/>
              <a:ext cx="1957200" cy="605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 sz="1300" b="0" i="0" u="none" strike="noStrike" cap="none">
                  <a:solidFill>
                    <a:schemeClr val="dk2"/>
                  </a:solidFill>
                  <a:latin typeface="Courier New"/>
                  <a:ea typeface="Courier New"/>
                  <a:cs typeface="Courier New"/>
                  <a:sym typeface="Courier New"/>
                </a:rPr>
                <a:t>Discriminative</a:t>
              </a:r>
              <a:endParaRPr sz="1300" b="0" i="0" u="none" strike="noStrike" cap="none">
                <a:solidFill>
                  <a:schemeClr val="dk2"/>
                </a:solidFill>
                <a:latin typeface="Courier New"/>
                <a:ea typeface="Courier New"/>
                <a:cs typeface="Courier New"/>
                <a:sym typeface="Courier New"/>
              </a:endParaRPr>
            </a:p>
            <a:p>
              <a:pPr marL="0" marR="0" lvl="0" indent="0" algn="ctr" rtl="0">
                <a:lnSpc>
                  <a:spcPct val="100000"/>
                </a:lnSpc>
                <a:spcBef>
                  <a:spcPts val="0"/>
                </a:spcBef>
                <a:spcAft>
                  <a:spcPts val="0"/>
                </a:spcAft>
                <a:buClr>
                  <a:srgbClr val="000000"/>
                </a:buClr>
                <a:buSzPts val="1300"/>
                <a:buFont typeface="Arial"/>
                <a:buNone/>
              </a:pPr>
              <a:r>
                <a:rPr lang="en" sz="1300" b="0" i="0" u="none" strike="noStrike" cap="none">
                  <a:solidFill>
                    <a:schemeClr val="dk2"/>
                  </a:solidFill>
                  <a:latin typeface="Courier New"/>
                  <a:ea typeface="Courier New"/>
                  <a:cs typeface="Courier New"/>
                  <a:sym typeface="Courier New"/>
                </a:rPr>
                <a:t>ML model </a:t>
              </a:r>
              <a:endParaRPr sz="1300" b="0" i="0" u="none" strike="noStrike" cap="none">
                <a:solidFill>
                  <a:schemeClr val="dk2"/>
                </a:solidFill>
                <a:latin typeface="Courier New"/>
                <a:ea typeface="Courier New"/>
                <a:cs typeface="Courier New"/>
                <a:sym typeface="Courier New"/>
              </a:endParaRPr>
            </a:p>
            <a:p>
              <a:pPr marL="0" marR="0" lvl="0" indent="0" algn="ctr" rtl="0">
                <a:lnSpc>
                  <a:spcPct val="100000"/>
                </a:lnSpc>
                <a:spcBef>
                  <a:spcPts val="0"/>
                </a:spcBef>
                <a:spcAft>
                  <a:spcPts val="0"/>
                </a:spcAft>
                <a:buClr>
                  <a:srgbClr val="000000"/>
                </a:buClr>
                <a:buSzPts val="900"/>
                <a:buFont typeface="Arial"/>
                <a:buNone/>
              </a:pPr>
              <a:r>
                <a:rPr lang="en" sz="900" b="0" i="1" u="none" strike="noStrike" cap="none">
                  <a:solidFill>
                    <a:schemeClr val="dk2"/>
                  </a:solidFill>
                  <a:latin typeface="Courier New"/>
                  <a:ea typeface="Courier New"/>
                  <a:cs typeface="Courier New"/>
                  <a:sym typeface="Courier New"/>
                </a:rPr>
                <a:t>(at test time)</a:t>
              </a:r>
              <a:endParaRPr sz="100" b="0" i="1" u="none" strike="noStrike" cap="none">
                <a:solidFill>
                  <a:srgbClr val="000000"/>
                </a:solidFill>
                <a:latin typeface="Arial"/>
                <a:ea typeface="Arial"/>
                <a:cs typeface="Arial"/>
                <a:sym typeface="Arial"/>
              </a:endParaRPr>
            </a:p>
          </p:txBody>
        </p:sp>
        <p:sp>
          <p:nvSpPr>
            <p:cNvPr id="178" name="Google Shape;178;p15"/>
            <p:cNvSpPr txBox="1"/>
            <p:nvPr/>
          </p:nvSpPr>
          <p:spPr>
            <a:xfrm>
              <a:off x="6289625" y="2675975"/>
              <a:ext cx="1262100" cy="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0" i="1" u="none" strike="noStrike" cap="none">
                  <a:solidFill>
                    <a:srgbClr val="000000"/>
                  </a:solidFill>
                  <a:latin typeface="Lato"/>
                  <a:ea typeface="Lato"/>
                  <a:cs typeface="Lato"/>
                  <a:sym typeface="Lato"/>
                </a:rPr>
                <a:t>output label</a:t>
              </a:r>
              <a:endParaRPr sz="1200" b="0" i="1" u="none" strike="noStrike" cap="none">
                <a:solidFill>
                  <a:srgbClr val="000000"/>
                </a:solidFill>
                <a:latin typeface="Lato"/>
                <a:ea typeface="Lato"/>
                <a:cs typeface="Lato"/>
                <a:sym typeface="Lat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6"/>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Generative vs Discriminative models</a:t>
            </a:r>
            <a:endParaRPr/>
          </a:p>
        </p:txBody>
      </p:sp>
      <p:sp>
        <p:nvSpPr>
          <p:cNvPr id="184" name="Google Shape;184;p16"/>
          <p:cNvSpPr txBox="1">
            <a:spLocks noGrp="1"/>
          </p:cNvSpPr>
          <p:nvPr>
            <p:ph type="body" idx="1"/>
          </p:nvPr>
        </p:nvSpPr>
        <p:spPr>
          <a:xfrm>
            <a:off x="727650" y="1356627"/>
            <a:ext cx="7688700" cy="3348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852"/>
              <a:buNone/>
            </a:pPr>
            <a:r>
              <a:rPr lang="en" sz="1600" b="1"/>
              <a:t>Discriminative</a:t>
            </a:r>
            <a:r>
              <a:rPr lang="en" sz="1600"/>
              <a:t> models</a:t>
            </a:r>
            <a:br>
              <a:rPr lang="en" sz="1600"/>
            </a:br>
            <a:endParaRPr sz="900"/>
          </a:p>
          <a:p>
            <a:pPr marL="457200" lvl="0" indent="-330200" algn="l" rtl="0">
              <a:lnSpc>
                <a:spcPct val="115000"/>
              </a:lnSpc>
              <a:spcBef>
                <a:spcPts val="0"/>
              </a:spcBef>
              <a:spcAft>
                <a:spcPts val="0"/>
              </a:spcAft>
              <a:buSzPts val="1600"/>
              <a:buChar char="➔"/>
            </a:pPr>
            <a:r>
              <a:rPr lang="en" sz="1600"/>
              <a:t>We normally train them using </a:t>
            </a:r>
            <a:r>
              <a:rPr lang="en" sz="1600" b="1"/>
              <a:t>supervised </a:t>
            </a:r>
            <a:r>
              <a:rPr lang="en" sz="1600"/>
              <a:t>machine learning algorithms where both inputs and the “ground truth” outputs are available.</a:t>
            </a:r>
            <a:endParaRPr sz="1600"/>
          </a:p>
          <a:p>
            <a:pPr marL="457200" lvl="0" indent="0" algn="l" rtl="0">
              <a:lnSpc>
                <a:spcPct val="115000"/>
              </a:lnSpc>
              <a:spcBef>
                <a:spcPts val="1200"/>
              </a:spcBef>
              <a:spcAft>
                <a:spcPts val="1200"/>
              </a:spcAft>
              <a:buSzPts val="852"/>
              <a:buNone/>
            </a:pPr>
            <a:endParaRPr sz="1600"/>
          </a:p>
        </p:txBody>
      </p:sp>
      <p:pic>
        <p:nvPicPr>
          <p:cNvPr id="185" name="Google Shape;185;p16"/>
          <p:cNvPicPr preferRelativeResize="0"/>
          <p:nvPr/>
        </p:nvPicPr>
        <p:blipFill rotWithShape="1">
          <a:blip r:embed="rId3">
            <a:alphaModFix/>
          </a:blip>
          <a:srcRect t="20748"/>
          <a:stretch/>
        </p:blipFill>
        <p:spPr>
          <a:xfrm>
            <a:off x="1163300" y="2529350"/>
            <a:ext cx="6602275" cy="1569699"/>
          </a:xfrm>
          <a:prstGeom prst="rect">
            <a:avLst/>
          </a:prstGeom>
          <a:noFill/>
          <a:ln>
            <a:noFill/>
          </a:ln>
        </p:spPr>
      </p:pic>
      <p:sp>
        <p:nvSpPr>
          <p:cNvPr id="186" name="Google Shape;186;p16"/>
          <p:cNvSpPr txBox="1"/>
          <p:nvPr/>
        </p:nvSpPr>
        <p:spPr>
          <a:xfrm>
            <a:off x="4921575" y="3454700"/>
            <a:ext cx="26505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u="sng">
                <a:solidFill>
                  <a:schemeClr val="hlink"/>
                </a:solidFill>
                <a:hlinkClick r:id="rId4"/>
              </a:rPr>
              <a:t>https://yann.lecun.com/exdb/mnist/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pic>
        <p:nvPicPr>
          <p:cNvPr id="191" name="Google Shape;191;p17"/>
          <p:cNvPicPr preferRelativeResize="0"/>
          <p:nvPr/>
        </p:nvPicPr>
        <p:blipFill rotWithShape="1">
          <a:blip r:embed="rId3">
            <a:alphaModFix/>
          </a:blip>
          <a:srcRect t="20748"/>
          <a:stretch/>
        </p:blipFill>
        <p:spPr>
          <a:xfrm>
            <a:off x="1163300" y="2529350"/>
            <a:ext cx="6602275" cy="1569699"/>
          </a:xfrm>
          <a:prstGeom prst="rect">
            <a:avLst/>
          </a:prstGeom>
          <a:noFill/>
          <a:ln>
            <a:noFill/>
          </a:ln>
        </p:spPr>
      </p:pic>
      <p:sp>
        <p:nvSpPr>
          <p:cNvPr id="192" name="Google Shape;192;p17"/>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Generative vs Discriminative models</a:t>
            </a:r>
            <a:endParaRPr/>
          </a:p>
        </p:txBody>
      </p:sp>
      <p:sp>
        <p:nvSpPr>
          <p:cNvPr id="193" name="Google Shape;193;p17"/>
          <p:cNvSpPr txBox="1">
            <a:spLocks noGrp="1"/>
          </p:cNvSpPr>
          <p:nvPr>
            <p:ph type="body" idx="1"/>
          </p:nvPr>
        </p:nvSpPr>
        <p:spPr>
          <a:xfrm>
            <a:off x="727650" y="1356627"/>
            <a:ext cx="7688700" cy="3348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852"/>
              <a:buNone/>
            </a:pPr>
            <a:r>
              <a:rPr lang="en" sz="1600" b="1"/>
              <a:t>Discriminative</a:t>
            </a:r>
            <a:r>
              <a:rPr lang="en" sz="1600"/>
              <a:t> models</a:t>
            </a:r>
            <a:br>
              <a:rPr lang="en" sz="1600"/>
            </a:br>
            <a:endParaRPr sz="900"/>
          </a:p>
          <a:p>
            <a:pPr marL="457200" lvl="0" indent="-330200" algn="l" rtl="0">
              <a:lnSpc>
                <a:spcPct val="115000"/>
              </a:lnSpc>
              <a:spcBef>
                <a:spcPts val="0"/>
              </a:spcBef>
              <a:spcAft>
                <a:spcPts val="0"/>
              </a:spcAft>
              <a:buSzPts val="1600"/>
              <a:buChar char="➔"/>
            </a:pPr>
            <a:r>
              <a:rPr lang="en" sz="1600"/>
              <a:t>We normally train them using </a:t>
            </a:r>
            <a:r>
              <a:rPr lang="en" sz="1600" b="1"/>
              <a:t>supervised </a:t>
            </a:r>
            <a:r>
              <a:rPr lang="en" sz="1600"/>
              <a:t>machine learning algorithms where both inputs and the “ground truth” outputs are available.</a:t>
            </a:r>
            <a:endParaRPr sz="1600"/>
          </a:p>
          <a:p>
            <a:pPr marL="0" lvl="0" indent="0" algn="l" rtl="0">
              <a:lnSpc>
                <a:spcPct val="115000"/>
              </a:lnSpc>
              <a:spcBef>
                <a:spcPts val="0"/>
              </a:spcBef>
              <a:spcAft>
                <a:spcPts val="0"/>
              </a:spcAft>
              <a:buNone/>
            </a:pPr>
            <a:endParaRPr sz="1600"/>
          </a:p>
          <a:p>
            <a:pPr marL="0" lvl="0" indent="0" algn="l" rtl="0">
              <a:lnSpc>
                <a:spcPct val="115000"/>
              </a:lnSpc>
              <a:spcBef>
                <a:spcPts val="0"/>
              </a:spcBef>
              <a:spcAft>
                <a:spcPts val="0"/>
              </a:spcAft>
              <a:buNone/>
            </a:pPr>
            <a:endParaRPr sz="1600"/>
          </a:p>
          <a:p>
            <a:pPr marL="0" lvl="0" indent="0" algn="l" rtl="0">
              <a:lnSpc>
                <a:spcPct val="115000"/>
              </a:lnSpc>
              <a:spcBef>
                <a:spcPts val="0"/>
              </a:spcBef>
              <a:spcAft>
                <a:spcPts val="0"/>
              </a:spcAft>
              <a:buNone/>
            </a:pPr>
            <a:endParaRPr sz="1600"/>
          </a:p>
          <a:p>
            <a:pPr marL="0" lvl="0" indent="0" algn="l" rtl="0">
              <a:lnSpc>
                <a:spcPct val="115000"/>
              </a:lnSpc>
              <a:spcBef>
                <a:spcPts val="0"/>
              </a:spcBef>
              <a:spcAft>
                <a:spcPts val="0"/>
              </a:spcAft>
              <a:buNone/>
            </a:pPr>
            <a:endParaRPr sz="1600"/>
          </a:p>
          <a:p>
            <a:pPr marL="0" lvl="0" indent="0" algn="l" rtl="0">
              <a:lnSpc>
                <a:spcPct val="115000"/>
              </a:lnSpc>
              <a:spcBef>
                <a:spcPts val="0"/>
              </a:spcBef>
              <a:spcAft>
                <a:spcPts val="0"/>
              </a:spcAft>
              <a:buNone/>
            </a:pPr>
            <a:endParaRPr sz="1600"/>
          </a:p>
          <a:p>
            <a:pPr marL="457200" lvl="0" indent="-330200" algn="l" rtl="0">
              <a:lnSpc>
                <a:spcPct val="115000"/>
              </a:lnSpc>
              <a:spcBef>
                <a:spcPts val="0"/>
              </a:spcBef>
              <a:spcAft>
                <a:spcPts val="0"/>
              </a:spcAft>
              <a:buSzPts val="1600"/>
              <a:buChar char="➔"/>
            </a:pPr>
            <a:r>
              <a:rPr lang="en" sz="1600"/>
              <a:t>If the labels are categories → classification</a:t>
            </a:r>
            <a:endParaRPr sz="1600"/>
          </a:p>
          <a:p>
            <a:pPr marL="457200" lvl="0" indent="-330200" algn="l" rtl="0">
              <a:lnSpc>
                <a:spcPct val="115000"/>
              </a:lnSpc>
              <a:spcBef>
                <a:spcPts val="0"/>
              </a:spcBef>
              <a:spcAft>
                <a:spcPts val="0"/>
              </a:spcAft>
              <a:buSzPts val="1600"/>
              <a:buChar char="➔"/>
            </a:pPr>
            <a:r>
              <a:rPr lang="en" sz="1600"/>
              <a:t>If the labels are continuous → regression</a:t>
            </a:r>
            <a:endParaRPr sz="1600"/>
          </a:p>
          <a:p>
            <a:pPr marL="457200" lvl="0" indent="-330200" algn="l" rtl="0">
              <a:lnSpc>
                <a:spcPct val="115000"/>
              </a:lnSpc>
              <a:spcBef>
                <a:spcPts val="0"/>
              </a:spcBef>
              <a:spcAft>
                <a:spcPts val="0"/>
              </a:spcAft>
              <a:buSzPts val="1600"/>
              <a:buChar char="➔"/>
            </a:pPr>
            <a:r>
              <a:rPr lang="en" sz="1600"/>
              <a:t>If the labels are objects name + localisation → object detection</a:t>
            </a:r>
            <a:endParaRPr sz="1600"/>
          </a:p>
          <a:p>
            <a:pPr marL="457200" lvl="0" indent="0" algn="l" rtl="0">
              <a:lnSpc>
                <a:spcPct val="115000"/>
              </a:lnSpc>
              <a:spcBef>
                <a:spcPts val="1200"/>
              </a:spcBef>
              <a:spcAft>
                <a:spcPts val="1200"/>
              </a:spcAft>
              <a:buSzPts val="852"/>
              <a:buNone/>
            </a:pPr>
            <a:endParaRPr sz="1600"/>
          </a:p>
        </p:txBody>
      </p:sp>
      <p:sp>
        <p:nvSpPr>
          <p:cNvPr id="194" name="Google Shape;194;p17"/>
          <p:cNvSpPr txBox="1"/>
          <p:nvPr/>
        </p:nvSpPr>
        <p:spPr>
          <a:xfrm>
            <a:off x="4921575" y="3454700"/>
            <a:ext cx="26505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u="sng">
                <a:solidFill>
                  <a:schemeClr val="hlink"/>
                </a:solidFill>
                <a:hlinkClick r:id="rId4"/>
              </a:rPr>
              <a:t>https://yann.lecun.com/exdb/mnist/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8"/>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spcBef>
                <a:spcPts val="0"/>
              </a:spcBef>
              <a:spcAft>
                <a:spcPts val="0"/>
              </a:spcAft>
              <a:buSzPct val="96296"/>
              <a:buNone/>
            </a:pPr>
            <a:r>
              <a:rPr lang="en"/>
              <a:t>Generative vs Discriminative models</a:t>
            </a:r>
            <a:endParaRPr/>
          </a:p>
        </p:txBody>
      </p:sp>
      <p:sp>
        <p:nvSpPr>
          <p:cNvPr id="200" name="Google Shape;200;p18"/>
          <p:cNvSpPr txBox="1">
            <a:spLocks noGrp="1"/>
          </p:cNvSpPr>
          <p:nvPr>
            <p:ph type="body" idx="1"/>
          </p:nvPr>
        </p:nvSpPr>
        <p:spPr>
          <a:xfrm>
            <a:off x="727650" y="1356625"/>
            <a:ext cx="3947100" cy="33489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sz="1600" b="1"/>
              <a:t>Generative</a:t>
            </a:r>
            <a:r>
              <a:rPr lang="en" sz="1600"/>
              <a:t> models </a:t>
            </a:r>
            <a:endParaRPr sz="1600"/>
          </a:p>
          <a:p>
            <a:pPr marL="457200" lvl="0" indent="-330200" algn="l" rtl="0">
              <a:lnSpc>
                <a:spcPct val="150000"/>
              </a:lnSpc>
              <a:spcBef>
                <a:spcPts val="1200"/>
              </a:spcBef>
              <a:spcAft>
                <a:spcPts val="0"/>
              </a:spcAft>
              <a:buSzPts val="1600"/>
              <a:buChar char="➔"/>
            </a:pPr>
            <a:r>
              <a:rPr lang="en" sz="1600" b="1"/>
              <a:t>Learn the patterns</a:t>
            </a:r>
            <a:r>
              <a:rPr lang="en" sz="1600"/>
              <a:t> in the data in order to </a:t>
            </a:r>
            <a:r>
              <a:rPr lang="en" sz="1600" b="1"/>
              <a:t>generate</a:t>
            </a:r>
            <a:r>
              <a:rPr lang="en" sz="1600"/>
              <a:t> new examples </a:t>
            </a:r>
            <a:r>
              <a:rPr lang="en" sz="1600" b="1"/>
              <a:t>representative</a:t>
            </a:r>
            <a:r>
              <a:rPr lang="en" sz="1600"/>
              <a:t> of the original dataset.</a:t>
            </a:r>
            <a:endParaRPr sz="1600"/>
          </a:p>
          <a:p>
            <a:pPr marL="457200" lvl="0" indent="-330200" algn="l" rtl="0">
              <a:lnSpc>
                <a:spcPct val="150000"/>
              </a:lnSpc>
              <a:spcBef>
                <a:spcPts val="0"/>
              </a:spcBef>
              <a:spcAft>
                <a:spcPts val="0"/>
              </a:spcAft>
              <a:buSzPts val="1600"/>
              <a:buChar char="➔"/>
            </a:pPr>
            <a:r>
              <a:rPr lang="en" sz="1600"/>
              <a:t>This is an </a:t>
            </a:r>
            <a:r>
              <a:rPr lang="en" sz="1600" b="1"/>
              <a:t>unsupervised</a:t>
            </a:r>
            <a:r>
              <a:rPr lang="en" sz="1600"/>
              <a:t> learning task—no “correct answers”.</a:t>
            </a:r>
            <a:endParaRPr sz="1600"/>
          </a:p>
        </p:txBody>
      </p:sp>
      <p:pic>
        <p:nvPicPr>
          <p:cNvPr id="201" name="Google Shape;201;p18"/>
          <p:cNvPicPr preferRelativeResize="0"/>
          <p:nvPr/>
        </p:nvPicPr>
        <p:blipFill>
          <a:blip r:embed="rId3">
            <a:alphaModFix/>
          </a:blip>
          <a:stretch>
            <a:fillRect/>
          </a:stretch>
        </p:blipFill>
        <p:spPr>
          <a:xfrm>
            <a:off x="4846175" y="1594500"/>
            <a:ext cx="3639799" cy="2329600"/>
          </a:xfrm>
          <a:prstGeom prst="rect">
            <a:avLst/>
          </a:prstGeom>
          <a:noFill/>
          <a:ln>
            <a:noFill/>
          </a:ln>
        </p:spPr>
      </p:pic>
      <p:sp>
        <p:nvSpPr>
          <p:cNvPr id="202" name="Google Shape;202;p18"/>
          <p:cNvSpPr txBox="1"/>
          <p:nvPr/>
        </p:nvSpPr>
        <p:spPr>
          <a:xfrm>
            <a:off x="5308775" y="4037325"/>
            <a:ext cx="30000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u="sng">
                <a:solidFill>
                  <a:schemeClr val="hlink"/>
                </a:solidFill>
                <a:hlinkClick r:id="rId4"/>
              </a:rPr>
              <a:t>https://cdn.openai.com/papers/dall-e-3.pdf</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9"/>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In this course</a:t>
            </a:r>
            <a:endParaRPr/>
          </a:p>
        </p:txBody>
      </p:sp>
      <p:sp>
        <p:nvSpPr>
          <p:cNvPr id="208" name="Google Shape;208;p19"/>
          <p:cNvSpPr txBox="1">
            <a:spLocks noGrp="1"/>
          </p:cNvSpPr>
          <p:nvPr>
            <p:ph type="body" idx="1"/>
          </p:nvPr>
        </p:nvSpPr>
        <p:spPr>
          <a:xfrm>
            <a:off x="727650" y="1356627"/>
            <a:ext cx="7688700" cy="3348900"/>
          </a:xfrm>
          <a:prstGeom prst="rect">
            <a:avLst/>
          </a:prstGeom>
          <a:noFill/>
          <a:ln>
            <a:noFill/>
          </a:ln>
        </p:spPr>
        <p:txBody>
          <a:bodyPr spcFirstLastPara="1" wrap="square" lIns="91425" tIns="91425" rIns="91425" bIns="91425" anchor="t" anchorCtr="0">
            <a:normAutofit/>
          </a:bodyPr>
          <a:lstStyle/>
          <a:p>
            <a:pPr marL="457200" lvl="0" indent="-330200" algn="l" rtl="0">
              <a:lnSpc>
                <a:spcPct val="150000"/>
              </a:lnSpc>
              <a:spcBef>
                <a:spcPts val="1000"/>
              </a:spcBef>
              <a:spcAft>
                <a:spcPts val="0"/>
              </a:spcAft>
              <a:buSzPts val="1600"/>
              <a:buChar char="➔"/>
            </a:pPr>
            <a:r>
              <a:rPr lang="en" sz="1600"/>
              <a:t>Introduction to most of these models in the next sessions</a:t>
            </a:r>
            <a:endParaRPr sz="1600"/>
          </a:p>
          <a:p>
            <a:pPr marL="457200" lvl="0" indent="-330200" algn="l" rtl="0">
              <a:lnSpc>
                <a:spcPct val="150000"/>
              </a:lnSpc>
              <a:spcBef>
                <a:spcPts val="1000"/>
              </a:spcBef>
              <a:spcAft>
                <a:spcPts val="0"/>
              </a:spcAft>
              <a:buSzPts val="1600"/>
              <a:buChar char="➔"/>
            </a:pPr>
            <a:r>
              <a:rPr lang="en" sz="1600"/>
              <a:t>First part focused on discriminative tasks (regression, classification)</a:t>
            </a:r>
            <a:endParaRPr sz="1600"/>
          </a:p>
          <a:p>
            <a:pPr marL="457200" lvl="0" indent="-330200" algn="l" rtl="0">
              <a:lnSpc>
                <a:spcPct val="150000"/>
              </a:lnSpc>
              <a:spcBef>
                <a:spcPts val="1000"/>
              </a:spcBef>
              <a:spcAft>
                <a:spcPts val="1000"/>
              </a:spcAft>
              <a:buSzPts val="1600"/>
              <a:buChar char="➔"/>
            </a:pPr>
            <a:r>
              <a:rPr lang="en" sz="1600"/>
              <a:t>Second part introduction to generative models for text and image generation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2">
          <a:extLst>
            <a:ext uri="{FF2B5EF4-FFF2-40B4-BE49-F238E27FC236}">
              <a16:creationId xmlns:a16="http://schemas.microsoft.com/office/drawing/2014/main" id="{612A46EC-25D8-D4F2-AA16-360D3210D5E8}"/>
            </a:ext>
          </a:extLst>
        </p:cNvPr>
        <p:cNvGrpSpPr/>
        <p:nvPr/>
      </p:nvGrpSpPr>
      <p:grpSpPr>
        <a:xfrm>
          <a:off x="0" y="0"/>
          <a:ext cx="0" cy="0"/>
          <a:chOff x="0" y="0"/>
          <a:chExt cx="0" cy="0"/>
        </a:xfrm>
      </p:grpSpPr>
      <p:sp>
        <p:nvSpPr>
          <p:cNvPr id="213" name="Google Shape;213;p20">
            <a:extLst>
              <a:ext uri="{FF2B5EF4-FFF2-40B4-BE49-F238E27FC236}">
                <a16:creationId xmlns:a16="http://schemas.microsoft.com/office/drawing/2014/main" id="{FDDCE80C-EA21-2038-8412-2686B9BA0A4D}"/>
              </a:ext>
            </a:extLst>
          </p:cNvPr>
          <p:cNvSpPr txBox="1">
            <a:spLocks noGrp="1"/>
          </p:cNvSpPr>
          <p:nvPr>
            <p:ph type="title"/>
          </p:nvPr>
        </p:nvSpPr>
        <p:spPr>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Survey</a:t>
            </a:r>
            <a:endParaRPr/>
          </a:p>
        </p:txBody>
      </p:sp>
      <p:sp>
        <p:nvSpPr>
          <p:cNvPr id="2" name="Text Placeholder 1">
            <a:extLst>
              <a:ext uri="{FF2B5EF4-FFF2-40B4-BE49-F238E27FC236}">
                <a16:creationId xmlns:a16="http://schemas.microsoft.com/office/drawing/2014/main" id="{6C33DCF6-341E-70FC-4FFD-A8E3BE9AC6AD}"/>
              </a:ext>
            </a:extLst>
          </p:cNvPr>
          <p:cNvSpPr>
            <a:spLocks noGrp="1"/>
          </p:cNvSpPr>
          <p:nvPr>
            <p:ph type="body" idx="1"/>
          </p:nvPr>
        </p:nvSpPr>
        <p:spPr>
          <a:xfrm>
            <a:off x="727650" y="1356626"/>
            <a:ext cx="7688700" cy="1077317"/>
          </a:xfrm>
        </p:spPr>
        <p:txBody>
          <a:bodyPr>
            <a:normAutofit fontScale="85000" lnSpcReduction="20000"/>
          </a:bodyPr>
          <a:lstStyle/>
          <a:p>
            <a:r>
              <a:rPr lang="en-GB"/>
              <a:t>You have conducted a survey in your class and collected the following</a:t>
            </a:r>
          </a:p>
          <a:p>
            <a:r>
              <a:rPr lang="en-GB"/>
              <a:t>Next, you plot these two variables on a graph</a:t>
            </a:r>
          </a:p>
          <a:p>
            <a:r>
              <a:rPr lang="en-GB"/>
              <a:t>Question! Can you tell Summiya’s score?</a:t>
            </a:r>
          </a:p>
        </p:txBody>
      </p:sp>
      <p:graphicFrame>
        <p:nvGraphicFramePr>
          <p:cNvPr id="4" name="Table 3">
            <a:extLst>
              <a:ext uri="{FF2B5EF4-FFF2-40B4-BE49-F238E27FC236}">
                <a16:creationId xmlns:a16="http://schemas.microsoft.com/office/drawing/2014/main" id="{CD7D4C90-F0D2-6121-4C7D-20B2C89636F9}"/>
              </a:ext>
            </a:extLst>
          </p:cNvPr>
          <p:cNvGraphicFramePr>
            <a:graphicFrameLocks noGrp="1"/>
          </p:cNvGraphicFramePr>
          <p:nvPr>
            <p:extLst>
              <p:ext uri="{D42A27DB-BD31-4B8C-83A1-F6EECF244321}">
                <p14:modId xmlns:p14="http://schemas.microsoft.com/office/powerpoint/2010/main" val="2456410259"/>
              </p:ext>
            </p:extLst>
          </p:nvPr>
        </p:nvGraphicFramePr>
        <p:xfrm>
          <a:off x="620075" y="2571750"/>
          <a:ext cx="2517776" cy="1905000"/>
        </p:xfrm>
        <a:graphic>
          <a:graphicData uri="http://schemas.openxmlformats.org/drawingml/2006/table">
            <a:tbl>
              <a:tblPr>
                <a:tableStyleId>{BC89EF96-8CEA-46FF-86C4-4CE0E7609802}</a:tableStyleId>
              </a:tblPr>
              <a:tblGrid>
                <a:gridCol w="627063">
                  <a:extLst>
                    <a:ext uri="{9D8B030D-6E8A-4147-A177-3AD203B41FA5}">
                      <a16:colId xmlns:a16="http://schemas.microsoft.com/office/drawing/2014/main" val="790805437"/>
                    </a:ext>
                  </a:extLst>
                </a:gridCol>
                <a:gridCol w="1046163">
                  <a:extLst>
                    <a:ext uri="{9D8B030D-6E8A-4147-A177-3AD203B41FA5}">
                      <a16:colId xmlns:a16="http://schemas.microsoft.com/office/drawing/2014/main" val="4204943969"/>
                    </a:ext>
                  </a:extLst>
                </a:gridCol>
                <a:gridCol w="844550">
                  <a:extLst>
                    <a:ext uri="{9D8B030D-6E8A-4147-A177-3AD203B41FA5}">
                      <a16:colId xmlns:a16="http://schemas.microsoft.com/office/drawing/2014/main" val="2449560956"/>
                    </a:ext>
                  </a:extLst>
                </a:gridCol>
              </a:tblGrid>
              <a:tr h="190500">
                <a:tc>
                  <a:txBody>
                    <a:bodyPr/>
                    <a:lstStyle/>
                    <a:p>
                      <a:pPr algn="l" fontAlgn="b"/>
                      <a:r>
                        <a:rPr lang="en-GB" sz="1100" b="1" u="none" strike="noStrike">
                          <a:effectLst/>
                        </a:rPr>
                        <a:t>Student</a:t>
                      </a:r>
                      <a:endParaRPr lang="en-GB"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r>
                        <a:rPr lang="en-GB" sz="1100" b="1" u="none" strike="noStrike">
                          <a:effectLst/>
                        </a:rPr>
                        <a:t>Hours of Study</a:t>
                      </a:r>
                      <a:endParaRPr lang="en-GB"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r>
                        <a:rPr lang="en-GB" sz="1100" b="1" u="none" strike="noStrike">
                          <a:effectLst/>
                        </a:rPr>
                        <a:t>Exam Score</a:t>
                      </a:r>
                      <a:endParaRPr lang="en-GB" sz="1100" b="1"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568556248"/>
                  </a:ext>
                </a:extLst>
              </a:tr>
              <a:tr h="190500">
                <a:tc>
                  <a:txBody>
                    <a:bodyPr/>
                    <a:lstStyle/>
                    <a:p>
                      <a:pPr algn="l" fontAlgn="b"/>
                      <a:r>
                        <a:rPr lang="en-GB" sz="1100" u="none" strike="noStrike">
                          <a:solidFill>
                            <a:sysClr val="windowText" lastClr="000000"/>
                          </a:solidFill>
                          <a:effectLst/>
                        </a:rPr>
                        <a:t>Abdullah</a:t>
                      </a:r>
                      <a:endParaRPr lang="en-GB" sz="1100" b="0" i="0" u="none" strike="noStrike">
                        <a:solidFill>
                          <a:sysClr val="windowText" lastClr="000000"/>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ysClr val="windowText" lastClr="000000"/>
                          </a:solidFill>
                          <a:effectLst/>
                        </a:rPr>
                        <a:t>2</a:t>
                      </a:r>
                      <a:endParaRPr lang="en-PK" sz="1100" b="0" i="0" u="none" strike="noStrike">
                        <a:solidFill>
                          <a:sysClr val="windowText" lastClr="000000"/>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ysClr val="windowText" lastClr="000000"/>
                          </a:solidFill>
                          <a:effectLst/>
                        </a:rPr>
                        <a:t>67</a:t>
                      </a:r>
                      <a:endParaRPr lang="en-PK" sz="1100" b="0" i="0" u="none" strike="noStrike">
                        <a:solidFill>
                          <a:sysClr val="windowText" lastClr="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65488651"/>
                  </a:ext>
                </a:extLst>
              </a:tr>
              <a:tr h="190500">
                <a:tc>
                  <a:txBody>
                    <a:bodyPr/>
                    <a:lstStyle/>
                    <a:p>
                      <a:pPr algn="l" fontAlgn="b"/>
                      <a:r>
                        <a:rPr lang="en-GB" sz="1100" u="none" strike="noStrike">
                          <a:solidFill>
                            <a:sysClr val="windowText" lastClr="000000"/>
                          </a:solidFill>
                          <a:effectLst/>
                        </a:rPr>
                        <a:t>Aroob</a:t>
                      </a:r>
                      <a:endParaRPr lang="en-GB" sz="1100" b="0" i="0" u="none" strike="noStrike">
                        <a:solidFill>
                          <a:sysClr val="windowText" lastClr="000000"/>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ysClr val="windowText" lastClr="000000"/>
                          </a:solidFill>
                          <a:effectLst/>
                        </a:rPr>
                        <a:t>4</a:t>
                      </a:r>
                      <a:endParaRPr lang="en-PK" sz="1100" b="0" i="0" u="none" strike="noStrike">
                        <a:solidFill>
                          <a:sysClr val="windowText" lastClr="000000"/>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ysClr val="windowText" lastClr="000000"/>
                          </a:solidFill>
                          <a:effectLst/>
                        </a:rPr>
                        <a:t>62</a:t>
                      </a:r>
                      <a:endParaRPr lang="en-PK" sz="1100" b="0" i="0" u="none" strike="noStrike">
                        <a:solidFill>
                          <a:sysClr val="windowText" lastClr="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838449219"/>
                  </a:ext>
                </a:extLst>
              </a:tr>
              <a:tr h="190500">
                <a:tc>
                  <a:txBody>
                    <a:bodyPr/>
                    <a:lstStyle/>
                    <a:p>
                      <a:pPr algn="l" fontAlgn="b"/>
                      <a:r>
                        <a:rPr lang="en-GB" sz="1100" u="none" strike="noStrike">
                          <a:solidFill>
                            <a:sysClr val="windowText" lastClr="000000"/>
                          </a:solidFill>
                          <a:effectLst/>
                        </a:rPr>
                        <a:t>Aminah</a:t>
                      </a:r>
                      <a:endParaRPr lang="en-GB" sz="1100" b="0" i="0" u="none" strike="noStrike">
                        <a:solidFill>
                          <a:sysClr val="windowText" lastClr="000000"/>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ysClr val="windowText" lastClr="000000"/>
                          </a:solidFill>
                          <a:effectLst/>
                        </a:rPr>
                        <a:t>3</a:t>
                      </a:r>
                      <a:endParaRPr lang="en-PK" sz="1100" b="0" i="0" u="none" strike="noStrike">
                        <a:solidFill>
                          <a:sysClr val="windowText" lastClr="000000"/>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ysClr val="windowText" lastClr="000000"/>
                          </a:solidFill>
                          <a:effectLst/>
                        </a:rPr>
                        <a:t>61</a:t>
                      </a:r>
                      <a:endParaRPr lang="en-PK" sz="1100" b="0" i="0" u="none" strike="noStrike">
                        <a:solidFill>
                          <a:sysClr val="windowText" lastClr="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688934171"/>
                  </a:ext>
                </a:extLst>
              </a:tr>
              <a:tr h="190500">
                <a:tc>
                  <a:txBody>
                    <a:bodyPr/>
                    <a:lstStyle/>
                    <a:p>
                      <a:pPr algn="l" fontAlgn="b"/>
                      <a:r>
                        <a:rPr lang="en-GB" sz="1100" u="none" strike="noStrike">
                          <a:solidFill>
                            <a:sysClr val="windowText" lastClr="000000"/>
                          </a:solidFill>
                          <a:effectLst/>
                        </a:rPr>
                        <a:t>Azka</a:t>
                      </a:r>
                      <a:endParaRPr lang="en-GB" sz="1100" b="0" i="0" u="none" strike="noStrike">
                        <a:solidFill>
                          <a:sysClr val="windowText" lastClr="000000"/>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ysClr val="windowText" lastClr="000000"/>
                          </a:solidFill>
                          <a:effectLst/>
                        </a:rPr>
                        <a:t>6</a:t>
                      </a:r>
                      <a:endParaRPr lang="en-PK" sz="1100" b="0" i="0" u="none" strike="noStrike">
                        <a:solidFill>
                          <a:sysClr val="windowText" lastClr="000000"/>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ysClr val="windowText" lastClr="000000"/>
                          </a:solidFill>
                          <a:effectLst/>
                        </a:rPr>
                        <a:t>93</a:t>
                      </a:r>
                      <a:endParaRPr lang="en-PK" sz="1100" b="0" i="0" u="none" strike="noStrike">
                        <a:solidFill>
                          <a:sysClr val="windowText" lastClr="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106209547"/>
                  </a:ext>
                </a:extLst>
              </a:tr>
              <a:tr h="190500">
                <a:tc>
                  <a:txBody>
                    <a:bodyPr/>
                    <a:lstStyle/>
                    <a:p>
                      <a:pPr algn="l" fontAlgn="b"/>
                      <a:r>
                        <a:rPr lang="en-GB" sz="1100" i="1" u="none" strike="noStrike">
                          <a:solidFill>
                            <a:schemeClr val="bg2"/>
                          </a:solidFill>
                          <a:effectLst/>
                        </a:rPr>
                        <a:t>Summiya</a:t>
                      </a:r>
                      <a:endParaRPr lang="en-GB" sz="1100" b="0" i="1"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100" i="1" u="none" strike="noStrike">
                          <a:solidFill>
                            <a:schemeClr val="bg2"/>
                          </a:solidFill>
                          <a:effectLst/>
                        </a:rPr>
                        <a:t>5</a:t>
                      </a:r>
                      <a:endParaRPr lang="en-PK" sz="1100" b="0" i="1"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GB" sz="1100" i="1" u="none" strike="noStrike">
                          <a:solidFill>
                            <a:schemeClr val="bg2"/>
                          </a:solidFill>
                          <a:effectLst/>
                        </a:rPr>
                        <a:t>??</a:t>
                      </a:r>
                      <a:endParaRPr lang="en-PK" sz="1100" b="0" i="1" u="none" strike="noStrike">
                        <a:solidFill>
                          <a:schemeClr val="bg2"/>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858452318"/>
                  </a:ext>
                </a:extLst>
              </a:tr>
              <a:tr h="190500">
                <a:tc>
                  <a:txBody>
                    <a:bodyPr/>
                    <a:lstStyle/>
                    <a:p>
                      <a:pPr algn="l" fontAlgn="b"/>
                      <a:r>
                        <a:rPr lang="en-GB" sz="1100" u="none" strike="noStrike">
                          <a:solidFill>
                            <a:sysClr val="windowText" lastClr="000000"/>
                          </a:solidFill>
                          <a:effectLst/>
                        </a:rPr>
                        <a:t>Owais</a:t>
                      </a:r>
                      <a:endParaRPr lang="en-GB" sz="1100" b="0" i="0" u="none" strike="noStrike">
                        <a:solidFill>
                          <a:sysClr val="windowText" lastClr="000000"/>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ysClr val="windowText" lastClr="000000"/>
                          </a:solidFill>
                          <a:effectLst/>
                        </a:rPr>
                        <a:t>4</a:t>
                      </a:r>
                      <a:endParaRPr lang="en-PK" sz="1100" b="0" i="0" u="none" strike="noStrike">
                        <a:solidFill>
                          <a:sysClr val="windowText" lastClr="000000"/>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ysClr val="windowText" lastClr="000000"/>
                          </a:solidFill>
                          <a:effectLst/>
                        </a:rPr>
                        <a:t>76</a:t>
                      </a:r>
                      <a:endParaRPr lang="en-PK" sz="1100" b="0" i="0" u="none" strike="noStrike">
                        <a:solidFill>
                          <a:sysClr val="windowText" lastClr="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006422481"/>
                  </a:ext>
                </a:extLst>
              </a:tr>
              <a:tr h="190500">
                <a:tc>
                  <a:txBody>
                    <a:bodyPr/>
                    <a:lstStyle/>
                    <a:p>
                      <a:pPr algn="l" fontAlgn="b"/>
                      <a:r>
                        <a:rPr lang="en-GB" sz="1100" u="none" strike="noStrike">
                          <a:solidFill>
                            <a:sysClr val="windowText" lastClr="000000"/>
                          </a:solidFill>
                          <a:effectLst/>
                        </a:rPr>
                        <a:t>Tim</a:t>
                      </a:r>
                      <a:endParaRPr lang="en-GB" sz="1100" b="0" i="0" u="none" strike="noStrike">
                        <a:solidFill>
                          <a:sysClr val="windowText" lastClr="000000"/>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ysClr val="windowText" lastClr="000000"/>
                          </a:solidFill>
                          <a:effectLst/>
                        </a:rPr>
                        <a:t>7</a:t>
                      </a:r>
                      <a:endParaRPr lang="en-PK" sz="1100" b="0" i="0" u="none" strike="noStrike">
                        <a:solidFill>
                          <a:sysClr val="windowText" lastClr="000000"/>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ysClr val="windowText" lastClr="000000"/>
                          </a:solidFill>
                          <a:effectLst/>
                        </a:rPr>
                        <a:t>71</a:t>
                      </a:r>
                      <a:endParaRPr lang="en-PK" sz="1100" b="0" i="0" u="none" strike="noStrike">
                        <a:solidFill>
                          <a:sysClr val="windowText" lastClr="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033715060"/>
                  </a:ext>
                </a:extLst>
              </a:tr>
              <a:tr h="190500">
                <a:tc>
                  <a:txBody>
                    <a:bodyPr/>
                    <a:lstStyle/>
                    <a:p>
                      <a:pPr algn="l" fontAlgn="b"/>
                      <a:r>
                        <a:rPr lang="en-GB" sz="1100" u="none" strike="noStrike">
                          <a:solidFill>
                            <a:sysClr val="windowText" lastClr="000000"/>
                          </a:solidFill>
                          <a:effectLst/>
                        </a:rPr>
                        <a:t>Liza</a:t>
                      </a:r>
                      <a:endParaRPr lang="en-GB" sz="1100" b="0" i="0" u="none" strike="noStrike">
                        <a:solidFill>
                          <a:sysClr val="windowText" lastClr="000000"/>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ysClr val="windowText" lastClr="000000"/>
                          </a:solidFill>
                          <a:effectLst/>
                        </a:rPr>
                        <a:t>3</a:t>
                      </a:r>
                      <a:endParaRPr lang="en-PK" sz="1100" b="0" i="0" u="none" strike="noStrike">
                        <a:solidFill>
                          <a:sysClr val="windowText" lastClr="000000"/>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ysClr val="windowText" lastClr="000000"/>
                          </a:solidFill>
                          <a:effectLst/>
                        </a:rPr>
                        <a:t>69</a:t>
                      </a:r>
                      <a:endParaRPr lang="en-PK" sz="1100" b="0" i="0" u="none" strike="noStrike">
                        <a:solidFill>
                          <a:sysClr val="windowText" lastClr="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706733068"/>
                  </a:ext>
                </a:extLst>
              </a:tr>
              <a:tr h="190500">
                <a:tc>
                  <a:txBody>
                    <a:bodyPr/>
                    <a:lstStyle/>
                    <a:p>
                      <a:pPr algn="l" fontAlgn="b"/>
                      <a:r>
                        <a:rPr lang="en-GB" sz="1100" u="none" strike="noStrike">
                          <a:solidFill>
                            <a:sysClr val="windowText" lastClr="000000"/>
                          </a:solidFill>
                          <a:effectLst/>
                        </a:rPr>
                        <a:t>Martin</a:t>
                      </a:r>
                      <a:endParaRPr lang="en-GB" sz="1100" b="0" i="0" u="none" strike="noStrike">
                        <a:solidFill>
                          <a:sysClr val="windowText" lastClr="000000"/>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ysClr val="windowText" lastClr="000000"/>
                          </a:solidFill>
                          <a:effectLst/>
                        </a:rPr>
                        <a:t>1</a:t>
                      </a:r>
                      <a:endParaRPr lang="en-PK" sz="1100" b="0" i="0" u="none" strike="noStrike">
                        <a:solidFill>
                          <a:sysClr val="windowText" lastClr="000000"/>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ysClr val="windowText" lastClr="000000"/>
                          </a:solidFill>
                          <a:effectLst/>
                        </a:rPr>
                        <a:t>52</a:t>
                      </a:r>
                      <a:endParaRPr lang="en-PK" sz="1100" b="0" i="0" u="none" strike="noStrike">
                        <a:solidFill>
                          <a:sysClr val="windowText" lastClr="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349411810"/>
                  </a:ext>
                </a:extLst>
              </a:tr>
            </a:tbl>
          </a:graphicData>
        </a:graphic>
      </p:graphicFrame>
      <p:graphicFrame>
        <p:nvGraphicFramePr>
          <p:cNvPr id="10" name="Chart 9">
            <a:extLst>
              <a:ext uri="{FF2B5EF4-FFF2-40B4-BE49-F238E27FC236}">
                <a16:creationId xmlns:a16="http://schemas.microsoft.com/office/drawing/2014/main" id="{1E948F56-B0DC-458D-B66B-AC386EF89BD3}"/>
              </a:ext>
            </a:extLst>
          </p:cNvPr>
          <p:cNvGraphicFramePr>
            <a:graphicFrameLocks/>
          </p:cNvGraphicFramePr>
          <p:nvPr>
            <p:extLst>
              <p:ext uri="{D42A27DB-BD31-4B8C-83A1-F6EECF244321}">
                <p14:modId xmlns:p14="http://schemas.microsoft.com/office/powerpoint/2010/main" val="785782132"/>
              </p:ext>
            </p:extLst>
          </p:nvPr>
        </p:nvGraphicFramePr>
        <p:xfrm>
          <a:off x="4572000" y="2433943"/>
          <a:ext cx="4290646" cy="257438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35601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2">
          <a:extLst>
            <a:ext uri="{FF2B5EF4-FFF2-40B4-BE49-F238E27FC236}">
              <a16:creationId xmlns:a16="http://schemas.microsoft.com/office/drawing/2014/main" id="{56C88A2A-B25B-262C-2073-D63E83760C61}"/>
            </a:ext>
          </a:extLst>
        </p:cNvPr>
        <p:cNvGrpSpPr/>
        <p:nvPr/>
      </p:nvGrpSpPr>
      <p:grpSpPr>
        <a:xfrm>
          <a:off x="0" y="0"/>
          <a:ext cx="0" cy="0"/>
          <a:chOff x="0" y="0"/>
          <a:chExt cx="0" cy="0"/>
        </a:xfrm>
      </p:grpSpPr>
      <p:sp>
        <p:nvSpPr>
          <p:cNvPr id="213" name="Google Shape;213;p20">
            <a:extLst>
              <a:ext uri="{FF2B5EF4-FFF2-40B4-BE49-F238E27FC236}">
                <a16:creationId xmlns:a16="http://schemas.microsoft.com/office/drawing/2014/main" id="{C527D51F-5B03-6D33-B261-916EE42868C6}"/>
              </a:ext>
            </a:extLst>
          </p:cNvPr>
          <p:cNvSpPr txBox="1">
            <a:spLocks noGrp="1"/>
          </p:cNvSpPr>
          <p:nvPr>
            <p:ph type="title"/>
          </p:nvPr>
        </p:nvSpPr>
        <p:spPr>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Survey</a:t>
            </a:r>
            <a:endParaRPr/>
          </a:p>
        </p:txBody>
      </p:sp>
      <p:sp>
        <p:nvSpPr>
          <p:cNvPr id="2" name="Text Placeholder 1">
            <a:extLst>
              <a:ext uri="{FF2B5EF4-FFF2-40B4-BE49-F238E27FC236}">
                <a16:creationId xmlns:a16="http://schemas.microsoft.com/office/drawing/2014/main" id="{E3C4594D-2C2A-C823-EA6B-0616CEE8AEDD}"/>
              </a:ext>
            </a:extLst>
          </p:cNvPr>
          <p:cNvSpPr>
            <a:spLocks noGrp="1"/>
          </p:cNvSpPr>
          <p:nvPr>
            <p:ph type="body" idx="1"/>
          </p:nvPr>
        </p:nvSpPr>
        <p:spPr>
          <a:xfrm>
            <a:off x="727650" y="1356626"/>
            <a:ext cx="7688700" cy="1077317"/>
          </a:xfrm>
        </p:spPr>
        <p:txBody>
          <a:bodyPr>
            <a:normAutofit/>
          </a:bodyPr>
          <a:lstStyle/>
          <a:p>
            <a:r>
              <a:rPr lang="en-GB"/>
              <a:t>YES. You can predict Summiya’s score with certain accuracy</a:t>
            </a:r>
          </a:p>
          <a:p>
            <a:r>
              <a:rPr lang="en-GB"/>
              <a:t>Let’s plot a trend line and see where the coordinates meet</a:t>
            </a:r>
          </a:p>
        </p:txBody>
      </p:sp>
      <p:graphicFrame>
        <p:nvGraphicFramePr>
          <p:cNvPr id="10" name="Chart 9">
            <a:extLst>
              <a:ext uri="{FF2B5EF4-FFF2-40B4-BE49-F238E27FC236}">
                <a16:creationId xmlns:a16="http://schemas.microsoft.com/office/drawing/2014/main" id="{52CC40F4-23CD-B494-9637-F2B814140392}"/>
              </a:ext>
            </a:extLst>
          </p:cNvPr>
          <p:cNvGraphicFramePr>
            <a:graphicFrameLocks/>
          </p:cNvGraphicFramePr>
          <p:nvPr>
            <p:extLst>
              <p:ext uri="{D42A27DB-BD31-4B8C-83A1-F6EECF244321}">
                <p14:modId xmlns:p14="http://schemas.microsoft.com/office/powerpoint/2010/main" val="2110838257"/>
              </p:ext>
            </p:extLst>
          </p:nvPr>
        </p:nvGraphicFramePr>
        <p:xfrm>
          <a:off x="281354" y="2433943"/>
          <a:ext cx="4290646" cy="257438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2">
            <a:extLst>
              <a:ext uri="{FF2B5EF4-FFF2-40B4-BE49-F238E27FC236}">
                <a16:creationId xmlns:a16="http://schemas.microsoft.com/office/drawing/2014/main" id="{5A4BC53F-ABAF-DAD1-D400-18500ECE7C5B}"/>
              </a:ext>
            </a:extLst>
          </p:cNvPr>
          <p:cNvGraphicFramePr>
            <a:graphicFrameLocks/>
          </p:cNvGraphicFramePr>
          <p:nvPr>
            <p:extLst>
              <p:ext uri="{D42A27DB-BD31-4B8C-83A1-F6EECF244321}">
                <p14:modId xmlns:p14="http://schemas.microsoft.com/office/powerpoint/2010/main" val="741738876"/>
              </p:ext>
            </p:extLst>
          </p:nvPr>
        </p:nvGraphicFramePr>
        <p:xfrm>
          <a:off x="4572000" y="2433943"/>
          <a:ext cx="4290646" cy="2574388"/>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Box 5">
            <a:extLst>
              <a:ext uri="{FF2B5EF4-FFF2-40B4-BE49-F238E27FC236}">
                <a16:creationId xmlns:a16="http://schemas.microsoft.com/office/drawing/2014/main" id="{C373F525-3BE3-B6BF-4162-194B04323B60}"/>
              </a:ext>
            </a:extLst>
          </p:cNvPr>
          <p:cNvSpPr txBox="1"/>
          <p:nvPr/>
        </p:nvSpPr>
        <p:spPr>
          <a:xfrm>
            <a:off x="7124701" y="3388149"/>
            <a:ext cx="383438" cy="246221"/>
          </a:xfrm>
          <a:prstGeom prst="rect">
            <a:avLst/>
          </a:prstGeom>
          <a:noFill/>
        </p:spPr>
        <p:txBody>
          <a:bodyPr wrap="square" rtlCol="0">
            <a:spAutoFit/>
          </a:bodyPr>
          <a:lstStyle/>
          <a:p>
            <a:r>
              <a:rPr lang="en-GB" sz="1000" u="sng"/>
              <a:t>74</a:t>
            </a:r>
            <a:endParaRPr lang="en-PK" sz="1000" u="sng"/>
          </a:p>
        </p:txBody>
      </p:sp>
    </p:spTree>
    <p:extLst>
      <p:ext uri="{BB962C8B-B14F-4D97-AF65-F5344CB8AC3E}">
        <p14:creationId xmlns:p14="http://schemas.microsoft.com/office/powerpoint/2010/main" val="2962159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Graphic spid="3" grpId="0">
        <p:bldAsOne/>
      </p:bldGraphic>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6">
          <a:extLst>
            <a:ext uri="{FF2B5EF4-FFF2-40B4-BE49-F238E27FC236}">
              <a16:creationId xmlns:a16="http://schemas.microsoft.com/office/drawing/2014/main" id="{C206CA47-08D8-9CD4-9F9C-9FD6B4113679}"/>
            </a:ext>
          </a:extLst>
        </p:cNvPr>
        <p:cNvGrpSpPr/>
        <p:nvPr/>
      </p:nvGrpSpPr>
      <p:grpSpPr>
        <a:xfrm>
          <a:off x="0" y="0"/>
          <a:ext cx="0" cy="0"/>
          <a:chOff x="0" y="0"/>
          <a:chExt cx="0" cy="0"/>
        </a:xfrm>
      </p:grpSpPr>
      <p:sp>
        <p:nvSpPr>
          <p:cNvPr id="207" name="Google Shape;207;p19">
            <a:extLst>
              <a:ext uri="{FF2B5EF4-FFF2-40B4-BE49-F238E27FC236}">
                <a16:creationId xmlns:a16="http://schemas.microsoft.com/office/drawing/2014/main" id="{007AA956-AEE3-D78A-10A5-4C08BEB4DCF6}"/>
              </a:ext>
            </a:extLst>
          </p:cNvPr>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Survey</a:t>
            </a:r>
            <a:endParaRPr/>
          </a:p>
        </p:txBody>
      </p:sp>
      <p:sp>
        <p:nvSpPr>
          <p:cNvPr id="208" name="Google Shape;208;p19">
            <a:extLst>
              <a:ext uri="{FF2B5EF4-FFF2-40B4-BE49-F238E27FC236}">
                <a16:creationId xmlns:a16="http://schemas.microsoft.com/office/drawing/2014/main" id="{24601BB7-EAD4-6665-EC58-3ECF02A803EF}"/>
              </a:ext>
            </a:extLst>
          </p:cNvPr>
          <p:cNvSpPr txBox="1">
            <a:spLocks noGrp="1"/>
          </p:cNvSpPr>
          <p:nvPr>
            <p:ph type="body" idx="1"/>
          </p:nvPr>
        </p:nvSpPr>
        <p:spPr>
          <a:xfrm>
            <a:off x="727650" y="1356627"/>
            <a:ext cx="7688700" cy="3348900"/>
          </a:xfrm>
          <a:prstGeom prst="rect">
            <a:avLst/>
          </a:prstGeom>
          <a:noFill/>
          <a:ln>
            <a:noFill/>
          </a:ln>
        </p:spPr>
        <p:txBody>
          <a:bodyPr spcFirstLastPara="1" wrap="square" lIns="91425" tIns="91425" rIns="91425" bIns="91425" anchor="t" anchorCtr="0">
            <a:normAutofit/>
          </a:bodyPr>
          <a:lstStyle/>
          <a:p>
            <a:pPr marL="457200" lvl="0" indent="-330200" algn="l">
              <a:lnSpc>
                <a:spcPct val="150000"/>
              </a:lnSpc>
              <a:spcBef>
                <a:spcPts val="1000"/>
              </a:spcBef>
              <a:spcAft>
                <a:spcPts val="0"/>
              </a:spcAft>
              <a:buSzPts val="1600"/>
              <a:buChar char="➔"/>
            </a:pPr>
            <a:r>
              <a:rPr lang="en-GB"/>
              <a:t>Summiya’s actual score was 70</a:t>
            </a:r>
          </a:p>
          <a:p>
            <a:pPr marL="457200" lvl="0" indent="-330200" algn="l" rtl="0">
              <a:lnSpc>
                <a:spcPct val="150000"/>
              </a:lnSpc>
              <a:spcBef>
                <a:spcPts val="1000"/>
              </a:spcBef>
              <a:spcAft>
                <a:spcPts val="0"/>
              </a:spcAft>
              <a:buSzPts val="1600"/>
              <a:buChar char="➔"/>
            </a:pPr>
            <a:r>
              <a:rPr lang="en-GB"/>
              <a:t>This still give us an above 90% accurate prediction</a:t>
            </a:r>
          </a:p>
          <a:p>
            <a:pPr marL="457200" lvl="0" indent="-330200" algn="l" rtl="0">
              <a:lnSpc>
                <a:spcPct val="150000"/>
              </a:lnSpc>
              <a:spcBef>
                <a:spcPts val="1000"/>
              </a:spcBef>
              <a:spcAft>
                <a:spcPts val="0"/>
              </a:spcAft>
              <a:buSzPts val="1600"/>
              <a:buChar char="➔"/>
            </a:pPr>
            <a:r>
              <a:rPr lang="en-GB"/>
              <a:t>But where did this </a:t>
            </a:r>
            <a:r>
              <a:rPr lang="en-GB" i="1"/>
              <a:t>Trend line</a:t>
            </a:r>
            <a:r>
              <a:rPr lang="en-GB"/>
              <a:t> come from?</a:t>
            </a:r>
          </a:p>
          <a:p>
            <a:pPr marL="457200" lvl="0" indent="-330200" algn="l" rtl="0">
              <a:lnSpc>
                <a:spcPct val="150000"/>
              </a:lnSpc>
              <a:spcBef>
                <a:spcPts val="1000"/>
              </a:spcBef>
              <a:spcAft>
                <a:spcPts val="0"/>
              </a:spcAft>
              <a:buSzPts val="1600"/>
              <a:buChar char="➔"/>
            </a:pPr>
            <a:r>
              <a:rPr lang="en-GB"/>
              <a:t>Let us look at what’s behind the scenes</a:t>
            </a:r>
            <a:endParaRPr/>
          </a:p>
        </p:txBody>
      </p:sp>
    </p:spTree>
    <p:extLst>
      <p:ext uri="{BB962C8B-B14F-4D97-AF65-F5344CB8AC3E}">
        <p14:creationId xmlns:p14="http://schemas.microsoft.com/office/powerpoint/2010/main" val="2292632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0"/>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And the first step is...</a:t>
            </a:r>
            <a:endParaRPr/>
          </a:p>
        </p:txBody>
      </p:sp>
      <p:sp>
        <p:nvSpPr>
          <p:cNvPr id="4" name="Text Placeholder 3">
            <a:extLst>
              <a:ext uri="{FF2B5EF4-FFF2-40B4-BE49-F238E27FC236}">
                <a16:creationId xmlns:a16="http://schemas.microsoft.com/office/drawing/2014/main" id="{F1B19520-C4A5-FB11-872B-3118C106D3E6}"/>
              </a:ext>
            </a:extLst>
          </p:cNvPr>
          <p:cNvSpPr>
            <a:spLocks noGrp="1"/>
          </p:cNvSpPr>
          <p:nvPr>
            <p:ph type="body" idx="1"/>
          </p:nvPr>
        </p:nvSpPr>
        <p:spPr>
          <a:xfrm>
            <a:off x="727650" y="1356627"/>
            <a:ext cx="7688700" cy="614580"/>
          </a:xfrm>
        </p:spPr>
        <p:txBody>
          <a:bodyPr/>
          <a:lstStyle/>
          <a:p>
            <a:r>
              <a:rPr lang="en-GB"/>
              <a:t>The equation of a line</a:t>
            </a:r>
            <a:endParaRPr lang="en-PK"/>
          </a:p>
        </p:txBody>
      </p:sp>
      <p:graphicFrame>
        <p:nvGraphicFramePr>
          <p:cNvPr id="7" name="Chart 6">
            <a:extLst>
              <a:ext uri="{FF2B5EF4-FFF2-40B4-BE49-F238E27FC236}">
                <a16:creationId xmlns:a16="http://schemas.microsoft.com/office/drawing/2014/main" id="{1900121A-19C4-4085-2208-BE8CFEC00E92}"/>
              </a:ext>
            </a:extLst>
          </p:cNvPr>
          <p:cNvGraphicFramePr>
            <a:graphicFrameLocks/>
          </p:cNvGraphicFramePr>
          <p:nvPr>
            <p:extLst>
              <p:ext uri="{D42A27DB-BD31-4B8C-83A1-F6EECF244321}">
                <p14:modId xmlns:p14="http://schemas.microsoft.com/office/powerpoint/2010/main" val="3746428800"/>
              </p:ext>
            </p:extLst>
          </p:nvPr>
        </p:nvGraphicFramePr>
        <p:xfrm>
          <a:off x="620075" y="1971207"/>
          <a:ext cx="3662363" cy="305276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7">
            <a:extLst>
              <a:ext uri="{FF2B5EF4-FFF2-40B4-BE49-F238E27FC236}">
                <a16:creationId xmlns:a16="http://schemas.microsoft.com/office/drawing/2014/main" id="{0E2663D4-786B-4BA3-AB4F-E27AD4750CD7}"/>
              </a:ext>
            </a:extLst>
          </p:cNvPr>
          <p:cNvGraphicFramePr>
            <a:graphicFrameLocks/>
          </p:cNvGraphicFramePr>
          <p:nvPr>
            <p:extLst>
              <p:ext uri="{D42A27DB-BD31-4B8C-83A1-F6EECF244321}">
                <p14:modId xmlns:p14="http://schemas.microsoft.com/office/powerpoint/2010/main" val="617137760"/>
              </p:ext>
            </p:extLst>
          </p:nvPr>
        </p:nvGraphicFramePr>
        <p:xfrm>
          <a:off x="4282438" y="1971207"/>
          <a:ext cx="3662363" cy="3052763"/>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Graphic spid="8"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1"/>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Equation of a line</a:t>
            </a:r>
            <a:endParaRPr/>
          </a:p>
        </p:txBody>
      </p:sp>
      <p:pic>
        <p:nvPicPr>
          <p:cNvPr id="225" name="Google Shape;225;p21"/>
          <p:cNvPicPr preferRelativeResize="0"/>
          <p:nvPr/>
        </p:nvPicPr>
        <p:blipFill rotWithShape="1">
          <a:blip r:embed="rId3">
            <a:alphaModFix/>
          </a:blip>
          <a:srcRect/>
          <a:stretch/>
        </p:blipFill>
        <p:spPr>
          <a:xfrm>
            <a:off x="1928850" y="1487125"/>
            <a:ext cx="4385025" cy="3212774"/>
          </a:xfrm>
          <a:prstGeom prst="rect">
            <a:avLst/>
          </a:prstGeom>
          <a:noFill/>
          <a:ln>
            <a:noFill/>
          </a:ln>
        </p:spPr>
      </p:pic>
      <p:cxnSp>
        <p:nvCxnSpPr>
          <p:cNvPr id="226" name="Google Shape;226;p21"/>
          <p:cNvCxnSpPr/>
          <p:nvPr/>
        </p:nvCxnSpPr>
        <p:spPr>
          <a:xfrm rot="10800000" flipH="1">
            <a:off x="2251000" y="1495400"/>
            <a:ext cx="3200100" cy="3191700"/>
          </a:xfrm>
          <a:prstGeom prst="straightConnector1">
            <a:avLst/>
          </a:prstGeom>
          <a:noFill/>
          <a:ln w="28575" cap="flat" cmpd="sng">
            <a:solidFill>
              <a:srgbClr val="20639B"/>
            </a:solidFill>
            <a:prstDash val="solid"/>
            <a:round/>
            <a:headEnd type="stealth" w="med" len="med"/>
            <a:tailEnd type="stealth" w="med" len="med"/>
          </a:ln>
        </p:spPr>
      </p:cxnSp>
      <p:sp>
        <p:nvSpPr>
          <p:cNvPr id="227" name="Google Shape;227;p21"/>
          <p:cNvSpPr txBox="1"/>
          <p:nvPr/>
        </p:nvSpPr>
        <p:spPr>
          <a:xfrm>
            <a:off x="6271975" y="2573475"/>
            <a:ext cx="2557232" cy="121568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Lato"/>
                <a:ea typeface="Lato"/>
                <a:cs typeface="Lato"/>
                <a:sym typeface="Lato"/>
              </a:rPr>
              <a:t>here, m (a.k.a. slope/gradient)</a:t>
            </a:r>
            <a:endParaRPr sz="1300" b="0" i="0" u="none" strike="noStrike" cap="none">
              <a:solidFill>
                <a:srgbClr val="000000"/>
              </a:solidFill>
              <a:latin typeface="Lato"/>
              <a:ea typeface="Lato"/>
              <a:cs typeface="Lato"/>
              <a:sym typeface="Lato"/>
            </a:endParaRPr>
          </a:p>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Lato"/>
                <a:ea typeface="Lato"/>
                <a:cs typeface="Lato"/>
                <a:sym typeface="Lato"/>
              </a:rPr>
              <a:t>m = </a:t>
            </a:r>
            <a:r>
              <a:rPr lang="en" sz="1300" b="0" i="0" u="none" strike="noStrike" cap="none">
                <a:solidFill>
                  <a:srgbClr val="ED553B"/>
                </a:solidFill>
                <a:latin typeface="Lato"/>
                <a:ea typeface="Lato"/>
                <a:cs typeface="Lato"/>
                <a:sym typeface="Lato"/>
              </a:rPr>
              <a:t>rise</a:t>
            </a:r>
            <a:r>
              <a:rPr lang="en" sz="1300" b="0" i="0" u="none" strike="noStrike" cap="none">
                <a:solidFill>
                  <a:srgbClr val="000000"/>
                </a:solidFill>
                <a:latin typeface="Lato"/>
                <a:ea typeface="Lato"/>
                <a:cs typeface="Lato"/>
                <a:sym typeface="Lato"/>
              </a:rPr>
              <a:t> / </a:t>
            </a:r>
            <a:r>
              <a:rPr lang="en" sz="1300" b="0" i="0" u="none" strike="noStrike" cap="none">
                <a:solidFill>
                  <a:schemeClr val="dk1"/>
                </a:solidFill>
                <a:latin typeface="Lato"/>
                <a:ea typeface="Lato"/>
                <a:cs typeface="Lato"/>
                <a:sym typeface="Lato"/>
              </a:rPr>
              <a:t>run </a:t>
            </a:r>
            <a:r>
              <a:rPr lang="en" sz="1300" b="0" i="0" u="none" strike="noStrike" cap="none">
                <a:solidFill>
                  <a:srgbClr val="000000"/>
                </a:solidFill>
                <a:latin typeface="Lato"/>
                <a:ea typeface="Lato"/>
                <a:cs typeface="Lato"/>
                <a:sym typeface="Lato"/>
              </a:rPr>
              <a:t>= </a:t>
            </a:r>
            <a:r>
              <a:rPr lang="en" sz="1300" b="0" i="0" u="none" strike="noStrike" cap="none">
                <a:solidFill>
                  <a:srgbClr val="ED553B"/>
                </a:solidFill>
                <a:latin typeface="Lato"/>
                <a:ea typeface="Lato"/>
                <a:cs typeface="Lato"/>
                <a:sym typeface="Lato"/>
              </a:rPr>
              <a:t>2 </a:t>
            </a:r>
            <a:r>
              <a:rPr lang="en" sz="1300" b="0" i="0" u="none" strike="noStrike" cap="none">
                <a:solidFill>
                  <a:srgbClr val="000000"/>
                </a:solidFill>
                <a:latin typeface="Lato"/>
                <a:ea typeface="Lato"/>
                <a:cs typeface="Lato"/>
                <a:sym typeface="Lato"/>
              </a:rPr>
              <a:t>/ </a:t>
            </a:r>
            <a:r>
              <a:rPr lang="en" sz="1300" b="0" i="0" u="none" strike="noStrike" cap="none">
                <a:solidFill>
                  <a:schemeClr val="dk1"/>
                </a:solidFill>
                <a:latin typeface="Lato"/>
                <a:ea typeface="Lato"/>
                <a:cs typeface="Lato"/>
                <a:sym typeface="Lato"/>
              </a:rPr>
              <a:t>2 </a:t>
            </a:r>
            <a:r>
              <a:rPr lang="en" sz="1300" b="0" i="0" u="none" strike="noStrike" cap="none">
                <a:solidFill>
                  <a:schemeClr val="dk2"/>
                </a:solidFill>
                <a:latin typeface="Lato"/>
                <a:ea typeface="Lato"/>
                <a:cs typeface="Lato"/>
                <a:sym typeface="Lato"/>
              </a:rPr>
              <a:t>= 1</a:t>
            </a:r>
            <a:endParaRPr sz="1300" b="0" i="0" u="none" strike="noStrike" cap="none">
              <a:solidFill>
                <a:schemeClr val="dk2"/>
              </a:solidFill>
              <a:latin typeface="Lato"/>
              <a:ea typeface="Lato"/>
              <a:cs typeface="Lato"/>
              <a:sym typeface="Lato"/>
            </a:endParaRPr>
          </a:p>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chemeClr val="dk2"/>
                </a:solidFill>
                <a:latin typeface="Lato"/>
                <a:ea typeface="Lato"/>
                <a:cs typeface="Lato"/>
                <a:sym typeface="Lato"/>
              </a:rPr>
              <a:t>c = </a:t>
            </a:r>
            <a:r>
              <a:rPr lang="en" sz="1300" b="0" i="0" u="none" strike="noStrike" cap="none">
                <a:solidFill>
                  <a:srgbClr val="FF00FF"/>
                </a:solidFill>
                <a:latin typeface="Lato"/>
                <a:ea typeface="Lato"/>
                <a:cs typeface="Lato"/>
                <a:sym typeface="Lato"/>
              </a:rPr>
              <a:t>2</a:t>
            </a:r>
            <a:endParaRPr sz="1300" b="0" i="0" u="none" strike="noStrike" cap="none">
              <a:solidFill>
                <a:srgbClr val="FF00FF"/>
              </a:solidFill>
              <a:latin typeface="Lato"/>
              <a:ea typeface="Lato"/>
              <a:cs typeface="Lato"/>
              <a:sym typeface="Lato"/>
            </a:endParaRPr>
          </a:p>
          <a:p>
            <a:pPr marL="0" marR="0" lvl="0" indent="0" algn="l" rtl="0">
              <a:lnSpc>
                <a:spcPct val="100000"/>
              </a:lnSpc>
              <a:spcBef>
                <a:spcPts val="0"/>
              </a:spcBef>
              <a:spcAft>
                <a:spcPts val="0"/>
              </a:spcAft>
              <a:buClr>
                <a:srgbClr val="000000"/>
              </a:buClr>
              <a:buSzPts val="1400"/>
              <a:buFont typeface="Arial"/>
              <a:buNone/>
            </a:pPr>
            <a:endParaRPr sz="1400" b="0" i="1" u="none" strike="noStrike" cap="none">
              <a:solidFill>
                <a:srgbClr val="000000"/>
              </a:solidFill>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400"/>
              <a:buFont typeface="Arial"/>
              <a:buNone/>
            </a:pPr>
            <a:r>
              <a:rPr lang="en" sz="1400" b="0" i="1" u="none" strike="noStrike" cap="none">
                <a:solidFill>
                  <a:srgbClr val="000000"/>
                </a:solidFill>
                <a:highlight>
                  <a:schemeClr val="lt1"/>
                </a:highlight>
                <a:latin typeface="Georgia"/>
                <a:ea typeface="Georgia"/>
                <a:cs typeface="Georgia"/>
                <a:sym typeface="Georgia"/>
              </a:rPr>
              <a:t>y = mx + c</a:t>
            </a:r>
            <a:endParaRPr sz="1400" b="0" i="1" u="none" strike="noStrike" cap="none">
              <a:solidFill>
                <a:srgbClr val="000000"/>
              </a:solidFill>
              <a:latin typeface="Georgia"/>
              <a:ea typeface="Georgia"/>
              <a:cs typeface="Georgia"/>
              <a:sym typeface="Georgia"/>
            </a:endParaRPr>
          </a:p>
        </p:txBody>
      </p:sp>
      <p:cxnSp>
        <p:nvCxnSpPr>
          <p:cNvPr id="228" name="Google Shape;228;p21"/>
          <p:cNvCxnSpPr/>
          <p:nvPr/>
        </p:nvCxnSpPr>
        <p:spPr>
          <a:xfrm>
            <a:off x="5082650" y="1864025"/>
            <a:ext cx="8100" cy="477600"/>
          </a:xfrm>
          <a:prstGeom prst="straightConnector1">
            <a:avLst/>
          </a:prstGeom>
          <a:noFill/>
          <a:ln w="19050" cap="flat" cmpd="sng">
            <a:solidFill>
              <a:srgbClr val="ED553B"/>
            </a:solidFill>
            <a:prstDash val="solid"/>
            <a:round/>
            <a:headEnd type="none" w="sm" len="sm"/>
            <a:tailEnd type="none" w="sm" len="sm"/>
          </a:ln>
        </p:spPr>
      </p:cxnSp>
      <p:cxnSp>
        <p:nvCxnSpPr>
          <p:cNvPr id="229" name="Google Shape;229;p21"/>
          <p:cNvCxnSpPr/>
          <p:nvPr/>
        </p:nvCxnSpPr>
        <p:spPr>
          <a:xfrm>
            <a:off x="4613450" y="2307325"/>
            <a:ext cx="494100" cy="9000"/>
          </a:xfrm>
          <a:prstGeom prst="straightConnector1">
            <a:avLst/>
          </a:prstGeom>
          <a:noFill/>
          <a:ln w="19050" cap="flat" cmpd="sng">
            <a:solidFill>
              <a:srgbClr val="3CAEA3"/>
            </a:solidFill>
            <a:prstDash val="solid"/>
            <a:round/>
            <a:headEnd type="none" w="sm" len="sm"/>
            <a:tailEnd type="none" w="sm" len="sm"/>
          </a:ln>
        </p:spPr>
      </p:cxnSp>
      <p:cxnSp>
        <p:nvCxnSpPr>
          <p:cNvPr id="230" name="Google Shape;230;p21"/>
          <p:cNvCxnSpPr/>
          <p:nvPr/>
        </p:nvCxnSpPr>
        <p:spPr>
          <a:xfrm>
            <a:off x="4135825" y="2860925"/>
            <a:ext cx="0" cy="402000"/>
          </a:xfrm>
          <a:prstGeom prst="straightConnector1">
            <a:avLst/>
          </a:prstGeom>
          <a:noFill/>
          <a:ln w="19050" cap="flat" cmpd="sng">
            <a:solidFill>
              <a:srgbClr val="FF00FF"/>
            </a:solidFill>
            <a:prstDash val="solid"/>
            <a:round/>
            <a:headEnd type="none" w="sm" len="sm"/>
            <a:tailEnd type="none" w="sm" len="sm"/>
          </a:ln>
        </p:spPr>
      </p:cxnSp>
      <p:sp>
        <p:nvSpPr>
          <p:cNvPr id="231" name="Google Shape;231;p21"/>
          <p:cNvSpPr txBox="1"/>
          <p:nvPr/>
        </p:nvSpPr>
        <p:spPr>
          <a:xfrm>
            <a:off x="3499150" y="1487125"/>
            <a:ext cx="7038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400"/>
              <a:buFont typeface="Arial"/>
              <a:buNone/>
            </a:pPr>
            <a:r>
              <a:rPr lang="en" sz="1400" b="0" i="1" u="none" strike="noStrike" cap="none">
                <a:solidFill>
                  <a:schemeClr val="accent2"/>
                </a:solidFill>
                <a:latin typeface="Lato"/>
                <a:ea typeface="Lato"/>
                <a:cs typeface="Lato"/>
                <a:sym typeface="Lato"/>
              </a:rPr>
              <a:t>Y-axis</a:t>
            </a:r>
            <a:endParaRPr sz="1400" b="0" i="1" u="none" strike="noStrike" cap="none">
              <a:solidFill>
                <a:schemeClr val="accent2"/>
              </a:solidFill>
              <a:latin typeface="Lato"/>
              <a:ea typeface="Lato"/>
              <a:cs typeface="Lato"/>
              <a:sym typeface="Lato"/>
            </a:endParaRPr>
          </a:p>
        </p:txBody>
      </p:sp>
      <p:sp>
        <p:nvSpPr>
          <p:cNvPr id="232" name="Google Shape;232;p21"/>
          <p:cNvSpPr txBox="1"/>
          <p:nvPr/>
        </p:nvSpPr>
        <p:spPr>
          <a:xfrm>
            <a:off x="1928850" y="3313275"/>
            <a:ext cx="703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1" u="none" strike="noStrike" cap="none">
                <a:solidFill>
                  <a:schemeClr val="accent2"/>
                </a:solidFill>
                <a:latin typeface="Lato"/>
                <a:ea typeface="Lato"/>
                <a:cs typeface="Lato"/>
                <a:sym typeface="Lato"/>
              </a:rPr>
              <a:t>X-axis</a:t>
            </a:r>
            <a:endParaRPr sz="1400" b="0" i="1" u="none" strike="noStrike" cap="none">
              <a:solidFill>
                <a:schemeClr val="accent2"/>
              </a:solidFill>
              <a:latin typeface="Lato"/>
              <a:ea typeface="Lato"/>
              <a:cs typeface="Lato"/>
              <a:sym typeface="Lato"/>
            </a:endParaRPr>
          </a:p>
        </p:txBody>
      </p:sp>
      <p:sp>
        <p:nvSpPr>
          <p:cNvPr id="233" name="Google Shape;233;p21"/>
          <p:cNvSpPr txBox="1"/>
          <p:nvPr/>
        </p:nvSpPr>
        <p:spPr>
          <a:xfrm>
            <a:off x="5317075" y="1538275"/>
            <a:ext cx="129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1" u="none" strike="noStrike" cap="none">
                <a:solidFill>
                  <a:srgbClr val="000000"/>
                </a:solidFill>
                <a:latin typeface="Georgia"/>
                <a:ea typeface="Georgia"/>
                <a:cs typeface="Georgia"/>
                <a:sym typeface="Georgia"/>
              </a:rPr>
              <a:t>y = mx + c</a:t>
            </a:r>
            <a:endParaRPr sz="1400" b="0" i="1" u="none" strike="noStrike" cap="none">
              <a:solidFill>
                <a:srgbClr val="000000"/>
              </a:solidFill>
              <a:latin typeface="Georgia"/>
              <a:ea typeface="Georgia"/>
              <a:cs typeface="Georgia"/>
              <a:sym typeface="Georgi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22"/>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4200"/>
              <a:buNone/>
            </a:pPr>
            <a:r>
              <a:rPr lang="en"/>
              <a:t>Linear Regression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3"/>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Regression</a:t>
            </a:r>
            <a:endParaRPr/>
          </a:p>
        </p:txBody>
      </p:sp>
      <p:sp>
        <p:nvSpPr>
          <p:cNvPr id="244" name="Google Shape;244;p23"/>
          <p:cNvSpPr txBox="1">
            <a:spLocks noGrp="1"/>
          </p:cNvSpPr>
          <p:nvPr>
            <p:ph type="body" idx="1"/>
          </p:nvPr>
        </p:nvSpPr>
        <p:spPr>
          <a:xfrm>
            <a:off x="729450" y="1491375"/>
            <a:ext cx="7688700" cy="3175500"/>
          </a:xfrm>
          <a:prstGeom prst="rect">
            <a:avLst/>
          </a:prstGeom>
          <a:noFill/>
          <a:ln>
            <a:noFill/>
          </a:ln>
        </p:spPr>
        <p:txBody>
          <a:bodyPr spcFirstLastPara="1" wrap="square" lIns="91425" tIns="91425" rIns="91425" bIns="91425" anchor="t" anchorCtr="0">
            <a:normAutofit/>
          </a:bodyPr>
          <a:lstStyle/>
          <a:p>
            <a:pPr marL="457200" lvl="0" indent="-330200" algn="l" rtl="0">
              <a:lnSpc>
                <a:spcPct val="150000"/>
              </a:lnSpc>
              <a:spcBef>
                <a:spcPts val="0"/>
              </a:spcBef>
              <a:spcAft>
                <a:spcPts val="0"/>
              </a:spcAft>
              <a:buSzPts val="1600"/>
              <a:buChar char="➔"/>
            </a:pPr>
            <a:r>
              <a:rPr lang="en" sz="1600"/>
              <a:t>In </a:t>
            </a:r>
            <a:r>
              <a:rPr lang="en" sz="1600" b="1"/>
              <a:t>discriminative tasks</a:t>
            </a:r>
            <a:r>
              <a:rPr lang="en" sz="1600"/>
              <a:t>, our goal is to learn </a:t>
            </a:r>
            <a:r>
              <a:rPr lang="en" sz="1600" b="1"/>
              <a:t>a mapping function</a:t>
            </a:r>
            <a:r>
              <a:rPr lang="en" sz="1600"/>
              <a:t>  </a:t>
            </a:r>
            <a:r>
              <a:rPr lang="en" sz="1600" i="1">
                <a:latin typeface="Times New Roman"/>
                <a:ea typeface="Times New Roman"/>
                <a:cs typeface="Times New Roman"/>
                <a:sym typeface="Times New Roman"/>
              </a:rPr>
              <a:t>f(x)</a:t>
            </a:r>
            <a:r>
              <a:rPr lang="en" sz="1600"/>
              <a:t> </a:t>
            </a:r>
            <a:r>
              <a:rPr lang="en"/>
              <a:t>to be able to predict the value of </a:t>
            </a:r>
            <a:r>
              <a:rPr lang="en" i="1">
                <a:latin typeface="Times New Roman"/>
                <a:ea typeface="Times New Roman"/>
                <a:cs typeface="Times New Roman"/>
                <a:sym typeface="Times New Roman"/>
              </a:rPr>
              <a:t>y</a:t>
            </a:r>
            <a:r>
              <a:rPr lang="en"/>
              <a:t> from the value of </a:t>
            </a:r>
            <a:r>
              <a:rPr lang="en" i="1">
                <a:latin typeface="Times New Roman"/>
                <a:ea typeface="Times New Roman"/>
                <a:cs typeface="Times New Roman"/>
                <a:sym typeface="Times New Roman"/>
              </a:rPr>
              <a:t>x</a:t>
            </a:r>
            <a:endParaRPr i="1">
              <a:latin typeface="Times New Roman"/>
              <a:ea typeface="Times New Roman"/>
              <a:cs typeface="Times New Roman"/>
              <a:sym typeface="Times New Roman"/>
            </a:endParaRPr>
          </a:p>
          <a:p>
            <a:pPr marL="457200" lvl="0" indent="-330200" algn="l">
              <a:lnSpc>
                <a:spcPct val="150000"/>
              </a:lnSpc>
              <a:spcBef>
                <a:spcPts val="0"/>
              </a:spcBef>
              <a:spcAft>
                <a:spcPts val="0"/>
              </a:spcAft>
              <a:buSzPts val="1600"/>
              <a:buChar char="➔"/>
            </a:pPr>
            <a:r>
              <a:rPr lang="en" sz="1600"/>
              <a:t>When  </a:t>
            </a:r>
            <a:r>
              <a:rPr lang="en" sz="1600" i="1">
                <a:latin typeface="Times New Roman"/>
                <a:ea typeface="Times New Roman"/>
                <a:cs typeface="Times New Roman"/>
                <a:sym typeface="Times New Roman"/>
              </a:rPr>
              <a:t>y</a:t>
            </a:r>
            <a:r>
              <a:rPr lang="en" sz="1600"/>
              <a:t>  is a </a:t>
            </a:r>
            <a:r>
              <a:rPr lang="en" sz="1600" b="1"/>
              <a:t>continuous</a:t>
            </a:r>
            <a:r>
              <a:rPr lang="en" sz="1600"/>
              <a:t> value, then learning this function is a </a:t>
            </a:r>
            <a:r>
              <a:rPr lang="en" sz="1600" b="1"/>
              <a:t>regression</a:t>
            </a:r>
            <a:r>
              <a:rPr lang="en" sz="1600"/>
              <a:t> task.</a:t>
            </a:r>
            <a:endParaRPr sz="1600"/>
          </a:p>
          <a:p>
            <a:pPr marL="457200" lvl="0" indent="-330200" algn="l" rtl="0">
              <a:lnSpc>
                <a:spcPct val="150000"/>
              </a:lnSpc>
              <a:spcBef>
                <a:spcPts val="0"/>
              </a:spcBef>
              <a:spcAft>
                <a:spcPts val="0"/>
              </a:spcAft>
              <a:buSzPts val="1600"/>
              <a:buChar char="➔"/>
            </a:pPr>
            <a:r>
              <a:rPr lang="en" sz="1600"/>
              <a:t>Some examples: </a:t>
            </a:r>
            <a:endParaRPr sz="1600"/>
          </a:p>
          <a:p>
            <a:pPr marL="914400" lvl="1" indent="-330200" algn="l" rtl="0">
              <a:lnSpc>
                <a:spcPct val="150000"/>
              </a:lnSpc>
              <a:spcBef>
                <a:spcPts val="0"/>
              </a:spcBef>
              <a:spcAft>
                <a:spcPts val="0"/>
              </a:spcAft>
              <a:buSzPts val="1600"/>
              <a:buChar char="◆"/>
            </a:pPr>
            <a:r>
              <a:rPr lang="en" sz="1600"/>
              <a:t>F1 car’s speed =  </a:t>
            </a:r>
            <a:r>
              <a:rPr lang="en" sz="1600" b="1" i="1">
                <a:latin typeface="Times New Roman"/>
                <a:ea typeface="Times New Roman"/>
                <a:cs typeface="Times New Roman"/>
                <a:sym typeface="Times New Roman"/>
              </a:rPr>
              <a:t>f</a:t>
            </a:r>
            <a:r>
              <a:rPr lang="en" sz="1600" b="1"/>
              <a:t> </a:t>
            </a:r>
            <a:r>
              <a:rPr lang="en" sz="1600"/>
              <a:t>(</a:t>
            </a:r>
            <a:r>
              <a:rPr lang="en" sz="1400"/>
              <a:t>how hard the racer presses accelerator</a:t>
            </a:r>
            <a:r>
              <a:rPr lang="en" sz="1800"/>
              <a:t>, </a:t>
            </a:r>
            <a:r>
              <a:rPr lang="en" sz="1400"/>
              <a:t>engine power</a:t>
            </a:r>
            <a:r>
              <a:rPr lang="en" sz="1600"/>
              <a:t>)</a:t>
            </a:r>
            <a:endParaRPr sz="1600"/>
          </a:p>
          <a:p>
            <a:pPr marL="914400" lvl="1" indent="-330200" algn="l" rtl="0">
              <a:lnSpc>
                <a:spcPct val="150000"/>
              </a:lnSpc>
              <a:spcBef>
                <a:spcPts val="0"/>
              </a:spcBef>
              <a:spcAft>
                <a:spcPts val="0"/>
              </a:spcAft>
              <a:buSzPts val="1600"/>
              <a:buChar char="◆"/>
            </a:pPr>
            <a:r>
              <a:rPr lang="en" sz="1600"/>
              <a:t>A flat’s price  =  </a:t>
            </a:r>
            <a:r>
              <a:rPr lang="en" b="1" i="1">
                <a:latin typeface="Times New Roman"/>
                <a:ea typeface="Times New Roman"/>
                <a:cs typeface="Times New Roman"/>
                <a:sym typeface="Times New Roman"/>
              </a:rPr>
              <a:t>f </a:t>
            </a:r>
            <a:r>
              <a:rPr lang="en" sz="1600"/>
              <a:t>(</a:t>
            </a:r>
            <a:r>
              <a:rPr lang="en" sz="1400"/>
              <a:t>location of the flat, size of the flat, interior design</a:t>
            </a:r>
            <a:r>
              <a:rPr lang="en" sz="1600"/>
              <a:t>)</a:t>
            </a:r>
            <a:endParaRPr sz="1600"/>
          </a:p>
          <a:p>
            <a:pPr marL="914400" lvl="1" indent="-330200" algn="l" rtl="0">
              <a:lnSpc>
                <a:spcPct val="150000"/>
              </a:lnSpc>
              <a:spcBef>
                <a:spcPts val="0"/>
              </a:spcBef>
              <a:spcAft>
                <a:spcPts val="0"/>
              </a:spcAft>
              <a:buSzPts val="1600"/>
              <a:buChar char="◆"/>
            </a:pPr>
            <a:r>
              <a:rPr lang="en" sz="1600"/>
              <a:t>Tesla’s share price =  </a:t>
            </a:r>
            <a:r>
              <a:rPr lang="en" b="1" i="1">
                <a:latin typeface="Times New Roman"/>
                <a:ea typeface="Times New Roman"/>
                <a:cs typeface="Times New Roman"/>
                <a:sym typeface="Times New Roman"/>
              </a:rPr>
              <a:t>f </a:t>
            </a:r>
            <a:r>
              <a:rPr lang="en" sz="1600"/>
              <a:t>(</a:t>
            </a:r>
            <a:r>
              <a:rPr lang="en" sz="1400"/>
              <a:t>general</a:t>
            </a:r>
            <a:r>
              <a:rPr lang="en" sz="1300"/>
              <a:t> </a:t>
            </a:r>
            <a:r>
              <a:rPr lang="en" sz="1400"/>
              <a:t>market trend, Tesla’s finance report, Bitcoin</a:t>
            </a:r>
            <a:r>
              <a:rPr lang="en" sz="1600"/>
              <a:t>)</a:t>
            </a:r>
            <a:endParaRPr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27"/>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Linear model</a:t>
            </a:r>
            <a:endParaRPr/>
          </a:p>
        </p:txBody>
      </p:sp>
      <p:sp>
        <p:nvSpPr>
          <p:cNvPr id="268" name="Google Shape;268;p27"/>
          <p:cNvSpPr txBox="1">
            <a:spLocks noGrp="1"/>
          </p:cNvSpPr>
          <p:nvPr>
            <p:ph type="body" idx="1"/>
          </p:nvPr>
        </p:nvSpPr>
        <p:spPr>
          <a:xfrm>
            <a:off x="727650" y="1356625"/>
            <a:ext cx="7998300" cy="3348900"/>
          </a:xfrm>
          <a:prstGeom prst="rect">
            <a:avLst/>
          </a:prstGeom>
          <a:noFill/>
          <a:ln>
            <a:noFill/>
          </a:ln>
        </p:spPr>
        <p:txBody>
          <a:bodyPr spcFirstLastPara="1" wrap="square" lIns="91425" tIns="91425" rIns="91425" bIns="91425" anchor="t" anchorCtr="0">
            <a:normAutofit fontScale="85000" lnSpcReduction="10000"/>
          </a:bodyPr>
          <a:lstStyle/>
          <a:p>
            <a:pPr marL="457200" lvl="0" indent="-330200" algn="l" rtl="0">
              <a:lnSpc>
                <a:spcPct val="150000"/>
              </a:lnSpc>
              <a:spcBef>
                <a:spcPts val="0"/>
              </a:spcBef>
              <a:spcAft>
                <a:spcPts val="0"/>
              </a:spcAft>
              <a:buSzPts val="1600"/>
              <a:buChar char="➔"/>
            </a:pPr>
            <a:r>
              <a:rPr lang="en" sz="1600"/>
              <a:t>One of the simplest (yet one of the most important!) models in machine learning</a:t>
            </a:r>
            <a:endParaRPr sz="1600"/>
          </a:p>
          <a:p>
            <a:pPr marL="457200" lvl="0" indent="-330200" algn="l" rtl="0">
              <a:lnSpc>
                <a:spcPct val="150000"/>
              </a:lnSpc>
              <a:spcBef>
                <a:spcPts val="400"/>
              </a:spcBef>
              <a:spcAft>
                <a:spcPts val="0"/>
              </a:spcAft>
              <a:buSzPts val="1600"/>
              <a:buChar char="➔"/>
            </a:pPr>
            <a:r>
              <a:rPr lang="en" sz="1600"/>
              <a:t>We have </a:t>
            </a:r>
            <a:r>
              <a:rPr lang="en" sz="1600" i="1"/>
              <a:t>N</a:t>
            </a:r>
            <a:r>
              <a:rPr lang="en" sz="1600"/>
              <a:t> observations of the form   </a:t>
            </a:r>
            <a:r>
              <a:rPr lang="en" sz="1600" b="1" i="1">
                <a:latin typeface="Times New Roman"/>
                <a:ea typeface="Times New Roman"/>
                <a:cs typeface="Times New Roman"/>
                <a:sym typeface="Times New Roman"/>
              </a:rPr>
              <a:t>(x</a:t>
            </a:r>
            <a:r>
              <a:rPr lang="en" sz="1600" b="1" i="1" baseline="-25000">
                <a:latin typeface="Times New Roman"/>
                <a:ea typeface="Times New Roman"/>
                <a:cs typeface="Times New Roman"/>
                <a:sym typeface="Times New Roman"/>
              </a:rPr>
              <a:t>i</a:t>
            </a:r>
            <a:r>
              <a:rPr lang="en" sz="1600" b="1" i="1">
                <a:latin typeface="Times New Roman"/>
                <a:ea typeface="Times New Roman"/>
                <a:cs typeface="Times New Roman"/>
                <a:sym typeface="Times New Roman"/>
              </a:rPr>
              <a:t> , y</a:t>
            </a:r>
            <a:r>
              <a:rPr lang="en" sz="1600" b="1" i="1" baseline="-25000">
                <a:latin typeface="Times New Roman"/>
                <a:ea typeface="Times New Roman"/>
                <a:cs typeface="Times New Roman"/>
                <a:sym typeface="Times New Roman"/>
              </a:rPr>
              <a:t>i</a:t>
            </a:r>
            <a:r>
              <a:rPr lang="en" sz="1600" b="1" i="1">
                <a:latin typeface="Times New Roman"/>
                <a:ea typeface="Times New Roman"/>
                <a:cs typeface="Times New Roman"/>
                <a:sym typeface="Times New Roman"/>
              </a:rPr>
              <a:t> )</a:t>
            </a:r>
            <a:r>
              <a:rPr lang="en" sz="1600"/>
              <a:t>:            </a:t>
            </a:r>
            <a:endParaRPr sz="1600"/>
          </a:p>
          <a:p>
            <a:pPr marL="914400" lvl="1" indent="-330200" algn="l" rtl="0">
              <a:lnSpc>
                <a:spcPct val="150000"/>
              </a:lnSpc>
              <a:spcBef>
                <a:spcPts val="400"/>
              </a:spcBef>
              <a:spcAft>
                <a:spcPts val="0"/>
              </a:spcAft>
              <a:buSzPts val="1600"/>
              <a:buChar char="◆"/>
            </a:pPr>
            <a:r>
              <a:rPr lang="en" sz="1600"/>
              <a:t>where, for</a:t>
            </a:r>
            <a:r>
              <a:rPr lang="en"/>
              <a:t> </a:t>
            </a:r>
            <a:r>
              <a:rPr lang="en" sz="1600"/>
              <a:t> </a:t>
            </a:r>
            <a:r>
              <a:rPr lang="en" sz="1600" i="1">
                <a:latin typeface="Times New Roman"/>
                <a:ea typeface="Times New Roman"/>
                <a:cs typeface="Times New Roman"/>
                <a:sym typeface="Times New Roman"/>
              </a:rPr>
              <a:t>i</a:t>
            </a:r>
            <a:r>
              <a:rPr lang="en" baseline="30000"/>
              <a:t>th</a:t>
            </a:r>
            <a:r>
              <a:rPr lang="en" sz="1600"/>
              <a:t> observation,  </a:t>
            </a:r>
            <a:r>
              <a:rPr lang="en" sz="1600" i="1">
                <a:latin typeface="Times New Roman"/>
                <a:ea typeface="Times New Roman"/>
                <a:cs typeface="Times New Roman"/>
                <a:sym typeface="Times New Roman"/>
              </a:rPr>
              <a:t>x</a:t>
            </a:r>
            <a:r>
              <a:rPr lang="en" i="1" baseline="-25000">
                <a:latin typeface="Times New Roman"/>
                <a:ea typeface="Times New Roman"/>
                <a:cs typeface="Times New Roman"/>
                <a:sym typeface="Times New Roman"/>
              </a:rPr>
              <a:t>i</a:t>
            </a:r>
            <a:r>
              <a:rPr lang="en" sz="1600"/>
              <a:t> is </a:t>
            </a:r>
            <a:r>
              <a:rPr lang="en"/>
              <a:t>the</a:t>
            </a:r>
            <a:r>
              <a:rPr lang="en" sz="1600"/>
              <a:t> </a:t>
            </a:r>
            <a:r>
              <a:rPr lang="en" sz="1600" b="1"/>
              <a:t>input</a:t>
            </a:r>
            <a:r>
              <a:rPr lang="en" sz="1600"/>
              <a:t> and  </a:t>
            </a:r>
            <a:r>
              <a:rPr lang="en" i="1">
                <a:latin typeface="Times New Roman"/>
                <a:ea typeface="Times New Roman"/>
                <a:cs typeface="Times New Roman"/>
                <a:sym typeface="Times New Roman"/>
              </a:rPr>
              <a:t>y</a:t>
            </a:r>
            <a:r>
              <a:rPr lang="en" i="1" baseline="-25000">
                <a:latin typeface="Times New Roman"/>
                <a:ea typeface="Times New Roman"/>
                <a:cs typeface="Times New Roman"/>
                <a:sym typeface="Times New Roman"/>
              </a:rPr>
              <a:t>i</a:t>
            </a:r>
            <a:r>
              <a:rPr lang="en" sz="1600"/>
              <a:t> is the </a:t>
            </a:r>
            <a:r>
              <a:rPr lang="en" sz="1600" b="1"/>
              <a:t>label / output</a:t>
            </a:r>
            <a:r>
              <a:rPr lang="en" sz="1600"/>
              <a:t>.</a:t>
            </a:r>
            <a:endParaRPr sz="1600"/>
          </a:p>
          <a:p>
            <a:pPr marL="457200" lvl="0" indent="-330200" algn="l" rtl="0">
              <a:lnSpc>
                <a:spcPct val="150000"/>
              </a:lnSpc>
              <a:spcBef>
                <a:spcPts val="400"/>
              </a:spcBef>
              <a:spcAft>
                <a:spcPts val="0"/>
              </a:spcAft>
              <a:buSzPts val="1600"/>
              <a:buChar char="➔"/>
            </a:pPr>
            <a:r>
              <a:rPr lang="en" sz="1600"/>
              <a:t>We assume that the label can be obtained through a </a:t>
            </a:r>
            <a:r>
              <a:rPr lang="en" sz="1600" b="1"/>
              <a:t>linear transformation</a:t>
            </a:r>
            <a:r>
              <a:rPr lang="en" sz="1600"/>
              <a:t> of the feature: </a:t>
            </a:r>
            <a:endParaRPr sz="1600"/>
          </a:p>
          <a:p>
            <a:pPr marL="2743200" lvl="0" indent="0" algn="l" rtl="0">
              <a:lnSpc>
                <a:spcPct val="150000"/>
              </a:lnSpc>
              <a:spcBef>
                <a:spcPts val="400"/>
              </a:spcBef>
              <a:spcAft>
                <a:spcPts val="0"/>
              </a:spcAft>
              <a:buNone/>
            </a:pPr>
            <a:r>
              <a:rPr lang="en" sz="1600" b="1" i="1">
                <a:latin typeface="Times New Roman"/>
                <a:ea typeface="Times New Roman"/>
                <a:cs typeface="Times New Roman"/>
                <a:sym typeface="Times New Roman"/>
              </a:rPr>
              <a:t>y</a:t>
            </a:r>
            <a:r>
              <a:rPr lang="en" sz="1600" b="1" i="1" baseline="-25000">
                <a:latin typeface="Times New Roman"/>
                <a:ea typeface="Times New Roman"/>
                <a:cs typeface="Times New Roman"/>
                <a:sym typeface="Times New Roman"/>
              </a:rPr>
              <a:t>i</a:t>
            </a:r>
            <a:r>
              <a:rPr lang="en" sz="1600" b="1" i="1">
                <a:latin typeface="Times New Roman"/>
                <a:ea typeface="Times New Roman"/>
                <a:cs typeface="Times New Roman"/>
                <a:sym typeface="Times New Roman"/>
              </a:rPr>
              <a:t>= ax</a:t>
            </a:r>
            <a:r>
              <a:rPr lang="en" sz="1600" b="1" i="1" baseline="-25000">
                <a:latin typeface="Times New Roman"/>
                <a:ea typeface="Times New Roman"/>
                <a:cs typeface="Times New Roman"/>
                <a:sym typeface="Times New Roman"/>
              </a:rPr>
              <a:t>i</a:t>
            </a:r>
            <a:r>
              <a:rPr lang="en" sz="1600" b="1" i="1">
                <a:latin typeface="Times New Roman"/>
                <a:ea typeface="Times New Roman"/>
                <a:cs typeface="Times New Roman"/>
                <a:sym typeface="Times New Roman"/>
              </a:rPr>
              <a:t>+ b + 𝜀</a:t>
            </a:r>
            <a:r>
              <a:rPr lang="en" sz="1600" b="1" i="1" baseline="-25000">
                <a:latin typeface="Times New Roman"/>
                <a:ea typeface="Times New Roman"/>
                <a:cs typeface="Times New Roman"/>
                <a:sym typeface="Times New Roman"/>
              </a:rPr>
              <a:t>i</a:t>
            </a:r>
            <a:endParaRPr sz="1600" b="1" i="1" baseline="-25000">
              <a:latin typeface="Times New Roman"/>
              <a:ea typeface="Times New Roman"/>
              <a:cs typeface="Times New Roman"/>
              <a:sym typeface="Times New Roman"/>
            </a:endParaRPr>
          </a:p>
          <a:p>
            <a:pPr marL="914400" lvl="1" indent="-330200" algn="l" rtl="0">
              <a:lnSpc>
                <a:spcPct val="150000"/>
              </a:lnSpc>
              <a:spcBef>
                <a:spcPts val="400"/>
              </a:spcBef>
              <a:spcAft>
                <a:spcPts val="0"/>
              </a:spcAft>
              <a:buSzPts val="1600"/>
              <a:buChar char="◆"/>
            </a:pPr>
            <a:r>
              <a:rPr lang="en" sz="1600"/>
              <a:t>Where </a:t>
            </a:r>
            <a:r>
              <a:rPr lang="en" sz="1600" i="1">
                <a:latin typeface="Times New Roman"/>
                <a:ea typeface="Times New Roman"/>
                <a:cs typeface="Times New Roman"/>
                <a:sym typeface="Times New Roman"/>
              </a:rPr>
              <a:t>𝜀</a:t>
            </a:r>
            <a:r>
              <a:rPr lang="en" sz="1600" i="1" baseline="-25000">
                <a:latin typeface="Times New Roman"/>
                <a:ea typeface="Times New Roman"/>
                <a:cs typeface="Times New Roman"/>
                <a:sym typeface="Times New Roman"/>
              </a:rPr>
              <a:t>i  </a:t>
            </a:r>
            <a:r>
              <a:rPr lang="en" sz="1600"/>
              <a:t>is some very small noise, called the residual noise. </a:t>
            </a:r>
            <a:r>
              <a:rPr lang="en-GB" sz="1600"/>
              <a:t>I</a:t>
            </a:r>
            <a:r>
              <a:rPr lang="en" sz="1600"/>
              <a:t>t adds fuzziness to introduce some real-world randomness in our equation</a:t>
            </a:r>
            <a:endParaRPr sz="1600"/>
          </a:p>
          <a:p>
            <a:pPr marL="457200" lvl="0" indent="-330200" algn="l" rtl="0">
              <a:lnSpc>
                <a:spcPct val="150000"/>
              </a:lnSpc>
              <a:spcBef>
                <a:spcPts val="0"/>
              </a:spcBef>
              <a:spcAft>
                <a:spcPts val="0"/>
              </a:spcAft>
              <a:buSzPts val="1600"/>
              <a:buChar char="➔"/>
            </a:pPr>
            <a:r>
              <a:rPr lang="en" sz="1600"/>
              <a:t>In this setting we assume that the </a:t>
            </a:r>
            <a:r>
              <a:rPr lang="en" sz="1600" b="1"/>
              <a:t>mapping to learn  </a:t>
            </a:r>
            <a:r>
              <a:rPr lang="en" sz="1600" b="1" i="1">
                <a:latin typeface="Times New Roman"/>
                <a:ea typeface="Times New Roman"/>
                <a:cs typeface="Times New Roman"/>
                <a:sym typeface="Times New Roman"/>
              </a:rPr>
              <a:t>f(x)</a:t>
            </a:r>
            <a:r>
              <a:rPr lang="en" sz="1600"/>
              <a:t> is of the form </a:t>
            </a:r>
            <a:r>
              <a:rPr lang="en" sz="1600" b="1" i="1">
                <a:latin typeface="Times New Roman"/>
                <a:ea typeface="Times New Roman"/>
                <a:cs typeface="Times New Roman"/>
                <a:sym typeface="Times New Roman"/>
              </a:rPr>
              <a:t>f(x) = ax+b</a:t>
            </a:r>
            <a:endParaRPr sz="1600"/>
          </a:p>
          <a:p>
            <a:pPr marL="457200" lvl="0" indent="-330200" algn="l" rtl="0">
              <a:lnSpc>
                <a:spcPct val="150000"/>
              </a:lnSpc>
              <a:spcBef>
                <a:spcPts val="0"/>
              </a:spcBef>
              <a:spcAft>
                <a:spcPts val="0"/>
              </a:spcAft>
              <a:buSzPts val="1600"/>
              <a:buChar char="➔"/>
            </a:pPr>
            <a:r>
              <a:rPr lang="en" sz="1600" b="1"/>
              <a:t>Our goal is to learn </a:t>
            </a:r>
            <a:r>
              <a:rPr lang="en" sz="1600" b="1" i="1">
                <a:latin typeface="Times New Roman"/>
                <a:ea typeface="Times New Roman"/>
                <a:cs typeface="Times New Roman"/>
                <a:sym typeface="Times New Roman"/>
              </a:rPr>
              <a:t>a</a:t>
            </a:r>
            <a:r>
              <a:rPr lang="en" sz="1600" b="1"/>
              <a:t> and </a:t>
            </a:r>
            <a:r>
              <a:rPr lang="en" sz="1600" b="1" i="1">
                <a:latin typeface="Times New Roman"/>
                <a:ea typeface="Times New Roman"/>
                <a:cs typeface="Times New Roman"/>
                <a:sym typeface="Times New Roman"/>
              </a:rPr>
              <a:t>b</a:t>
            </a:r>
            <a:r>
              <a:rPr lang="en" sz="1600" b="1"/>
              <a:t> from the data</a:t>
            </a:r>
            <a:endParaRPr sz="16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6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6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2">
          <a:extLst>
            <a:ext uri="{FF2B5EF4-FFF2-40B4-BE49-F238E27FC236}">
              <a16:creationId xmlns:a16="http://schemas.microsoft.com/office/drawing/2014/main" id="{CB89BAD8-3BF2-CA04-5600-1A8C8377CE39}"/>
            </a:ext>
          </a:extLst>
        </p:cNvPr>
        <p:cNvGrpSpPr/>
        <p:nvPr/>
      </p:nvGrpSpPr>
      <p:grpSpPr>
        <a:xfrm>
          <a:off x="0" y="0"/>
          <a:ext cx="0" cy="0"/>
          <a:chOff x="0" y="0"/>
          <a:chExt cx="0" cy="0"/>
        </a:xfrm>
      </p:grpSpPr>
      <p:sp>
        <p:nvSpPr>
          <p:cNvPr id="213" name="Google Shape;213;p20">
            <a:extLst>
              <a:ext uri="{FF2B5EF4-FFF2-40B4-BE49-F238E27FC236}">
                <a16:creationId xmlns:a16="http://schemas.microsoft.com/office/drawing/2014/main" id="{92958497-7D7A-1930-5B08-BAD7CBDE3146}"/>
              </a:ext>
            </a:extLst>
          </p:cNvPr>
          <p:cNvSpPr txBox="1">
            <a:spLocks noGrp="1"/>
          </p:cNvSpPr>
          <p:nvPr>
            <p:ph type="title"/>
          </p:nvPr>
        </p:nvSpPr>
        <p:spPr>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Example: Linear model for Survey</a:t>
            </a:r>
            <a:endParaRPr/>
          </a:p>
        </p:txBody>
      </p:sp>
      <mc:AlternateContent xmlns:mc="http://schemas.openxmlformats.org/markup-compatibility/2006">
        <mc:Choice xmlns:a14="http://schemas.microsoft.com/office/drawing/2010/main" Requires="a14">
          <p:sp>
            <p:nvSpPr>
              <p:cNvPr id="2" name="Text Placeholder 1">
                <a:extLst>
                  <a:ext uri="{FF2B5EF4-FFF2-40B4-BE49-F238E27FC236}">
                    <a16:creationId xmlns:a16="http://schemas.microsoft.com/office/drawing/2014/main" id="{115F19BF-F16B-55AA-A78C-32585E6FFAA5}"/>
                  </a:ext>
                </a:extLst>
              </p:cNvPr>
              <p:cNvSpPr>
                <a:spLocks noGrp="1"/>
              </p:cNvSpPr>
              <p:nvPr>
                <p:ph type="body" idx="1"/>
              </p:nvPr>
            </p:nvSpPr>
            <p:spPr>
              <a:xfrm>
                <a:off x="727650" y="1356626"/>
                <a:ext cx="3844350" cy="1212486"/>
              </a:xfrm>
            </p:spPr>
            <p:txBody>
              <a:bodyPr>
                <a:normAutofit fontScale="77500" lnSpcReduction="20000"/>
              </a:bodyPr>
              <a:lstStyle/>
              <a:p>
                <a14:m>
                  <m:oMath xmlns:m="http://schemas.openxmlformats.org/officeDocument/2006/math">
                    <m:r>
                      <a:rPr lang="en-GB" i="1" smtClean="0">
                        <a:latin typeface="Cambria Math" panose="02040503050406030204" pitchFamily="18" charset="0"/>
                      </a:rPr>
                      <m:t>𝑎</m:t>
                    </m:r>
                    <m:r>
                      <a:rPr lang="en-GB" i="1"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𝑖</m:t>
                                </m:r>
                              </m:sub>
                            </m:sSub>
                            <m:r>
                              <a:rPr lang="en-GB" i="1">
                                <a:latin typeface="Cambria Math" panose="02040503050406030204" pitchFamily="18" charset="0"/>
                              </a:rPr>
                              <m:t>−</m:t>
                            </m:r>
                            <m:acc>
                              <m:accPr>
                                <m:chr m:val="̅"/>
                                <m:ctrlPr>
                                  <a:rPr lang="en-GB" i="1">
                                    <a:latin typeface="Cambria Math" panose="02040503050406030204" pitchFamily="18" charset="0"/>
                                  </a:rPr>
                                </m:ctrlPr>
                              </m:accPr>
                              <m:e>
                                <m:r>
                                  <a:rPr lang="en-GB" i="1">
                                    <a:latin typeface="Cambria Math" panose="02040503050406030204" pitchFamily="18" charset="0"/>
                                  </a:rPr>
                                  <m:t>𝑥</m:t>
                                </m:r>
                              </m:e>
                            </m:acc>
                          </m:e>
                        </m:d>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sub>
                            </m:sSub>
                            <m:r>
                              <a:rPr lang="en-GB" i="1">
                                <a:latin typeface="Cambria Math" panose="02040503050406030204" pitchFamily="18" charset="0"/>
                              </a:rPr>
                              <m:t>−</m:t>
                            </m:r>
                            <m:acc>
                              <m:accPr>
                                <m:chr m:val="̅"/>
                                <m:ctrlPr>
                                  <a:rPr lang="en-GB" i="1">
                                    <a:latin typeface="Cambria Math" panose="02040503050406030204" pitchFamily="18" charset="0"/>
                                  </a:rPr>
                                </m:ctrlPr>
                              </m:accPr>
                              <m:e>
                                <m:r>
                                  <a:rPr lang="en-GB" i="1">
                                    <a:latin typeface="Cambria Math" panose="02040503050406030204" pitchFamily="18" charset="0"/>
                                  </a:rPr>
                                  <m:t>𝑦</m:t>
                                </m:r>
                              </m:e>
                            </m:acc>
                          </m:e>
                        </m:d>
                      </m:num>
                      <m:den>
                        <m:r>
                          <a:rPr lang="en-GB" b="0" i="1" smtClean="0">
                            <a:latin typeface="Cambria Math" panose="02040503050406030204" pitchFamily="18" charset="0"/>
                          </a:rPr>
                          <m:t>∑</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𝑖</m:t>
                                    </m:r>
                                  </m:sub>
                                </m:sSub>
                                <m:r>
                                  <a:rPr lang="en-GB" i="1">
                                    <a:latin typeface="Cambria Math" panose="02040503050406030204" pitchFamily="18" charset="0"/>
                                  </a:rPr>
                                  <m:t>−</m:t>
                                </m:r>
                                <m:acc>
                                  <m:accPr>
                                    <m:chr m:val="̅"/>
                                    <m:ctrlPr>
                                      <a:rPr lang="en-GB" i="1">
                                        <a:latin typeface="Cambria Math" panose="02040503050406030204" pitchFamily="18" charset="0"/>
                                      </a:rPr>
                                    </m:ctrlPr>
                                  </m:accPr>
                                  <m:e>
                                    <m:r>
                                      <a:rPr lang="en-GB" i="1">
                                        <a:latin typeface="Cambria Math" panose="02040503050406030204" pitchFamily="18" charset="0"/>
                                      </a:rPr>
                                      <m:t>𝑥</m:t>
                                    </m:r>
                                  </m:e>
                                </m:acc>
                              </m:e>
                            </m:d>
                          </m:e>
                          <m:sup>
                            <m:r>
                              <a:rPr lang="en-GB" i="1">
                                <a:latin typeface="Cambria Math" panose="02040503050406030204" pitchFamily="18" charset="0"/>
                              </a:rPr>
                              <m:t>2</m:t>
                            </m:r>
                          </m:sup>
                        </m:sSup>
                      </m:den>
                    </m:f>
                  </m:oMath>
                </a14:m>
                <a:r>
                  <a:rPr lang="en-GB"/>
                  <a:t> (Sum of products)/(Sum of squares)</a:t>
                </a:r>
              </a:p>
              <a:p>
                <a14:m>
                  <m:oMath xmlns:m="http://schemas.openxmlformats.org/officeDocument/2006/math">
                    <m:r>
                      <a:rPr lang="en-GB" i="1">
                        <a:latin typeface="Cambria Math" panose="02040503050406030204" pitchFamily="18" charset="0"/>
                      </a:rPr>
                      <m:t>𝑏</m:t>
                    </m:r>
                    <m:r>
                      <a:rPr lang="en-GB" i="1">
                        <a:latin typeface="Cambria Math" panose="02040503050406030204" pitchFamily="18" charset="0"/>
                      </a:rPr>
                      <m:t>=</m:t>
                    </m:r>
                    <m:acc>
                      <m:accPr>
                        <m:chr m:val="̅"/>
                        <m:ctrlPr>
                          <a:rPr lang="en-GB" i="1">
                            <a:latin typeface="Cambria Math" panose="02040503050406030204" pitchFamily="18" charset="0"/>
                          </a:rPr>
                        </m:ctrlPr>
                      </m:accPr>
                      <m:e>
                        <m:r>
                          <a:rPr lang="en-GB" i="1">
                            <a:latin typeface="Cambria Math" panose="02040503050406030204" pitchFamily="18" charset="0"/>
                          </a:rPr>
                          <m:t>𝑦</m:t>
                        </m:r>
                      </m:e>
                    </m:acc>
                    <m:r>
                      <a:rPr lang="en-GB" i="1">
                        <a:latin typeface="Cambria Math" panose="02040503050406030204" pitchFamily="18" charset="0"/>
                      </a:rPr>
                      <m:t>−</m:t>
                    </m:r>
                    <m:r>
                      <a:rPr lang="en-GB" i="1">
                        <a:latin typeface="Cambria Math" panose="02040503050406030204" pitchFamily="18" charset="0"/>
                      </a:rPr>
                      <m:t>𝑎</m:t>
                    </m:r>
                    <m:acc>
                      <m:accPr>
                        <m:chr m:val="̅"/>
                        <m:ctrlPr>
                          <a:rPr lang="en-GB" i="1">
                            <a:latin typeface="Cambria Math" panose="02040503050406030204" pitchFamily="18" charset="0"/>
                          </a:rPr>
                        </m:ctrlPr>
                      </m:accPr>
                      <m:e>
                        <m:r>
                          <a:rPr lang="en-GB" i="1" smtClean="0">
                            <a:latin typeface="Cambria Math" panose="02040503050406030204" pitchFamily="18" charset="0"/>
                          </a:rPr>
                          <m:t>𝑥</m:t>
                        </m:r>
                      </m:e>
                    </m:acc>
                  </m:oMath>
                </a14:m>
                <a:r>
                  <a:rPr lang="en-GB"/>
                  <a:t> (</a:t>
                </a:r>
                <a14:m>
                  <m:oMath xmlns:m="http://schemas.openxmlformats.org/officeDocument/2006/math">
                    <m:acc>
                      <m:accPr>
                        <m:chr m:val="̅"/>
                        <m:ctrlPr>
                          <a:rPr lang="en-GB" i="1">
                            <a:latin typeface="Cambria Math" panose="02040503050406030204" pitchFamily="18" charset="0"/>
                          </a:rPr>
                        </m:ctrlPr>
                      </m:accPr>
                      <m:e>
                        <m:r>
                          <a:rPr lang="en-GB" i="1">
                            <a:latin typeface="Cambria Math" panose="02040503050406030204" pitchFamily="18" charset="0"/>
                          </a:rPr>
                          <m:t>𝑥</m:t>
                        </m:r>
                      </m:e>
                    </m:acc>
                    <m:r>
                      <a:rPr lang="en-GB" b="0" i="1" smtClean="0">
                        <a:latin typeface="Cambria Math" panose="02040503050406030204" pitchFamily="18" charset="0"/>
                      </a:rPr>
                      <m:t>:</m:t>
                    </m:r>
                  </m:oMath>
                </a14:m>
                <a:r>
                  <a:rPr lang="en-GB"/>
                  <a:t> mean of </a:t>
                </a:r>
                <a14:m>
                  <m:oMath xmlns:m="http://schemas.openxmlformats.org/officeDocument/2006/math">
                    <m:r>
                      <a:rPr lang="en-GB" i="1">
                        <a:latin typeface="Cambria Math" panose="02040503050406030204" pitchFamily="18" charset="0"/>
                      </a:rPr>
                      <m:t>𝑥</m:t>
                    </m:r>
                  </m:oMath>
                </a14:m>
                <a:r>
                  <a:rPr lang="en-GB"/>
                  <a:t>; </a:t>
                </a:r>
                <a14:m>
                  <m:oMath xmlns:m="http://schemas.openxmlformats.org/officeDocument/2006/math">
                    <m:acc>
                      <m:accPr>
                        <m:chr m:val="̅"/>
                        <m:ctrlPr>
                          <a:rPr lang="en-GB" i="1">
                            <a:latin typeface="Cambria Math" panose="02040503050406030204" pitchFamily="18" charset="0"/>
                          </a:rPr>
                        </m:ctrlPr>
                      </m:accPr>
                      <m:e>
                        <m:r>
                          <a:rPr lang="en-GB" i="1">
                            <a:latin typeface="Cambria Math" panose="02040503050406030204" pitchFamily="18" charset="0"/>
                          </a:rPr>
                          <m:t>𝑦</m:t>
                        </m:r>
                      </m:e>
                    </m:acc>
                  </m:oMath>
                </a14:m>
                <a:r>
                  <a:rPr lang="en-GB"/>
                  <a:t>: mean of </a:t>
                </a:r>
                <a14:m>
                  <m:oMath xmlns:m="http://schemas.openxmlformats.org/officeDocument/2006/math">
                    <m:r>
                      <a:rPr lang="en-GB" i="1">
                        <a:latin typeface="Cambria Math" panose="02040503050406030204" pitchFamily="18" charset="0"/>
                      </a:rPr>
                      <m:t>𝑦</m:t>
                    </m:r>
                  </m:oMath>
                </a14:m>
                <a:r>
                  <a:rPr lang="en-GB"/>
                  <a:t>)</a:t>
                </a:r>
              </a:p>
            </p:txBody>
          </p:sp>
        </mc:Choice>
        <mc:Fallback>
          <p:sp>
            <p:nvSpPr>
              <p:cNvPr id="2" name="Text Placeholder 1">
                <a:extLst>
                  <a:ext uri="{FF2B5EF4-FFF2-40B4-BE49-F238E27FC236}">
                    <a16:creationId xmlns:a16="http://schemas.microsoft.com/office/drawing/2014/main" id="{115F19BF-F16B-55AA-A78C-32585E6FFAA5}"/>
                  </a:ext>
                </a:extLst>
              </p:cNvPr>
              <p:cNvSpPr>
                <a:spLocks noGrp="1" noRot="1" noChangeAspect="1" noMove="1" noResize="1" noEditPoints="1" noAdjustHandles="1" noChangeArrowheads="1" noChangeShapeType="1" noTextEdit="1"/>
              </p:cNvSpPr>
              <p:nvPr>
                <p:ph type="body" idx="1"/>
              </p:nvPr>
            </p:nvSpPr>
            <p:spPr>
              <a:xfrm>
                <a:off x="727650" y="1356626"/>
                <a:ext cx="3844350" cy="1212486"/>
              </a:xfrm>
              <a:blipFill>
                <a:blip r:embed="rId3"/>
                <a:stretch>
                  <a:fillRect b="-505"/>
                </a:stretch>
              </a:blipFill>
            </p:spPr>
            <p:txBody>
              <a:bodyPr/>
              <a:lstStyle/>
              <a:p>
                <a:r>
                  <a:rPr lang="en-US">
                    <a:noFill/>
                  </a:rPr>
                  <a:t> </a:t>
                </a:r>
              </a:p>
            </p:txBody>
          </p:sp>
        </mc:Fallback>
      </mc:AlternateContent>
      <p:graphicFrame>
        <p:nvGraphicFramePr>
          <p:cNvPr id="5" name="Chart 4">
            <a:extLst>
              <a:ext uri="{FF2B5EF4-FFF2-40B4-BE49-F238E27FC236}">
                <a16:creationId xmlns:a16="http://schemas.microsoft.com/office/drawing/2014/main" id="{1E948F56-B0DC-458D-B66B-AC386EF89BD3}"/>
              </a:ext>
            </a:extLst>
          </p:cNvPr>
          <p:cNvGraphicFramePr>
            <a:graphicFrameLocks/>
          </p:cNvGraphicFramePr>
          <p:nvPr>
            <p:extLst>
              <p:ext uri="{D42A27DB-BD31-4B8C-83A1-F6EECF244321}">
                <p14:modId xmlns:p14="http://schemas.microsoft.com/office/powerpoint/2010/main" val="1659208446"/>
              </p:ext>
            </p:extLst>
          </p:nvPr>
        </p:nvGraphicFramePr>
        <p:xfrm>
          <a:off x="285749" y="2571748"/>
          <a:ext cx="4286251" cy="2571751"/>
        </p:xfrm>
        <a:graphic>
          <a:graphicData uri="http://schemas.openxmlformats.org/drawingml/2006/chart">
            <c:chart xmlns:c="http://schemas.openxmlformats.org/drawingml/2006/chart" xmlns:r="http://schemas.openxmlformats.org/officeDocument/2006/relationships" r:id="rId4"/>
          </a:graphicData>
        </a:graphic>
      </p:graphicFrame>
      <mc:AlternateContent xmlns:mc="http://schemas.openxmlformats.org/markup-compatibility/2006">
        <mc:Choice xmlns:a14="http://schemas.microsoft.com/office/drawing/2010/main" Requires="a14">
          <p:sp>
            <p:nvSpPr>
              <p:cNvPr id="9" name="Text Placeholder 1">
                <a:extLst>
                  <a:ext uri="{FF2B5EF4-FFF2-40B4-BE49-F238E27FC236}">
                    <a16:creationId xmlns:a16="http://schemas.microsoft.com/office/drawing/2014/main" id="{F9B30BBA-5125-433A-1E94-7D033C427377}"/>
                  </a:ext>
                </a:extLst>
              </p:cNvPr>
              <p:cNvSpPr txBox="1">
                <a:spLocks/>
              </p:cNvSpPr>
              <p:nvPr/>
            </p:nvSpPr>
            <p:spPr>
              <a:xfrm>
                <a:off x="4571999" y="1356626"/>
                <a:ext cx="4414602" cy="3483152"/>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50000"/>
                  </a:lnSpc>
                  <a:spcBef>
                    <a:spcPts val="0"/>
                  </a:spcBef>
                  <a:spcAft>
                    <a:spcPts val="0"/>
                  </a:spcAft>
                  <a:buClr>
                    <a:schemeClr val="accent1"/>
                  </a:buClr>
                  <a:buSzPts val="1800"/>
                  <a:buFont typeface="Lato"/>
                  <a:buChar char="●"/>
                  <a:defRPr sz="1800" b="0" i="0" u="none" strike="noStrike" cap="none">
                    <a:solidFill>
                      <a:schemeClr val="accent1"/>
                    </a:solidFill>
                    <a:latin typeface="Lato"/>
                    <a:ea typeface="Lato"/>
                    <a:cs typeface="Lato"/>
                    <a:sym typeface="Lato"/>
                  </a:defRPr>
                </a:lvl1pPr>
                <a:lvl2pPr marL="914400" marR="0" lvl="1"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2pPr>
                <a:lvl3pPr marL="1371600" marR="0" lvl="2"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3pPr>
                <a:lvl4pPr marL="1828800" marR="0" lvl="3"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4pPr>
                <a:lvl5pPr marL="2286000" marR="0" lvl="4"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5pPr>
                <a:lvl6pPr marL="2743200" marR="0" lvl="5"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6pPr>
                <a:lvl7pPr marL="3200400" marR="0" lvl="6"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7pPr>
                <a:lvl8pPr marL="3657600" marR="0" lvl="7"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8pPr>
                <a:lvl9pPr marL="4114800" marR="0" lvl="8"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9pPr>
              </a:lstStyle>
              <a:p>
                <a:r>
                  <a:rPr lang="en-GB"/>
                  <a:t>Let’s calculate the values of </a:t>
                </a:r>
                <a14:m>
                  <m:oMath xmlns:m="http://schemas.openxmlformats.org/officeDocument/2006/math">
                    <m:r>
                      <a:rPr lang="en-GB" i="1" dirty="0" smtClean="0">
                        <a:latin typeface="Cambria Math" panose="02040503050406030204" pitchFamily="18" charset="0"/>
                      </a:rPr>
                      <m:t>𝑎</m:t>
                    </m:r>
                  </m:oMath>
                </a14:m>
                <a:r>
                  <a:rPr lang="en-GB"/>
                  <a:t> and </a:t>
                </a:r>
                <a14:m>
                  <m:oMath xmlns:m="http://schemas.openxmlformats.org/officeDocument/2006/math">
                    <m:r>
                      <a:rPr lang="en-GB" i="1" dirty="0" smtClean="0">
                        <a:latin typeface="Cambria Math" panose="02040503050406030204" pitchFamily="18" charset="0"/>
                      </a:rPr>
                      <m:t>𝑏</m:t>
                    </m:r>
                  </m:oMath>
                </a14:m>
                <a:r>
                  <a:rPr lang="en-GB"/>
                  <a:t> for this data.</a:t>
                </a:r>
              </a:p>
              <a:p>
                <a:r>
                  <a:rPr lang="en-GB"/>
                  <a:t>For simplicity, we will assume the residual noise to be 0.</a:t>
                </a:r>
              </a:p>
              <a:p>
                <a:r>
                  <a:rPr lang="en-GB"/>
                  <a:t>I have performed the calculation on an Excel sheet.</a:t>
                </a:r>
              </a:p>
            </p:txBody>
          </p:sp>
        </mc:Choice>
        <mc:Fallback>
          <p:sp>
            <p:nvSpPr>
              <p:cNvPr id="9" name="Text Placeholder 1">
                <a:extLst>
                  <a:ext uri="{FF2B5EF4-FFF2-40B4-BE49-F238E27FC236}">
                    <a16:creationId xmlns:a16="http://schemas.microsoft.com/office/drawing/2014/main" id="{F9B30BBA-5125-433A-1E94-7D033C427377}"/>
                  </a:ext>
                </a:extLst>
              </p:cNvPr>
              <p:cNvSpPr txBox="1">
                <a:spLocks noRot="1" noChangeAspect="1" noMove="1" noResize="1" noEditPoints="1" noAdjustHandles="1" noChangeArrowheads="1" noChangeShapeType="1" noTextEdit="1"/>
              </p:cNvSpPr>
              <p:nvPr/>
            </p:nvSpPr>
            <p:spPr>
              <a:xfrm>
                <a:off x="4571999" y="1356626"/>
                <a:ext cx="4414602" cy="3483152"/>
              </a:xfrm>
              <a:prstGeom prst="rect">
                <a:avLst/>
              </a:prstGeom>
              <a:blipFill>
                <a:blip r:embed="rId5"/>
                <a:stretch>
                  <a:fillRect/>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862798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2">
          <a:extLst>
            <a:ext uri="{FF2B5EF4-FFF2-40B4-BE49-F238E27FC236}">
              <a16:creationId xmlns:a16="http://schemas.microsoft.com/office/drawing/2014/main" id="{B797DEF8-5A4C-2A04-D5A7-9127DEA61A17}"/>
            </a:ext>
          </a:extLst>
        </p:cNvPr>
        <p:cNvGrpSpPr/>
        <p:nvPr/>
      </p:nvGrpSpPr>
      <p:grpSpPr>
        <a:xfrm>
          <a:off x="0" y="0"/>
          <a:ext cx="0" cy="0"/>
          <a:chOff x="0" y="0"/>
          <a:chExt cx="0" cy="0"/>
        </a:xfrm>
      </p:grpSpPr>
      <p:sp>
        <p:nvSpPr>
          <p:cNvPr id="213" name="Google Shape;213;p20">
            <a:extLst>
              <a:ext uri="{FF2B5EF4-FFF2-40B4-BE49-F238E27FC236}">
                <a16:creationId xmlns:a16="http://schemas.microsoft.com/office/drawing/2014/main" id="{B6030D15-4703-0507-63CC-EFE3600A83E1}"/>
              </a:ext>
            </a:extLst>
          </p:cNvPr>
          <p:cNvSpPr txBox="1">
            <a:spLocks noGrp="1"/>
          </p:cNvSpPr>
          <p:nvPr>
            <p:ph type="title"/>
          </p:nvPr>
        </p:nvSpPr>
        <p:spPr>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Example: Linear model for Survey</a:t>
            </a:r>
            <a:endParaRPr/>
          </a:p>
        </p:txBody>
      </p:sp>
      <mc:AlternateContent xmlns:mc="http://schemas.openxmlformats.org/markup-compatibility/2006">
        <mc:Choice xmlns:a14="http://schemas.microsoft.com/office/drawing/2010/main" Requires="a14">
          <p:graphicFrame>
            <p:nvGraphicFramePr>
              <p:cNvPr id="8" name="Table 7">
                <a:extLst>
                  <a:ext uri="{FF2B5EF4-FFF2-40B4-BE49-F238E27FC236}">
                    <a16:creationId xmlns:a16="http://schemas.microsoft.com/office/drawing/2014/main" id="{5FD0950F-3228-4980-5ED9-54EB8E3C8E41}"/>
                  </a:ext>
                </a:extLst>
              </p:cNvPr>
              <p:cNvGraphicFramePr>
                <a:graphicFrameLocks noGrp="1"/>
              </p:cNvGraphicFramePr>
              <p:nvPr>
                <p:extLst>
                  <p:ext uri="{D42A27DB-BD31-4B8C-83A1-F6EECF244321}">
                    <p14:modId xmlns:p14="http://schemas.microsoft.com/office/powerpoint/2010/main" val="3690474207"/>
                  </p:ext>
                </p:extLst>
              </p:nvPr>
            </p:nvGraphicFramePr>
            <p:xfrm>
              <a:off x="727649" y="1244242"/>
              <a:ext cx="6317727" cy="2262216"/>
            </p:xfrm>
            <a:graphic>
              <a:graphicData uri="http://schemas.openxmlformats.org/drawingml/2006/table">
                <a:tbl>
                  <a:tblPr>
                    <a:tableStyleId>{5C22544A-7EE6-4342-B048-85BDC9FD1C3A}</a:tableStyleId>
                  </a:tblPr>
                  <a:tblGrid>
                    <a:gridCol w="1010836">
                      <a:extLst>
                        <a:ext uri="{9D8B030D-6E8A-4147-A177-3AD203B41FA5}">
                          <a16:colId xmlns:a16="http://schemas.microsoft.com/office/drawing/2014/main" val="196905510"/>
                        </a:ext>
                      </a:extLst>
                    </a:gridCol>
                    <a:gridCol w="1326723">
                      <a:extLst>
                        <a:ext uri="{9D8B030D-6E8A-4147-A177-3AD203B41FA5}">
                          <a16:colId xmlns:a16="http://schemas.microsoft.com/office/drawing/2014/main" val="320761386"/>
                        </a:ext>
                      </a:extLst>
                    </a:gridCol>
                    <a:gridCol w="947660">
                      <a:extLst>
                        <a:ext uri="{9D8B030D-6E8A-4147-A177-3AD203B41FA5}">
                          <a16:colId xmlns:a16="http://schemas.microsoft.com/office/drawing/2014/main" val="4238160564"/>
                        </a:ext>
                      </a:extLst>
                    </a:gridCol>
                    <a:gridCol w="758127">
                      <a:extLst>
                        <a:ext uri="{9D8B030D-6E8A-4147-A177-3AD203B41FA5}">
                          <a16:colId xmlns:a16="http://schemas.microsoft.com/office/drawing/2014/main" val="2529310844"/>
                        </a:ext>
                      </a:extLst>
                    </a:gridCol>
                    <a:gridCol w="758127">
                      <a:extLst>
                        <a:ext uri="{9D8B030D-6E8A-4147-A177-3AD203B41FA5}">
                          <a16:colId xmlns:a16="http://schemas.microsoft.com/office/drawing/2014/main" val="250422444"/>
                        </a:ext>
                      </a:extLst>
                    </a:gridCol>
                    <a:gridCol w="758127">
                      <a:extLst>
                        <a:ext uri="{9D8B030D-6E8A-4147-A177-3AD203B41FA5}">
                          <a16:colId xmlns:a16="http://schemas.microsoft.com/office/drawing/2014/main" val="1842414599"/>
                        </a:ext>
                      </a:extLst>
                    </a:gridCol>
                    <a:gridCol w="758127">
                      <a:extLst>
                        <a:ext uri="{9D8B030D-6E8A-4147-A177-3AD203B41FA5}">
                          <a16:colId xmlns:a16="http://schemas.microsoft.com/office/drawing/2014/main" val="637181267"/>
                        </a:ext>
                      </a:extLst>
                    </a:gridCol>
                  </a:tblGrid>
                  <a:tr h="205656">
                    <a:tc>
                      <a:txBody>
                        <a:bodyPr/>
                        <a:lstStyle/>
                        <a:p>
                          <a:pPr algn="l" fontAlgn="b"/>
                          <a:r>
                            <a:rPr lang="en-GB" sz="1050" b="1" u="none" strike="noStrike">
                              <a:solidFill>
                                <a:schemeClr val="bg2"/>
                              </a:solidFill>
                              <a:effectLst/>
                            </a:rPr>
                            <a:t>Student</a:t>
                          </a:r>
                          <a:endParaRPr lang="en-GB" sz="1050" b="1" i="0" u="none" strike="noStrike">
                            <a:solidFill>
                              <a:schemeClr val="bg2"/>
                            </a:solidFill>
                            <a:effectLst/>
                            <a:latin typeface="Aptos Narrow" panose="020B0004020202020204" pitchFamily="34" charset="0"/>
                          </a:endParaRPr>
                        </a:p>
                      </a:txBody>
                      <a:tcPr marL="9525" marR="9525" marT="9525" marB="0" anchor="b"/>
                    </a:tc>
                    <a:tc>
                      <a:txBody>
                        <a:bodyPr/>
                        <a:lstStyle/>
                        <a:p>
                          <a:pPr algn="l" fontAlgn="b"/>
                          <a:r>
                            <a:rPr lang="en-GB" sz="1050" b="1" u="none" strike="noStrike">
                              <a:solidFill>
                                <a:schemeClr val="bg2"/>
                              </a:solidFill>
                              <a:effectLst/>
                            </a:rPr>
                            <a:t>Hours</a:t>
                          </a:r>
                          <a:endParaRPr lang="en-GB" sz="1050" b="1" i="0" u="none" strike="noStrike">
                            <a:solidFill>
                              <a:schemeClr val="bg2"/>
                            </a:solidFill>
                            <a:effectLst/>
                            <a:latin typeface="Aptos Narrow" panose="020B0004020202020204" pitchFamily="34" charset="0"/>
                          </a:endParaRPr>
                        </a:p>
                      </a:txBody>
                      <a:tcPr marL="9525" marR="9525" marT="9525" marB="0" anchor="b"/>
                    </a:tc>
                    <a:tc>
                      <a:txBody>
                        <a:bodyPr/>
                        <a:lstStyle/>
                        <a:p>
                          <a:pPr algn="l" fontAlgn="b"/>
                          <a:r>
                            <a:rPr lang="en-GB" sz="1050" b="1" u="none" strike="noStrike">
                              <a:solidFill>
                                <a:schemeClr val="bg2"/>
                              </a:solidFill>
                              <a:effectLst/>
                            </a:rPr>
                            <a:t>Score</a:t>
                          </a:r>
                          <a:endParaRPr lang="en-GB" sz="1050" b="1" i="0" u="none" strike="noStrike">
                            <a:solidFill>
                              <a:schemeClr val="bg2"/>
                            </a:solidFill>
                            <a:effectLst/>
                            <a:latin typeface="Aptos Narrow" panose="020B0004020202020204" pitchFamily="34" charset="0"/>
                          </a:endParaRPr>
                        </a:p>
                      </a:txBody>
                      <a:tcPr marL="9525" marR="9525" marT="9525" marB="0" anchor="b"/>
                    </a:tc>
                    <a:tc>
                      <a:txBody>
                        <a:bodyPr/>
                        <a:lstStyle/>
                        <a:p>
                          <a:pPr algn="l" fontAlgn="b"/>
                          <a14:m>
                            <m:oMathPara xmlns:m="http://schemas.openxmlformats.org/officeDocument/2006/math">
                              <m:oMathParaPr>
                                <m:jc m:val="centerGroup"/>
                              </m:oMathParaPr>
                              <m:oMath xmlns:m="http://schemas.openxmlformats.org/officeDocument/2006/math">
                                <m:sSub>
                                  <m:sSubPr>
                                    <m:ctrlPr>
                                      <a:rPr lang="en-GB" sz="1050" b="1" i="1" smtClean="0">
                                        <a:solidFill>
                                          <a:schemeClr val="bg2"/>
                                        </a:solidFill>
                                        <a:latin typeface="Cambria Math" panose="02040503050406030204" pitchFamily="18" charset="0"/>
                                      </a:rPr>
                                    </m:ctrlPr>
                                  </m:sSubPr>
                                  <m:e>
                                    <m:r>
                                      <a:rPr lang="en-GB" sz="1050" b="1" i="1" smtClean="0">
                                        <a:solidFill>
                                          <a:schemeClr val="bg2"/>
                                        </a:solidFill>
                                        <a:latin typeface="Cambria Math" panose="02040503050406030204" pitchFamily="18" charset="0"/>
                                      </a:rPr>
                                      <m:t>𝒙</m:t>
                                    </m:r>
                                  </m:e>
                                  <m:sub>
                                    <m:r>
                                      <a:rPr lang="en-GB" sz="1050" b="1" i="1" smtClean="0">
                                        <a:solidFill>
                                          <a:schemeClr val="bg2"/>
                                        </a:solidFill>
                                        <a:latin typeface="Cambria Math" panose="02040503050406030204" pitchFamily="18" charset="0"/>
                                      </a:rPr>
                                      <m:t>𝒊</m:t>
                                    </m:r>
                                  </m:sub>
                                </m:sSub>
                                <m:r>
                                  <a:rPr lang="en-GB" sz="1050" b="1" i="1" smtClean="0">
                                    <a:solidFill>
                                      <a:schemeClr val="bg2"/>
                                    </a:solidFill>
                                    <a:latin typeface="Cambria Math" panose="02040503050406030204" pitchFamily="18" charset="0"/>
                                  </a:rPr>
                                  <m:t>−</m:t>
                                </m:r>
                                <m:acc>
                                  <m:accPr>
                                    <m:chr m:val="̅"/>
                                    <m:ctrlPr>
                                      <a:rPr lang="en-GB" sz="1050" b="1" i="1">
                                        <a:solidFill>
                                          <a:schemeClr val="bg2"/>
                                        </a:solidFill>
                                        <a:latin typeface="Cambria Math" panose="02040503050406030204" pitchFamily="18" charset="0"/>
                                      </a:rPr>
                                    </m:ctrlPr>
                                  </m:accPr>
                                  <m:e>
                                    <m:r>
                                      <a:rPr lang="en-GB" sz="1050" b="1" i="1" smtClean="0">
                                        <a:solidFill>
                                          <a:schemeClr val="bg2"/>
                                        </a:solidFill>
                                        <a:latin typeface="Cambria Math" panose="02040503050406030204" pitchFamily="18" charset="0"/>
                                      </a:rPr>
                                      <m:t>𝒙</m:t>
                                    </m:r>
                                  </m:e>
                                </m:acc>
                              </m:oMath>
                            </m:oMathPara>
                          </a14:m>
                          <a:endParaRPr lang="en-GB" sz="1050" b="1" i="0" u="none" strike="noStrike">
                            <a:solidFill>
                              <a:schemeClr val="bg2"/>
                            </a:solidFill>
                            <a:effectLst/>
                            <a:latin typeface="Aptos Narrow" panose="020B0004020202020204" pitchFamily="34" charset="0"/>
                          </a:endParaRPr>
                        </a:p>
                      </a:txBody>
                      <a:tcPr marL="9525" marR="9525" marT="9525" marB="0" anchor="b"/>
                    </a:tc>
                    <a:tc>
                      <a:txBody>
                        <a:bodyPr/>
                        <a:lstStyle/>
                        <a:p>
                          <a:pPr algn="l" fontAlgn="b"/>
                          <a14:m>
                            <m:oMathPara xmlns:m="http://schemas.openxmlformats.org/officeDocument/2006/math">
                              <m:oMathParaPr>
                                <m:jc m:val="centerGroup"/>
                              </m:oMathParaPr>
                              <m:oMath xmlns:m="http://schemas.openxmlformats.org/officeDocument/2006/math">
                                <m:sSub>
                                  <m:sSubPr>
                                    <m:ctrlPr>
                                      <a:rPr lang="en-GB" sz="1050" b="1" i="1" smtClean="0">
                                        <a:solidFill>
                                          <a:schemeClr val="bg2"/>
                                        </a:solidFill>
                                        <a:latin typeface="Cambria Math" panose="02040503050406030204" pitchFamily="18" charset="0"/>
                                      </a:rPr>
                                    </m:ctrlPr>
                                  </m:sSubPr>
                                  <m:e>
                                    <m:r>
                                      <a:rPr lang="en-GB" sz="1050" b="1" i="1" smtClean="0">
                                        <a:solidFill>
                                          <a:schemeClr val="bg2"/>
                                        </a:solidFill>
                                        <a:latin typeface="Cambria Math" panose="02040503050406030204" pitchFamily="18" charset="0"/>
                                      </a:rPr>
                                      <m:t>𝒚</m:t>
                                    </m:r>
                                  </m:e>
                                  <m:sub>
                                    <m:r>
                                      <a:rPr lang="en-GB" sz="1050" b="1" i="1" smtClean="0">
                                        <a:solidFill>
                                          <a:schemeClr val="bg2"/>
                                        </a:solidFill>
                                        <a:latin typeface="Cambria Math" panose="02040503050406030204" pitchFamily="18" charset="0"/>
                                      </a:rPr>
                                      <m:t>𝒊</m:t>
                                    </m:r>
                                  </m:sub>
                                </m:sSub>
                                <m:r>
                                  <a:rPr lang="en-GB" sz="1050" b="1" i="1" smtClean="0">
                                    <a:solidFill>
                                      <a:schemeClr val="bg2"/>
                                    </a:solidFill>
                                    <a:latin typeface="Cambria Math" panose="02040503050406030204" pitchFamily="18" charset="0"/>
                                  </a:rPr>
                                  <m:t>−</m:t>
                                </m:r>
                                <m:acc>
                                  <m:accPr>
                                    <m:chr m:val="̅"/>
                                    <m:ctrlPr>
                                      <a:rPr lang="en-GB" sz="1050" b="1" i="1">
                                        <a:solidFill>
                                          <a:schemeClr val="bg2"/>
                                        </a:solidFill>
                                        <a:latin typeface="Cambria Math" panose="02040503050406030204" pitchFamily="18" charset="0"/>
                                      </a:rPr>
                                    </m:ctrlPr>
                                  </m:accPr>
                                  <m:e>
                                    <m:r>
                                      <a:rPr lang="en-GB" sz="1050" b="1" i="1" smtClean="0">
                                        <a:solidFill>
                                          <a:schemeClr val="bg2"/>
                                        </a:solidFill>
                                        <a:latin typeface="Cambria Math" panose="02040503050406030204" pitchFamily="18" charset="0"/>
                                      </a:rPr>
                                      <m:t>𝒚</m:t>
                                    </m:r>
                                  </m:e>
                                </m:acc>
                              </m:oMath>
                            </m:oMathPara>
                          </a14:m>
                          <a:endParaRPr lang="en-GB" sz="1050" b="1" i="0" u="none" strike="noStrike">
                            <a:solidFill>
                              <a:schemeClr val="bg2"/>
                            </a:solidFill>
                            <a:effectLst/>
                            <a:latin typeface="Aptos Narrow" panose="020B0004020202020204" pitchFamily="34" charset="0"/>
                          </a:endParaRPr>
                        </a:p>
                      </a:txBody>
                      <a:tcPr marL="9525" marR="9525" marT="9525" marB="0" anchor="b"/>
                    </a:tc>
                    <a:tc>
                      <a:txBody>
                        <a:bodyPr/>
                        <a:lstStyle/>
                        <a:p>
                          <a:pPr algn="l" fontAlgn="b"/>
                          <a:r>
                            <a:rPr lang="en-GB" sz="1050" b="1" u="none" strike="noStrike">
                              <a:solidFill>
                                <a:schemeClr val="bg2"/>
                              </a:solidFill>
                              <a:effectLst/>
                            </a:rPr>
                            <a:t>Product</a:t>
                          </a:r>
                          <a:endParaRPr lang="en-GB" sz="1050" b="1" i="0" u="none" strike="noStrike">
                            <a:solidFill>
                              <a:schemeClr val="bg2"/>
                            </a:solidFill>
                            <a:effectLst/>
                            <a:latin typeface="Aptos Narrow" panose="020B0004020202020204" pitchFamily="34" charset="0"/>
                          </a:endParaRPr>
                        </a:p>
                      </a:txBody>
                      <a:tcPr marL="9525" marR="9525" marT="9525" marB="0" anchor="b"/>
                    </a:tc>
                    <a:tc>
                      <a:txBody>
                        <a:bodyPr/>
                        <a:lstStyle/>
                        <a:p>
                          <a:pPr algn="l" fontAlgn="b"/>
                          <a:r>
                            <a:rPr lang="en-GB" sz="1050" b="1" u="none" strike="noStrike">
                              <a:solidFill>
                                <a:schemeClr val="bg2"/>
                              </a:solidFill>
                              <a:effectLst/>
                            </a:rPr>
                            <a:t>Sq. Sum</a:t>
                          </a:r>
                          <a:endParaRPr lang="en-GB" sz="1050" b="1" i="0" u="none" strike="noStrike">
                            <a:solidFill>
                              <a:schemeClr val="bg2"/>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863709566"/>
                      </a:ext>
                    </a:extLst>
                  </a:tr>
                  <a:tr h="205656">
                    <a:tc>
                      <a:txBody>
                        <a:bodyPr/>
                        <a:lstStyle/>
                        <a:p>
                          <a:pPr algn="l" fontAlgn="b"/>
                          <a:r>
                            <a:rPr lang="en-GB" sz="1050" u="none" strike="noStrike">
                              <a:solidFill>
                                <a:schemeClr val="bg2"/>
                              </a:solidFill>
                              <a:effectLst/>
                            </a:rPr>
                            <a:t>Abdullah</a:t>
                          </a:r>
                          <a:endParaRPr lang="en-GB"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2</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67</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-1.89</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-2</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3.78</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3.57</a:t>
                          </a:r>
                          <a:endParaRPr lang="en-PK" sz="1050" b="0" i="0" u="none" strike="noStrike">
                            <a:solidFill>
                              <a:schemeClr val="bg2"/>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787602955"/>
                      </a:ext>
                    </a:extLst>
                  </a:tr>
                  <a:tr h="205656">
                    <a:tc>
                      <a:txBody>
                        <a:bodyPr/>
                        <a:lstStyle/>
                        <a:p>
                          <a:pPr algn="l" fontAlgn="b"/>
                          <a:r>
                            <a:rPr lang="en-GB" sz="1050" u="none" strike="noStrike">
                              <a:solidFill>
                                <a:schemeClr val="bg2"/>
                              </a:solidFill>
                              <a:effectLst/>
                            </a:rPr>
                            <a:t>Aroob</a:t>
                          </a:r>
                          <a:endParaRPr lang="en-GB"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4</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62</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0.11</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-7</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-0.78</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0.01</a:t>
                          </a:r>
                          <a:endParaRPr lang="en-PK" sz="1050" b="0" i="0" u="none" strike="noStrike">
                            <a:solidFill>
                              <a:schemeClr val="bg2"/>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713146920"/>
                      </a:ext>
                    </a:extLst>
                  </a:tr>
                  <a:tr h="205656">
                    <a:tc>
                      <a:txBody>
                        <a:bodyPr/>
                        <a:lstStyle/>
                        <a:p>
                          <a:pPr algn="l" fontAlgn="b"/>
                          <a:r>
                            <a:rPr lang="en-GB" sz="1050" u="none" strike="noStrike">
                              <a:solidFill>
                                <a:schemeClr val="bg2"/>
                              </a:solidFill>
                              <a:effectLst/>
                            </a:rPr>
                            <a:t>Aminah</a:t>
                          </a:r>
                          <a:endParaRPr lang="en-GB"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3</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61</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-0.8</a:t>
                          </a:r>
                          <a:r>
                            <a:rPr lang="en-GB" sz="1050" u="none" strike="noStrike">
                              <a:solidFill>
                                <a:schemeClr val="bg2"/>
                              </a:solidFill>
                              <a:effectLst/>
                            </a:rPr>
                            <a:t>9</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-8</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7.11</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0.79</a:t>
                          </a:r>
                          <a:endParaRPr lang="en-PK" sz="1050" b="0" i="0" u="none" strike="noStrike">
                            <a:solidFill>
                              <a:schemeClr val="bg2"/>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216610728"/>
                      </a:ext>
                    </a:extLst>
                  </a:tr>
                  <a:tr h="205656">
                    <a:tc>
                      <a:txBody>
                        <a:bodyPr/>
                        <a:lstStyle/>
                        <a:p>
                          <a:pPr algn="l" fontAlgn="b"/>
                          <a:r>
                            <a:rPr lang="en-GB" sz="1050" u="none" strike="noStrike">
                              <a:solidFill>
                                <a:schemeClr val="bg2"/>
                              </a:solidFill>
                              <a:effectLst/>
                            </a:rPr>
                            <a:t>Azka</a:t>
                          </a:r>
                          <a:endParaRPr lang="en-GB"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6</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93</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2.11</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24</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50.67</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4.46</a:t>
                          </a:r>
                          <a:endParaRPr lang="en-PK" sz="1050" b="0" i="0" u="none" strike="noStrike">
                            <a:solidFill>
                              <a:schemeClr val="bg2"/>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535812571"/>
                      </a:ext>
                    </a:extLst>
                  </a:tr>
                  <a:tr h="205656">
                    <a:tc>
                      <a:txBody>
                        <a:bodyPr/>
                        <a:lstStyle/>
                        <a:p>
                          <a:pPr algn="l" fontAlgn="b"/>
                          <a:r>
                            <a:rPr lang="en-GB" sz="1050" u="none" strike="noStrike">
                              <a:solidFill>
                                <a:schemeClr val="bg2"/>
                              </a:solidFill>
                              <a:effectLst/>
                            </a:rPr>
                            <a:t>Summiya</a:t>
                          </a:r>
                          <a:endParaRPr lang="en-GB"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5</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70</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1.11</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1</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1.11</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1.23</a:t>
                          </a:r>
                          <a:endParaRPr lang="en-PK" sz="1050" b="0" i="0" u="none" strike="noStrike">
                            <a:solidFill>
                              <a:schemeClr val="bg2"/>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567597273"/>
                      </a:ext>
                    </a:extLst>
                  </a:tr>
                  <a:tr h="205656">
                    <a:tc>
                      <a:txBody>
                        <a:bodyPr/>
                        <a:lstStyle/>
                        <a:p>
                          <a:pPr algn="l" fontAlgn="b"/>
                          <a:r>
                            <a:rPr lang="en-GB" sz="1050" u="none" strike="noStrike">
                              <a:solidFill>
                                <a:schemeClr val="bg2"/>
                              </a:solidFill>
                              <a:effectLst/>
                            </a:rPr>
                            <a:t>Owais</a:t>
                          </a:r>
                          <a:endParaRPr lang="en-GB"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4</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76</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0.11</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7</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0.78</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0.01</a:t>
                          </a:r>
                          <a:endParaRPr lang="en-PK" sz="1050" b="0" i="0" u="none" strike="noStrike">
                            <a:solidFill>
                              <a:schemeClr val="bg2"/>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057664151"/>
                      </a:ext>
                    </a:extLst>
                  </a:tr>
                  <a:tr h="205656">
                    <a:tc>
                      <a:txBody>
                        <a:bodyPr/>
                        <a:lstStyle/>
                        <a:p>
                          <a:pPr algn="l" fontAlgn="b"/>
                          <a:r>
                            <a:rPr lang="en-GB" sz="1050" u="none" strike="noStrike">
                              <a:solidFill>
                                <a:schemeClr val="bg2"/>
                              </a:solidFill>
                              <a:effectLst/>
                            </a:rPr>
                            <a:t>Tim</a:t>
                          </a:r>
                          <a:endParaRPr lang="en-GB"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7</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71</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3.11</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2</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6.22</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9.68</a:t>
                          </a:r>
                          <a:endParaRPr lang="en-PK" sz="1050" b="0" i="0" u="none" strike="noStrike">
                            <a:solidFill>
                              <a:schemeClr val="bg2"/>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169112399"/>
                      </a:ext>
                    </a:extLst>
                  </a:tr>
                  <a:tr h="205656">
                    <a:tc>
                      <a:txBody>
                        <a:bodyPr/>
                        <a:lstStyle/>
                        <a:p>
                          <a:pPr algn="l" fontAlgn="b"/>
                          <a:r>
                            <a:rPr lang="en-GB" sz="1050" u="none" strike="noStrike">
                              <a:solidFill>
                                <a:schemeClr val="bg2"/>
                              </a:solidFill>
                              <a:effectLst/>
                            </a:rPr>
                            <a:t>Liza</a:t>
                          </a:r>
                          <a:endParaRPr lang="en-GB"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3</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69</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-0.89</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0</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0.00</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0.79</a:t>
                          </a:r>
                          <a:endParaRPr lang="en-PK" sz="1050" b="0" i="0" u="none" strike="noStrike">
                            <a:solidFill>
                              <a:schemeClr val="bg2"/>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486149645"/>
                      </a:ext>
                    </a:extLst>
                  </a:tr>
                  <a:tr h="205656">
                    <a:tc>
                      <a:txBody>
                        <a:bodyPr/>
                        <a:lstStyle/>
                        <a:p>
                          <a:pPr algn="l" fontAlgn="b"/>
                          <a:r>
                            <a:rPr lang="en-GB" sz="1050" u="none" strike="noStrike">
                              <a:solidFill>
                                <a:schemeClr val="bg2"/>
                              </a:solidFill>
                              <a:effectLst/>
                            </a:rPr>
                            <a:t>Martin</a:t>
                          </a:r>
                          <a:endParaRPr lang="en-GB"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1</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52</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-2.89</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-17</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49.11</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8.35</a:t>
                          </a:r>
                          <a:endParaRPr lang="en-PK" sz="1050" b="0" i="0" u="none" strike="noStrike">
                            <a:solidFill>
                              <a:schemeClr val="bg2"/>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334250294"/>
                      </a:ext>
                    </a:extLst>
                  </a:tr>
                  <a:tr h="205656">
                    <a:tc>
                      <a:txBody>
                        <a:bodyPr/>
                        <a:lstStyle/>
                        <a:p>
                          <a:pPr algn="l" fontAlgn="b"/>
                          <a:endParaRPr lang="en-PK" sz="1050" b="1"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14:m>
                            <m:oMathPara xmlns:m="http://schemas.openxmlformats.org/officeDocument/2006/math">
                              <m:oMathParaPr>
                                <m:jc m:val="centerGroup"/>
                              </m:oMathParaPr>
                              <m:oMath xmlns:m="http://schemas.openxmlformats.org/officeDocument/2006/math">
                                <m:acc>
                                  <m:accPr>
                                    <m:chr m:val="̅"/>
                                    <m:ctrlPr>
                                      <a:rPr lang="en-GB" sz="1050" b="1" i="1" smtClean="0">
                                        <a:solidFill>
                                          <a:schemeClr val="bg2"/>
                                        </a:solidFill>
                                        <a:latin typeface="Cambria Math" panose="02040503050406030204" pitchFamily="18" charset="0"/>
                                      </a:rPr>
                                    </m:ctrlPr>
                                  </m:accPr>
                                  <m:e>
                                    <m:r>
                                      <a:rPr lang="en-GB" sz="1050" b="1" i="1" smtClean="0">
                                        <a:solidFill>
                                          <a:schemeClr val="bg2"/>
                                        </a:solidFill>
                                        <a:latin typeface="Cambria Math" panose="02040503050406030204" pitchFamily="18" charset="0"/>
                                      </a:rPr>
                                      <m:t>𝒙</m:t>
                                    </m:r>
                                  </m:e>
                                </m:acc>
                                <m:r>
                                  <a:rPr lang="en-GB" sz="1050" b="1" i="1" smtClean="0">
                                    <a:solidFill>
                                      <a:schemeClr val="bg2"/>
                                    </a:solidFill>
                                    <a:latin typeface="Cambria Math" panose="02040503050406030204" pitchFamily="18" charset="0"/>
                                  </a:rPr>
                                  <m:t>=</m:t>
                                </m:r>
                                <m:r>
                                  <a:rPr lang="en-GB" sz="1050" b="1" i="1" smtClean="0">
                                    <a:solidFill>
                                      <a:schemeClr val="bg2"/>
                                    </a:solidFill>
                                    <a:latin typeface="Cambria Math" panose="02040503050406030204" pitchFamily="18" charset="0"/>
                                  </a:rPr>
                                  <m:t>𝟑</m:t>
                                </m:r>
                                <m:r>
                                  <a:rPr lang="en-GB" sz="1050" b="1" i="1" smtClean="0">
                                    <a:solidFill>
                                      <a:schemeClr val="bg2"/>
                                    </a:solidFill>
                                    <a:latin typeface="Cambria Math" panose="02040503050406030204" pitchFamily="18" charset="0"/>
                                  </a:rPr>
                                  <m:t>.</m:t>
                                </m:r>
                                <m:r>
                                  <a:rPr lang="en-GB" sz="1050" b="1" i="1" smtClean="0">
                                    <a:solidFill>
                                      <a:schemeClr val="bg2"/>
                                    </a:solidFill>
                                    <a:latin typeface="Cambria Math" panose="02040503050406030204" pitchFamily="18" charset="0"/>
                                  </a:rPr>
                                  <m:t>𝟖𝟗</m:t>
                                </m:r>
                              </m:oMath>
                            </m:oMathPara>
                          </a14:m>
                          <a:endParaRPr lang="en-PK" sz="1050" b="1"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14:m>
                            <m:oMathPara xmlns:m="http://schemas.openxmlformats.org/officeDocument/2006/math">
                              <m:oMathParaPr>
                                <m:jc m:val="centerGroup"/>
                              </m:oMathParaPr>
                              <m:oMath xmlns:m="http://schemas.openxmlformats.org/officeDocument/2006/math">
                                <m:acc>
                                  <m:accPr>
                                    <m:chr m:val="̅"/>
                                    <m:ctrlPr>
                                      <a:rPr lang="en-GB" sz="1050" b="1" i="1" smtClean="0">
                                        <a:solidFill>
                                          <a:schemeClr val="bg2"/>
                                        </a:solidFill>
                                        <a:latin typeface="Cambria Math" panose="02040503050406030204" pitchFamily="18" charset="0"/>
                                      </a:rPr>
                                    </m:ctrlPr>
                                  </m:accPr>
                                  <m:e>
                                    <m:r>
                                      <a:rPr lang="en-GB" sz="1050" b="1" i="1" smtClean="0">
                                        <a:solidFill>
                                          <a:schemeClr val="bg2"/>
                                        </a:solidFill>
                                        <a:latin typeface="Cambria Math" panose="02040503050406030204" pitchFamily="18" charset="0"/>
                                      </a:rPr>
                                      <m:t>𝒚</m:t>
                                    </m:r>
                                  </m:e>
                                </m:acc>
                                <m:r>
                                  <a:rPr lang="en-GB" sz="1050" b="1" i="1" smtClean="0">
                                    <a:solidFill>
                                      <a:schemeClr val="bg2"/>
                                    </a:solidFill>
                                    <a:latin typeface="Cambria Math" panose="02040503050406030204" pitchFamily="18" charset="0"/>
                                  </a:rPr>
                                  <m:t>=</m:t>
                                </m:r>
                                <m:r>
                                  <a:rPr lang="en-GB" sz="1050" b="1" i="1" smtClean="0">
                                    <a:solidFill>
                                      <a:schemeClr val="bg2"/>
                                    </a:solidFill>
                                    <a:latin typeface="Cambria Math" panose="02040503050406030204" pitchFamily="18" charset="0"/>
                                  </a:rPr>
                                  <m:t>𝟔𝟗</m:t>
                                </m:r>
                              </m:oMath>
                            </m:oMathPara>
                          </a14:m>
                          <a:endParaRPr lang="en-PK" sz="1050" b="1" i="0" u="none" strike="noStrike">
                            <a:solidFill>
                              <a:schemeClr val="bg2"/>
                            </a:solidFill>
                            <a:effectLst/>
                            <a:latin typeface="Aptos Narrow" panose="020B0004020202020204" pitchFamily="34" charset="0"/>
                          </a:endParaRPr>
                        </a:p>
                      </a:txBody>
                      <a:tcPr marL="9525" marR="9525" marT="9525" marB="0" anchor="b"/>
                    </a:tc>
                    <a:tc>
                      <a:txBody>
                        <a:bodyPr/>
                        <a:lstStyle/>
                        <a:p>
                          <a:pPr algn="l" fontAlgn="b"/>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l" fontAlgn="b"/>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b="1" u="none" strike="noStrike">
                              <a:solidFill>
                                <a:schemeClr val="bg2"/>
                              </a:solidFill>
                              <a:effectLst/>
                            </a:rPr>
                            <a:t>118.00</a:t>
                          </a:r>
                          <a:endParaRPr lang="en-PK" sz="1050" b="1"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b="1" u="none" strike="noStrike">
                              <a:solidFill>
                                <a:schemeClr val="bg2"/>
                              </a:solidFill>
                              <a:effectLst/>
                            </a:rPr>
                            <a:t>28.89</a:t>
                          </a:r>
                          <a:endParaRPr lang="en-PK" sz="1050" b="1" i="0" u="none" strike="noStrike">
                            <a:solidFill>
                              <a:schemeClr val="bg2"/>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06195666"/>
                      </a:ext>
                    </a:extLst>
                  </a:tr>
                </a:tbl>
              </a:graphicData>
            </a:graphic>
          </p:graphicFrame>
        </mc:Choice>
        <mc:Fallback>
          <p:graphicFrame>
            <p:nvGraphicFramePr>
              <p:cNvPr id="8" name="Table 7">
                <a:extLst>
                  <a:ext uri="{FF2B5EF4-FFF2-40B4-BE49-F238E27FC236}">
                    <a16:creationId xmlns:a16="http://schemas.microsoft.com/office/drawing/2014/main" id="{5FD0950F-3228-4980-5ED9-54EB8E3C8E41}"/>
                  </a:ext>
                </a:extLst>
              </p:cNvPr>
              <p:cNvGraphicFramePr>
                <a:graphicFrameLocks noGrp="1"/>
              </p:cNvGraphicFramePr>
              <p:nvPr>
                <p:extLst>
                  <p:ext uri="{D42A27DB-BD31-4B8C-83A1-F6EECF244321}">
                    <p14:modId xmlns:p14="http://schemas.microsoft.com/office/powerpoint/2010/main" val="3690474207"/>
                  </p:ext>
                </p:extLst>
              </p:nvPr>
            </p:nvGraphicFramePr>
            <p:xfrm>
              <a:off x="727649" y="1244242"/>
              <a:ext cx="6317727" cy="2262216"/>
            </p:xfrm>
            <a:graphic>
              <a:graphicData uri="http://schemas.openxmlformats.org/drawingml/2006/table">
                <a:tbl>
                  <a:tblPr>
                    <a:tableStyleId>{5C22544A-7EE6-4342-B048-85BDC9FD1C3A}</a:tableStyleId>
                  </a:tblPr>
                  <a:tblGrid>
                    <a:gridCol w="1010836">
                      <a:extLst>
                        <a:ext uri="{9D8B030D-6E8A-4147-A177-3AD203B41FA5}">
                          <a16:colId xmlns:a16="http://schemas.microsoft.com/office/drawing/2014/main" val="196905510"/>
                        </a:ext>
                      </a:extLst>
                    </a:gridCol>
                    <a:gridCol w="1326723">
                      <a:extLst>
                        <a:ext uri="{9D8B030D-6E8A-4147-A177-3AD203B41FA5}">
                          <a16:colId xmlns:a16="http://schemas.microsoft.com/office/drawing/2014/main" val="320761386"/>
                        </a:ext>
                      </a:extLst>
                    </a:gridCol>
                    <a:gridCol w="947660">
                      <a:extLst>
                        <a:ext uri="{9D8B030D-6E8A-4147-A177-3AD203B41FA5}">
                          <a16:colId xmlns:a16="http://schemas.microsoft.com/office/drawing/2014/main" val="4238160564"/>
                        </a:ext>
                      </a:extLst>
                    </a:gridCol>
                    <a:gridCol w="758127">
                      <a:extLst>
                        <a:ext uri="{9D8B030D-6E8A-4147-A177-3AD203B41FA5}">
                          <a16:colId xmlns:a16="http://schemas.microsoft.com/office/drawing/2014/main" val="2529310844"/>
                        </a:ext>
                      </a:extLst>
                    </a:gridCol>
                    <a:gridCol w="758127">
                      <a:extLst>
                        <a:ext uri="{9D8B030D-6E8A-4147-A177-3AD203B41FA5}">
                          <a16:colId xmlns:a16="http://schemas.microsoft.com/office/drawing/2014/main" val="250422444"/>
                        </a:ext>
                      </a:extLst>
                    </a:gridCol>
                    <a:gridCol w="758127">
                      <a:extLst>
                        <a:ext uri="{9D8B030D-6E8A-4147-A177-3AD203B41FA5}">
                          <a16:colId xmlns:a16="http://schemas.microsoft.com/office/drawing/2014/main" val="1842414599"/>
                        </a:ext>
                      </a:extLst>
                    </a:gridCol>
                    <a:gridCol w="758127">
                      <a:extLst>
                        <a:ext uri="{9D8B030D-6E8A-4147-A177-3AD203B41FA5}">
                          <a16:colId xmlns:a16="http://schemas.microsoft.com/office/drawing/2014/main" val="637181267"/>
                        </a:ext>
                      </a:extLst>
                    </a:gridCol>
                  </a:tblGrid>
                  <a:tr h="205656">
                    <a:tc>
                      <a:txBody>
                        <a:bodyPr/>
                        <a:lstStyle/>
                        <a:p>
                          <a:pPr algn="l" fontAlgn="b"/>
                          <a:r>
                            <a:rPr lang="en-GB" sz="1050" b="1" u="none" strike="noStrike">
                              <a:solidFill>
                                <a:schemeClr val="bg2"/>
                              </a:solidFill>
                              <a:effectLst/>
                            </a:rPr>
                            <a:t>Student</a:t>
                          </a:r>
                          <a:endParaRPr lang="en-GB" sz="1050" b="1" i="0" u="none" strike="noStrike">
                            <a:solidFill>
                              <a:schemeClr val="bg2"/>
                            </a:solidFill>
                            <a:effectLst/>
                            <a:latin typeface="Aptos Narrow" panose="020B0004020202020204" pitchFamily="34" charset="0"/>
                          </a:endParaRPr>
                        </a:p>
                      </a:txBody>
                      <a:tcPr marL="9525" marR="9525" marT="9525" marB="0" anchor="b"/>
                    </a:tc>
                    <a:tc>
                      <a:txBody>
                        <a:bodyPr/>
                        <a:lstStyle/>
                        <a:p>
                          <a:pPr algn="l" fontAlgn="b"/>
                          <a:r>
                            <a:rPr lang="en-GB" sz="1050" b="1" u="none" strike="noStrike">
                              <a:solidFill>
                                <a:schemeClr val="bg2"/>
                              </a:solidFill>
                              <a:effectLst/>
                            </a:rPr>
                            <a:t>Hours</a:t>
                          </a:r>
                          <a:endParaRPr lang="en-GB" sz="1050" b="1" i="0" u="none" strike="noStrike">
                            <a:solidFill>
                              <a:schemeClr val="bg2"/>
                            </a:solidFill>
                            <a:effectLst/>
                            <a:latin typeface="Aptos Narrow" panose="020B0004020202020204" pitchFamily="34" charset="0"/>
                          </a:endParaRPr>
                        </a:p>
                      </a:txBody>
                      <a:tcPr marL="9525" marR="9525" marT="9525" marB="0" anchor="b"/>
                    </a:tc>
                    <a:tc>
                      <a:txBody>
                        <a:bodyPr/>
                        <a:lstStyle/>
                        <a:p>
                          <a:pPr algn="l" fontAlgn="b"/>
                          <a:r>
                            <a:rPr lang="en-GB" sz="1050" b="1" u="none" strike="noStrike">
                              <a:solidFill>
                                <a:schemeClr val="bg2"/>
                              </a:solidFill>
                              <a:effectLst/>
                            </a:rPr>
                            <a:t>Score</a:t>
                          </a:r>
                          <a:endParaRPr lang="en-GB" sz="1050" b="1" i="0" u="none" strike="noStrike">
                            <a:solidFill>
                              <a:schemeClr val="bg2"/>
                            </a:solidFill>
                            <a:effectLst/>
                            <a:latin typeface="Aptos Narrow" panose="020B0004020202020204" pitchFamily="34" charset="0"/>
                          </a:endParaRPr>
                        </a:p>
                      </a:txBody>
                      <a:tcPr marL="9525" marR="9525" marT="9525" marB="0" anchor="b"/>
                    </a:tc>
                    <a:tc>
                      <a:txBody>
                        <a:bodyPr/>
                        <a:lstStyle/>
                        <a:p>
                          <a:endParaRPr lang="en-US"/>
                        </a:p>
                      </a:txBody>
                      <a:tcPr marL="9525" marR="9525" marT="9525" marB="0" anchor="b">
                        <a:blipFill>
                          <a:blip r:embed="rId3"/>
                          <a:stretch>
                            <a:fillRect l="-432000" t="-2941" r="-300000" b="-1029412"/>
                          </a:stretch>
                        </a:blipFill>
                      </a:tcPr>
                    </a:tc>
                    <a:tc>
                      <a:txBody>
                        <a:bodyPr/>
                        <a:lstStyle/>
                        <a:p>
                          <a:endParaRPr lang="en-US"/>
                        </a:p>
                      </a:txBody>
                      <a:tcPr marL="9525" marR="9525" marT="9525" marB="0" anchor="b">
                        <a:blipFill>
                          <a:blip r:embed="rId3"/>
                          <a:stretch>
                            <a:fillRect l="-536290" t="-2941" r="-202419" b="-1029412"/>
                          </a:stretch>
                        </a:blipFill>
                      </a:tcPr>
                    </a:tc>
                    <a:tc>
                      <a:txBody>
                        <a:bodyPr/>
                        <a:lstStyle/>
                        <a:p>
                          <a:pPr algn="l" fontAlgn="b"/>
                          <a:r>
                            <a:rPr lang="en-GB" sz="1050" b="1" u="none" strike="noStrike">
                              <a:solidFill>
                                <a:schemeClr val="bg2"/>
                              </a:solidFill>
                              <a:effectLst/>
                            </a:rPr>
                            <a:t>Product</a:t>
                          </a:r>
                          <a:endParaRPr lang="en-GB" sz="1050" b="1" i="0" u="none" strike="noStrike">
                            <a:solidFill>
                              <a:schemeClr val="bg2"/>
                            </a:solidFill>
                            <a:effectLst/>
                            <a:latin typeface="Aptos Narrow" panose="020B0004020202020204" pitchFamily="34" charset="0"/>
                          </a:endParaRPr>
                        </a:p>
                      </a:txBody>
                      <a:tcPr marL="9525" marR="9525" marT="9525" marB="0" anchor="b"/>
                    </a:tc>
                    <a:tc>
                      <a:txBody>
                        <a:bodyPr/>
                        <a:lstStyle/>
                        <a:p>
                          <a:pPr algn="l" fontAlgn="b"/>
                          <a:r>
                            <a:rPr lang="en-GB" sz="1050" b="1" u="none" strike="noStrike">
                              <a:solidFill>
                                <a:schemeClr val="bg2"/>
                              </a:solidFill>
                              <a:effectLst/>
                            </a:rPr>
                            <a:t>Sq. Sum</a:t>
                          </a:r>
                          <a:endParaRPr lang="en-GB" sz="1050" b="1" i="0" u="none" strike="noStrike">
                            <a:solidFill>
                              <a:schemeClr val="bg2"/>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863709566"/>
                      </a:ext>
                    </a:extLst>
                  </a:tr>
                  <a:tr h="205656">
                    <a:tc>
                      <a:txBody>
                        <a:bodyPr/>
                        <a:lstStyle/>
                        <a:p>
                          <a:pPr algn="l" fontAlgn="b"/>
                          <a:r>
                            <a:rPr lang="en-GB" sz="1050" u="none" strike="noStrike">
                              <a:solidFill>
                                <a:schemeClr val="bg2"/>
                              </a:solidFill>
                              <a:effectLst/>
                            </a:rPr>
                            <a:t>Abdullah</a:t>
                          </a:r>
                          <a:endParaRPr lang="en-GB"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2</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67</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-1.89</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-2</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3.78</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3.57</a:t>
                          </a:r>
                          <a:endParaRPr lang="en-PK" sz="1050" b="0" i="0" u="none" strike="noStrike">
                            <a:solidFill>
                              <a:schemeClr val="bg2"/>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787602955"/>
                      </a:ext>
                    </a:extLst>
                  </a:tr>
                  <a:tr h="205656">
                    <a:tc>
                      <a:txBody>
                        <a:bodyPr/>
                        <a:lstStyle/>
                        <a:p>
                          <a:pPr algn="l" fontAlgn="b"/>
                          <a:r>
                            <a:rPr lang="en-GB" sz="1050" u="none" strike="noStrike">
                              <a:solidFill>
                                <a:schemeClr val="bg2"/>
                              </a:solidFill>
                              <a:effectLst/>
                            </a:rPr>
                            <a:t>Aroob</a:t>
                          </a:r>
                          <a:endParaRPr lang="en-GB"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4</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62</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0.11</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-7</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-0.78</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0.01</a:t>
                          </a:r>
                          <a:endParaRPr lang="en-PK" sz="1050" b="0" i="0" u="none" strike="noStrike">
                            <a:solidFill>
                              <a:schemeClr val="bg2"/>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713146920"/>
                      </a:ext>
                    </a:extLst>
                  </a:tr>
                  <a:tr h="205656">
                    <a:tc>
                      <a:txBody>
                        <a:bodyPr/>
                        <a:lstStyle/>
                        <a:p>
                          <a:pPr algn="l" fontAlgn="b"/>
                          <a:r>
                            <a:rPr lang="en-GB" sz="1050" u="none" strike="noStrike">
                              <a:solidFill>
                                <a:schemeClr val="bg2"/>
                              </a:solidFill>
                              <a:effectLst/>
                            </a:rPr>
                            <a:t>Aminah</a:t>
                          </a:r>
                          <a:endParaRPr lang="en-GB"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3</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61</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-0.8</a:t>
                          </a:r>
                          <a:r>
                            <a:rPr lang="en-GB" sz="1050" u="none" strike="noStrike">
                              <a:solidFill>
                                <a:schemeClr val="bg2"/>
                              </a:solidFill>
                              <a:effectLst/>
                            </a:rPr>
                            <a:t>9</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-8</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7.11</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0.79</a:t>
                          </a:r>
                          <a:endParaRPr lang="en-PK" sz="1050" b="0" i="0" u="none" strike="noStrike">
                            <a:solidFill>
                              <a:schemeClr val="bg2"/>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216610728"/>
                      </a:ext>
                    </a:extLst>
                  </a:tr>
                  <a:tr h="205656">
                    <a:tc>
                      <a:txBody>
                        <a:bodyPr/>
                        <a:lstStyle/>
                        <a:p>
                          <a:pPr algn="l" fontAlgn="b"/>
                          <a:r>
                            <a:rPr lang="en-GB" sz="1050" u="none" strike="noStrike">
                              <a:solidFill>
                                <a:schemeClr val="bg2"/>
                              </a:solidFill>
                              <a:effectLst/>
                            </a:rPr>
                            <a:t>Azka</a:t>
                          </a:r>
                          <a:endParaRPr lang="en-GB"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6</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93</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2.11</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24</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50.67</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4.46</a:t>
                          </a:r>
                          <a:endParaRPr lang="en-PK" sz="1050" b="0" i="0" u="none" strike="noStrike">
                            <a:solidFill>
                              <a:schemeClr val="bg2"/>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535812571"/>
                      </a:ext>
                    </a:extLst>
                  </a:tr>
                  <a:tr h="205656">
                    <a:tc>
                      <a:txBody>
                        <a:bodyPr/>
                        <a:lstStyle/>
                        <a:p>
                          <a:pPr algn="l" fontAlgn="b"/>
                          <a:r>
                            <a:rPr lang="en-GB" sz="1050" u="none" strike="noStrike">
                              <a:solidFill>
                                <a:schemeClr val="bg2"/>
                              </a:solidFill>
                              <a:effectLst/>
                            </a:rPr>
                            <a:t>Summiya</a:t>
                          </a:r>
                          <a:endParaRPr lang="en-GB"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5</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70</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1.11</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1</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1.11</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1.23</a:t>
                          </a:r>
                          <a:endParaRPr lang="en-PK" sz="1050" b="0" i="0" u="none" strike="noStrike">
                            <a:solidFill>
                              <a:schemeClr val="bg2"/>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567597273"/>
                      </a:ext>
                    </a:extLst>
                  </a:tr>
                  <a:tr h="205656">
                    <a:tc>
                      <a:txBody>
                        <a:bodyPr/>
                        <a:lstStyle/>
                        <a:p>
                          <a:pPr algn="l" fontAlgn="b"/>
                          <a:r>
                            <a:rPr lang="en-GB" sz="1050" u="none" strike="noStrike">
                              <a:solidFill>
                                <a:schemeClr val="bg2"/>
                              </a:solidFill>
                              <a:effectLst/>
                            </a:rPr>
                            <a:t>Owais</a:t>
                          </a:r>
                          <a:endParaRPr lang="en-GB"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4</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76</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0.11</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7</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0.78</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0.01</a:t>
                          </a:r>
                          <a:endParaRPr lang="en-PK" sz="1050" b="0" i="0" u="none" strike="noStrike">
                            <a:solidFill>
                              <a:schemeClr val="bg2"/>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057664151"/>
                      </a:ext>
                    </a:extLst>
                  </a:tr>
                  <a:tr h="205656">
                    <a:tc>
                      <a:txBody>
                        <a:bodyPr/>
                        <a:lstStyle/>
                        <a:p>
                          <a:pPr algn="l" fontAlgn="b"/>
                          <a:r>
                            <a:rPr lang="en-GB" sz="1050" u="none" strike="noStrike">
                              <a:solidFill>
                                <a:schemeClr val="bg2"/>
                              </a:solidFill>
                              <a:effectLst/>
                            </a:rPr>
                            <a:t>Tim</a:t>
                          </a:r>
                          <a:endParaRPr lang="en-GB"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7</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71</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3.11</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2</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6.22</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9.68</a:t>
                          </a:r>
                          <a:endParaRPr lang="en-PK" sz="1050" b="0" i="0" u="none" strike="noStrike">
                            <a:solidFill>
                              <a:schemeClr val="bg2"/>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169112399"/>
                      </a:ext>
                    </a:extLst>
                  </a:tr>
                  <a:tr h="205656">
                    <a:tc>
                      <a:txBody>
                        <a:bodyPr/>
                        <a:lstStyle/>
                        <a:p>
                          <a:pPr algn="l" fontAlgn="b"/>
                          <a:r>
                            <a:rPr lang="en-GB" sz="1050" u="none" strike="noStrike">
                              <a:solidFill>
                                <a:schemeClr val="bg2"/>
                              </a:solidFill>
                              <a:effectLst/>
                            </a:rPr>
                            <a:t>Liza</a:t>
                          </a:r>
                          <a:endParaRPr lang="en-GB"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3</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69</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-0.89</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0</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0.00</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0.79</a:t>
                          </a:r>
                          <a:endParaRPr lang="en-PK" sz="1050" b="0" i="0" u="none" strike="noStrike">
                            <a:solidFill>
                              <a:schemeClr val="bg2"/>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486149645"/>
                      </a:ext>
                    </a:extLst>
                  </a:tr>
                  <a:tr h="205656">
                    <a:tc>
                      <a:txBody>
                        <a:bodyPr/>
                        <a:lstStyle/>
                        <a:p>
                          <a:pPr algn="l" fontAlgn="b"/>
                          <a:r>
                            <a:rPr lang="en-GB" sz="1050" u="none" strike="noStrike">
                              <a:solidFill>
                                <a:schemeClr val="bg2"/>
                              </a:solidFill>
                              <a:effectLst/>
                            </a:rPr>
                            <a:t>Martin</a:t>
                          </a:r>
                          <a:endParaRPr lang="en-GB"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1</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52</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-2.89</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-17</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49.11</a:t>
                          </a:r>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u="none" strike="noStrike">
                              <a:solidFill>
                                <a:schemeClr val="bg2"/>
                              </a:solidFill>
                              <a:effectLst/>
                            </a:rPr>
                            <a:t>8.35</a:t>
                          </a:r>
                          <a:endParaRPr lang="en-PK" sz="1050" b="0" i="0" u="none" strike="noStrike">
                            <a:solidFill>
                              <a:schemeClr val="bg2"/>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334250294"/>
                      </a:ext>
                    </a:extLst>
                  </a:tr>
                  <a:tr h="205656">
                    <a:tc>
                      <a:txBody>
                        <a:bodyPr/>
                        <a:lstStyle/>
                        <a:p>
                          <a:pPr algn="l" fontAlgn="b"/>
                          <a:endParaRPr lang="en-PK" sz="1050" b="1" i="0" u="none" strike="noStrike">
                            <a:solidFill>
                              <a:schemeClr val="bg2"/>
                            </a:solidFill>
                            <a:effectLst/>
                            <a:latin typeface="Aptos Narrow" panose="020B0004020202020204" pitchFamily="34" charset="0"/>
                          </a:endParaRPr>
                        </a:p>
                      </a:txBody>
                      <a:tcPr marL="9525" marR="9525" marT="9525" marB="0" anchor="b"/>
                    </a:tc>
                    <a:tc>
                      <a:txBody>
                        <a:bodyPr/>
                        <a:lstStyle/>
                        <a:p>
                          <a:endParaRPr lang="en-US"/>
                        </a:p>
                      </a:txBody>
                      <a:tcPr marL="9525" marR="9525" marT="9525" marB="0" anchor="b">
                        <a:blipFill>
                          <a:blip r:embed="rId3"/>
                          <a:stretch>
                            <a:fillRect l="-76606" t="-997059" r="-300459" b="-35294"/>
                          </a:stretch>
                        </a:blipFill>
                      </a:tcPr>
                    </a:tc>
                    <a:tc>
                      <a:txBody>
                        <a:bodyPr/>
                        <a:lstStyle/>
                        <a:p>
                          <a:endParaRPr lang="en-US"/>
                        </a:p>
                      </a:txBody>
                      <a:tcPr marL="9525" marR="9525" marT="9525" marB="0" anchor="b">
                        <a:blipFill>
                          <a:blip r:embed="rId3"/>
                          <a:stretch>
                            <a:fillRect l="-248387" t="-997059" r="-322581" b="-35294"/>
                          </a:stretch>
                        </a:blipFill>
                      </a:tcPr>
                    </a:tc>
                    <a:tc>
                      <a:txBody>
                        <a:bodyPr/>
                        <a:lstStyle/>
                        <a:p>
                          <a:pPr algn="l" fontAlgn="b"/>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l" fontAlgn="b"/>
                          <a:endParaRPr lang="en-PK" sz="105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b="1" u="none" strike="noStrike">
                              <a:solidFill>
                                <a:schemeClr val="bg2"/>
                              </a:solidFill>
                              <a:effectLst/>
                            </a:rPr>
                            <a:t>118.00</a:t>
                          </a:r>
                          <a:endParaRPr lang="en-PK" sz="1050" b="1"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050" b="1" u="none" strike="noStrike">
                              <a:solidFill>
                                <a:schemeClr val="bg2"/>
                              </a:solidFill>
                              <a:effectLst/>
                            </a:rPr>
                            <a:t>28.89</a:t>
                          </a:r>
                          <a:endParaRPr lang="en-PK" sz="1050" b="1" i="0" u="none" strike="noStrike">
                            <a:solidFill>
                              <a:schemeClr val="bg2"/>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06195666"/>
                      </a:ext>
                    </a:extLst>
                  </a:tr>
                </a:tbl>
              </a:graphicData>
            </a:graphic>
          </p:graphicFrame>
        </mc:Fallback>
      </mc:AlternateContent>
      <mc:AlternateContent xmlns:mc="http://schemas.openxmlformats.org/markup-compatibility/2006">
        <mc:Choice xmlns:a14="http://schemas.microsoft.com/office/drawing/2010/main" Requires="a14">
          <p:sp>
            <p:nvSpPr>
              <p:cNvPr id="7" name="Text Placeholder 6">
                <a:extLst>
                  <a:ext uri="{FF2B5EF4-FFF2-40B4-BE49-F238E27FC236}">
                    <a16:creationId xmlns:a16="http://schemas.microsoft.com/office/drawing/2014/main" id="{FD2172C4-8AA2-2BFB-DECC-07154024D572}"/>
                  </a:ext>
                </a:extLst>
              </p:cNvPr>
              <p:cNvSpPr>
                <a:spLocks noGrp="1"/>
              </p:cNvSpPr>
              <p:nvPr>
                <p:ph type="body" idx="1"/>
              </p:nvPr>
            </p:nvSpPr>
            <p:spPr>
              <a:xfrm>
                <a:off x="727650" y="3371596"/>
                <a:ext cx="7688700" cy="1545178"/>
              </a:xfrm>
            </p:spPr>
            <p:txBody>
              <a:bodyPr>
                <a:normAutofit fontScale="70000" lnSpcReduction="20000"/>
              </a:bodyPr>
              <a:lstStyle/>
              <a:p>
                <a14:m>
                  <m:oMath xmlns:m="http://schemas.openxmlformats.org/officeDocument/2006/math">
                    <m:r>
                      <a:rPr lang="en-GB" i="1" smtClean="0">
                        <a:latin typeface="Cambria Math" panose="02040503050406030204" pitchFamily="18" charset="0"/>
                      </a:rPr>
                      <m:t>𝑎</m:t>
                    </m:r>
                    <m:r>
                      <a:rPr lang="en-GB" i="1" smtClean="0">
                        <a:latin typeface="Cambria Math" panose="02040503050406030204" pitchFamily="18" charset="0"/>
                      </a:rPr>
                      <m:t>=</m:t>
                    </m:r>
                    <m:f>
                      <m:fPr>
                        <m:ctrlPr>
                          <a:rPr lang="en-GB" i="1">
                            <a:latin typeface="Cambria Math" panose="02040503050406030204" pitchFamily="18" charset="0"/>
                          </a:rPr>
                        </m:ctrlPr>
                      </m:fPr>
                      <m:num>
                        <m:r>
                          <a:rPr lang="en-GB" b="0" i="1" smtClean="0">
                            <a:latin typeface="Cambria Math" panose="02040503050406030204" pitchFamily="18" charset="0"/>
                          </a:rPr>
                          <m:t>118</m:t>
                        </m:r>
                      </m:num>
                      <m:den>
                        <m:r>
                          <a:rPr lang="en-GB" b="0" i="1" smtClean="0">
                            <a:latin typeface="Cambria Math" panose="02040503050406030204" pitchFamily="18" charset="0"/>
                          </a:rPr>
                          <m:t>28.89</m:t>
                        </m:r>
                      </m:den>
                    </m:f>
                    <m:r>
                      <a:rPr lang="en-GB" b="0" i="1" smtClean="0">
                        <a:latin typeface="Cambria Math" panose="02040503050406030204" pitchFamily="18" charset="0"/>
                      </a:rPr>
                      <m:t>=</m:t>
                    </m:r>
                    <m:r>
                      <a:rPr lang="en-GB" b="1" i="1" smtClean="0">
                        <a:latin typeface="Cambria Math" panose="02040503050406030204" pitchFamily="18" charset="0"/>
                      </a:rPr>
                      <m:t>𝟒</m:t>
                    </m:r>
                    <m:r>
                      <a:rPr lang="en-GB" b="1" i="1" smtClean="0">
                        <a:latin typeface="Cambria Math" panose="02040503050406030204" pitchFamily="18" charset="0"/>
                      </a:rPr>
                      <m:t>.</m:t>
                    </m:r>
                    <m:r>
                      <a:rPr lang="en-GB" b="1" i="1" smtClean="0">
                        <a:latin typeface="Cambria Math" panose="02040503050406030204" pitchFamily="18" charset="0"/>
                      </a:rPr>
                      <m:t>𝟎𝟖</m:t>
                    </m:r>
                  </m:oMath>
                </a14:m>
                <a:endParaRPr lang="en-GB" b="1"/>
              </a:p>
              <a:p>
                <a14:m>
                  <m:oMath xmlns:m="http://schemas.openxmlformats.org/officeDocument/2006/math">
                    <m:r>
                      <a:rPr lang="en-GB" i="1">
                        <a:latin typeface="Cambria Math" panose="02040503050406030204" pitchFamily="18" charset="0"/>
                      </a:rPr>
                      <m:t>𝑏</m:t>
                    </m:r>
                    <m:r>
                      <a:rPr lang="en-GB" i="1">
                        <a:latin typeface="Cambria Math" panose="02040503050406030204" pitchFamily="18" charset="0"/>
                      </a:rPr>
                      <m:t>=69−4.08×3.89=</m:t>
                    </m:r>
                    <m:r>
                      <a:rPr lang="en-GB" b="1" i="1" smtClean="0">
                        <a:latin typeface="Cambria Math" panose="02040503050406030204" pitchFamily="18" charset="0"/>
                        <a:ea typeface="Cambria Math" panose="02040503050406030204" pitchFamily="18" charset="0"/>
                      </a:rPr>
                      <m:t>𝟓𝟑</m:t>
                    </m:r>
                    <m:r>
                      <a:rPr lang="en-GB" b="1" i="1" smtClean="0">
                        <a:latin typeface="Cambria Math" panose="02040503050406030204" pitchFamily="18" charset="0"/>
                        <a:ea typeface="Cambria Math" panose="02040503050406030204" pitchFamily="18" charset="0"/>
                      </a:rPr>
                      <m:t>.</m:t>
                    </m:r>
                    <m:r>
                      <a:rPr lang="en-GB" b="1" i="1" smtClean="0">
                        <a:latin typeface="Cambria Math" panose="02040503050406030204" pitchFamily="18" charset="0"/>
                        <a:ea typeface="Cambria Math" panose="02040503050406030204" pitchFamily="18" charset="0"/>
                      </a:rPr>
                      <m:t>𝟏𝟐</m:t>
                    </m:r>
                  </m:oMath>
                </a14:m>
                <a:endParaRPr lang="en-GB" b="1"/>
              </a:p>
              <a:p>
                <a14:m>
                  <m:oMath xmlns:m="http://schemas.openxmlformats.org/officeDocument/2006/math">
                    <m:r>
                      <a:rPr lang="en-GB" b="1" i="1" smtClean="0">
                        <a:latin typeface="Cambria Math" panose="02040503050406030204" pitchFamily="18" charset="0"/>
                      </a:rPr>
                      <m:t>𝒇</m:t>
                    </m:r>
                    <m:d>
                      <m:dPr>
                        <m:ctrlPr>
                          <a:rPr lang="en-GB" b="1" i="1" smtClean="0">
                            <a:latin typeface="Cambria Math" panose="02040503050406030204" pitchFamily="18" charset="0"/>
                          </a:rPr>
                        </m:ctrlPr>
                      </m:dPr>
                      <m:e>
                        <m:r>
                          <a:rPr lang="en-GB" b="1" i="1" smtClean="0">
                            <a:latin typeface="Cambria Math" panose="02040503050406030204" pitchFamily="18" charset="0"/>
                          </a:rPr>
                          <m:t>𝒙</m:t>
                        </m:r>
                      </m:e>
                    </m:d>
                    <m:r>
                      <a:rPr lang="en-GB" b="1" i="1" smtClean="0">
                        <a:latin typeface="Cambria Math" panose="02040503050406030204" pitchFamily="18" charset="0"/>
                      </a:rPr>
                      <m:t>=</m:t>
                    </m:r>
                    <m:r>
                      <a:rPr lang="en-GB" b="1" i="1" smtClean="0">
                        <a:latin typeface="Cambria Math" panose="02040503050406030204" pitchFamily="18" charset="0"/>
                      </a:rPr>
                      <m:t>𝒂𝒙</m:t>
                    </m:r>
                    <m:r>
                      <a:rPr lang="en-GB" b="1" i="1" smtClean="0">
                        <a:latin typeface="Cambria Math" panose="02040503050406030204" pitchFamily="18" charset="0"/>
                      </a:rPr>
                      <m:t>+</m:t>
                    </m:r>
                    <m:r>
                      <a:rPr lang="en-GB" b="1" i="1" smtClean="0">
                        <a:latin typeface="Cambria Math" panose="02040503050406030204" pitchFamily="18" charset="0"/>
                      </a:rPr>
                      <m:t>𝒃</m:t>
                    </m:r>
                    <m:r>
                      <a:rPr lang="en-GB" b="1" i="1" smtClean="0">
                        <a:latin typeface="Cambria Math" panose="02040503050406030204" pitchFamily="18" charset="0"/>
                      </a:rPr>
                      <m:t>=</m:t>
                    </m:r>
                    <m:r>
                      <a:rPr lang="en-GB" b="1" i="1" smtClean="0">
                        <a:latin typeface="Cambria Math" panose="02040503050406030204" pitchFamily="18" charset="0"/>
                      </a:rPr>
                      <m:t>𝟒</m:t>
                    </m:r>
                    <m:r>
                      <a:rPr lang="en-GB" b="1" i="1" smtClean="0">
                        <a:latin typeface="Cambria Math" panose="02040503050406030204" pitchFamily="18" charset="0"/>
                      </a:rPr>
                      <m:t>.</m:t>
                    </m:r>
                    <m:r>
                      <a:rPr lang="en-GB" b="1" i="1" smtClean="0">
                        <a:latin typeface="Cambria Math" panose="02040503050406030204" pitchFamily="18" charset="0"/>
                      </a:rPr>
                      <m:t>𝟎𝟖</m:t>
                    </m:r>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𝟓𝟑</m:t>
                    </m:r>
                    <m:r>
                      <a:rPr lang="en-GB" b="1" i="1" smtClean="0">
                        <a:latin typeface="Cambria Math" panose="02040503050406030204" pitchFamily="18" charset="0"/>
                      </a:rPr>
                      <m:t>.</m:t>
                    </m:r>
                    <m:r>
                      <a:rPr lang="en-GB" b="1" i="1" smtClean="0">
                        <a:latin typeface="Cambria Math" panose="02040503050406030204" pitchFamily="18" charset="0"/>
                      </a:rPr>
                      <m:t>𝟏𝟐</m:t>
                    </m:r>
                  </m:oMath>
                </a14:m>
                <a:endParaRPr lang="en-GB" b="1"/>
              </a:p>
              <a:p>
                <a:r>
                  <a:rPr lang="en-GB"/>
                  <a:t>DIY! Calculate the score for a new Student who studies 8 hours.</a:t>
                </a:r>
                <a:endParaRPr lang="en-PK"/>
              </a:p>
            </p:txBody>
          </p:sp>
        </mc:Choice>
        <mc:Fallback>
          <p:sp>
            <p:nvSpPr>
              <p:cNvPr id="7" name="Text Placeholder 6">
                <a:extLst>
                  <a:ext uri="{FF2B5EF4-FFF2-40B4-BE49-F238E27FC236}">
                    <a16:creationId xmlns:a16="http://schemas.microsoft.com/office/drawing/2014/main" id="{FD2172C4-8AA2-2BFB-DECC-07154024D572}"/>
                  </a:ext>
                </a:extLst>
              </p:cNvPr>
              <p:cNvSpPr>
                <a:spLocks noGrp="1" noRot="1" noChangeAspect="1" noMove="1" noResize="1" noEditPoints="1" noAdjustHandles="1" noChangeArrowheads="1" noChangeShapeType="1" noTextEdit="1"/>
              </p:cNvSpPr>
              <p:nvPr>
                <p:ph type="body" idx="1"/>
              </p:nvPr>
            </p:nvSpPr>
            <p:spPr>
              <a:xfrm>
                <a:off x="727650" y="3371596"/>
                <a:ext cx="7688700" cy="1545178"/>
              </a:xfr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94484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7">
          <a:extLst>
            <a:ext uri="{FF2B5EF4-FFF2-40B4-BE49-F238E27FC236}">
              <a16:creationId xmlns:a16="http://schemas.microsoft.com/office/drawing/2014/main" id="{E2025ACA-7121-B5C1-C7C3-C374D797C728}"/>
            </a:ext>
          </a:extLst>
        </p:cNvPr>
        <p:cNvGrpSpPr/>
        <p:nvPr/>
      </p:nvGrpSpPr>
      <p:grpSpPr>
        <a:xfrm>
          <a:off x="0" y="0"/>
          <a:ext cx="0" cy="0"/>
          <a:chOff x="0" y="0"/>
          <a:chExt cx="0" cy="0"/>
        </a:xfrm>
      </p:grpSpPr>
      <p:sp>
        <p:nvSpPr>
          <p:cNvPr id="238" name="Google Shape;238;p22">
            <a:extLst>
              <a:ext uri="{FF2B5EF4-FFF2-40B4-BE49-F238E27FC236}">
                <a16:creationId xmlns:a16="http://schemas.microsoft.com/office/drawing/2014/main" id="{E2DCA39B-4D25-FB59-67D0-A29B18A50D94}"/>
              </a:ext>
            </a:extLst>
          </p:cNvPr>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4200"/>
              <a:buNone/>
            </a:pPr>
            <a:r>
              <a:rPr lang="en"/>
              <a:t>Implementation on Google Colab</a:t>
            </a:r>
            <a:endParaRPr/>
          </a:p>
        </p:txBody>
      </p:sp>
      <p:sp>
        <p:nvSpPr>
          <p:cNvPr id="2" name="Google Shape;431;p47">
            <a:extLst>
              <a:ext uri="{FF2B5EF4-FFF2-40B4-BE49-F238E27FC236}">
                <a16:creationId xmlns:a16="http://schemas.microsoft.com/office/drawing/2014/main" id="{DC51F235-A0EA-81A3-00D4-6A062FCFCB7C}"/>
              </a:ext>
            </a:extLst>
          </p:cNvPr>
          <p:cNvSpPr txBox="1">
            <a:spLocks/>
          </p:cNvSpPr>
          <p:nvPr/>
        </p:nvSpPr>
        <p:spPr>
          <a:xfrm>
            <a:off x="727650" y="2571749"/>
            <a:ext cx="7688700" cy="2472275"/>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30200">
              <a:lnSpc>
                <a:spcPct val="115000"/>
              </a:lnSpc>
              <a:buSzPts val="1600"/>
              <a:buFont typeface="Arial"/>
              <a:buChar char="➔"/>
            </a:pPr>
            <a:r>
              <a:rPr lang="cy-GB" sz="1600"/>
              <a:t>Objective 1: Learn a Linear model to predict Exam score using StudyHours Objective 2: Test the model using different values for StudyHours between 1 and 10</a:t>
            </a:r>
          </a:p>
        </p:txBody>
      </p:sp>
    </p:spTree>
    <p:extLst>
      <p:ext uri="{BB962C8B-B14F-4D97-AF65-F5344CB8AC3E}">
        <p14:creationId xmlns:p14="http://schemas.microsoft.com/office/powerpoint/2010/main" val="35017566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8"/>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340"/>
              <a:t>Example: The iris dataset</a:t>
            </a:r>
            <a:endParaRPr sz="2340"/>
          </a:p>
        </p:txBody>
      </p:sp>
      <p:pic>
        <p:nvPicPr>
          <p:cNvPr id="2050" name="Picture 2" descr="IRIS Flowers Classification Using Machine Learning - Analytics Vidhya">
            <a:extLst>
              <a:ext uri="{FF2B5EF4-FFF2-40B4-BE49-F238E27FC236}">
                <a16:creationId xmlns:a16="http://schemas.microsoft.com/office/drawing/2014/main" id="{D7DEAF60-673A-455B-EFD3-005BD7A0BD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7206" y="2571750"/>
            <a:ext cx="5729587" cy="2561404"/>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a:extLst>
              <a:ext uri="{FF2B5EF4-FFF2-40B4-BE49-F238E27FC236}">
                <a16:creationId xmlns:a16="http://schemas.microsoft.com/office/drawing/2014/main" id="{564B812F-C51B-0228-1C29-A1850A9DB801}"/>
              </a:ext>
            </a:extLst>
          </p:cNvPr>
          <p:cNvSpPr>
            <a:spLocks noGrp="1"/>
          </p:cNvSpPr>
          <p:nvPr>
            <p:ph type="body" idx="1"/>
          </p:nvPr>
        </p:nvSpPr>
        <p:spPr>
          <a:xfrm>
            <a:off x="727650" y="1356627"/>
            <a:ext cx="7688700" cy="1215123"/>
          </a:xfrm>
        </p:spPr>
        <p:txBody>
          <a:bodyPr>
            <a:normAutofit fontScale="70000" lnSpcReduction="20000"/>
          </a:bodyPr>
          <a:lstStyle/>
          <a:p>
            <a:r>
              <a:rPr lang="en-GB"/>
              <a:t>Iris dataset was introduced in 1936 by a British statistician, Ronald Fisher. It is very well-known in the ML community.</a:t>
            </a:r>
          </a:p>
          <a:p>
            <a:r>
              <a:rPr lang="en-GB"/>
              <a:t>It has 150 records of flowers of Iris plants of 3 species: </a:t>
            </a:r>
            <a:r>
              <a:rPr lang="en-GB" err="1"/>
              <a:t>Setosa</a:t>
            </a:r>
            <a:r>
              <a:rPr lang="en-GB"/>
              <a:t>, Versicolor and Virginica.</a:t>
            </a:r>
          </a:p>
          <a:p>
            <a:r>
              <a:rPr lang="en-GB"/>
              <a:t>Additionally, each flower has a Petal and a Sepal; the data contains their Lengths and Heights.</a:t>
            </a:r>
          </a:p>
          <a:p>
            <a:endParaRPr lang="en-PK"/>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29"/>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340"/>
              <a:t>Example: The iris dataset</a:t>
            </a:r>
            <a:endParaRPr sz="2340"/>
          </a:p>
        </p:txBody>
      </p:sp>
      <p:pic>
        <p:nvPicPr>
          <p:cNvPr id="281" name="Google Shape;281;p29"/>
          <p:cNvPicPr preferRelativeResize="0"/>
          <p:nvPr/>
        </p:nvPicPr>
        <p:blipFill rotWithShape="1">
          <a:blip r:embed="rId3">
            <a:alphaModFix/>
          </a:blip>
          <a:srcRect/>
          <a:stretch/>
        </p:blipFill>
        <p:spPr>
          <a:xfrm>
            <a:off x="3068462" y="1579025"/>
            <a:ext cx="4902471" cy="3268326"/>
          </a:xfrm>
          <a:prstGeom prst="rect">
            <a:avLst/>
          </a:prstGeom>
          <a:noFill/>
          <a:ln>
            <a:noFill/>
          </a:ln>
        </p:spPr>
      </p:pic>
      <p:sp>
        <p:nvSpPr>
          <p:cNvPr id="282" name="Google Shape;282;p29"/>
          <p:cNvSpPr txBox="1">
            <a:spLocks noGrp="1"/>
          </p:cNvSpPr>
          <p:nvPr>
            <p:ph type="body" idx="1"/>
          </p:nvPr>
        </p:nvSpPr>
        <p:spPr>
          <a:xfrm>
            <a:off x="729450" y="1283550"/>
            <a:ext cx="7688700" cy="44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ct val="100386"/>
              <a:buNone/>
            </a:pPr>
            <a:r>
              <a:rPr lang="en" sz="1300"/>
              <a:t>Predicting the width from the petal length. Which one of these is the </a:t>
            </a:r>
            <a:r>
              <a:rPr lang="en" sz="1300" b="1"/>
              <a:t>input</a:t>
            </a:r>
            <a:r>
              <a:rPr lang="en" sz="1300"/>
              <a:t>, and which one is the </a:t>
            </a:r>
            <a:r>
              <a:rPr lang="en" sz="1300" b="1"/>
              <a:t>label</a:t>
            </a:r>
            <a:r>
              <a:rPr lang="en" sz="1300"/>
              <a:t>?</a:t>
            </a:r>
            <a:endParaRPr sz="1300"/>
          </a:p>
        </p:txBody>
      </p:sp>
      <p:sp>
        <p:nvSpPr>
          <p:cNvPr id="283" name="Google Shape;283;p29"/>
          <p:cNvSpPr/>
          <p:nvPr/>
        </p:nvSpPr>
        <p:spPr>
          <a:xfrm>
            <a:off x="4271875" y="3825825"/>
            <a:ext cx="190800" cy="163500"/>
          </a:xfrm>
          <a:prstGeom prst="ellipse">
            <a:avLst/>
          </a:prstGeom>
          <a:noFill/>
          <a:ln w="2857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84" name="Google Shape;284;p29"/>
          <p:cNvCxnSpPr>
            <a:stCxn id="283" idx="1"/>
          </p:cNvCxnSpPr>
          <p:nvPr/>
        </p:nvCxnSpPr>
        <p:spPr>
          <a:xfrm rot="10800000">
            <a:off x="2501917" y="3173569"/>
            <a:ext cx="1797900" cy="676200"/>
          </a:xfrm>
          <a:prstGeom prst="straightConnector1">
            <a:avLst/>
          </a:prstGeom>
          <a:noFill/>
          <a:ln w="19050" cap="flat" cmpd="sng">
            <a:solidFill>
              <a:srgbClr val="FF9900"/>
            </a:solidFill>
            <a:prstDash val="solid"/>
            <a:round/>
            <a:headEnd type="none" w="sm" len="sm"/>
            <a:tailEnd type="triangle" w="med" len="med"/>
          </a:ln>
        </p:spPr>
      </p:cxnSp>
      <p:sp>
        <p:nvSpPr>
          <p:cNvPr id="285" name="Google Shape;285;p29"/>
          <p:cNvSpPr txBox="1"/>
          <p:nvPr/>
        </p:nvSpPr>
        <p:spPr>
          <a:xfrm>
            <a:off x="1173075" y="1808400"/>
            <a:ext cx="2149500" cy="1585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chemeClr val="accent1"/>
                </a:solidFill>
                <a:latin typeface="Lato"/>
                <a:ea typeface="Lato"/>
                <a:cs typeface="Lato"/>
                <a:sym typeface="Lato"/>
              </a:rPr>
              <a:t>Observation </a:t>
            </a:r>
            <a:r>
              <a:rPr lang="en" sz="1300" i="1" u="none" strike="noStrike" cap="none">
                <a:solidFill>
                  <a:schemeClr val="accent1"/>
                </a:solidFill>
                <a:latin typeface="Times New Roman"/>
                <a:ea typeface="Times New Roman"/>
                <a:cs typeface="Times New Roman"/>
                <a:sym typeface="Times New Roman"/>
              </a:rPr>
              <a:t>i = 1</a:t>
            </a:r>
            <a:endParaRPr sz="1300" i="1" u="none" strike="noStrike" cap="none">
              <a:solidFill>
                <a:schemeClr val="accent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chemeClr val="accent1"/>
                </a:solidFill>
                <a:latin typeface="Lato"/>
                <a:ea typeface="Lato"/>
                <a:cs typeface="Lato"/>
                <a:sym typeface="Lato"/>
              </a:rPr>
              <a:t>with petal length = 1.2 cm</a:t>
            </a:r>
            <a:endParaRPr sz="1300" b="0" i="0" u="none" strike="noStrike" cap="none">
              <a:solidFill>
                <a:schemeClr val="accent1"/>
              </a:solidFill>
              <a:latin typeface="Lato"/>
              <a:ea typeface="Lato"/>
              <a:cs typeface="Lato"/>
              <a:sym typeface="Lato"/>
            </a:endParaRPr>
          </a:p>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chemeClr val="accent1"/>
                </a:solidFill>
                <a:latin typeface="Lato"/>
                <a:ea typeface="Lato"/>
                <a:cs typeface="Lato"/>
                <a:sym typeface="Lato"/>
              </a:rPr>
              <a:t>and petal width = 0.4 cm.</a:t>
            </a:r>
            <a:endParaRPr sz="1300" b="0" i="0" u="none" strike="noStrike" cap="none">
              <a:solidFill>
                <a:schemeClr val="accent1"/>
              </a:solidFill>
              <a:latin typeface="Lato"/>
              <a:ea typeface="Lato"/>
              <a:cs typeface="Lato"/>
              <a:sym typeface="Lato"/>
            </a:endParaRPr>
          </a:p>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chemeClr val="accent1"/>
              </a:solidFill>
              <a:latin typeface="Lato"/>
              <a:ea typeface="Lato"/>
              <a:cs typeface="Lato"/>
              <a:sym typeface="Lato"/>
            </a:endParaRPr>
          </a:p>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chemeClr val="accent1"/>
                </a:solidFill>
                <a:latin typeface="Lato"/>
                <a:ea typeface="Lato"/>
                <a:cs typeface="Lato"/>
                <a:sym typeface="Lato"/>
              </a:rPr>
              <a:t>So</a:t>
            </a:r>
            <a:endParaRPr sz="1300" b="0" i="0" u="none" strike="noStrike" cap="none">
              <a:solidFill>
                <a:schemeClr val="accent1"/>
              </a:solidFill>
              <a:latin typeface="Lato"/>
              <a:ea typeface="Lato"/>
              <a:cs typeface="Lato"/>
              <a:sym typeface="Lato"/>
            </a:endParaRPr>
          </a:p>
          <a:p>
            <a:pPr marL="0" marR="0" lvl="0" indent="0" algn="l" rtl="0">
              <a:lnSpc>
                <a:spcPct val="100000"/>
              </a:lnSpc>
              <a:spcBef>
                <a:spcPts val="0"/>
              </a:spcBef>
              <a:spcAft>
                <a:spcPts val="0"/>
              </a:spcAft>
              <a:buClr>
                <a:srgbClr val="000000"/>
              </a:buClr>
              <a:buSzPts val="1300"/>
              <a:buFont typeface="Arial"/>
              <a:buNone/>
            </a:pPr>
            <a:r>
              <a:rPr lang="en" sz="1300" i="1">
                <a:solidFill>
                  <a:schemeClr val="accent1"/>
                </a:solidFill>
                <a:latin typeface="Times New Roman"/>
                <a:ea typeface="Times New Roman"/>
                <a:cs typeface="Times New Roman"/>
                <a:sym typeface="Times New Roman"/>
              </a:rPr>
              <a:t>x</a:t>
            </a:r>
            <a:r>
              <a:rPr lang="en" sz="1300" i="1" baseline="-25000">
                <a:solidFill>
                  <a:schemeClr val="accent1"/>
                </a:solidFill>
                <a:latin typeface="Times New Roman"/>
                <a:ea typeface="Times New Roman"/>
                <a:cs typeface="Times New Roman"/>
                <a:sym typeface="Times New Roman"/>
              </a:rPr>
              <a:t>1</a:t>
            </a:r>
            <a:r>
              <a:rPr lang="en" sz="1300" i="1" u="none" strike="noStrike" cap="none">
                <a:solidFill>
                  <a:schemeClr val="accent1"/>
                </a:solidFill>
                <a:latin typeface="Times New Roman"/>
                <a:ea typeface="Times New Roman"/>
                <a:cs typeface="Times New Roman"/>
                <a:sym typeface="Times New Roman"/>
              </a:rPr>
              <a:t> = 1.2 cm, y</a:t>
            </a:r>
            <a:r>
              <a:rPr lang="en" sz="1300" i="1" u="none" strike="noStrike" cap="none" baseline="-25000">
                <a:solidFill>
                  <a:schemeClr val="accent1"/>
                </a:solidFill>
                <a:latin typeface="Times New Roman"/>
                <a:ea typeface="Times New Roman"/>
                <a:cs typeface="Times New Roman"/>
                <a:sym typeface="Times New Roman"/>
              </a:rPr>
              <a:t>1</a:t>
            </a:r>
            <a:r>
              <a:rPr lang="en" sz="1300" i="1" u="none" strike="noStrike" cap="none">
                <a:solidFill>
                  <a:schemeClr val="accent1"/>
                </a:solidFill>
                <a:latin typeface="Times New Roman"/>
                <a:ea typeface="Times New Roman"/>
                <a:cs typeface="Times New Roman"/>
                <a:sym typeface="Times New Roman"/>
              </a:rPr>
              <a:t> = 0.4 cm</a:t>
            </a:r>
            <a:endParaRPr sz="1300" i="1" u="none" strike="noStrike" cap="none">
              <a:solidFill>
                <a:schemeClr val="accent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chemeClr val="accent1"/>
              </a:solidFill>
              <a:latin typeface="Lato"/>
              <a:ea typeface="Lato"/>
              <a:cs typeface="Lato"/>
              <a:sym typeface="La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8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 grpId="0" build="p"/>
      <p:bldP spid="283" grpId="0" animBg="1"/>
      <p:bldP spid="28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30"/>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Choosing the line of best fit</a:t>
            </a:r>
            <a:endParaRPr/>
          </a:p>
        </p:txBody>
      </p:sp>
      <p:pic>
        <p:nvPicPr>
          <p:cNvPr id="291" name="Google Shape;291;p30"/>
          <p:cNvPicPr preferRelativeResize="0"/>
          <p:nvPr/>
        </p:nvPicPr>
        <p:blipFill rotWithShape="1">
          <a:blip r:embed="rId3">
            <a:alphaModFix/>
          </a:blip>
          <a:srcRect/>
          <a:stretch/>
        </p:blipFill>
        <p:spPr>
          <a:xfrm>
            <a:off x="2169261" y="1694500"/>
            <a:ext cx="4805478" cy="3203652"/>
          </a:xfrm>
          <a:prstGeom prst="rect">
            <a:avLst/>
          </a:prstGeom>
          <a:noFill/>
          <a:ln>
            <a:noFill/>
          </a:ln>
        </p:spPr>
      </p:pic>
      <p:sp>
        <p:nvSpPr>
          <p:cNvPr id="292" name="Google Shape;292;p30"/>
          <p:cNvSpPr txBox="1">
            <a:spLocks noGrp="1"/>
          </p:cNvSpPr>
          <p:nvPr>
            <p:ph type="body" idx="1"/>
          </p:nvPr>
        </p:nvSpPr>
        <p:spPr>
          <a:xfrm>
            <a:off x="729450" y="1292850"/>
            <a:ext cx="7688700" cy="44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1300"/>
              <a:buNone/>
            </a:pPr>
            <a:r>
              <a:rPr lang="en" sz="1300"/>
              <a:t>Which line looks the best? Why? Can we quantify this?</a:t>
            </a:r>
            <a:endParaRPr sz="13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31"/>
          <p:cNvSpPr txBox="1">
            <a:spLocks noGrp="1"/>
          </p:cNvSpPr>
          <p:nvPr>
            <p:ph type="title"/>
          </p:nvPr>
        </p:nvSpPr>
        <p:spPr>
          <a:xfrm>
            <a:off x="552450" y="819113"/>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Measuring the residuals</a:t>
            </a:r>
            <a:endParaRPr/>
          </a:p>
        </p:txBody>
      </p:sp>
      <p:pic>
        <p:nvPicPr>
          <p:cNvPr id="298" name="Google Shape;298;p31"/>
          <p:cNvPicPr preferRelativeResize="0"/>
          <p:nvPr/>
        </p:nvPicPr>
        <p:blipFill rotWithShape="1">
          <a:blip r:embed="rId3">
            <a:alphaModFix/>
          </a:blip>
          <a:srcRect/>
          <a:stretch/>
        </p:blipFill>
        <p:spPr>
          <a:xfrm>
            <a:off x="328900" y="1982913"/>
            <a:ext cx="3758550" cy="2505684"/>
          </a:xfrm>
          <a:prstGeom prst="rect">
            <a:avLst/>
          </a:prstGeom>
          <a:noFill/>
          <a:ln>
            <a:noFill/>
          </a:ln>
        </p:spPr>
      </p:pic>
      <p:sp>
        <p:nvSpPr>
          <p:cNvPr id="299" name="Google Shape;299;p31"/>
          <p:cNvSpPr txBox="1">
            <a:spLocks noGrp="1"/>
          </p:cNvSpPr>
          <p:nvPr>
            <p:ph type="body" idx="1"/>
          </p:nvPr>
        </p:nvSpPr>
        <p:spPr>
          <a:xfrm>
            <a:off x="552450" y="1354325"/>
            <a:ext cx="8591400" cy="628588"/>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1300"/>
              <a:buNone/>
            </a:pPr>
            <a:r>
              <a:rPr lang="en" sz="1600"/>
              <a:t>The </a:t>
            </a:r>
            <a:r>
              <a:rPr lang="en" sz="1600" b="1"/>
              <a:t>difference</a:t>
            </a:r>
            <a:r>
              <a:rPr lang="en" sz="1600"/>
              <a:t> between the </a:t>
            </a:r>
            <a:r>
              <a:rPr lang="en" sz="1600" b="1"/>
              <a:t>predicted</a:t>
            </a:r>
            <a:r>
              <a:rPr lang="en" sz="1600"/>
              <a:t> value </a:t>
            </a:r>
            <a:r>
              <a:rPr lang="en" sz="1600" i="1">
                <a:latin typeface="Times New Roman"/>
                <a:ea typeface="Times New Roman"/>
                <a:cs typeface="Times New Roman"/>
                <a:sym typeface="Times New Roman"/>
              </a:rPr>
              <a:t>ŷ</a:t>
            </a:r>
            <a:r>
              <a:rPr lang="en" sz="1600" i="1" baseline="-25000">
                <a:latin typeface="Times New Roman"/>
                <a:ea typeface="Times New Roman"/>
                <a:cs typeface="Times New Roman"/>
                <a:sym typeface="Times New Roman"/>
              </a:rPr>
              <a:t>i</a:t>
            </a:r>
            <a:r>
              <a:rPr lang="en" sz="1600" baseline="-25000"/>
              <a:t> </a:t>
            </a:r>
            <a:r>
              <a:rPr lang="en" sz="1600"/>
              <a:t>and the </a:t>
            </a:r>
            <a:r>
              <a:rPr lang="en" sz="1600" b="1"/>
              <a:t>true</a:t>
            </a:r>
            <a:r>
              <a:rPr lang="en" sz="1600"/>
              <a:t> value </a:t>
            </a:r>
            <a:r>
              <a:rPr lang="en" sz="1600" i="1">
                <a:latin typeface="Times New Roman"/>
                <a:ea typeface="Times New Roman"/>
                <a:cs typeface="Times New Roman"/>
                <a:sym typeface="Times New Roman"/>
              </a:rPr>
              <a:t>y</a:t>
            </a:r>
            <a:r>
              <a:rPr lang="en" sz="1600" i="1" baseline="-25000">
                <a:latin typeface="Times New Roman"/>
                <a:ea typeface="Times New Roman"/>
                <a:cs typeface="Times New Roman"/>
                <a:sym typeface="Times New Roman"/>
              </a:rPr>
              <a:t>i</a:t>
            </a:r>
            <a:r>
              <a:rPr lang="en" sz="1600"/>
              <a:t>  : </a:t>
            </a:r>
            <a:r>
              <a:rPr lang="en" sz="1600" i="1">
                <a:latin typeface="Times New Roman"/>
                <a:ea typeface="Times New Roman"/>
                <a:cs typeface="Times New Roman"/>
                <a:sym typeface="Times New Roman"/>
              </a:rPr>
              <a:t>(ŷ</a:t>
            </a:r>
            <a:r>
              <a:rPr lang="en" sz="1600" i="1" baseline="-25000">
                <a:latin typeface="Times New Roman"/>
                <a:ea typeface="Times New Roman"/>
                <a:cs typeface="Times New Roman"/>
                <a:sym typeface="Times New Roman"/>
              </a:rPr>
              <a:t>i</a:t>
            </a:r>
            <a:r>
              <a:rPr lang="en" sz="1600" i="1">
                <a:latin typeface="Times New Roman"/>
                <a:ea typeface="Times New Roman"/>
                <a:cs typeface="Times New Roman"/>
                <a:sym typeface="Times New Roman"/>
              </a:rPr>
              <a:t> - y</a:t>
            </a:r>
            <a:r>
              <a:rPr lang="en" sz="1600" i="1" baseline="-25000">
                <a:latin typeface="Times New Roman"/>
                <a:ea typeface="Times New Roman"/>
                <a:cs typeface="Times New Roman"/>
                <a:sym typeface="Times New Roman"/>
              </a:rPr>
              <a:t>i</a:t>
            </a:r>
            <a:r>
              <a:rPr lang="en" sz="1600" i="1">
                <a:latin typeface="Times New Roman"/>
                <a:ea typeface="Times New Roman"/>
                <a:cs typeface="Times New Roman"/>
                <a:sym typeface="Times New Roman"/>
              </a:rPr>
              <a:t> )</a:t>
            </a:r>
            <a:r>
              <a:rPr lang="en" sz="1600"/>
              <a:t> is called the </a:t>
            </a:r>
            <a:r>
              <a:rPr lang="en" sz="1600" b="1"/>
              <a:t>residual</a:t>
            </a:r>
            <a:r>
              <a:rPr lang="en" sz="1600"/>
              <a:t>.</a:t>
            </a:r>
            <a:endParaRPr sz="1600"/>
          </a:p>
        </p:txBody>
      </p:sp>
      <p:sp>
        <p:nvSpPr>
          <p:cNvPr id="300" name="Google Shape;300;p31"/>
          <p:cNvSpPr txBox="1"/>
          <p:nvPr/>
        </p:nvSpPr>
        <p:spPr>
          <a:xfrm>
            <a:off x="1391475" y="3783750"/>
            <a:ext cx="2296500" cy="3849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000">
                <a:solidFill>
                  <a:schemeClr val="accent1"/>
                </a:solidFill>
                <a:latin typeface="Lato"/>
                <a:ea typeface="Lato"/>
                <a:cs typeface="Lato"/>
                <a:sym typeface="Lato"/>
              </a:rPr>
              <a:t>Orange line is</a:t>
            </a:r>
            <a:r>
              <a:rPr lang="en" sz="1300">
                <a:solidFill>
                  <a:schemeClr val="accent1"/>
                </a:solidFill>
                <a:latin typeface="Lato"/>
                <a:ea typeface="Lato"/>
                <a:cs typeface="Lato"/>
                <a:sym typeface="Lato"/>
              </a:rPr>
              <a:t> </a:t>
            </a:r>
            <a:r>
              <a:rPr lang="en" sz="1300" i="1">
                <a:solidFill>
                  <a:srgbClr val="ED553B"/>
                </a:solidFill>
                <a:latin typeface="Times New Roman"/>
                <a:ea typeface="Times New Roman"/>
                <a:cs typeface="Times New Roman"/>
                <a:sym typeface="Times New Roman"/>
              </a:rPr>
              <a:t>y = 0.5 + 0.14x</a:t>
            </a:r>
            <a:endParaRPr sz="1300" i="1">
              <a:solidFill>
                <a:srgbClr val="ED553B"/>
              </a:solidFill>
              <a:latin typeface="Times New Roman"/>
              <a:ea typeface="Times New Roman"/>
              <a:cs typeface="Times New Roman"/>
              <a:sym typeface="Times New Roman"/>
            </a:endParaRPr>
          </a:p>
        </p:txBody>
      </p:sp>
      <p:sp>
        <p:nvSpPr>
          <p:cNvPr id="2" name="Google Shape;327;p34">
            <a:extLst>
              <a:ext uri="{FF2B5EF4-FFF2-40B4-BE49-F238E27FC236}">
                <a16:creationId xmlns:a16="http://schemas.microsoft.com/office/drawing/2014/main" id="{B1944C1F-E31C-E144-6E9B-5A54827201C2}"/>
              </a:ext>
            </a:extLst>
          </p:cNvPr>
          <p:cNvSpPr txBox="1"/>
          <p:nvPr/>
        </p:nvSpPr>
        <p:spPr>
          <a:xfrm>
            <a:off x="4118725" y="2522500"/>
            <a:ext cx="4895100" cy="178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accent1"/>
                </a:solidFill>
                <a:latin typeface="Lato"/>
                <a:ea typeface="Lato"/>
                <a:cs typeface="Lato"/>
                <a:sym typeface="Lato"/>
              </a:rPr>
              <a:t>For observation 3:</a:t>
            </a:r>
            <a:endParaRPr sz="1300">
              <a:solidFill>
                <a:schemeClr val="accent1"/>
              </a:solidFill>
              <a:latin typeface="Lato"/>
              <a:ea typeface="Lato"/>
              <a:cs typeface="Lato"/>
              <a:sym typeface="Lato"/>
            </a:endParaRPr>
          </a:p>
          <a:p>
            <a:pPr marL="0" lvl="0" indent="0" algn="l" rtl="0">
              <a:spcBef>
                <a:spcPts val="0"/>
              </a:spcBef>
              <a:spcAft>
                <a:spcPts val="0"/>
              </a:spcAft>
              <a:buNone/>
            </a:pPr>
            <a:r>
              <a:rPr lang="en" sz="1300" i="1">
                <a:solidFill>
                  <a:schemeClr val="accent1"/>
                </a:solidFill>
                <a:latin typeface="Times New Roman"/>
                <a:ea typeface="Times New Roman"/>
                <a:cs typeface="Times New Roman"/>
                <a:sym typeface="Times New Roman"/>
              </a:rPr>
              <a:t>x</a:t>
            </a:r>
            <a:r>
              <a:rPr lang="en" sz="1300" i="1" baseline="-25000">
                <a:solidFill>
                  <a:schemeClr val="accent1"/>
                </a:solidFill>
                <a:latin typeface="Times New Roman"/>
                <a:ea typeface="Times New Roman"/>
                <a:cs typeface="Times New Roman"/>
                <a:sym typeface="Times New Roman"/>
              </a:rPr>
              <a:t>3</a:t>
            </a:r>
            <a:r>
              <a:rPr lang="en" sz="1300" i="1">
                <a:solidFill>
                  <a:schemeClr val="accent1"/>
                </a:solidFill>
                <a:latin typeface="Times New Roman"/>
                <a:ea typeface="Times New Roman"/>
                <a:cs typeface="Times New Roman"/>
                <a:sym typeface="Times New Roman"/>
              </a:rPr>
              <a:t> </a:t>
            </a:r>
            <a:r>
              <a:rPr lang="en" sz="1300">
                <a:solidFill>
                  <a:schemeClr val="accent1"/>
                </a:solidFill>
                <a:latin typeface="Times New Roman"/>
                <a:ea typeface="Times New Roman"/>
                <a:cs typeface="Times New Roman"/>
                <a:sym typeface="Times New Roman"/>
              </a:rPr>
              <a:t>= 3.4</a:t>
            </a:r>
            <a:r>
              <a:rPr lang="en" sz="1300" i="1">
                <a:solidFill>
                  <a:schemeClr val="accent1"/>
                </a:solidFill>
                <a:latin typeface="Times New Roman"/>
                <a:ea typeface="Times New Roman"/>
                <a:cs typeface="Times New Roman"/>
                <a:sym typeface="Times New Roman"/>
              </a:rPr>
              <a:t>, y</a:t>
            </a:r>
            <a:r>
              <a:rPr lang="en" sz="1300" i="1" baseline="-25000">
                <a:solidFill>
                  <a:schemeClr val="accent1"/>
                </a:solidFill>
                <a:latin typeface="Times New Roman"/>
                <a:ea typeface="Times New Roman"/>
                <a:cs typeface="Times New Roman"/>
                <a:sym typeface="Times New Roman"/>
              </a:rPr>
              <a:t>3</a:t>
            </a:r>
            <a:r>
              <a:rPr lang="en" sz="1300" i="1">
                <a:solidFill>
                  <a:schemeClr val="accent1"/>
                </a:solidFill>
                <a:latin typeface="Times New Roman"/>
                <a:ea typeface="Times New Roman"/>
                <a:cs typeface="Times New Roman"/>
                <a:sym typeface="Times New Roman"/>
              </a:rPr>
              <a:t> </a:t>
            </a:r>
            <a:r>
              <a:rPr lang="en" sz="1300">
                <a:solidFill>
                  <a:schemeClr val="accent1"/>
                </a:solidFill>
                <a:latin typeface="Times New Roman"/>
                <a:ea typeface="Times New Roman"/>
                <a:cs typeface="Times New Roman"/>
                <a:sym typeface="Times New Roman"/>
              </a:rPr>
              <a:t>=</a:t>
            </a:r>
            <a:r>
              <a:rPr lang="en" sz="1300" i="1">
                <a:solidFill>
                  <a:schemeClr val="accent1"/>
                </a:solidFill>
                <a:latin typeface="Times New Roman"/>
                <a:ea typeface="Times New Roman"/>
                <a:cs typeface="Times New Roman"/>
                <a:sym typeface="Times New Roman"/>
              </a:rPr>
              <a:t> </a:t>
            </a:r>
            <a:r>
              <a:rPr lang="en" sz="1300">
                <a:solidFill>
                  <a:schemeClr val="accent1"/>
                </a:solidFill>
                <a:latin typeface="Times New Roman"/>
                <a:ea typeface="Times New Roman"/>
                <a:cs typeface="Times New Roman"/>
                <a:sym typeface="Times New Roman"/>
              </a:rPr>
              <a:t>0.98</a:t>
            </a:r>
            <a:r>
              <a:rPr lang="en" sz="1300" i="1">
                <a:solidFill>
                  <a:schemeClr val="accent1"/>
                </a:solidFill>
                <a:latin typeface="Times New Roman"/>
                <a:ea typeface="Times New Roman"/>
                <a:cs typeface="Times New Roman"/>
                <a:sym typeface="Times New Roman"/>
              </a:rPr>
              <a:t>, ŷ</a:t>
            </a:r>
            <a:r>
              <a:rPr lang="en" sz="1300" i="1" baseline="-25000">
                <a:solidFill>
                  <a:schemeClr val="accent1"/>
                </a:solidFill>
                <a:latin typeface="Times New Roman"/>
                <a:ea typeface="Times New Roman"/>
                <a:cs typeface="Times New Roman"/>
                <a:sym typeface="Times New Roman"/>
              </a:rPr>
              <a:t>3</a:t>
            </a:r>
            <a:r>
              <a:rPr lang="en" sz="1300" i="1">
                <a:solidFill>
                  <a:schemeClr val="accent1"/>
                </a:solidFill>
                <a:latin typeface="Times New Roman"/>
                <a:ea typeface="Times New Roman"/>
                <a:cs typeface="Times New Roman"/>
                <a:sym typeface="Times New Roman"/>
              </a:rPr>
              <a:t> </a:t>
            </a:r>
            <a:r>
              <a:rPr lang="en" sz="1300">
                <a:solidFill>
                  <a:schemeClr val="accent1"/>
                </a:solidFill>
                <a:latin typeface="Times New Roman"/>
                <a:ea typeface="Times New Roman"/>
                <a:cs typeface="Times New Roman"/>
                <a:sym typeface="Times New Roman"/>
              </a:rPr>
              <a:t>=</a:t>
            </a:r>
            <a:r>
              <a:rPr lang="en" sz="1300" i="1">
                <a:solidFill>
                  <a:schemeClr val="accent1"/>
                </a:solidFill>
                <a:latin typeface="Times New Roman"/>
                <a:ea typeface="Times New Roman"/>
                <a:cs typeface="Times New Roman"/>
                <a:sym typeface="Times New Roman"/>
              </a:rPr>
              <a:t> </a:t>
            </a:r>
            <a:r>
              <a:rPr lang="en" sz="1300">
                <a:solidFill>
                  <a:schemeClr val="accent1"/>
                </a:solidFill>
                <a:latin typeface="Times New Roman"/>
                <a:ea typeface="Times New Roman"/>
                <a:cs typeface="Times New Roman"/>
                <a:sym typeface="Times New Roman"/>
              </a:rPr>
              <a:t>0.98</a:t>
            </a:r>
            <a:r>
              <a:rPr lang="en" sz="1300" i="1">
                <a:solidFill>
                  <a:schemeClr val="accent1"/>
                </a:solidFill>
                <a:latin typeface="Times New Roman"/>
                <a:ea typeface="Times New Roman"/>
                <a:cs typeface="Times New Roman"/>
                <a:sym typeface="Times New Roman"/>
              </a:rPr>
              <a:t>   →  ŷ</a:t>
            </a:r>
            <a:r>
              <a:rPr lang="en" sz="1300" i="1" baseline="-25000">
                <a:solidFill>
                  <a:schemeClr val="accent1"/>
                </a:solidFill>
                <a:latin typeface="Times New Roman"/>
                <a:ea typeface="Times New Roman"/>
                <a:cs typeface="Times New Roman"/>
                <a:sym typeface="Times New Roman"/>
              </a:rPr>
              <a:t>3</a:t>
            </a:r>
            <a:r>
              <a:rPr lang="en" sz="1300" i="1">
                <a:solidFill>
                  <a:schemeClr val="accent1"/>
                </a:solidFill>
                <a:latin typeface="Times New Roman"/>
                <a:ea typeface="Times New Roman"/>
                <a:cs typeface="Times New Roman"/>
                <a:sym typeface="Times New Roman"/>
              </a:rPr>
              <a:t> - y</a:t>
            </a:r>
            <a:r>
              <a:rPr lang="en" sz="1300" i="1" baseline="-25000">
                <a:solidFill>
                  <a:schemeClr val="accent1"/>
                </a:solidFill>
                <a:latin typeface="Times New Roman"/>
                <a:ea typeface="Times New Roman"/>
                <a:cs typeface="Times New Roman"/>
                <a:sym typeface="Times New Roman"/>
              </a:rPr>
              <a:t>3</a:t>
            </a:r>
            <a:r>
              <a:rPr lang="en" sz="1300" i="1">
                <a:solidFill>
                  <a:schemeClr val="accent1"/>
                </a:solidFill>
                <a:latin typeface="Times New Roman"/>
                <a:ea typeface="Times New Roman"/>
                <a:cs typeface="Times New Roman"/>
                <a:sym typeface="Times New Roman"/>
              </a:rPr>
              <a:t> </a:t>
            </a:r>
            <a:r>
              <a:rPr lang="en" sz="1300">
                <a:solidFill>
                  <a:schemeClr val="accent1"/>
                </a:solidFill>
                <a:latin typeface="Times New Roman"/>
                <a:ea typeface="Times New Roman"/>
                <a:cs typeface="Times New Roman"/>
                <a:sym typeface="Times New Roman"/>
              </a:rPr>
              <a:t>= 0</a:t>
            </a:r>
            <a:endParaRPr sz="1300">
              <a:solidFill>
                <a:schemeClr val="accent1"/>
              </a:solidFill>
              <a:latin typeface="Times New Roman"/>
              <a:ea typeface="Times New Roman"/>
              <a:cs typeface="Times New Roman"/>
              <a:sym typeface="Times New Roman"/>
            </a:endParaRPr>
          </a:p>
          <a:p>
            <a:pPr marL="0" lvl="0" indent="0" algn="l" rtl="0">
              <a:spcBef>
                <a:spcPts val="0"/>
              </a:spcBef>
              <a:spcAft>
                <a:spcPts val="0"/>
              </a:spcAft>
              <a:buNone/>
            </a:pPr>
            <a:endParaRPr sz="1300">
              <a:solidFill>
                <a:schemeClr val="accent1"/>
              </a:solidFill>
              <a:latin typeface="Lato"/>
              <a:ea typeface="Lato"/>
              <a:cs typeface="Lato"/>
              <a:sym typeface="Lato"/>
            </a:endParaRPr>
          </a:p>
          <a:p>
            <a:pPr marL="0" lvl="0" indent="0" algn="l" rtl="0">
              <a:spcBef>
                <a:spcPts val="0"/>
              </a:spcBef>
              <a:spcAft>
                <a:spcPts val="0"/>
              </a:spcAft>
              <a:buNone/>
            </a:pPr>
            <a:r>
              <a:rPr lang="en" sz="1300">
                <a:solidFill>
                  <a:schemeClr val="accent1"/>
                </a:solidFill>
                <a:latin typeface="Lato"/>
                <a:ea typeface="Lato"/>
                <a:cs typeface="Lato"/>
                <a:sym typeface="Lato"/>
              </a:rPr>
              <a:t>For observation 14:</a:t>
            </a:r>
            <a:endParaRPr sz="1300">
              <a:solidFill>
                <a:schemeClr val="accent1"/>
              </a:solidFill>
              <a:latin typeface="Lato"/>
              <a:ea typeface="Lato"/>
              <a:cs typeface="Lato"/>
              <a:sym typeface="Lato"/>
            </a:endParaRPr>
          </a:p>
          <a:p>
            <a:pPr marL="0" lvl="0" indent="0" algn="l" rtl="0">
              <a:spcBef>
                <a:spcPts val="0"/>
              </a:spcBef>
              <a:spcAft>
                <a:spcPts val="0"/>
              </a:spcAft>
              <a:buNone/>
            </a:pPr>
            <a:r>
              <a:rPr lang="en" sz="1300" i="1">
                <a:solidFill>
                  <a:schemeClr val="accent1"/>
                </a:solidFill>
                <a:latin typeface="Times New Roman"/>
                <a:ea typeface="Times New Roman"/>
                <a:cs typeface="Times New Roman"/>
                <a:sym typeface="Times New Roman"/>
              </a:rPr>
              <a:t>x</a:t>
            </a:r>
            <a:r>
              <a:rPr lang="en" sz="1300" i="1" baseline="-25000">
                <a:solidFill>
                  <a:schemeClr val="accent1"/>
                </a:solidFill>
                <a:latin typeface="Times New Roman"/>
                <a:ea typeface="Times New Roman"/>
                <a:cs typeface="Times New Roman"/>
                <a:sym typeface="Times New Roman"/>
              </a:rPr>
              <a:t>14</a:t>
            </a:r>
            <a:r>
              <a:rPr lang="en" sz="1300" i="1">
                <a:solidFill>
                  <a:schemeClr val="accent1"/>
                </a:solidFill>
                <a:latin typeface="Times New Roman"/>
                <a:ea typeface="Times New Roman"/>
                <a:cs typeface="Times New Roman"/>
                <a:sym typeface="Times New Roman"/>
              </a:rPr>
              <a:t> </a:t>
            </a:r>
            <a:r>
              <a:rPr lang="en" sz="1300">
                <a:solidFill>
                  <a:schemeClr val="accent1"/>
                </a:solidFill>
                <a:latin typeface="Times New Roman"/>
                <a:ea typeface="Times New Roman"/>
                <a:cs typeface="Times New Roman"/>
                <a:sym typeface="Times New Roman"/>
              </a:rPr>
              <a:t>= 6.9</a:t>
            </a:r>
            <a:r>
              <a:rPr lang="en" sz="1300" i="1">
                <a:solidFill>
                  <a:schemeClr val="accent1"/>
                </a:solidFill>
                <a:latin typeface="Times New Roman"/>
                <a:ea typeface="Times New Roman"/>
                <a:cs typeface="Times New Roman"/>
                <a:sym typeface="Times New Roman"/>
              </a:rPr>
              <a:t>, y</a:t>
            </a:r>
            <a:r>
              <a:rPr lang="en" sz="1300" i="1" baseline="-25000">
                <a:solidFill>
                  <a:schemeClr val="accent1"/>
                </a:solidFill>
                <a:latin typeface="Times New Roman"/>
                <a:ea typeface="Times New Roman"/>
                <a:cs typeface="Times New Roman"/>
                <a:sym typeface="Times New Roman"/>
              </a:rPr>
              <a:t>14</a:t>
            </a:r>
            <a:r>
              <a:rPr lang="en" sz="1300" i="1">
                <a:solidFill>
                  <a:schemeClr val="accent1"/>
                </a:solidFill>
                <a:latin typeface="Times New Roman"/>
                <a:ea typeface="Times New Roman"/>
                <a:cs typeface="Times New Roman"/>
                <a:sym typeface="Times New Roman"/>
              </a:rPr>
              <a:t> </a:t>
            </a:r>
            <a:r>
              <a:rPr lang="en" sz="1300">
                <a:solidFill>
                  <a:schemeClr val="accent1"/>
                </a:solidFill>
                <a:latin typeface="Times New Roman"/>
                <a:ea typeface="Times New Roman"/>
                <a:cs typeface="Times New Roman"/>
                <a:sym typeface="Times New Roman"/>
              </a:rPr>
              <a:t>=</a:t>
            </a:r>
            <a:r>
              <a:rPr lang="en" sz="1300" i="1">
                <a:solidFill>
                  <a:schemeClr val="accent1"/>
                </a:solidFill>
                <a:latin typeface="Times New Roman"/>
                <a:ea typeface="Times New Roman"/>
                <a:cs typeface="Times New Roman"/>
                <a:sym typeface="Times New Roman"/>
              </a:rPr>
              <a:t> </a:t>
            </a:r>
            <a:r>
              <a:rPr lang="en" sz="1300">
                <a:solidFill>
                  <a:schemeClr val="accent1"/>
                </a:solidFill>
                <a:latin typeface="Times New Roman"/>
                <a:ea typeface="Times New Roman"/>
                <a:cs typeface="Times New Roman"/>
                <a:sym typeface="Times New Roman"/>
              </a:rPr>
              <a:t>2.25</a:t>
            </a:r>
            <a:br>
              <a:rPr lang="en" sz="1300" i="1">
                <a:solidFill>
                  <a:schemeClr val="accent1"/>
                </a:solidFill>
                <a:latin typeface="Times New Roman"/>
                <a:ea typeface="Times New Roman"/>
                <a:cs typeface="Times New Roman"/>
                <a:sym typeface="Times New Roman"/>
              </a:rPr>
            </a:br>
            <a:r>
              <a:rPr lang="en" sz="1300" i="1">
                <a:solidFill>
                  <a:schemeClr val="accent1"/>
                </a:solidFill>
                <a:latin typeface="Times New Roman"/>
                <a:ea typeface="Times New Roman"/>
                <a:cs typeface="Times New Roman"/>
                <a:sym typeface="Times New Roman"/>
              </a:rPr>
              <a:t>ŷ</a:t>
            </a:r>
            <a:r>
              <a:rPr lang="en" sz="1300" i="1" baseline="-25000">
                <a:solidFill>
                  <a:schemeClr val="accent1"/>
                </a:solidFill>
                <a:latin typeface="Times New Roman"/>
                <a:ea typeface="Times New Roman"/>
                <a:cs typeface="Times New Roman"/>
                <a:sym typeface="Times New Roman"/>
              </a:rPr>
              <a:t>14</a:t>
            </a:r>
            <a:r>
              <a:rPr lang="en" sz="1300" i="1">
                <a:solidFill>
                  <a:schemeClr val="accent1"/>
                </a:solidFill>
                <a:latin typeface="Times New Roman"/>
                <a:ea typeface="Times New Roman"/>
                <a:cs typeface="Times New Roman"/>
                <a:sym typeface="Times New Roman"/>
              </a:rPr>
              <a:t> </a:t>
            </a:r>
            <a:r>
              <a:rPr lang="en" sz="1300">
                <a:solidFill>
                  <a:schemeClr val="accent1"/>
                </a:solidFill>
                <a:latin typeface="Times New Roman"/>
                <a:ea typeface="Times New Roman"/>
                <a:cs typeface="Times New Roman"/>
                <a:sym typeface="Times New Roman"/>
              </a:rPr>
              <a:t>=</a:t>
            </a:r>
            <a:r>
              <a:rPr lang="en" sz="1300" i="1">
                <a:solidFill>
                  <a:schemeClr val="accent1"/>
                </a:solidFill>
                <a:latin typeface="Times New Roman"/>
                <a:ea typeface="Times New Roman"/>
                <a:cs typeface="Times New Roman"/>
                <a:sym typeface="Times New Roman"/>
              </a:rPr>
              <a:t> 0.5 + 0.14 * 6.9 = </a:t>
            </a:r>
            <a:r>
              <a:rPr lang="en" sz="1300">
                <a:solidFill>
                  <a:schemeClr val="accent1"/>
                </a:solidFill>
                <a:latin typeface="Times New Roman"/>
                <a:ea typeface="Times New Roman"/>
                <a:cs typeface="Times New Roman"/>
                <a:sym typeface="Times New Roman"/>
              </a:rPr>
              <a:t>1.47</a:t>
            </a:r>
            <a:r>
              <a:rPr lang="en" sz="1300" i="1">
                <a:solidFill>
                  <a:schemeClr val="accent1"/>
                </a:solidFill>
                <a:latin typeface="Times New Roman"/>
                <a:ea typeface="Times New Roman"/>
                <a:cs typeface="Times New Roman"/>
                <a:sym typeface="Times New Roman"/>
              </a:rPr>
              <a:t>   </a:t>
            </a:r>
            <a:br>
              <a:rPr lang="en" sz="1300" i="1">
                <a:solidFill>
                  <a:schemeClr val="accent1"/>
                </a:solidFill>
                <a:latin typeface="Times New Roman"/>
                <a:ea typeface="Times New Roman"/>
                <a:cs typeface="Times New Roman"/>
                <a:sym typeface="Times New Roman"/>
              </a:rPr>
            </a:br>
            <a:r>
              <a:rPr lang="en" sz="1300" b="1" i="1">
                <a:solidFill>
                  <a:schemeClr val="accent1"/>
                </a:solidFill>
                <a:latin typeface="Times New Roman"/>
                <a:ea typeface="Times New Roman"/>
                <a:cs typeface="Times New Roman"/>
                <a:sym typeface="Times New Roman"/>
              </a:rPr>
              <a:t>ŷ</a:t>
            </a:r>
            <a:r>
              <a:rPr lang="en" sz="1300" b="1" i="1" baseline="-25000">
                <a:solidFill>
                  <a:schemeClr val="accent1"/>
                </a:solidFill>
                <a:latin typeface="Times New Roman"/>
                <a:ea typeface="Times New Roman"/>
                <a:cs typeface="Times New Roman"/>
                <a:sym typeface="Times New Roman"/>
              </a:rPr>
              <a:t>14</a:t>
            </a:r>
            <a:r>
              <a:rPr lang="en" sz="1300" b="1" i="1">
                <a:solidFill>
                  <a:schemeClr val="accent1"/>
                </a:solidFill>
                <a:latin typeface="Times New Roman"/>
                <a:ea typeface="Times New Roman"/>
                <a:cs typeface="Times New Roman"/>
                <a:sym typeface="Times New Roman"/>
              </a:rPr>
              <a:t> - y</a:t>
            </a:r>
            <a:r>
              <a:rPr lang="en" sz="1300" b="1" i="1" baseline="-25000">
                <a:solidFill>
                  <a:schemeClr val="accent1"/>
                </a:solidFill>
                <a:latin typeface="Times New Roman"/>
                <a:ea typeface="Times New Roman"/>
                <a:cs typeface="Times New Roman"/>
                <a:sym typeface="Times New Roman"/>
              </a:rPr>
              <a:t>14</a:t>
            </a:r>
            <a:r>
              <a:rPr lang="en" sz="1300" b="1" i="1">
                <a:solidFill>
                  <a:schemeClr val="accent1"/>
                </a:solidFill>
                <a:latin typeface="Times New Roman"/>
                <a:ea typeface="Times New Roman"/>
                <a:cs typeface="Times New Roman"/>
                <a:sym typeface="Times New Roman"/>
              </a:rPr>
              <a:t> </a:t>
            </a:r>
            <a:r>
              <a:rPr lang="en" sz="1300" b="1">
                <a:solidFill>
                  <a:schemeClr val="accent1"/>
                </a:solidFill>
                <a:latin typeface="Times New Roman"/>
                <a:ea typeface="Times New Roman"/>
                <a:cs typeface="Times New Roman"/>
                <a:sym typeface="Times New Roman"/>
              </a:rPr>
              <a:t>= 2.25 - 1.47 = 0.78</a:t>
            </a:r>
            <a:endParaRPr sz="1300" b="1">
              <a:solidFill>
                <a:schemeClr val="accent1"/>
              </a:solidFill>
              <a:latin typeface="Lato"/>
              <a:ea typeface="Lato"/>
              <a:cs typeface="Lato"/>
              <a:sym typeface="Lato"/>
            </a:endParaRPr>
          </a:p>
          <a:p>
            <a:pPr marL="0" lvl="0" indent="0" algn="l" rtl="0">
              <a:spcBef>
                <a:spcPts val="0"/>
              </a:spcBef>
              <a:spcAft>
                <a:spcPts val="0"/>
              </a:spcAft>
              <a:buNone/>
            </a:pPr>
            <a:endParaRPr sz="1300">
              <a:solidFill>
                <a:schemeClr val="accent1"/>
              </a:solidFill>
              <a:latin typeface="Lato"/>
              <a:ea typeface="Lato"/>
              <a:cs typeface="Lato"/>
              <a:sym typeface="Lato"/>
            </a:endParaRPr>
          </a:p>
        </p:txBody>
      </p:sp>
      <p:sp>
        <p:nvSpPr>
          <p:cNvPr id="3" name="Google Shape;308;p32">
            <a:extLst>
              <a:ext uri="{FF2B5EF4-FFF2-40B4-BE49-F238E27FC236}">
                <a16:creationId xmlns:a16="http://schemas.microsoft.com/office/drawing/2014/main" id="{E79BE9BA-9CA5-D862-4464-6508F41469B4}"/>
              </a:ext>
            </a:extLst>
          </p:cNvPr>
          <p:cNvSpPr/>
          <p:nvPr/>
        </p:nvSpPr>
        <p:spPr>
          <a:xfrm>
            <a:off x="1905575" y="3297075"/>
            <a:ext cx="198900" cy="190500"/>
          </a:xfrm>
          <a:prstGeom prst="ellipse">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 name="Google Shape;317;p33">
            <a:extLst>
              <a:ext uri="{FF2B5EF4-FFF2-40B4-BE49-F238E27FC236}">
                <a16:creationId xmlns:a16="http://schemas.microsoft.com/office/drawing/2014/main" id="{D42E7E77-31C9-D4D0-F60F-2E6EFD840C4A}"/>
              </a:ext>
            </a:extLst>
          </p:cNvPr>
          <p:cNvSpPr/>
          <p:nvPr/>
        </p:nvSpPr>
        <p:spPr>
          <a:xfrm>
            <a:off x="3166825" y="2473788"/>
            <a:ext cx="198900" cy="190500"/>
          </a:xfrm>
          <a:prstGeom prst="ellipse">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 name="Google Shape;328;p34">
            <a:extLst>
              <a:ext uri="{FF2B5EF4-FFF2-40B4-BE49-F238E27FC236}">
                <a16:creationId xmlns:a16="http://schemas.microsoft.com/office/drawing/2014/main" id="{D34C6AE4-8821-FC7E-84B5-C1F6E1850A37}"/>
              </a:ext>
            </a:extLst>
          </p:cNvPr>
          <p:cNvSpPr txBox="1"/>
          <p:nvPr/>
        </p:nvSpPr>
        <p:spPr>
          <a:xfrm>
            <a:off x="4201875" y="4524025"/>
            <a:ext cx="46749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chemeClr val="accent3"/>
                </a:solidFill>
                <a:latin typeface="Lato"/>
                <a:ea typeface="Lato"/>
                <a:cs typeface="Lato"/>
                <a:sym typeface="Lato"/>
              </a:rPr>
              <a:t>The smallest the sum of the residuals, the best is the model !</a:t>
            </a:r>
            <a:endParaRPr sz="1300" b="1">
              <a:solidFill>
                <a:schemeClr val="accent3"/>
              </a:solidFill>
              <a:latin typeface="Lato"/>
              <a:ea typeface="Lato"/>
              <a:cs typeface="Lato"/>
              <a:sym typeface="La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 grpId="0" build="p"/>
      <p:bldP spid="3" grpId="0" animBg="1"/>
      <p:bldP spid="4" grpId="0" animBg="1"/>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37"/>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Mean squared error (MSE)</a:t>
            </a:r>
            <a:endParaRPr/>
          </a:p>
        </p:txBody>
      </p:sp>
      <mc:AlternateContent xmlns:mc="http://schemas.openxmlformats.org/markup-compatibility/2006">
        <mc:Choice xmlns:a14="http://schemas.microsoft.com/office/drawing/2010/main" Requires="a14">
          <p:sp>
            <p:nvSpPr>
              <p:cNvPr id="347" name="Google Shape;347;p37"/>
              <p:cNvSpPr txBox="1">
                <a:spLocks noGrp="1"/>
              </p:cNvSpPr>
              <p:nvPr>
                <p:ph type="body" idx="1"/>
              </p:nvPr>
            </p:nvSpPr>
            <p:spPr>
              <a:xfrm>
                <a:off x="727650" y="1356627"/>
                <a:ext cx="7688700" cy="3348900"/>
              </a:xfrm>
              <a:prstGeom prst="rect">
                <a:avLst/>
              </a:prstGeom>
              <a:noFill/>
              <a:ln>
                <a:noFill/>
              </a:ln>
            </p:spPr>
            <p:txBody>
              <a:bodyPr spcFirstLastPara="1" wrap="square" lIns="91425" tIns="91425" rIns="91425" bIns="91425" anchor="t" anchorCtr="0">
                <a:noAutofit/>
              </a:bodyPr>
              <a:lstStyle/>
              <a:p>
                <a:pPr marL="457200" lvl="0" indent="-336550" algn="l" rtl="0">
                  <a:lnSpc>
                    <a:spcPct val="150000"/>
                  </a:lnSpc>
                  <a:spcBef>
                    <a:spcPts val="0"/>
                  </a:spcBef>
                  <a:spcAft>
                    <a:spcPts val="0"/>
                  </a:spcAft>
                  <a:buClr>
                    <a:schemeClr val="dk2"/>
                  </a:buClr>
                  <a:buSzPts val="1700"/>
                  <a:buChar char="➔"/>
                </a:pPr>
                <a:r>
                  <a:rPr lang="en-GB" sz="1700">
                    <a:solidFill>
                      <a:schemeClr val="accent1"/>
                    </a:solidFill>
                  </a:rPr>
                  <a:t>The smallest the sum of the residuals, the best is the model !</a:t>
                </a:r>
              </a:p>
              <a:p>
                <a:pPr marL="457200" lvl="0" indent="-336550" algn="l" rtl="0">
                  <a:lnSpc>
                    <a:spcPct val="150000"/>
                  </a:lnSpc>
                  <a:spcBef>
                    <a:spcPts val="0"/>
                  </a:spcBef>
                  <a:spcAft>
                    <a:spcPts val="0"/>
                  </a:spcAft>
                  <a:buClr>
                    <a:schemeClr val="dk2"/>
                  </a:buClr>
                  <a:buSzPts val="1700"/>
                  <a:buChar char="➔"/>
                </a:pPr>
                <a:r>
                  <a:rPr lang="en-GB" sz="1700">
                    <a:solidFill>
                      <a:schemeClr val="accent1"/>
                    </a:solidFill>
                  </a:rPr>
                  <a:t>We want the penalise big errors more than small errors.</a:t>
                </a:r>
              </a:p>
              <a:p>
                <a:pPr marL="457200" lvl="0" indent="-336550" algn="l" rtl="0">
                  <a:lnSpc>
                    <a:spcPct val="150000"/>
                  </a:lnSpc>
                  <a:spcBef>
                    <a:spcPts val="0"/>
                  </a:spcBef>
                  <a:spcAft>
                    <a:spcPts val="0"/>
                  </a:spcAft>
                  <a:buClr>
                    <a:schemeClr val="dk2"/>
                  </a:buClr>
                  <a:buSzPts val="1700"/>
                  <a:buChar char="➔"/>
                </a:pPr>
                <a:r>
                  <a:rPr lang="en-GB" sz="1700">
                    <a:solidFill>
                      <a:schemeClr val="accent1"/>
                    </a:solidFill>
                  </a:rPr>
                  <a:t>To achieve this, we can use Mean Squared Error:</a:t>
                </a:r>
              </a:p>
              <a:p>
                <a:pPr lvl="0" indent="-336550">
                  <a:buClr>
                    <a:schemeClr val="dk2"/>
                  </a:buClr>
                  <a:buSzPts val="1700"/>
                  <a:buChar char="➔"/>
                </a:pPr>
                <a14:m>
                  <m:oMath xmlns:m="http://schemas.openxmlformats.org/officeDocument/2006/math">
                    <m:r>
                      <a:rPr lang="en-GB" sz="1700" b="0" i="1" smtClean="0">
                        <a:solidFill>
                          <a:schemeClr val="accent1"/>
                        </a:solidFill>
                        <a:latin typeface="Cambria Math" panose="02040503050406030204" pitchFamily="18" charset="0"/>
                      </a:rPr>
                      <m:t>𝑀𝑆𝐸</m:t>
                    </m:r>
                    <m:d>
                      <m:dPr>
                        <m:ctrlPr>
                          <a:rPr lang="en-GB" sz="1700" b="0" i="1" smtClean="0">
                            <a:solidFill>
                              <a:schemeClr val="accent1"/>
                            </a:solidFill>
                            <a:latin typeface="Cambria Math" panose="02040503050406030204" pitchFamily="18" charset="0"/>
                          </a:rPr>
                        </m:ctrlPr>
                      </m:dPr>
                      <m:e>
                        <m:r>
                          <a:rPr lang="en-GB" sz="1700" b="0" i="1" smtClean="0">
                            <a:solidFill>
                              <a:schemeClr val="accent1"/>
                            </a:solidFill>
                            <a:latin typeface="Cambria Math" panose="02040503050406030204" pitchFamily="18" charset="0"/>
                          </a:rPr>
                          <m:t>𝑎</m:t>
                        </m:r>
                        <m:r>
                          <a:rPr lang="en-GB" sz="1700" b="0" i="1" smtClean="0">
                            <a:solidFill>
                              <a:schemeClr val="accent1"/>
                            </a:solidFill>
                            <a:latin typeface="Cambria Math" panose="02040503050406030204" pitchFamily="18" charset="0"/>
                          </a:rPr>
                          <m:t>,</m:t>
                        </m:r>
                        <m:r>
                          <a:rPr lang="en-GB" sz="1700" b="0" i="1" smtClean="0">
                            <a:solidFill>
                              <a:schemeClr val="accent1"/>
                            </a:solidFill>
                            <a:latin typeface="Cambria Math" panose="02040503050406030204" pitchFamily="18" charset="0"/>
                          </a:rPr>
                          <m:t>𝑏</m:t>
                        </m:r>
                      </m:e>
                    </m:d>
                    <m:r>
                      <a:rPr lang="en-GB" sz="1700" b="0" i="1" smtClean="0">
                        <a:solidFill>
                          <a:schemeClr val="accent1"/>
                        </a:solidFill>
                        <a:latin typeface="Cambria Math" panose="02040503050406030204" pitchFamily="18" charset="0"/>
                      </a:rPr>
                      <m:t>=</m:t>
                    </m:r>
                    <m:f>
                      <m:fPr>
                        <m:ctrlPr>
                          <a:rPr lang="en-GB" sz="1700" b="0" i="1" smtClean="0">
                            <a:solidFill>
                              <a:schemeClr val="accent1"/>
                            </a:solidFill>
                            <a:latin typeface="Cambria Math" panose="02040503050406030204" pitchFamily="18" charset="0"/>
                          </a:rPr>
                        </m:ctrlPr>
                      </m:fPr>
                      <m:num>
                        <m:r>
                          <a:rPr lang="en-GB" sz="1700" b="0" i="1" smtClean="0">
                            <a:solidFill>
                              <a:schemeClr val="accent1"/>
                            </a:solidFill>
                            <a:latin typeface="Cambria Math" panose="02040503050406030204" pitchFamily="18" charset="0"/>
                          </a:rPr>
                          <m:t>1</m:t>
                        </m:r>
                      </m:num>
                      <m:den>
                        <m:r>
                          <a:rPr lang="en-GB" sz="1700" b="0" i="1" smtClean="0">
                            <a:solidFill>
                              <a:schemeClr val="accent1"/>
                            </a:solidFill>
                            <a:latin typeface="Cambria Math" panose="02040503050406030204" pitchFamily="18" charset="0"/>
                          </a:rPr>
                          <m:t>𝑁</m:t>
                        </m:r>
                      </m:den>
                    </m:f>
                    <m:nary>
                      <m:naryPr>
                        <m:chr m:val="∑"/>
                        <m:ctrlPr>
                          <a:rPr lang="en-GB" sz="1700" b="0" i="1" smtClean="0">
                            <a:solidFill>
                              <a:schemeClr val="accent1"/>
                            </a:solidFill>
                            <a:latin typeface="Cambria Math" panose="02040503050406030204" pitchFamily="18" charset="0"/>
                          </a:rPr>
                        </m:ctrlPr>
                      </m:naryPr>
                      <m:sub>
                        <m:r>
                          <m:rPr>
                            <m:brk m:alnAt="23"/>
                          </m:rPr>
                          <a:rPr lang="en-GB" sz="1700" b="0" i="1" smtClean="0">
                            <a:solidFill>
                              <a:schemeClr val="accent1"/>
                            </a:solidFill>
                            <a:latin typeface="Cambria Math" panose="02040503050406030204" pitchFamily="18" charset="0"/>
                          </a:rPr>
                          <m:t>𝑖</m:t>
                        </m:r>
                        <m:r>
                          <a:rPr lang="en-GB" sz="1700" b="0" i="1" smtClean="0">
                            <a:solidFill>
                              <a:schemeClr val="accent1"/>
                            </a:solidFill>
                            <a:latin typeface="Cambria Math" panose="02040503050406030204" pitchFamily="18" charset="0"/>
                          </a:rPr>
                          <m:t>=1</m:t>
                        </m:r>
                      </m:sub>
                      <m:sup>
                        <m:r>
                          <a:rPr lang="en-GB" sz="1700" b="0" i="1" smtClean="0">
                            <a:solidFill>
                              <a:schemeClr val="accent1"/>
                            </a:solidFill>
                            <a:latin typeface="Cambria Math" panose="02040503050406030204" pitchFamily="18" charset="0"/>
                          </a:rPr>
                          <m:t>𝑁</m:t>
                        </m:r>
                      </m:sup>
                      <m:e>
                        <m:sSup>
                          <m:sSupPr>
                            <m:ctrlPr>
                              <a:rPr lang="en-GB" sz="1700" b="0" i="1" smtClean="0">
                                <a:solidFill>
                                  <a:schemeClr val="accent1"/>
                                </a:solidFill>
                                <a:latin typeface="Cambria Math" panose="02040503050406030204" pitchFamily="18" charset="0"/>
                              </a:rPr>
                            </m:ctrlPr>
                          </m:sSupPr>
                          <m:e>
                            <m:d>
                              <m:dPr>
                                <m:ctrlPr>
                                  <a:rPr lang="en-GB" sz="1700" b="0" i="1" smtClean="0">
                                    <a:solidFill>
                                      <a:schemeClr val="accent1"/>
                                    </a:solidFill>
                                    <a:latin typeface="Cambria Math" panose="02040503050406030204" pitchFamily="18" charset="0"/>
                                  </a:rPr>
                                </m:ctrlPr>
                              </m:dPr>
                              <m:e>
                                <m:sSub>
                                  <m:sSubPr>
                                    <m:ctrlPr>
                                      <a:rPr lang="en-GB" sz="1700" i="1">
                                        <a:latin typeface="Cambria Math" panose="02040503050406030204" pitchFamily="18" charset="0"/>
                                      </a:rPr>
                                    </m:ctrlPr>
                                  </m:sSubPr>
                                  <m:e>
                                    <m:r>
                                      <a:rPr lang="en-GB" sz="1700" i="1">
                                        <a:latin typeface="Cambria Math" panose="02040503050406030204" pitchFamily="18" charset="0"/>
                                      </a:rPr>
                                      <m:t>𝑦</m:t>
                                    </m:r>
                                  </m:e>
                                  <m:sub>
                                    <m:r>
                                      <a:rPr lang="en-GB" sz="1700" i="1">
                                        <a:latin typeface="Cambria Math" panose="02040503050406030204" pitchFamily="18" charset="0"/>
                                      </a:rPr>
                                      <m:t>𝑖</m:t>
                                    </m:r>
                                  </m:sub>
                                </m:sSub>
                                <m:r>
                                  <a:rPr lang="en-GB" sz="1700" b="0" i="1" smtClean="0">
                                    <a:latin typeface="Cambria Math" panose="02040503050406030204" pitchFamily="18" charset="0"/>
                                  </a:rPr>
                                  <m:t>−</m:t>
                                </m:r>
                                <m:acc>
                                  <m:accPr>
                                    <m:chr m:val="̂"/>
                                    <m:ctrlPr>
                                      <a:rPr lang="en-GB" sz="1700" b="0" i="1" smtClean="0">
                                        <a:solidFill>
                                          <a:schemeClr val="accent1"/>
                                        </a:solidFill>
                                        <a:latin typeface="Cambria Math" panose="02040503050406030204" pitchFamily="18" charset="0"/>
                                      </a:rPr>
                                    </m:ctrlPr>
                                  </m:accPr>
                                  <m:e>
                                    <m:sSub>
                                      <m:sSubPr>
                                        <m:ctrlPr>
                                          <a:rPr lang="en-GB" sz="1700" b="0" i="1" smtClean="0">
                                            <a:solidFill>
                                              <a:schemeClr val="accent1"/>
                                            </a:solidFill>
                                            <a:latin typeface="Cambria Math" panose="02040503050406030204" pitchFamily="18" charset="0"/>
                                          </a:rPr>
                                        </m:ctrlPr>
                                      </m:sSubPr>
                                      <m:e>
                                        <m:r>
                                          <a:rPr lang="en-GB" sz="1700" b="0" i="1" smtClean="0">
                                            <a:solidFill>
                                              <a:schemeClr val="accent1"/>
                                            </a:solidFill>
                                            <a:latin typeface="Cambria Math" panose="02040503050406030204" pitchFamily="18" charset="0"/>
                                          </a:rPr>
                                          <m:t>𝑦</m:t>
                                        </m:r>
                                      </m:e>
                                      <m:sub>
                                        <m:r>
                                          <a:rPr lang="en-GB" sz="1700" b="0" i="1" smtClean="0">
                                            <a:solidFill>
                                              <a:schemeClr val="accent1"/>
                                            </a:solidFill>
                                            <a:latin typeface="Cambria Math" panose="02040503050406030204" pitchFamily="18" charset="0"/>
                                          </a:rPr>
                                          <m:t>𝑖</m:t>
                                        </m:r>
                                      </m:sub>
                                    </m:sSub>
                                  </m:e>
                                </m:acc>
                              </m:e>
                            </m:d>
                          </m:e>
                          <m:sup>
                            <m:r>
                              <a:rPr lang="en-GB" sz="1700" b="0" i="1" smtClean="0">
                                <a:solidFill>
                                  <a:schemeClr val="accent1"/>
                                </a:solidFill>
                                <a:latin typeface="Cambria Math" panose="02040503050406030204" pitchFamily="18" charset="0"/>
                              </a:rPr>
                              <m:t>2</m:t>
                            </m:r>
                          </m:sup>
                        </m:sSup>
                      </m:e>
                    </m:nary>
                    <m:r>
                      <a:rPr lang="en-GB" sz="1700" b="0" i="1" smtClean="0">
                        <a:solidFill>
                          <a:schemeClr val="accent1"/>
                        </a:solidFill>
                        <a:latin typeface="Cambria Math" panose="02040503050406030204" pitchFamily="18" charset="0"/>
                      </a:rPr>
                      <m:t>=</m:t>
                    </m:r>
                    <m:f>
                      <m:fPr>
                        <m:ctrlPr>
                          <a:rPr lang="en-GB" sz="1700" i="1">
                            <a:solidFill>
                              <a:schemeClr val="accent1"/>
                            </a:solidFill>
                            <a:latin typeface="Cambria Math" panose="02040503050406030204" pitchFamily="18" charset="0"/>
                          </a:rPr>
                        </m:ctrlPr>
                      </m:fPr>
                      <m:num>
                        <m:r>
                          <a:rPr lang="en-GB" sz="1700" i="1">
                            <a:solidFill>
                              <a:schemeClr val="accent1"/>
                            </a:solidFill>
                            <a:latin typeface="Cambria Math" panose="02040503050406030204" pitchFamily="18" charset="0"/>
                          </a:rPr>
                          <m:t>1</m:t>
                        </m:r>
                      </m:num>
                      <m:den>
                        <m:r>
                          <a:rPr lang="en-GB" sz="1700" i="1">
                            <a:solidFill>
                              <a:schemeClr val="accent1"/>
                            </a:solidFill>
                            <a:latin typeface="Cambria Math" panose="02040503050406030204" pitchFamily="18" charset="0"/>
                          </a:rPr>
                          <m:t>𝑁</m:t>
                        </m:r>
                      </m:den>
                    </m:f>
                    <m:nary>
                      <m:naryPr>
                        <m:chr m:val="∑"/>
                        <m:ctrlPr>
                          <a:rPr lang="en-GB" sz="1700" i="1">
                            <a:solidFill>
                              <a:schemeClr val="accent1"/>
                            </a:solidFill>
                            <a:latin typeface="Cambria Math" panose="02040503050406030204" pitchFamily="18" charset="0"/>
                          </a:rPr>
                        </m:ctrlPr>
                      </m:naryPr>
                      <m:sub>
                        <m:r>
                          <m:rPr>
                            <m:brk m:alnAt="23"/>
                          </m:rPr>
                          <a:rPr lang="en-GB" sz="1700" i="1">
                            <a:solidFill>
                              <a:schemeClr val="accent1"/>
                            </a:solidFill>
                            <a:latin typeface="Cambria Math" panose="02040503050406030204" pitchFamily="18" charset="0"/>
                          </a:rPr>
                          <m:t>𝑖</m:t>
                        </m:r>
                        <m:r>
                          <a:rPr lang="en-GB" sz="1700" i="1">
                            <a:solidFill>
                              <a:schemeClr val="accent1"/>
                            </a:solidFill>
                            <a:latin typeface="Cambria Math" panose="02040503050406030204" pitchFamily="18" charset="0"/>
                          </a:rPr>
                          <m:t>=1</m:t>
                        </m:r>
                      </m:sub>
                      <m:sup>
                        <m:r>
                          <a:rPr lang="en-GB" sz="1700" i="1">
                            <a:solidFill>
                              <a:schemeClr val="accent1"/>
                            </a:solidFill>
                            <a:latin typeface="Cambria Math" panose="02040503050406030204" pitchFamily="18" charset="0"/>
                          </a:rPr>
                          <m:t>𝑁</m:t>
                        </m:r>
                      </m:sup>
                      <m:e>
                        <m:sSup>
                          <m:sSupPr>
                            <m:ctrlPr>
                              <a:rPr lang="en-GB" sz="1700" i="1">
                                <a:solidFill>
                                  <a:schemeClr val="accent1"/>
                                </a:solidFill>
                                <a:latin typeface="Cambria Math" panose="02040503050406030204" pitchFamily="18" charset="0"/>
                              </a:rPr>
                            </m:ctrlPr>
                          </m:sSupPr>
                          <m:e>
                            <m:d>
                              <m:dPr>
                                <m:ctrlPr>
                                  <a:rPr lang="en-GB" sz="1700" i="1">
                                    <a:solidFill>
                                      <a:schemeClr val="accent1"/>
                                    </a:solidFill>
                                    <a:latin typeface="Cambria Math" panose="02040503050406030204" pitchFamily="18" charset="0"/>
                                  </a:rPr>
                                </m:ctrlPr>
                              </m:dPr>
                              <m:e>
                                <m:sSub>
                                  <m:sSubPr>
                                    <m:ctrlPr>
                                      <a:rPr lang="en-GB" sz="1700" i="1">
                                        <a:latin typeface="Cambria Math" panose="02040503050406030204" pitchFamily="18" charset="0"/>
                                      </a:rPr>
                                    </m:ctrlPr>
                                  </m:sSubPr>
                                  <m:e>
                                    <m:r>
                                      <a:rPr lang="en-GB" sz="1700" i="1">
                                        <a:latin typeface="Cambria Math" panose="02040503050406030204" pitchFamily="18" charset="0"/>
                                      </a:rPr>
                                      <m:t>𝑦</m:t>
                                    </m:r>
                                  </m:e>
                                  <m:sub>
                                    <m:r>
                                      <a:rPr lang="en-GB" sz="1700" i="1">
                                        <a:latin typeface="Cambria Math" panose="02040503050406030204" pitchFamily="18" charset="0"/>
                                      </a:rPr>
                                      <m:t>𝑖</m:t>
                                    </m:r>
                                  </m:sub>
                                </m:sSub>
                                <m:r>
                                  <a:rPr lang="en-GB" sz="1700" b="0" i="1" smtClean="0">
                                    <a:latin typeface="Cambria Math" panose="02040503050406030204" pitchFamily="18" charset="0"/>
                                  </a:rPr>
                                  <m:t>−</m:t>
                                </m:r>
                                <m:d>
                                  <m:dPr>
                                    <m:ctrlPr>
                                      <a:rPr lang="en-GB" sz="1700" b="0" i="1" smtClean="0">
                                        <a:solidFill>
                                          <a:schemeClr val="accent1"/>
                                        </a:solidFill>
                                        <a:latin typeface="Cambria Math" panose="02040503050406030204" pitchFamily="18" charset="0"/>
                                      </a:rPr>
                                    </m:ctrlPr>
                                  </m:dPr>
                                  <m:e>
                                    <m:r>
                                      <a:rPr lang="en-GB" sz="1700" b="0" i="1" smtClean="0">
                                        <a:solidFill>
                                          <a:schemeClr val="accent1"/>
                                        </a:solidFill>
                                        <a:latin typeface="Cambria Math" panose="02040503050406030204" pitchFamily="18" charset="0"/>
                                      </a:rPr>
                                      <m:t>𝑎</m:t>
                                    </m:r>
                                    <m:sSub>
                                      <m:sSubPr>
                                        <m:ctrlPr>
                                          <a:rPr lang="en-GB" sz="1700" b="0" i="1" smtClean="0">
                                            <a:solidFill>
                                              <a:schemeClr val="accent1"/>
                                            </a:solidFill>
                                            <a:latin typeface="Cambria Math" panose="02040503050406030204" pitchFamily="18" charset="0"/>
                                          </a:rPr>
                                        </m:ctrlPr>
                                      </m:sSubPr>
                                      <m:e>
                                        <m:r>
                                          <a:rPr lang="en-GB" sz="1700" b="0" i="1" smtClean="0">
                                            <a:solidFill>
                                              <a:schemeClr val="accent1"/>
                                            </a:solidFill>
                                            <a:latin typeface="Cambria Math" panose="02040503050406030204" pitchFamily="18" charset="0"/>
                                          </a:rPr>
                                          <m:t>𝑥</m:t>
                                        </m:r>
                                      </m:e>
                                      <m:sub>
                                        <m:r>
                                          <a:rPr lang="en-GB" sz="1700" b="0" i="1" smtClean="0">
                                            <a:solidFill>
                                              <a:schemeClr val="accent1"/>
                                            </a:solidFill>
                                            <a:latin typeface="Cambria Math" panose="02040503050406030204" pitchFamily="18" charset="0"/>
                                          </a:rPr>
                                          <m:t>𝑖</m:t>
                                        </m:r>
                                      </m:sub>
                                    </m:sSub>
                                    <m:r>
                                      <a:rPr lang="en-GB" sz="1700" b="0" i="1" smtClean="0">
                                        <a:solidFill>
                                          <a:schemeClr val="accent1"/>
                                        </a:solidFill>
                                        <a:latin typeface="Cambria Math" panose="02040503050406030204" pitchFamily="18" charset="0"/>
                                      </a:rPr>
                                      <m:t>+</m:t>
                                    </m:r>
                                    <m:r>
                                      <a:rPr lang="en-GB" sz="1700" b="0" i="1" smtClean="0">
                                        <a:solidFill>
                                          <a:schemeClr val="accent1"/>
                                        </a:solidFill>
                                        <a:latin typeface="Cambria Math" panose="02040503050406030204" pitchFamily="18" charset="0"/>
                                      </a:rPr>
                                      <m:t>𝑏</m:t>
                                    </m:r>
                                  </m:e>
                                </m:d>
                              </m:e>
                            </m:d>
                          </m:e>
                          <m:sup>
                            <m:r>
                              <a:rPr lang="en-GB" sz="1700" i="1">
                                <a:solidFill>
                                  <a:schemeClr val="accent1"/>
                                </a:solidFill>
                                <a:latin typeface="Cambria Math" panose="02040503050406030204" pitchFamily="18" charset="0"/>
                              </a:rPr>
                              <m:t>2</m:t>
                            </m:r>
                          </m:sup>
                        </m:sSup>
                      </m:e>
                    </m:nary>
                  </m:oMath>
                </a14:m>
                <a:endParaRPr lang="en-GB" sz="1700">
                  <a:solidFill>
                    <a:schemeClr val="accent1"/>
                  </a:solidFill>
                </a:endParaRPr>
              </a:p>
              <a:p>
                <a:pPr marL="120650" lvl="0" indent="0">
                  <a:buClr>
                    <a:schemeClr val="dk2"/>
                  </a:buClr>
                  <a:buSzPts val="1700"/>
                  <a:buNone/>
                </a:pPr>
                <a:r>
                  <a:rPr lang="en-GB" sz="1700">
                    <a:solidFill>
                      <a:schemeClr val="accent1"/>
                    </a:solidFill>
                  </a:rPr>
                  <a:t>Here, </a:t>
                </a:r>
                <a14:m>
                  <m:oMath xmlns:m="http://schemas.openxmlformats.org/officeDocument/2006/math">
                    <m:acc>
                      <m:accPr>
                        <m:chr m:val="̂"/>
                        <m:ctrlPr>
                          <a:rPr lang="en-GB" sz="1700" i="1">
                            <a:solidFill>
                              <a:schemeClr val="accent1"/>
                            </a:solidFill>
                            <a:latin typeface="Cambria Math" panose="02040503050406030204" pitchFamily="18" charset="0"/>
                          </a:rPr>
                        </m:ctrlPr>
                      </m:accPr>
                      <m:e>
                        <m:sSub>
                          <m:sSubPr>
                            <m:ctrlPr>
                              <a:rPr lang="en-GB" sz="1700" i="1">
                                <a:solidFill>
                                  <a:schemeClr val="accent1"/>
                                </a:solidFill>
                                <a:latin typeface="Cambria Math" panose="02040503050406030204" pitchFamily="18" charset="0"/>
                              </a:rPr>
                            </m:ctrlPr>
                          </m:sSubPr>
                          <m:e>
                            <m:r>
                              <a:rPr lang="en-GB" sz="1700" i="1">
                                <a:solidFill>
                                  <a:schemeClr val="accent1"/>
                                </a:solidFill>
                                <a:latin typeface="Cambria Math" panose="02040503050406030204" pitchFamily="18" charset="0"/>
                              </a:rPr>
                              <m:t>𝑦</m:t>
                            </m:r>
                          </m:e>
                          <m:sub>
                            <m:r>
                              <a:rPr lang="en-GB" sz="1700" i="1">
                                <a:solidFill>
                                  <a:schemeClr val="accent1"/>
                                </a:solidFill>
                                <a:latin typeface="Cambria Math" panose="02040503050406030204" pitchFamily="18" charset="0"/>
                              </a:rPr>
                              <m:t>𝑖</m:t>
                            </m:r>
                          </m:sub>
                        </m:sSub>
                      </m:e>
                    </m:acc>
                  </m:oMath>
                </a14:m>
                <a:r>
                  <a:rPr lang="en-GB" sz="1700">
                    <a:solidFill>
                      <a:schemeClr val="accent1"/>
                    </a:solidFill>
                  </a:rPr>
                  <a:t> is the predicted value, driven by the linear equation</a:t>
                </a:r>
              </a:p>
              <a:p>
                <a:pPr marL="457200" lvl="0" indent="-336550" algn="l" rtl="0">
                  <a:lnSpc>
                    <a:spcPct val="150000"/>
                  </a:lnSpc>
                  <a:spcBef>
                    <a:spcPts val="0"/>
                  </a:spcBef>
                  <a:spcAft>
                    <a:spcPts val="0"/>
                  </a:spcAft>
                  <a:buClr>
                    <a:schemeClr val="dk2"/>
                  </a:buClr>
                  <a:buSzPts val="1700"/>
                  <a:buChar char="➔"/>
                </a:pPr>
                <a:r>
                  <a:rPr lang="en-GB" sz="1700">
                    <a:solidFill>
                      <a:schemeClr val="accent1"/>
                    </a:solidFill>
                  </a:rPr>
                  <a:t>For many theoretical and practical reasons, MSE is a great performance measure (or loss function) choice for a linear regression problem. </a:t>
                </a:r>
              </a:p>
            </p:txBody>
          </p:sp>
        </mc:Choice>
        <mc:Fallback>
          <p:sp>
            <p:nvSpPr>
              <p:cNvPr id="347" name="Google Shape;347;p37"/>
              <p:cNvSpPr txBox="1">
                <a:spLocks noGrp="1" noRot="1" noChangeAspect="1" noMove="1" noResize="1" noEditPoints="1" noAdjustHandles="1" noChangeArrowheads="1" noChangeShapeType="1" noTextEdit="1"/>
              </p:cNvSpPr>
              <p:nvPr>
                <p:ph type="body" idx="1"/>
              </p:nvPr>
            </p:nvSpPr>
            <p:spPr>
              <a:xfrm>
                <a:off x="727650" y="1356627"/>
                <a:ext cx="7688700" cy="3348900"/>
              </a:xfrm>
              <a:prstGeom prst="rect">
                <a:avLst/>
              </a:prstGeom>
              <a:blipFill>
                <a:blip r:embed="rId3"/>
                <a:stretch>
                  <a:fillRect/>
                </a:stretch>
              </a:blipFill>
              <a:ln>
                <a:noFill/>
              </a:ln>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4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4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38"/>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Mean squared error (MSE)</a:t>
            </a:r>
            <a:endParaRPr/>
          </a:p>
        </p:txBody>
      </p:sp>
      <p:sp>
        <p:nvSpPr>
          <p:cNvPr id="354" name="Google Shape;354;p38"/>
          <p:cNvSpPr txBox="1">
            <a:spLocks noGrp="1"/>
          </p:cNvSpPr>
          <p:nvPr>
            <p:ph type="body" idx="1"/>
          </p:nvPr>
        </p:nvSpPr>
        <p:spPr>
          <a:xfrm>
            <a:off x="727650" y="1356627"/>
            <a:ext cx="7688700" cy="3348900"/>
          </a:xfrm>
          <a:prstGeom prst="rect">
            <a:avLst/>
          </a:prstGeom>
          <a:noFill/>
          <a:ln>
            <a:noFill/>
          </a:ln>
        </p:spPr>
        <p:txBody>
          <a:bodyPr spcFirstLastPara="1" wrap="square" lIns="91425" tIns="91425" rIns="91425" bIns="91425" anchor="t" anchorCtr="0">
            <a:normAutofit/>
          </a:bodyPr>
          <a:lstStyle/>
          <a:p>
            <a:pPr marL="0" lvl="0" indent="0" algn="l" rtl="0">
              <a:lnSpc>
                <a:spcPct val="150000"/>
              </a:lnSpc>
              <a:spcBef>
                <a:spcPts val="0"/>
              </a:spcBef>
              <a:spcAft>
                <a:spcPts val="0"/>
              </a:spcAft>
              <a:buSzPts val="1300"/>
              <a:buNone/>
            </a:pPr>
            <a:r>
              <a:rPr lang="en" sz="1600" b="1"/>
              <a:t>MSE is widely used due to the following properties:</a:t>
            </a:r>
            <a:endParaRPr sz="1600" b="1"/>
          </a:p>
          <a:p>
            <a:pPr marL="457200" lvl="0" indent="-330200" algn="l" rtl="0">
              <a:lnSpc>
                <a:spcPct val="150000"/>
              </a:lnSpc>
              <a:spcBef>
                <a:spcPts val="400"/>
              </a:spcBef>
              <a:spcAft>
                <a:spcPts val="0"/>
              </a:spcAft>
              <a:buSzPts val="1600"/>
              <a:buChar char="➔"/>
            </a:pPr>
            <a:r>
              <a:rPr lang="en" sz="1600"/>
              <a:t>Easy to calculate</a:t>
            </a:r>
          </a:p>
          <a:p>
            <a:pPr marL="457200" lvl="0" indent="-330200" algn="l" rtl="0">
              <a:lnSpc>
                <a:spcPct val="150000"/>
              </a:lnSpc>
              <a:spcBef>
                <a:spcPts val="400"/>
              </a:spcBef>
              <a:spcAft>
                <a:spcPts val="0"/>
              </a:spcAft>
              <a:buSzPts val="1600"/>
              <a:buChar char="➔"/>
            </a:pPr>
            <a:r>
              <a:rPr lang="en" sz="1600"/>
              <a:t>The </a:t>
            </a:r>
            <a:r>
              <a:rPr lang="en" sz="1600" b="1"/>
              <a:t>magnitude</a:t>
            </a:r>
            <a:r>
              <a:rPr lang="en" sz="1600"/>
              <a:t> of the error is more important than the </a:t>
            </a:r>
            <a:r>
              <a:rPr lang="en" sz="1600" b="1"/>
              <a:t>direction</a:t>
            </a:r>
            <a:r>
              <a:rPr lang="en" sz="1600"/>
              <a:t> of error.</a:t>
            </a:r>
            <a:endParaRPr sz="1600"/>
          </a:p>
          <a:p>
            <a:pPr marL="457200" lvl="0" indent="-330200" algn="l" rtl="0">
              <a:lnSpc>
                <a:spcPct val="150000"/>
              </a:lnSpc>
              <a:spcBef>
                <a:spcPts val="400"/>
              </a:spcBef>
              <a:spcAft>
                <a:spcPts val="0"/>
              </a:spcAft>
              <a:buSzPts val="1600"/>
              <a:buChar char="➔"/>
            </a:pPr>
            <a:r>
              <a:rPr lang="en" sz="1600"/>
              <a:t>The penalty increases </a:t>
            </a:r>
            <a:r>
              <a:rPr lang="en" sz="1600" b="1"/>
              <a:t>quadratically</a:t>
            </a:r>
            <a:r>
              <a:rPr lang="en" sz="1600"/>
              <a:t> as the distance between the point and the line increases (more small residuals are preferable to one large residual).</a:t>
            </a:r>
            <a:endParaRPr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40"/>
          <p:cNvSpPr txBox="1">
            <a:spLocks noGrp="1"/>
          </p:cNvSpPr>
          <p:nvPr>
            <p:ph type="title"/>
          </p:nvPr>
        </p:nvSpPr>
        <p:spPr>
          <a:xfrm>
            <a:off x="620075" y="677200"/>
            <a:ext cx="84966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How do we find the best coefficients?</a:t>
            </a:r>
            <a:endParaRPr/>
          </a:p>
        </p:txBody>
      </p:sp>
      <p:sp>
        <p:nvSpPr>
          <p:cNvPr id="366" name="Google Shape;366;p40"/>
          <p:cNvSpPr txBox="1">
            <a:spLocks noGrp="1"/>
          </p:cNvSpPr>
          <p:nvPr>
            <p:ph type="body" idx="1"/>
          </p:nvPr>
        </p:nvSpPr>
        <p:spPr>
          <a:xfrm>
            <a:off x="727650" y="1356627"/>
            <a:ext cx="7688700" cy="3348900"/>
          </a:xfrm>
          <a:prstGeom prst="rect">
            <a:avLst/>
          </a:prstGeom>
          <a:noFill/>
          <a:ln>
            <a:noFill/>
          </a:ln>
        </p:spPr>
        <p:txBody>
          <a:bodyPr spcFirstLastPara="1" wrap="square" lIns="91425" tIns="91425" rIns="91425" bIns="91425" anchor="t" anchorCtr="0">
            <a:normAutofit/>
          </a:bodyPr>
          <a:lstStyle/>
          <a:p>
            <a:pPr marL="0" lvl="0" indent="0" algn="l" rtl="0">
              <a:lnSpc>
                <a:spcPct val="150000"/>
              </a:lnSpc>
              <a:spcBef>
                <a:spcPts val="0"/>
              </a:spcBef>
              <a:spcAft>
                <a:spcPts val="0"/>
              </a:spcAft>
              <a:buSzPts val="1300"/>
              <a:buNone/>
            </a:pPr>
            <a:r>
              <a:rPr lang="en" sz="1600" b="1"/>
              <a:t>Goal:</a:t>
            </a:r>
            <a:endParaRPr sz="1600" b="1"/>
          </a:p>
          <a:p>
            <a:pPr marL="457200" lvl="0" indent="-330200" algn="l" rtl="0">
              <a:lnSpc>
                <a:spcPct val="150000"/>
              </a:lnSpc>
              <a:spcBef>
                <a:spcPts val="1200"/>
              </a:spcBef>
              <a:spcAft>
                <a:spcPts val="0"/>
              </a:spcAft>
              <a:buSzPts val="1600"/>
              <a:buChar char="➔"/>
            </a:pPr>
            <a:r>
              <a:rPr lang="en" sz="1600"/>
              <a:t>We want to estimate the coefficients </a:t>
            </a:r>
            <a:r>
              <a:rPr lang="en" sz="1600" i="1">
                <a:latin typeface="Times New Roman"/>
                <a:ea typeface="Times New Roman"/>
                <a:cs typeface="Times New Roman"/>
                <a:sym typeface="Times New Roman"/>
              </a:rPr>
              <a:t>a</a:t>
            </a:r>
            <a:r>
              <a:rPr lang="en" sz="1600"/>
              <a:t> and </a:t>
            </a:r>
            <a:r>
              <a:rPr lang="en" sz="1600" i="1">
                <a:latin typeface="Times New Roman"/>
                <a:ea typeface="Times New Roman"/>
                <a:cs typeface="Times New Roman"/>
                <a:sym typeface="Times New Roman"/>
              </a:rPr>
              <a:t>b</a:t>
            </a:r>
            <a:r>
              <a:rPr lang="en" sz="1600"/>
              <a:t> such that MSE is minimised.</a:t>
            </a:r>
            <a:endParaRPr sz="1600"/>
          </a:p>
          <a:p>
            <a:pPr marL="457200" lvl="0" indent="-330200" algn="l" rtl="0">
              <a:lnSpc>
                <a:spcPct val="150000"/>
              </a:lnSpc>
              <a:spcBef>
                <a:spcPts val="0"/>
              </a:spcBef>
              <a:spcAft>
                <a:spcPts val="0"/>
              </a:spcAft>
              <a:buSzPts val="1600"/>
              <a:buChar char="➔"/>
            </a:pPr>
            <a:r>
              <a:rPr lang="en" sz="1600"/>
              <a:t>The estimate of the coefficients at which MSE is minimal is called the </a:t>
            </a:r>
            <a:r>
              <a:rPr lang="en" sz="1600" b="1"/>
              <a:t>least squares estimate</a:t>
            </a:r>
            <a:r>
              <a:rPr lang="en" sz="1600"/>
              <a:t>.</a:t>
            </a:r>
            <a:endParaRPr sz="1600"/>
          </a:p>
          <a:p>
            <a:pPr marL="0" lvl="0" indent="0" algn="l" rtl="0">
              <a:lnSpc>
                <a:spcPct val="150000"/>
              </a:lnSpc>
              <a:spcBef>
                <a:spcPts val="1200"/>
              </a:spcBef>
              <a:spcAft>
                <a:spcPts val="0"/>
              </a:spcAft>
              <a:buSzPts val="1300"/>
              <a:buNone/>
            </a:pPr>
            <a:r>
              <a:rPr lang="en" sz="1600" b="1"/>
              <a:t>How we get there:</a:t>
            </a:r>
            <a:endParaRPr sz="1600" b="1"/>
          </a:p>
          <a:p>
            <a:pPr marL="457200" lvl="0" indent="-330200" algn="l" rtl="0">
              <a:lnSpc>
                <a:spcPct val="150000"/>
              </a:lnSpc>
              <a:spcBef>
                <a:spcPts val="1200"/>
              </a:spcBef>
              <a:spcAft>
                <a:spcPts val="0"/>
              </a:spcAft>
              <a:buSzPts val="1600"/>
              <a:buChar char="➔"/>
            </a:pPr>
            <a:r>
              <a:rPr lang="en" sz="1600"/>
              <a:t>Find the values </a:t>
            </a:r>
            <a:r>
              <a:rPr lang="en" sz="1600" i="1">
                <a:latin typeface="Times New Roman"/>
                <a:ea typeface="Times New Roman"/>
                <a:cs typeface="Times New Roman"/>
                <a:sym typeface="Times New Roman"/>
              </a:rPr>
              <a:t>a</a:t>
            </a:r>
            <a:r>
              <a:rPr lang="en" sz="1600"/>
              <a:t> and </a:t>
            </a:r>
            <a:r>
              <a:rPr lang="en" sz="1600" i="1">
                <a:latin typeface="Times New Roman"/>
                <a:ea typeface="Times New Roman"/>
                <a:cs typeface="Times New Roman"/>
                <a:sym typeface="Times New Roman"/>
              </a:rPr>
              <a:t>b</a:t>
            </a:r>
            <a:r>
              <a:rPr lang="en" sz="1600"/>
              <a:t> that minimise MSE → where </a:t>
            </a:r>
            <a:r>
              <a:rPr lang="en" sz="1600" b="1"/>
              <a:t>gradient is zero</a:t>
            </a:r>
            <a:r>
              <a:rPr lang="en" sz="1600"/>
              <a:t>.</a:t>
            </a:r>
            <a:endParaRPr sz="1600"/>
          </a:p>
          <a:p>
            <a:pPr marL="457200" lvl="0" indent="-330200" algn="l" rtl="0">
              <a:lnSpc>
                <a:spcPct val="150000"/>
              </a:lnSpc>
              <a:spcBef>
                <a:spcPts val="0"/>
              </a:spcBef>
              <a:spcAft>
                <a:spcPts val="0"/>
              </a:spcAft>
              <a:buSzPts val="1600"/>
              <a:buChar char="➔"/>
            </a:pPr>
            <a:r>
              <a:rPr lang="en" sz="1600"/>
              <a:t>Since MSE depends on two variables, we will use </a:t>
            </a:r>
            <a:r>
              <a:rPr lang="en" sz="1600" b="1"/>
              <a:t>partial derivatives</a:t>
            </a:r>
            <a:r>
              <a:rPr lang="en" sz="1600"/>
              <a:t>.</a:t>
            </a:r>
            <a:endParaRPr sz="1600"/>
          </a:p>
          <a:p>
            <a:pPr marL="0" lvl="0" indent="0" algn="l" rtl="0">
              <a:lnSpc>
                <a:spcPct val="150000"/>
              </a:lnSpc>
              <a:spcBef>
                <a:spcPts val="1200"/>
              </a:spcBef>
              <a:spcAft>
                <a:spcPts val="1200"/>
              </a:spcAft>
              <a:buSzPts val="1300"/>
              <a:buNone/>
            </a:pPr>
            <a:endParaRPr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6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6">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66">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6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41"/>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Computing the least squares estimate</a:t>
            </a:r>
            <a:endParaRP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A6939D42-599E-551F-D835-3CBE1A6B25CF}"/>
                  </a:ext>
                </a:extLst>
              </p:cNvPr>
              <p:cNvSpPr>
                <a:spLocks noGrp="1"/>
              </p:cNvSpPr>
              <p:nvPr>
                <p:ph type="body" idx="1"/>
              </p:nvPr>
            </p:nvSpPr>
            <p:spPr/>
            <p:txBody>
              <a:bodyPr>
                <a:normAutofit fontScale="85000" lnSpcReduction="10000"/>
              </a:bodyPr>
              <a:lstStyle/>
              <a:p>
                <a:r>
                  <a:rPr lang="en-GB"/>
                  <a:t>The objective is to minimize </a:t>
                </a:r>
                <a14:m>
                  <m:oMath xmlns:m="http://schemas.openxmlformats.org/officeDocument/2006/math">
                    <m:r>
                      <m:rPr>
                        <m:sty m:val="p"/>
                      </m:rPr>
                      <a:rPr lang="en-GB" sz="1800" b="0" i="0" smtClean="0">
                        <a:solidFill>
                          <a:schemeClr val="accent1"/>
                        </a:solidFill>
                        <a:latin typeface="Cambria Math" panose="02040503050406030204" pitchFamily="18" charset="0"/>
                      </a:rPr>
                      <m:t>MSE</m:t>
                    </m:r>
                    <m:r>
                      <a:rPr lang="en-GB" sz="1800" b="0" i="0" smtClean="0">
                        <a:solidFill>
                          <a:schemeClr val="accent1"/>
                        </a:solidFill>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𝑁</m:t>
                        </m:r>
                      </m:den>
                    </m:f>
                    <m:nary>
                      <m:naryPr>
                        <m:chr m:val="∑"/>
                        <m:ctrlPr>
                          <a:rPr lang="en-GB" i="1">
                            <a:latin typeface="Cambria Math" panose="02040503050406030204" pitchFamily="18" charset="0"/>
                          </a:rPr>
                        </m:ctrlPr>
                      </m:naryPr>
                      <m:sub>
                        <m:r>
                          <m:rPr>
                            <m:brk m:alnAt="23"/>
                          </m:rPr>
                          <a:rPr lang="en-GB" i="1">
                            <a:latin typeface="Cambria Math" panose="02040503050406030204" pitchFamily="18" charset="0"/>
                          </a:rPr>
                          <m:t>𝑖</m:t>
                        </m:r>
                        <m:r>
                          <a:rPr lang="en-GB" i="1">
                            <a:latin typeface="Cambria Math" panose="02040503050406030204" pitchFamily="18" charset="0"/>
                          </a:rPr>
                          <m:t>=1</m:t>
                        </m:r>
                      </m:sub>
                      <m:sup>
                        <m:r>
                          <a:rPr lang="en-GB" i="1">
                            <a:latin typeface="Cambria Math" panose="02040503050406030204" pitchFamily="18" charset="0"/>
                          </a:rPr>
                          <m:t>𝑁</m:t>
                        </m:r>
                      </m:sup>
                      <m:e>
                        <m:sSup>
                          <m:sSupPr>
                            <m:ctrlPr>
                              <a:rPr lang="en-GB" i="1">
                                <a:latin typeface="Cambria Math" panose="02040503050406030204" pitchFamily="18" charset="0"/>
                              </a:rPr>
                            </m:ctrlPr>
                          </m:sSupPr>
                          <m:e>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sub>
                                </m:sSub>
                                <m:r>
                                  <a:rPr lang="en-GB" i="1">
                                    <a:latin typeface="Cambria Math" panose="02040503050406030204" pitchFamily="18" charset="0"/>
                                  </a:rPr>
                                  <m:t>−</m:t>
                                </m:r>
                                <m:r>
                                  <a:rPr lang="en-GB" i="1">
                                    <a:latin typeface="Cambria Math" panose="02040503050406030204" pitchFamily="18" charset="0"/>
                                  </a:rPr>
                                  <m:t>𝑎</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𝑖</m:t>
                                    </m:r>
                                  </m:sub>
                                </m:sSub>
                                <m:r>
                                  <a:rPr lang="en-GB" i="1">
                                    <a:latin typeface="Cambria Math" panose="02040503050406030204" pitchFamily="18" charset="0"/>
                                  </a:rPr>
                                  <m:t>−</m:t>
                                </m:r>
                                <m:r>
                                  <a:rPr lang="en-GB" i="1">
                                    <a:latin typeface="Cambria Math" panose="02040503050406030204" pitchFamily="18" charset="0"/>
                                  </a:rPr>
                                  <m:t>𝑏</m:t>
                                </m:r>
                              </m:e>
                            </m:d>
                          </m:e>
                          <m:sup>
                            <m:r>
                              <a:rPr lang="en-GB" i="1">
                                <a:latin typeface="Cambria Math" panose="02040503050406030204" pitchFamily="18" charset="0"/>
                              </a:rPr>
                              <m:t>2</m:t>
                            </m:r>
                          </m:sup>
                        </m:sSup>
                      </m:e>
                    </m:nary>
                  </m:oMath>
                </a14:m>
                <a:endParaRPr lang="en-GB"/>
              </a:p>
              <a:p>
                <a:r>
                  <a:rPr lang="en-GB"/>
                  <a:t>MSE involves two variables </a:t>
                </a:r>
                <a14:m>
                  <m:oMath xmlns:m="http://schemas.openxmlformats.org/officeDocument/2006/math">
                    <m:r>
                      <a:rPr lang="en-GB" i="1" dirty="0" smtClean="0">
                        <a:latin typeface="Cambria Math" panose="02040503050406030204" pitchFamily="18" charset="0"/>
                      </a:rPr>
                      <m:t>𝑎</m:t>
                    </m:r>
                  </m:oMath>
                </a14:m>
                <a:r>
                  <a:rPr lang="en-GB"/>
                  <a:t> and </a:t>
                </a:r>
                <a14:m>
                  <m:oMath xmlns:m="http://schemas.openxmlformats.org/officeDocument/2006/math">
                    <m:r>
                      <a:rPr lang="en-GB" i="1" dirty="0" smtClean="0">
                        <a:latin typeface="Cambria Math" panose="02040503050406030204" pitchFamily="18" charset="0"/>
                      </a:rPr>
                      <m:t>𝑏</m:t>
                    </m:r>
                  </m:oMath>
                </a14:m>
                <a:r>
                  <a:rPr lang="en-GB"/>
                  <a:t>, therefore MSE can be represented as </a:t>
                </a:r>
                <a14:m>
                  <m:oMath xmlns:m="http://schemas.openxmlformats.org/officeDocument/2006/math">
                    <m:r>
                      <a:rPr lang="en-GB" b="0" i="1" smtClean="0">
                        <a:latin typeface="Cambria Math" panose="02040503050406030204" pitchFamily="18" charset="0"/>
                      </a:rPr>
                      <m:t>𝐽</m:t>
                    </m:r>
                    <m:r>
                      <a:rPr lang="en-GB" b="0" i="1" smtClean="0">
                        <a:latin typeface="Cambria Math" panose="02040503050406030204" pitchFamily="18" charset="0"/>
                      </a:rPr>
                      <m:t>(</m:t>
                    </m:r>
                    <m:r>
                      <a:rPr lang="en-GB" b="0" i="1" smtClean="0">
                        <a:latin typeface="Cambria Math" panose="02040503050406030204" pitchFamily="18" charset="0"/>
                      </a:rPr>
                      <m:t>𝑎</m:t>
                    </m:r>
                    <m:r>
                      <a:rPr lang="en-GB" b="0" i="1" smtClean="0">
                        <a:latin typeface="Cambria Math" panose="02040503050406030204" pitchFamily="18" charset="0"/>
                      </a:rPr>
                      <m:t>,</m:t>
                    </m:r>
                    <m:r>
                      <a:rPr lang="en-GB" b="0" i="1" smtClean="0">
                        <a:latin typeface="Cambria Math" panose="02040503050406030204" pitchFamily="18" charset="0"/>
                      </a:rPr>
                      <m:t>𝑏</m:t>
                    </m:r>
                    <m:r>
                      <a:rPr lang="en-GB" b="0" i="1" smtClean="0">
                        <a:latin typeface="Cambria Math" panose="02040503050406030204" pitchFamily="18" charset="0"/>
                      </a:rPr>
                      <m:t>)</m:t>
                    </m:r>
                  </m:oMath>
                </a14:m>
                <a:r>
                  <a:rPr lang="en-GB"/>
                  <a:t>.</a:t>
                </a:r>
              </a:p>
              <a:p>
                <a:r>
                  <a:rPr lang="en-GB"/>
                  <a:t>We take partial derivatives set them to 0 to find minimum.</a:t>
                </a:r>
              </a:p>
              <a:p>
                <a:r>
                  <a:rPr lang="en-GB" b="0"/>
                  <a:t>With respect to </a:t>
                </a:r>
                <a14:m>
                  <m:oMath xmlns:m="http://schemas.openxmlformats.org/officeDocument/2006/math">
                    <m:r>
                      <a:rPr lang="en-GB" b="0" i="1" dirty="0" smtClean="0">
                        <a:latin typeface="Cambria Math" panose="02040503050406030204" pitchFamily="18" charset="0"/>
                      </a:rPr>
                      <m:t>𝑎</m:t>
                    </m:r>
                  </m:oMath>
                </a14:m>
                <a:r>
                  <a:rPr lang="en-GB" b="0"/>
                  <a:t> (where </a:t>
                </a:r>
                <a14:m>
                  <m:oMath xmlns:m="http://schemas.openxmlformats.org/officeDocument/2006/math">
                    <m:r>
                      <a:rPr lang="en-GB" b="0" i="1" smtClean="0">
                        <a:latin typeface="Cambria Math" panose="02040503050406030204" pitchFamily="18" charset="0"/>
                      </a:rPr>
                      <m:t>𝑏</m:t>
                    </m:r>
                  </m:oMath>
                </a14:m>
                <a:r>
                  <a:rPr lang="en-GB" b="0"/>
                  <a:t> is fixed): </a:t>
                </a:r>
                <a14:m>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rPr>
                          <m:t>𝐽</m:t>
                        </m:r>
                      </m:num>
                      <m:den>
                        <m:r>
                          <a:rPr lang="en-GB" i="1">
                            <a:latin typeface="Cambria Math" panose="02040503050406030204" pitchFamily="18" charset="0"/>
                            <a:ea typeface="Cambria Math" panose="02040503050406030204" pitchFamily="18" charset="0"/>
                          </a:rPr>
                          <m:t>𝜕</m:t>
                        </m:r>
                        <m:r>
                          <a:rPr lang="en-GB" b="0" i="1" smtClean="0">
                            <a:latin typeface="Cambria Math" panose="02040503050406030204" pitchFamily="18" charset="0"/>
                          </a:rPr>
                          <m:t>𝑎</m:t>
                        </m:r>
                      </m:den>
                    </m:f>
                    <m:r>
                      <a:rPr lang="en-GB" b="0" i="1"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𝑁</m:t>
                        </m:r>
                      </m:den>
                    </m:f>
                    <m:nary>
                      <m:naryPr>
                        <m:chr m:val="∑"/>
                        <m:ctrlPr>
                          <a:rPr lang="en-GB" i="1">
                            <a:latin typeface="Cambria Math" panose="02040503050406030204" pitchFamily="18" charset="0"/>
                          </a:rPr>
                        </m:ctrlPr>
                      </m:naryPr>
                      <m:sub>
                        <m:r>
                          <m:rPr>
                            <m:brk m:alnAt="23"/>
                          </m:rPr>
                          <a:rPr lang="en-GB" i="1">
                            <a:latin typeface="Cambria Math" panose="02040503050406030204" pitchFamily="18" charset="0"/>
                          </a:rPr>
                          <m:t>𝑖</m:t>
                        </m:r>
                        <m:r>
                          <a:rPr lang="en-GB" i="1">
                            <a:latin typeface="Cambria Math" panose="02040503050406030204" pitchFamily="18" charset="0"/>
                          </a:rPr>
                          <m:t>=1</m:t>
                        </m:r>
                      </m:sub>
                      <m:sup>
                        <m:r>
                          <a:rPr lang="en-GB" i="1">
                            <a:latin typeface="Cambria Math" panose="02040503050406030204" pitchFamily="18" charset="0"/>
                          </a:rPr>
                          <m:t>𝑁</m:t>
                        </m:r>
                      </m:sup>
                      <m:e>
                        <m:r>
                          <a:rPr lang="en-GB" b="0" i="1" smtClean="0">
                            <a:latin typeface="Cambria Math" panose="02040503050406030204" pitchFamily="18" charset="0"/>
                          </a:rPr>
                          <m:t>−2</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d>
                          <m:dPr>
                            <m:ctrlPr>
                              <a:rPr lang="en-GB" i="1" smtClean="0">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sub>
                            </m:sSub>
                            <m:r>
                              <a:rPr lang="en-GB" i="1">
                                <a:latin typeface="Cambria Math" panose="02040503050406030204" pitchFamily="18" charset="0"/>
                              </a:rPr>
                              <m:t>−</m:t>
                            </m:r>
                            <m:r>
                              <a:rPr lang="en-GB" i="1">
                                <a:latin typeface="Cambria Math" panose="02040503050406030204" pitchFamily="18" charset="0"/>
                              </a:rPr>
                              <m:t>𝑎</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𝑖</m:t>
                                </m:r>
                              </m:sub>
                            </m:sSub>
                            <m:r>
                              <a:rPr lang="en-GB" b="0" i="1" smtClean="0">
                                <a:latin typeface="Cambria Math" panose="02040503050406030204" pitchFamily="18" charset="0"/>
                              </a:rPr>
                              <m:t>−</m:t>
                            </m:r>
                            <m:r>
                              <a:rPr lang="en-GB" i="1">
                                <a:latin typeface="Cambria Math" panose="02040503050406030204" pitchFamily="18" charset="0"/>
                              </a:rPr>
                              <m:t>𝑏</m:t>
                            </m:r>
                          </m:e>
                        </m:d>
                      </m:e>
                    </m:nary>
                  </m:oMath>
                </a14:m>
                <a:endParaRPr lang="en-GB"/>
              </a:p>
              <a:p>
                <a:r>
                  <a:rPr lang="en-GB"/>
                  <a:t>To find minimum: </a:t>
                </a:r>
                <a14:m>
                  <m:oMath xmlns:m="http://schemas.openxmlformats.org/officeDocument/2006/math">
                    <m:nary>
                      <m:naryPr>
                        <m:chr m:val="∑"/>
                        <m:ctrlPr>
                          <a:rPr lang="en-GB" i="1">
                            <a:latin typeface="Cambria Math" panose="02040503050406030204" pitchFamily="18" charset="0"/>
                          </a:rPr>
                        </m:ctrlPr>
                      </m:naryPr>
                      <m:sub>
                        <m:r>
                          <m:rPr>
                            <m:brk m:alnAt="23"/>
                          </m:rPr>
                          <a:rPr lang="en-GB" i="1">
                            <a:latin typeface="Cambria Math" panose="02040503050406030204" pitchFamily="18" charset="0"/>
                          </a:rPr>
                          <m:t>𝑖</m:t>
                        </m:r>
                        <m:r>
                          <a:rPr lang="en-GB" i="1">
                            <a:latin typeface="Cambria Math" panose="02040503050406030204" pitchFamily="18" charset="0"/>
                          </a:rPr>
                          <m:t>=1</m:t>
                        </m:r>
                      </m:sub>
                      <m:sup>
                        <m:r>
                          <a:rPr lang="en-GB" i="1">
                            <a:latin typeface="Cambria Math" panose="02040503050406030204" pitchFamily="18" charset="0"/>
                          </a:rPr>
                          <m:t>𝑁</m:t>
                        </m:r>
                      </m:sup>
                      <m:e>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sub>
                            </m:sSub>
                            <m:r>
                              <a:rPr lang="en-GB" i="1">
                                <a:latin typeface="Cambria Math" panose="02040503050406030204" pitchFamily="18" charset="0"/>
                              </a:rPr>
                              <m:t>−</m:t>
                            </m:r>
                            <m:r>
                              <a:rPr lang="en-GB" i="1">
                                <a:latin typeface="Cambria Math" panose="02040503050406030204" pitchFamily="18" charset="0"/>
                              </a:rPr>
                              <m:t>𝑎</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𝑖</m:t>
                                </m:r>
                              </m:sub>
                            </m:sSub>
                            <m:r>
                              <a:rPr lang="en-GB" i="1">
                                <a:latin typeface="Cambria Math" panose="02040503050406030204" pitchFamily="18" charset="0"/>
                              </a:rPr>
                              <m:t>−</m:t>
                            </m:r>
                            <m:r>
                              <a:rPr lang="en-GB" i="1">
                                <a:latin typeface="Cambria Math" panose="02040503050406030204" pitchFamily="18" charset="0"/>
                              </a:rPr>
                              <m:t>𝑏</m:t>
                            </m:r>
                          </m:e>
                        </m:d>
                      </m:e>
                    </m:nary>
                    <m:r>
                      <a:rPr lang="en-GB" b="0" i="1" smtClean="0">
                        <a:latin typeface="Cambria Math" panose="02040503050406030204" pitchFamily="18" charset="0"/>
                      </a:rPr>
                      <m:t>=0</m:t>
                    </m:r>
                  </m:oMath>
                </a14:m>
                <a:r>
                  <a:rPr lang="en-GB"/>
                  <a:t> ----- (1)</a:t>
                </a:r>
              </a:p>
              <a:p>
                <a:r>
                  <a:rPr lang="en-GB"/>
                  <a:t>Now, with respect to </a:t>
                </a:r>
                <a14:m>
                  <m:oMath xmlns:m="http://schemas.openxmlformats.org/officeDocument/2006/math">
                    <m:r>
                      <a:rPr lang="en-GB" b="0" i="1" smtClean="0">
                        <a:latin typeface="Cambria Math" panose="02040503050406030204" pitchFamily="18" charset="0"/>
                      </a:rPr>
                      <m:t>𝑏</m:t>
                    </m:r>
                  </m:oMath>
                </a14:m>
                <a:r>
                  <a:rPr lang="en-GB"/>
                  <a:t> (</a:t>
                </a:r>
                <a14:m>
                  <m:oMath xmlns:m="http://schemas.openxmlformats.org/officeDocument/2006/math">
                    <m:r>
                      <a:rPr lang="en-GB" i="1" dirty="0" smtClean="0">
                        <a:latin typeface="Cambria Math" panose="02040503050406030204" pitchFamily="18" charset="0"/>
                      </a:rPr>
                      <m:t>𝑎</m:t>
                    </m:r>
                  </m:oMath>
                </a14:m>
                <a:r>
                  <a:rPr lang="en-GB"/>
                  <a:t> is fixed): </a:t>
                </a:r>
                <a14:m>
                  <m:oMath xmlns:m="http://schemas.openxmlformats.org/officeDocument/2006/math">
                    <m:f>
                      <m:fPr>
                        <m:ctrlPr>
                          <a:rPr lang="en-GB" i="1">
                            <a:latin typeface="Cambria Math" panose="02040503050406030204" pitchFamily="18" charset="0"/>
                          </a:rPr>
                        </m:ctrlPr>
                      </m:fPr>
                      <m:num>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rPr>
                          <m:t>𝐽</m:t>
                        </m:r>
                      </m:num>
                      <m:den>
                        <m:r>
                          <a:rPr lang="en-GB" i="1">
                            <a:latin typeface="Cambria Math" panose="02040503050406030204" pitchFamily="18" charset="0"/>
                            <a:ea typeface="Cambria Math" panose="02040503050406030204" pitchFamily="18" charset="0"/>
                          </a:rPr>
                          <m:t>𝜕</m:t>
                        </m:r>
                        <m:r>
                          <a:rPr lang="en-GB" b="0" i="1" smtClean="0">
                            <a:latin typeface="Cambria Math" panose="02040503050406030204" pitchFamily="18" charset="0"/>
                          </a:rPr>
                          <m:t>𝑏</m:t>
                        </m:r>
                      </m:den>
                    </m:f>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𝑁</m:t>
                        </m:r>
                      </m:den>
                    </m:f>
                    <m:nary>
                      <m:naryPr>
                        <m:chr m:val="∑"/>
                        <m:ctrlPr>
                          <a:rPr lang="en-GB" i="1">
                            <a:latin typeface="Cambria Math" panose="02040503050406030204" pitchFamily="18" charset="0"/>
                          </a:rPr>
                        </m:ctrlPr>
                      </m:naryPr>
                      <m:sub>
                        <m:r>
                          <m:rPr>
                            <m:brk m:alnAt="23"/>
                          </m:rPr>
                          <a:rPr lang="en-GB" i="1">
                            <a:latin typeface="Cambria Math" panose="02040503050406030204" pitchFamily="18" charset="0"/>
                          </a:rPr>
                          <m:t>𝑖</m:t>
                        </m:r>
                        <m:r>
                          <a:rPr lang="en-GB" i="1">
                            <a:latin typeface="Cambria Math" panose="02040503050406030204" pitchFamily="18" charset="0"/>
                          </a:rPr>
                          <m:t>=1</m:t>
                        </m:r>
                      </m:sub>
                      <m:sup>
                        <m:r>
                          <a:rPr lang="en-GB" i="1">
                            <a:latin typeface="Cambria Math" panose="02040503050406030204" pitchFamily="18" charset="0"/>
                          </a:rPr>
                          <m:t>𝑁</m:t>
                        </m:r>
                      </m:sup>
                      <m:e>
                        <m:r>
                          <a:rPr lang="en-GB" i="1">
                            <a:latin typeface="Cambria Math" panose="02040503050406030204" pitchFamily="18" charset="0"/>
                          </a:rPr>
                          <m:t>−2</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sub>
                            </m:sSub>
                            <m:r>
                              <a:rPr lang="en-GB" i="1">
                                <a:latin typeface="Cambria Math" panose="02040503050406030204" pitchFamily="18" charset="0"/>
                              </a:rPr>
                              <m:t>−</m:t>
                            </m:r>
                            <m:r>
                              <a:rPr lang="en-GB" i="1">
                                <a:latin typeface="Cambria Math" panose="02040503050406030204" pitchFamily="18" charset="0"/>
                              </a:rPr>
                              <m:t>𝑎</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𝑖</m:t>
                                </m:r>
                              </m:sub>
                            </m:sSub>
                            <m:r>
                              <a:rPr lang="en-GB" i="1">
                                <a:latin typeface="Cambria Math" panose="02040503050406030204" pitchFamily="18" charset="0"/>
                              </a:rPr>
                              <m:t>−</m:t>
                            </m:r>
                            <m:r>
                              <a:rPr lang="en-GB" i="1">
                                <a:latin typeface="Cambria Math" panose="02040503050406030204" pitchFamily="18" charset="0"/>
                              </a:rPr>
                              <m:t>𝑏</m:t>
                            </m:r>
                          </m:e>
                        </m:d>
                      </m:e>
                    </m:nary>
                  </m:oMath>
                </a14:m>
                <a:endParaRPr lang="en-GB"/>
              </a:p>
              <a:p>
                <a:r>
                  <a:rPr lang="en-GB"/>
                  <a:t>Again, to find minimum: </a:t>
                </a:r>
                <a14:m>
                  <m:oMath xmlns:m="http://schemas.openxmlformats.org/officeDocument/2006/math">
                    <m:nary>
                      <m:naryPr>
                        <m:chr m:val="∑"/>
                        <m:ctrlPr>
                          <a:rPr lang="en-GB" i="1">
                            <a:latin typeface="Cambria Math" panose="02040503050406030204" pitchFamily="18" charset="0"/>
                          </a:rPr>
                        </m:ctrlPr>
                      </m:naryPr>
                      <m:sub>
                        <m:r>
                          <m:rPr>
                            <m:brk m:alnAt="23"/>
                          </m:rPr>
                          <a:rPr lang="en-GB" i="1">
                            <a:latin typeface="Cambria Math" panose="02040503050406030204" pitchFamily="18" charset="0"/>
                          </a:rPr>
                          <m:t>𝑖</m:t>
                        </m:r>
                        <m:r>
                          <a:rPr lang="en-GB" i="1">
                            <a:latin typeface="Cambria Math" panose="02040503050406030204" pitchFamily="18" charset="0"/>
                          </a:rPr>
                          <m:t>=1</m:t>
                        </m:r>
                      </m:sub>
                      <m:sup>
                        <m:r>
                          <a:rPr lang="en-GB" i="1">
                            <a:latin typeface="Cambria Math" panose="02040503050406030204" pitchFamily="18" charset="0"/>
                          </a:rPr>
                          <m:t>𝑁</m:t>
                        </m:r>
                      </m:sup>
                      <m:e>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sub>
                            </m:sSub>
                            <m:r>
                              <a:rPr lang="en-GB" i="1">
                                <a:latin typeface="Cambria Math" panose="02040503050406030204" pitchFamily="18" charset="0"/>
                              </a:rPr>
                              <m:t>−</m:t>
                            </m:r>
                            <m:r>
                              <a:rPr lang="en-GB" i="1">
                                <a:latin typeface="Cambria Math" panose="02040503050406030204" pitchFamily="18" charset="0"/>
                              </a:rPr>
                              <m:t>𝑎</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𝑖</m:t>
                                </m:r>
                              </m:sub>
                            </m:sSub>
                            <m:r>
                              <a:rPr lang="en-GB" i="1">
                                <a:latin typeface="Cambria Math" panose="02040503050406030204" pitchFamily="18" charset="0"/>
                              </a:rPr>
                              <m:t>−</m:t>
                            </m:r>
                            <m:r>
                              <a:rPr lang="en-GB" i="1">
                                <a:latin typeface="Cambria Math" panose="02040503050406030204" pitchFamily="18" charset="0"/>
                              </a:rPr>
                              <m:t>𝑏</m:t>
                            </m:r>
                          </m:e>
                        </m:d>
                      </m:e>
                    </m:nary>
                    <m:r>
                      <a:rPr lang="en-GB" b="0" i="1" smtClean="0">
                        <a:latin typeface="Cambria Math" panose="02040503050406030204" pitchFamily="18" charset="0"/>
                      </a:rPr>
                      <m:t>=0</m:t>
                    </m:r>
                  </m:oMath>
                </a14:m>
                <a:r>
                  <a:rPr lang="en-GB"/>
                  <a:t> ----- (2)</a:t>
                </a:r>
              </a:p>
              <a:p>
                <a:r>
                  <a:rPr lang="en-GB"/>
                  <a:t>Next, we solve (1) and (2)</a:t>
                </a:r>
              </a:p>
            </p:txBody>
          </p:sp>
        </mc:Choice>
        <mc:Fallback>
          <p:sp>
            <p:nvSpPr>
              <p:cNvPr id="3" name="Text Placeholder 2">
                <a:extLst>
                  <a:ext uri="{FF2B5EF4-FFF2-40B4-BE49-F238E27FC236}">
                    <a16:creationId xmlns:a16="http://schemas.microsoft.com/office/drawing/2014/main" id="{A6939D42-599E-551F-D835-3CBE1A6B25CF}"/>
                  </a:ext>
                </a:extLst>
              </p:cNvPr>
              <p:cNvSpPr>
                <a:spLocks noGrp="1" noRot="1" noChangeAspect="1" noMove="1" noResize="1" noEditPoints="1" noAdjustHandles="1" noChangeArrowheads="1" noChangeShapeType="1" noTextEdit="1"/>
              </p:cNvSpPr>
              <p:nvPr>
                <p:ph type="body" idx="1"/>
              </p:nvPr>
            </p:nvSpPr>
            <p:spPr>
              <a:blipFill>
                <a:blip r:embed="rId3"/>
                <a:stretch>
                  <a:fillRect t="-5100" b="-729"/>
                </a:stretch>
              </a:blipFill>
            </p:spPr>
            <p:txBody>
              <a:bodyPr/>
              <a:lstStyle/>
              <a:p>
                <a:r>
                  <a:rPr lang="en-US">
                    <a:noFill/>
                  </a:rPr>
                  <a:t> </a:t>
                </a:r>
              </a:p>
            </p:txBody>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73">
          <a:extLst>
            <a:ext uri="{FF2B5EF4-FFF2-40B4-BE49-F238E27FC236}">
              <a16:creationId xmlns:a16="http://schemas.microsoft.com/office/drawing/2014/main" id="{66370357-70EA-85C6-BE98-16C16CC643B9}"/>
            </a:ext>
          </a:extLst>
        </p:cNvPr>
        <p:cNvGrpSpPr/>
        <p:nvPr/>
      </p:nvGrpSpPr>
      <p:grpSpPr>
        <a:xfrm>
          <a:off x="0" y="0"/>
          <a:ext cx="0" cy="0"/>
          <a:chOff x="0" y="0"/>
          <a:chExt cx="0" cy="0"/>
        </a:xfrm>
      </p:grpSpPr>
      <p:sp>
        <p:nvSpPr>
          <p:cNvPr id="374" name="Google Shape;374;p41">
            <a:extLst>
              <a:ext uri="{FF2B5EF4-FFF2-40B4-BE49-F238E27FC236}">
                <a16:creationId xmlns:a16="http://schemas.microsoft.com/office/drawing/2014/main" id="{F6F07222-D2D4-4F1B-9333-E304B3EF7528}"/>
              </a:ext>
            </a:extLst>
          </p:cNvPr>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Computing the least squares estimate</a:t>
            </a:r>
            <a:endParaRP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B14FC2AE-F0C3-9E8E-9C6E-ED4A07F72B3C}"/>
                  </a:ext>
                </a:extLst>
              </p:cNvPr>
              <p:cNvSpPr>
                <a:spLocks noGrp="1"/>
              </p:cNvSpPr>
              <p:nvPr>
                <p:ph type="body" idx="1"/>
              </p:nvPr>
            </p:nvSpPr>
            <p:spPr/>
            <p:txBody>
              <a:bodyPr>
                <a:normAutofit fontScale="92500" lnSpcReduction="20000"/>
              </a:bodyPr>
              <a:lstStyle/>
              <a:p>
                <a14:m>
                  <m:oMath xmlns:m="http://schemas.openxmlformats.org/officeDocument/2006/math">
                    <m:nary>
                      <m:naryPr>
                        <m:chr m:val="∑"/>
                        <m:ctrlPr>
                          <a:rPr lang="en-GB" i="1" smtClean="0">
                            <a:latin typeface="Cambria Math" panose="02040503050406030204" pitchFamily="18" charset="0"/>
                          </a:rPr>
                        </m:ctrlPr>
                      </m:naryPr>
                      <m:sub>
                        <m:r>
                          <m:rPr>
                            <m:brk m:alnAt="23"/>
                          </m:rPr>
                          <a:rPr lang="en-GB" i="1">
                            <a:latin typeface="Cambria Math" panose="02040503050406030204" pitchFamily="18" charset="0"/>
                          </a:rPr>
                          <m:t>𝑖</m:t>
                        </m:r>
                        <m:r>
                          <a:rPr lang="en-GB" i="1">
                            <a:latin typeface="Cambria Math" panose="02040503050406030204" pitchFamily="18" charset="0"/>
                          </a:rPr>
                          <m:t>=1</m:t>
                        </m:r>
                      </m:sub>
                      <m:sup>
                        <m:r>
                          <a:rPr lang="en-GB" i="1">
                            <a:latin typeface="Cambria Math" panose="02040503050406030204" pitchFamily="18" charset="0"/>
                          </a:rPr>
                          <m:t>𝑁</m:t>
                        </m:r>
                      </m:sup>
                      <m:e>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sub>
                            </m:sSub>
                            <m:r>
                              <a:rPr lang="en-GB" i="1">
                                <a:latin typeface="Cambria Math" panose="02040503050406030204" pitchFamily="18" charset="0"/>
                              </a:rPr>
                              <m:t>−</m:t>
                            </m:r>
                            <m:r>
                              <a:rPr lang="en-GB" i="1">
                                <a:latin typeface="Cambria Math" panose="02040503050406030204" pitchFamily="18" charset="0"/>
                              </a:rPr>
                              <m:t>𝑎</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𝑖</m:t>
                                </m:r>
                              </m:sub>
                            </m:sSub>
                            <m:r>
                              <a:rPr lang="en-GB" i="1">
                                <a:latin typeface="Cambria Math" panose="02040503050406030204" pitchFamily="18" charset="0"/>
                              </a:rPr>
                              <m:t>−</m:t>
                            </m:r>
                            <m:r>
                              <a:rPr lang="en-GB" i="1">
                                <a:latin typeface="Cambria Math" panose="02040503050406030204" pitchFamily="18" charset="0"/>
                              </a:rPr>
                              <m:t>𝑏</m:t>
                            </m:r>
                          </m:e>
                        </m:d>
                      </m:e>
                    </m:nary>
                    <m:r>
                      <a:rPr lang="en-GB" b="0" i="1" smtClean="0">
                        <a:latin typeface="Cambria Math" panose="02040503050406030204" pitchFamily="18" charset="0"/>
                      </a:rPr>
                      <m:t>=0</m:t>
                    </m:r>
                  </m:oMath>
                </a14:m>
                <a:r>
                  <a:rPr lang="en-GB"/>
                  <a:t> can be written as </a:t>
                </a:r>
                <a14:m>
                  <m:oMath xmlns:m="http://schemas.openxmlformats.org/officeDocument/2006/math">
                    <m:nary>
                      <m:naryPr>
                        <m:chr m:val="∑"/>
                        <m:subHide m:val="on"/>
                        <m:supHide m:val="on"/>
                        <m:ctrlPr>
                          <a:rPr lang="en-GB" b="0" i="1" smtClean="0">
                            <a:latin typeface="Cambria Math" panose="02040503050406030204" pitchFamily="18" charset="0"/>
                          </a:rPr>
                        </m:ctrlPr>
                      </m:naryPr>
                      <m:sub/>
                      <m:sup/>
                      <m:e>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sub>
                        </m:sSub>
                      </m:e>
                    </m:nary>
                    <m:r>
                      <a:rPr lang="en-GB" i="1">
                        <a:latin typeface="Cambria Math" panose="02040503050406030204" pitchFamily="18" charset="0"/>
                      </a:rPr>
                      <m:t>−</m:t>
                    </m:r>
                    <m:r>
                      <a:rPr lang="en-GB" i="1">
                        <a:latin typeface="Cambria Math" panose="02040503050406030204" pitchFamily="18" charset="0"/>
                      </a:rPr>
                      <m:t>𝑎</m:t>
                    </m:r>
                    <m:nary>
                      <m:naryPr>
                        <m:chr m:val="∑"/>
                        <m:subHide m:val="on"/>
                        <m:supHide m:val="on"/>
                        <m:ctrlPr>
                          <a:rPr lang="en-GB" i="1">
                            <a:latin typeface="Cambria Math" panose="02040503050406030204" pitchFamily="18" charset="0"/>
                          </a:rPr>
                        </m:ctrlPr>
                      </m:naryPr>
                      <m:sub/>
                      <m:sup/>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𝑖</m:t>
                            </m:r>
                          </m:sub>
                        </m:sSub>
                      </m:e>
                    </m:nary>
                    <m:r>
                      <a:rPr lang="en-GB" i="1">
                        <a:latin typeface="Cambria Math" panose="02040503050406030204" pitchFamily="18" charset="0"/>
                      </a:rPr>
                      <m:t>−</m:t>
                    </m:r>
                    <m:nary>
                      <m:naryPr>
                        <m:chr m:val="∑"/>
                        <m:subHide m:val="on"/>
                        <m:supHide m:val="on"/>
                        <m:ctrlPr>
                          <a:rPr lang="en-GB" i="1">
                            <a:latin typeface="Cambria Math" panose="02040503050406030204" pitchFamily="18" charset="0"/>
                          </a:rPr>
                        </m:ctrlPr>
                      </m:naryPr>
                      <m:sub/>
                      <m:sup/>
                      <m:e>
                        <m:r>
                          <a:rPr lang="en-GB" b="0" i="1" smtClean="0">
                            <a:latin typeface="Cambria Math" panose="02040503050406030204" pitchFamily="18" charset="0"/>
                          </a:rPr>
                          <m:t>𝑏</m:t>
                        </m:r>
                      </m:e>
                    </m:nary>
                    <m:r>
                      <a:rPr lang="en-GB" b="0" i="1" smtClean="0">
                        <a:latin typeface="Cambria Math" panose="02040503050406030204" pitchFamily="18" charset="0"/>
                      </a:rPr>
                      <m:t>=0</m:t>
                    </m:r>
                  </m:oMath>
                </a14:m>
                <a:endParaRPr lang="en-GB"/>
              </a:p>
              <a:p>
                <a:r>
                  <a:rPr lang="en-GB"/>
                  <a:t>Since </a:t>
                </a:r>
                <a14:m>
                  <m:oMath xmlns:m="http://schemas.openxmlformats.org/officeDocument/2006/math">
                    <m:r>
                      <a:rPr lang="en-GB" b="0" i="1" smtClean="0">
                        <a:latin typeface="Cambria Math" panose="02040503050406030204" pitchFamily="18" charset="0"/>
                      </a:rPr>
                      <m:t>𝑏</m:t>
                    </m:r>
                  </m:oMath>
                </a14:m>
                <a:r>
                  <a:rPr lang="en-GB"/>
                  <a:t> is constant, and repeats </a:t>
                </a:r>
                <a14:m>
                  <m:oMath xmlns:m="http://schemas.openxmlformats.org/officeDocument/2006/math">
                    <m:r>
                      <a:rPr lang="en-GB" i="1" dirty="0" smtClean="0">
                        <a:latin typeface="Cambria Math" panose="02040503050406030204" pitchFamily="18" charset="0"/>
                      </a:rPr>
                      <m:t>𝑁</m:t>
                    </m:r>
                  </m:oMath>
                </a14:m>
                <a:r>
                  <a:rPr lang="en-GB"/>
                  <a:t> times: </a:t>
                </a:r>
                <a14:m>
                  <m:oMath xmlns:m="http://schemas.openxmlformats.org/officeDocument/2006/math">
                    <m:nary>
                      <m:naryPr>
                        <m:chr m:val="∑"/>
                        <m:subHide m:val="on"/>
                        <m:supHide m:val="on"/>
                        <m:ctrlPr>
                          <a:rPr lang="en-GB" i="1">
                            <a:latin typeface="Cambria Math" panose="02040503050406030204" pitchFamily="18" charset="0"/>
                          </a:rPr>
                        </m:ctrlPr>
                      </m:naryPr>
                      <m:sub/>
                      <m:sup/>
                      <m:e>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sub>
                        </m:sSub>
                      </m:e>
                    </m:nary>
                    <m:r>
                      <a:rPr lang="en-GB" i="1">
                        <a:latin typeface="Cambria Math" panose="02040503050406030204" pitchFamily="18" charset="0"/>
                      </a:rPr>
                      <m:t>−</m:t>
                    </m:r>
                    <m:r>
                      <a:rPr lang="en-GB" i="1">
                        <a:latin typeface="Cambria Math" panose="02040503050406030204" pitchFamily="18" charset="0"/>
                      </a:rPr>
                      <m:t>𝑎</m:t>
                    </m:r>
                    <m:nary>
                      <m:naryPr>
                        <m:chr m:val="∑"/>
                        <m:subHide m:val="on"/>
                        <m:supHide m:val="on"/>
                        <m:ctrlPr>
                          <a:rPr lang="en-GB" i="1">
                            <a:latin typeface="Cambria Math" panose="02040503050406030204" pitchFamily="18" charset="0"/>
                          </a:rPr>
                        </m:ctrlPr>
                      </m:naryPr>
                      <m:sub/>
                      <m:sup/>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𝑖</m:t>
                            </m:r>
                          </m:sub>
                        </m:sSub>
                      </m:e>
                    </m:nary>
                    <m:r>
                      <a:rPr lang="en-GB" i="1">
                        <a:latin typeface="Cambria Math" panose="02040503050406030204" pitchFamily="18" charset="0"/>
                      </a:rPr>
                      <m:t>−</m:t>
                    </m:r>
                    <m:r>
                      <a:rPr lang="en-GB" b="0" i="1" smtClean="0">
                        <a:latin typeface="Cambria Math" panose="02040503050406030204" pitchFamily="18" charset="0"/>
                      </a:rPr>
                      <m:t>𝑁𝑏</m:t>
                    </m:r>
                    <m:r>
                      <a:rPr lang="en-GB" b="0" i="1" smtClean="0">
                        <a:latin typeface="Cambria Math" panose="02040503050406030204" pitchFamily="18" charset="0"/>
                      </a:rPr>
                      <m:t>=0</m:t>
                    </m:r>
                  </m:oMath>
                </a14:m>
                <a:endParaRPr lang="en-GB"/>
              </a:p>
              <a:p>
                <a:r>
                  <a:rPr lang="en-GB"/>
                  <a:t>Or </a:t>
                </a:r>
                <a14:m>
                  <m:oMath xmlns:m="http://schemas.openxmlformats.org/officeDocument/2006/math">
                    <m:r>
                      <a:rPr lang="en-GB" b="0" i="1" smtClean="0">
                        <a:latin typeface="Cambria Math" panose="02040503050406030204" pitchFamily="18" charset="0"/>
                      </a:rPr>
                      <m:t>𝑁𝑏</m:t>
                    </m:r>
                    <m:r>
                      <a:rPr lang="en-GB" b="0" i="1" smtClean="0">
                        <a:latin typeface="Cambria Math" panose="02040503050406030204" pitchFamily="18" charset="0"/>
                      </a:rPr>
                      <m:t>=</m:t>
                    </m:r>
                    <m:nary>
                      <m:naryPr>
                        <m:chr m:val="∑"/>
                        <m:subHide m:val="on"/>
                        <m:supHide m:val="on"/>
                        <m:ctrlPr>
                          <a:rPr lang="en-GB" i="1">
                            <a:latin typeface="Cambria Math" panose="02040503050406030204" pitchFamily="18" charset="0"/>
                          </a:rPr>
                        </m:ctrlPr>
                      </m:naryPr>
                      <m:sub/>
                      <m:sup/>
                      <m:e>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sub>
                        </m:sSub>
                      </m:e>
                    </m:nary>
                    <m:r>
                      <a:rPr lang="en-GB" i="1">
                        <a:latin typeface="Cambria Math" panose="02040503050406030204" pitchFamily="18" charset="0"/>
                      </a:rPr>
                      <m:t>−</m:t>
                    </m:r>
                    <m:r>
                      <a:rPr lang="en-GB" i="1">
                        <a:latin typeface="Cambria Math" panose="02040503050406030204" pitchFamily="18" charset="0"/>
                      </a:rPr>
                      <m:t>𝑎</m:t>
                    </m:r>
                    <m:nary>
                      <m:naryPr>
                        <m:chr m:val="∑"/>
                        <m:subHide m:val="on"/>
                        <m:supHide m:val="on"/>
                        <m:ctrlPr>
                          <a:rPr lang="en-GB" i="1">
                            <a:latin typeface="Cambria Math" panose="02040503050406030204" pitchFamily="18" charset="0"/>
                          </a:rPr>
                        </m:ctrlPr>
                      </m:naryPr>
                      <m:sub/>
                      <m:sup/>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𝑖</m:t>
                            </m:r>
                          </m:sub>
                        </m:sSub>
                      </m:e>
                    </m:nary>
                  </m:oMath>
                </a14:m>
                <a:endParaRPr lang="en-GB"/>
              </a:p>
              <a:p>
                <a:r>
                  <a:rPr lang="en-GB"/>
                  <a:t>Dividing both sides by </a:t>
                </a:r>
                <a14:m>
                  <m:oMath xmlns:m="http://schemas.openxmlformats.org/officeDocument/2006/math">
                    <m:r>
                      <a:rPr lang="en-GB" i="1" dirty="0" smtClean="0">
                        <a:latin typeface="Cambria Math" panose="02040503050406030204" pitchFamily="18" charset="0"/>
                      </a:rPr>
                      <m:t>𝑁</m:t>
                    </m:r>
                  </m:oMath>
                </a14:m>
                <a:r>
                  <a:rPr lang="en-GB"/>
                  <a:t>: </a:t>
                </a:r>
                <a14:m>
                  <m:oMath xmlns:m="http://schemas.openxmlformats.org/officeDocument/2006/math">
                    <m:r>
                      <a:rPr lang="en-GB" i="1">
                        <a:latin typeface="Cambria Math" panose="02040503050406030204" pitchFamily="18" charset="0"/>
                      </a:rPr>
                      <m:t>𝑏</m:t>
                    </m:r>
                    <m:r>
                      <a:rPr lang="en-GB" i="1">
                        <a:latin typeface="Cambria Math" panose="02040503050406030204" pitchFamily="18" charset="0"/>
                      </a:rPr>
                      <m:t>=</m:t>
                    </m:r>
                    <m:f>
                      <m:fPr>
                        <m:ctrlPr>
                          <a:rPr lang="en-GB" b="0" i="1" smtClean="0">
                            <a:latin typeface="Cambria Math" panose="02040503050406030204" pitchFamily="18" charset="0"/>
                          </a:rPr>
                        </m:ctrlPr>
                      </m:fPr>
                      <m:num>
                        <m:nary>
                          <m:naryPr>
                            <m:chr m:val="∑"/>
                            <m:subHide m:val="on"/>
                            <m:supHide m:val="on"/>
                            <m:ctrlPr>
                              <a:rPr lang="en-GB" i="1">
                                <a:latin typeface="Cambria Math" panose="02040503050406030204" pitchFamily="18" charset="0"/>
                              </a:rPr>
                            </m:ctrlPr>
                          </m:naryPr>
                          <m:sub/>
                          <m:sup/>
                          <m:e>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sub>
                            </m:sSub>
                          </m:e>
                        </m:nary>
                      </m:num>
                      <m:den>
                        <m:r>
                          <a:rPr lang="en-GB" b="0" i="1" smtClean="0">
                            <a:latin typeface="Cambria Math" panose="02040503050406030204" pitchFamily="18" charset="0"/>
                          </a:rPr>
                          <m:t>𝑁</m:t>
                        </m:r>
                      </m:den>
                    </m:f>
                    <m:r>
                      <a:rPr lang="en-GB" i="1">
                        <a:latin typeface="Cambria Math" panose="02040503050406030204" pitchFamily="18" charset="0"/>
                      </a:rPr>
                      <m:t>−</m:t>
                    </m:r>
                    <m:r>
                      <a:rPr lang="en-GB" i="1">
                        <a:latin typeface="Cambria Math" panose="02040503050406030204" pitchFamily="18" charset="0"/>
                      </a:rPr>
                      <m:t>𝑎</m:t>
                    </m:r>
                    <m:f>
                      <m:fPr>
                        <m:ctrlPr>
                          <a:rPr lang="en-GB" b="0" i="1" smtClean="0">
                            <a:latin typeface="Cambria Math" panose="02040503050406030204" pitchFamily="18" charset="0"/>
                          </a:rPr>
                        </m:ctrlPr>
                      </m:fPr>
                      <m:num>
                        <m:nary>
                          <m:naryPr>
                            <m:chr m:val="∑"/>
                            <m:subHide m:val="on"/>
                            <m:supHide m:val="on"/>
                            <m:ctrlPr>
                              <a:rPr lang="en-GB" i="1">
                                <a:latin typeface="Cambria Math" panose="02040503050406030204" pitchFamily="18" charset="0"/>
                              </a:rPr>
                            </m:ctrlPr>
                          </m:naryPr>
                          <m:sub/>
                          <m:sup/>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𝑖</m:t>
                                </m:r>
                              </m:sub>
                            </m:sSub>
                          </m:e>
                        </m:nary>
                      </m:num>
                      <m:den>
                        <m:r>
                          <a:rPr lang="en-GB" b="0" i="1" smtClean="0">
                            <a:latin typeface="Cambria Math" panose="02040503050406030204" pitchFamily="18" charset="0"/>
                          </a:rPr>
                          <m:t>𝑁</m:t>
                        </m:r>
                      </m:den>
                    </m:f>
                  </m:oMath>
                </a14:m>
                <a:endParaRPr lang="en-GB"/>
              </a:p>
              <a:p>
                <a:r>
                  <a:rPr lang="en-GB"/>
                  <a:t>Looking closely, </a:t>
                </a:r>
                <a14:m>
                  <m:oMath xmlns:m="http://schemas.openxmlformats.org/officeDocument/2006/math">
                    <m:f>
                      <m:fPr>
                        <m:ctrlPr>
                          <a:rPr lang="en-GB" b="0" i="1" smtClean="0">
                            <a:latin typeface="Cambria Math" panose="02040503050406030204" pitchFamily="18" charset="0"/>
                          </a:rPr>
                        </m:ctrlPr>
                      </m:fPr>
                      <m:num>
                        <m:nary>
                          <m:naryPr>
                            <m:chr m:val="∑"/>
                            <m:subHide m:val="on"/>
                            <m:supHide m:val="on"/>
                            <m:ctrlPr>
                              <a:rPr lang="en-GB" i="1">
                                <a:latin typeface="Cambria Math" panose="02040503050406030204" pitchFamily="18" charset="0"/>
                              </a:rPr>
                            </m:ctrlPr>
                          </m:naryPr>
                          <m:sub/>
                          <m:sup/>
                          <m:e>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sub>
                            </m:sSub>
                          </m:e>
                        </m:nary>
                      </m:num>
                      <m:den>
                        <m:r>
                          <a:rPr lang="en-GB" b="0" i="1" smtClean="0">
                            <a:latin typeface="Cambria Math" panose="02040503050406030204" pitchFamily="18" charset="0"/>
                          </a:rPr>
                          <m:t>𝑁</m:t>
                        </m:r>
                      </m:den>
                    </m:f>
                  </m:oMath>
                </a14:m>
                <a:r>
                  <a:rPr lang="en-GB"/>
                  <a:t> is the mean </a:t>
                </a:r>
                <a14:m>
                  <m:oMath xmlns:m="http://schemas.openxmlformats.org/officeDocument/2006/math">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𝑦</m:t>
                        </m:r>
                      </m:e>
                    </m:acc>
                  </m:oMath>
                </a14:m>
                <a:r>
                  <a:rPr lang="en-GB"/>
                  <a:t> and </a:t>
                </a:r>
                <a14:m>
                  <m:oMath xmlns:m="http://schemas.openxmlformats.org/officeDocument/2006/math">
                    <m:f>
                      <m:fPr>
                        <m:ctrlPr>
                          <a:rPr lang="en-GB" i="1">
                            <a:latin typeface="Cambria Math" panose="02040503050406030204" pitchFamily="18" charset="0"/>
                          </a:rPr>
                        </m:ctrlPr>
                      </m:fPr>
                      <m:num>
                        <m:nary>
                          <m:naryPr>
                            <m:chr m:val="∑"/>
                            <m:subHide m:val="on"/>
                            <m:supHide m:val="on"/>
                            <m:ctrlPr>
                              <a:rPr lang="en-GB" i="1">
                                <a:latin typeface="Cambria Math" panose="02040503050406030204" pitchFamily="18" charset="0"/>
                              </a:rPr>
                            </m:ctrlPr>
                          </m:naryPr>
                          <m:sub/>
                          <m:sup/>
                          <m:e>
                            <m:sSub>
                              <m:sSubPr>
                                <m:ctrlPr>
                                  <a:rPr lang="en-GB" i="1">
                                    <a:latin typeface="Cambria Math" panose="02040503050406030204" pitchFamily="18" charset="0"/>
                                  </a:rPr>
                                </m:ctrlPr>
                              </m:sSubPr>
                              <m:e>
                                <m:r>
                                  <a:rPr lang="en-GB" b="0" i="1" smtClean="0">
                                    <a:latin typeface="Cambria Math" panose="02040503050406030204" pitchFamily="18" charset="0"/>
                                  </a:rPr>
                                  <m:t>𝑥</m:t>
                                </m:r>
                              </m:e>
                              <m:sub>
                                <m:r>
                                  <a:rPr lang="en-GB" i="1">
                                    <a:latin typeface="Cambria Math" panose="02040503050406030204" pitchFamily="18" charset="0"/>
                                  </a:rPr>
                                  <m:t>𝑖</m:t>
                                </m:r>
                              </m:sub>
                            </m:sSub>
                          </m:e>
                        </m:nary>
                      </m:num>
                      <m:den>
                        <m:r>
                          <a:rPr lang="en-GB" i="1">
                            <a:latin typeface="Cambria Math" panose="02040503050406030204" pitchFamily="18" charset="0"/>
                          </a:rPr>
                          <m:t>𝑁</m:t>
                        </m:r>
                      </m:den>
                    </m:f>
                  </m:oMath>
                </a14:m>
                <a:r>
                  <a:rPr lang="en-GB"/>
                  <a:t> is the mean </a:t>
                </a:r>
                <a14:m>
                  <m:oMath xmlns:m="http://schemas.openxmlformats.org/officeDocument/2006/math">
                    <m:acc>
                      <m:accPr>
                        <m:chr m:val="̅"/>
                        <m:ctrlPr>
                          <a:rPr lang="en-GB" i="1">
                            <a:latin typeface="Cambria Math" panose="02040503050406030204" pitchFamily="18" charset="0"/>
                          </a:rPr>
                        </m:ctrlPr>
                      </m:accPr>
                      <m:e>
                        <m:r>
                          <a:rPr lang="en-GB" b="0" i="1" smtClean="0">
                            <a:latin typeface="Cambria Math" panose="02040503050406030204" pitchFamily="18" charset="0"/>
                          </a:rPr>
                          <m:t>𝑥</m:t>
                        </m:r>
                      </m:e>
                    </m:acc>
                  </m:oMath>
                </a14:m>
                <a:endParaRPr lang="en-GB"/>
              </a:p>
              <a:p>
                <a:r>
                  <a:rPr lang="en-GB"/>
                  <a:t>Therefore, </a:t>
                </a:r>
                <a14:m>
                  <m:oMath xmlns:m="http://schemas.openxmlformats.org/officeDocument/2006/math">
                    <m:r>
                      <a:rPr lang="en-GB" b="0" i="1" smtClean="0">
                        <a:latin typeface="Cambria Math" panose="02040503050406030204" pitchFamily="18" charset="0"/>
                      </a:rPr>
                      <m:t>𝑏</m:t>
                    </m:r>
                    <m:r>
                      <a:rPr lang="en-GB" b="0" i="1" smtClean="0">
                        <a:latin typeface="Cambria Math" panose="02040503050406030204" pitchFamily="18" charset="0"/>
                      </a:rPr>
                      <m:t>=</m:t>
                    </m:r>
                    <m:acc>
                      <m:accPr>
                        <m:chr m:val="̅"/>
                        <m:ctrlPr>
                          <a:rPr lang="en-GB" i="1">
                            <a:latin typeface="Cambria Math" panose="02040503050406030204" pitchFamily="18" charset="0"/>
                          </a:rPr>
                        </m:ctrlPr>
                      </m:accPr>
                      <m:e>
                        <m:r>
                          <a:rPr lang="en-GB" b="0" i="1" smtClean="0">
                            <a:latin typeface="Cambria Math" panose="02040503050406030204" pitchFamily="18" charset="0"/>
                          </a:rPr>
                          <m:t>𝑦</m:t>
                        </m:r>
                      </m:e>
                    </m:acc>
                    <m:r>
                      <a:rPr lang="en-GB" b="0" i="1" smtClean="0">
                        <a:latin typeface="Cambria Math" panose="02040503050406030204" pitchFamily="18" charset="0"/>
                      </a:rPr>
                      <m:t>−</m:t>
                    </m:r>
                    <m:r>
                      <a:rPr lang="en-GB" b="0" i="1" smtClean="0">
                        <a:latin typeface="Cambria Math" panose="02040503050406030204" pitchFamily="18" charset="0"/>
                      </a:rPr>
                      <m:t>𝑎</m:t>
                    </m:r>
                    <m:acc>
                      <m:accPr>
                        <m:chr m:val="̅"/>
                        <m:ctrlPr>
                          <a:rPr lang="en-GB" i="1">
                            <a:latin typeface="Cambria Math" panose="02040503050406030204" pitchFamily="18" charset="0"/>
                          </a:rPr>
                        </m:ctrlPr>
                      </m:accPr>
                      <m:e>
                        <m:r>
                          <a:rPr lang="en-GB" i="1">
                            <a:latin typeface="Cambria Math" panose="02040503050406030204" pitchFamily="18" charset="0"/>
                          </a:rPr>
                          <m:t>𝑥</m:t>
                        </m:r>
                      </m:e>
                    </m:acc>
                  </m:oMath>
                </a14:m>
                <a:endParaRPr lang="en-GB"/>
              </a:p>
              <a:p>
                <a:r>
                  <a:rPr lang="en-GB"/>
                  <a:t>In plain words, the intercept </a:t>
                </a:r>
                <a14:m>
                  <m:oMath xmlns:m="http://schemas.openxmlformats.org/officeDocument/2006/math">
                    <m:r>
                      <a:rPr lang="en-GB" b="0" i="1" smtClean="0">
                        <a:latin typeface="Cambria Math" panose="02040503050406030204" pitchFamily="18" charset="0"/>
                      </a:rPr>
                      <m:t>𝑏</m:t>
                    </m:r>
                  </m:oMath>
                </a14:m>
                <a:r>
                  <a:rPr lang="en-GB"/>
                  <a:t> depends on how far up the average </a:t>
                </a:r>
                <a14:m>
                  <m:oMath xmlns:m="http://schemas.openxmlformats.org/officeDocument/2006/math">
                    <m:r>
                      <a:rPr lang="en-GB" i="1" dirty="0" smtClean="0">
                        <a:latin typeface="Cambria Math" panose="02040503050406030204" pitchFamily="18" charset="0"/>
                      </a:rPr>
                      <m:t>𝑦</m:t>
                    </m:r>
                  </m:oMath>
                </a14:m>
                <a:r>
                  <a:rPr lang="en-GB"/>
                  <a:t> is, adjusted by product of average </a:t>
                </a:r>
                <a14:m>
                  <m:oMath xmlns:m="http://schemas.openxmlformats.org/officeDocument/2006/math">
                    <m:r>
                      <a:rPr lang="en-GB" i="1" dirty="0" smtClean="0">
                        <a:latin typeface="Cambria Math" panose="02040503050406030204" pitchFamily="18" charset="0"/>
                      </a:rPr>
                      <m:t>𝑥</m:t>
                    </m:r>
                  </m:oMath>
                </a14:m>
                <a:r>
                  <a:rPr lang="en-GB"/>
                  <a:t> and slope.</a:t>
                </a:r>
              </a:p>
            </p:txBody>
          </p:sp>
        </mc:Choice>
        <mc:Fallback>
          <p:sp>
            <p:nvSpPr>
              <p:cNvPr id="3" name="Text Placeholder 2">
                <a:extLst>
                  <a:ext uri="{FF2B5EF4-FFF2-40B4-BE49-F238E27FC236}">
                    <a16:creationId xmlns:a16="http://schemas.microsoft.com/office/drawing/2014/main" id="{B14FC2AE-F0C3-9E8E-9C6E-ED4A07F72B3C}"/>
                  </a:ext>
                </a:extLst>
              </p:cNvPr>
              <p:cNvSpPr>
                <a:spLocks noGrp="1" noRot="1" noChangeAspect="1" noMove="1" noResize="1" noEditPoints="1" noAdjustHandles="1" noChangeArrowheads="1" noChangeShapeType="1" noTextEdit="1"/>
              </p:cNvSpPr>
              <p:nvPr>
                <p:ph type="body" idx="1"/>
              </p:nvPr>
            </p:nvSpPr>
            <p:spPr>
              <a:blipFill>
                <a:blip r:embed="rId3"/>
                <a:stretch>
                  <a:fillRect t="-8743"/>
                </a:stretch>
              </a:blipFill>
            </p:spPr>
            <p:txBody>
              <a:bodyPr/>
              <a:lstStyle/>
              <a:p>
                <a:r>
                  <a:rPr lang="en-US">
                    <a:noFill/>
                  </a:rPr>
                  <a:t> </a:t>
                </a:r>
              </a:p>
            </p:txBody>
          </p:sp>
        </mc:Fallback>
      </mc:AlternateContent>
    </p:spTree>
    <p:extLst>
      <p:ext uri="{BB962C8B-B14F-4D97-AF65-F5344CB8AC3E}">
        <p14:creationId xmlns:p14="http://schemas.microsoft.com/office/powerpoint/2010/main" val="15958718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73">
          <a:extLst>
            <a:ext uri="{FF2B5EF4-FFF2-40B4-BE49-F238E27FC236}">
              <a16:creationId xmlns:a16="http://schemas.microsoft.com/office/drawing/2014/main" id="{6F9CF8D3-D344-EB16-48CA-ED443FD78C7C}"/>
            </a:ext>
          </a:extLst>
        </p:cNvPr>
        <p:cNvGrpSpPr/>
        <p:nvPr/>
      </p:nvGrpSpPr>
      <p:grpSpPr>
        <a:xfrm>
          <a:off x="0" y="0"/>
          <a:ext cx="0" cy="0"/>
          <a:chOff x="0" y="0"/>
          <a:chExt cx="0" cy="0"/>
        </a:xfrm>
      </p:grpSpPr>
      <p:sp>
        <p:nvSpPr>
          <p:cNvPr id="374" name="Google Shape;374;p41">
            <a:extLst>
              <a:ext uri="{FF2B5EF4-FFF2-40B4-BE49-F238E27FC236}">
                <a16:creationId xmlns:a16="http://schemas.microsoft.com/office/drawing/2014/main" id="{9F78863D-A4BE-BB35-49C3-C2A9BF086C7B}"/>
              </a:ext>
            </a:extLst>
          </p:cNvPr>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Computing the least squares estimate</a:t>
            </a:r>
            <a:endParaRP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8AAF4175-AE55-173C-94CE-23D735E796E1}"/>
                  </a:ext>
                </a:extLst>
              </p:cNvPr>
              <p:cNvSpPr>
                <a:spLocks noGrp="1"/>
              </p:cNvSpPr>
              <p:nvPr>
                <p:ph type="body" idx="1"/>
              </p:nvPr>
            </p:nvSpPr>
            <p:spPr/>
            <p:txBody>
              <a:bodyPr>
                <a:normAutofit fontScale="92500" lnSpcReduction="20000"/>
              </a:bodyPr>
              <a:lstStyle/>
              <a:p>
                <a:r>
                  <a:rPr lang="en-GB"/>
                  <a:t>To calculate </a:t>
                </a:r>
                <a14:m>
                  <m:oMath xmlns:m="http://schemas.openxmlformats.org/officeDocument/2006/math">
                    <m:r>
                      <a:rPr lang="en-GB" b="0" i="1" smtClean="0">
                        <a:latin typeface="Cambria Math" panose="02040503050406030204" pitchFamily="18" charset="0"/>
                      </a:rPr>
                      <m:t>𝑎</m:t>
                    </m:r>
                  </m:oMath>
                </a14:m>
                <a:r>
                  <a:rPr lang="en-GB"/>
                  <a:t>, we start with (1): </a:t>
                </a:r>
                <a14:m>
                  <m:oMath xmlns:m="http://schemas.openxmlformats.org/officeDocument/2006/math">
                    <m:nary>
                      <m:naryPr>
                        <m:chr m:val="∑"/>
                        <m:subHide m:val="on"/>
                        <m:supHide m:val="on"/>
                        <m:ctrlPr>
                          <a:rPr lang="en-GB" b="0" i="1" smtClean="0">
                            <a:latin typeface="Cambria Math" panose="02040503050406030204" pitchFamily="18" charset="0"/>
                          </a:rPr>
                        </m:ctrlPr>
                      </m:naryPr>
                      <m:sub/>
                      <m:sup/>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𝑖</m:t>
                            </m:r>
                          </m:sub>
                        </m:sSub>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sub>
                            </m:sSub>
                            <m:r>
                              <a:rPr lang="en-GB" i="1">
                                <a:latin typeface="Cambria Math" panose="02040503050406030204" pitchFamily="18" charset="0"/>
                              </a:rPr>
                              <m:t>−</m:t>
                            </m:r>
                            <m:r>
                              <a:rPr lang="en-GB" i="1">
                                <a:latin typeface="Cambria Math" panose="02040503050406030204" pitchFamily="18" charset="0"/>
                              </a:rPr>
                              <m:t>𝑎</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𝑖</m:t>
                                </m:r>
                              </m:sub>
                            </m:sSub>
                            <m:r>
                              <a:rPr lang="en-GB" i="1">
                                <a:latin typeface="Cambria Math" panose="02040503050406030204" pitchFamily="18" charset="0"/>
                              </a:rPr>
                              <m:t>−</m:t>
                            </m:r>
                            <m:r>
                              <a:rPr lang="en-GB" i="1">
                                <a:latin typeface="Cambria Math" panose="02040503050406030204" pitchFamily="18" charset="0"/>
                              </a:rPr>
                              <m:t>𝑏</m:t>
                            </m:r>
                          </m:e>
                        </m:d>
                      </m:e>
                    </m:nary>
                    <m:r>
                      <a:rPr lang="en-GB" b="0" i="0" smtClean="0">
                        <a:latin typeface="Cambria Math" panose="02040503050406030204" pitchFamily="18" charset="0"/>
                      </a:rPr>
                      <m:t>=0</m:t>
                    </m:r>
                  </m:oMath>
                </a14:m>
                <a:endParaRPr lang="en-GB"/>
              </a:p>
              <a:p>
                <a14:m>
                  <m:oMath xmlns:m="http://schemas.openxmlformats.org/officeDocument/2006/math">
                    <m:nary>
                      <m:naryPr>
                        <m:chr m:val="∑"/>
                        <m:subHide m:val="on"/>
                        <m:supHide m:val="on"/>
                        <m:ctrlPr>
                          <a:rPr lang="en-GB" i="1">
                            <a:latin typeface="Cambria Math" panose="02040503050406030204" pitchFamily="18" charset="0"/>
                          </a:rPr>
                        </m:ctrlPr>
                      </m:naryPr>
                      <m:sub/>
                      <m:sup/>
                      <m:e>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𝑖</m:t>
                                </m:r>
                              </m:sub>
                            </m:sSub>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sub>
                            </m:sSub>
                            <m:r>
                              <a:rPr lang="en-GB" i="1">
                                <a:latin typeface="Cambria Math" panose="02040503050406030204" pitchFamily="18" charset="0"/>
                              </a:rPr>
                              <m:t>−</m:t>
                            </m:r>
                            <m:r>
                              <a:rPr lang="en-GB" i="1">
                                <a:latin typeface="Cambria Math" panose="02040503050406030204" pitchFamily="18" charset="0"/>
                              </a:rPr>
                              <m:t>𝑎</m:t>
                            </m:r>
                            <m:sSubSup>
                              <m:sSubSupPr>
                                <m:ctrlPr>
                                  <a:rPr lang="en-GB" b="0" i="1" smtClean="0">
                                    <a:latin typeface="Cambria Math" panose="02040503050406030204" pitchFamily="18" charset="0"/>
                                  </a:rPr>
                                </m:ctrlPr>
                              </m:sSubSupPr>
                              <m:e>
                                <m:r>
                                  <a:rPr lang="en-GB" i="1">
                                    <a:latin typeface="Cambria Math" panose="02040503050406030204" pitchFamily="18" charset="0"/>
                                  </a:rPr>
                                  <m:t>𝑥</m:t>
                                </m:r>
                              </m:e>
                              <m:sub>
                                <m:r>
                                  <a:rPr lang="en-GB" i="1">
                                    <a:latin typeface="Cambria Math" panose="02040503050406030204" pitchFamily="18" charset="0"/>
                                  </a:rPr>
                                  <m:t>𝑖</m:t>
                                </m:r>
                              </m:sub>
                              <m:sup>
                                <m:r>
                                  <a:rPr lang="en-GB" b="0" i="1" smtClean="0">
                                    <a:latin typeface="Cambria Math" panose="02040503050406030204" pitchFamily="18" charset="0"/>
                                  </a:rPr>
                                  <m:t>2</m:t>
                                </m:r>
                              </m:sup>
                            </m:sSubSup>
                            <m:r>
                              <a:rPr lang="en-GB" i="1">
                                <a:latin typeface="Cambria Math" panose="02040503050406030204" pitchFamily="18" charset="0"/>
                              </a:rPr>
                              <m:t>−</m:t>
                            </m:r>
                            <m:r>
                              <a:rPr lang="en-GB" b="0" i="1" smtClean="0">
                                <a:latin typeface="Cambria Math" panose="02040503050406030204" pitchFamily="18" charset="0"/>
                              </a:rPr>
                              <m:t>𝑏</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𝑖</m:t>
                                </m:r>
                              </m:sub>
                            </m:sSub>
                          </m:e>
                        </m:d>
                      </m:e>
                    </m:nary>
                    <m:r>
                      <a:rPr lang="en-GB" b="0" i="1" smtClean="0">
                        <a:latin typeface="Cambria Math" panose="02040503050406030204" pitchFamily="18" charset="0"/>
                      </a:rPr>
                      <m:t>=0</m:t>
                    </m:r>
                  </m:oMath>
                </a14:m>
                <a:endParaRPr lang="en-GB"/>
              </a:p>
              <a:p>
                <a:r>
                  <a:rPr lang="en-GB" b="0"/>
                  <a:t>Substituting </a:t>
                </a:r>
                <a14:m>
                  <m:oMath xmlns:m="http://schemas.openxmlformats.org/officeDocument/2006/math">
                    <m:r>
                      <a:rPr lang="en-US" b="0" i="1" smtClean="0">
                        <a:latin typeface="Cambria Math" panose="02040503050406030204" pitchFamily="18" charset="0"/>
                      </a:rPr>
                      <m:t>𝑏</m:t>
                    </m:r>
                  </m:oMath>
                </a14:m>
                <a:r>
                  <a:rPr lang="en-GB" b="0"/>
                  <a:t> from earlier: </a:t>
                </a:r>
                <a14:m>
                  <m:oMath xmlns:m="http://schemas.openxmlformats.org/officeDocument/2006/math">
                    <m:nary>
                      <m:naryPr>
                        <m:chr m:val="∑"/>
                        <m:subHide m:val="on"/>
                        <m:supHide m:val="on"/>
                        <m:ctrlPr>
                          <a:rPr lang="en-GB" b="0" i="1" smtClean="0">
                            <a:latin typeface="Cambria Math" panose="02040503050406030204" pitchFamily="18" charset="0"/>
                          </a:rPr>
                        </m:ctrlPr>
                      </m:naryPr>
                      <m:sub/>
                      <m:sup/>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𝑖</m:t>
                            </m:r>
                          </m:sub>
                        </m:sSub>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sub>
                        </m:sSub>
                      </m:e>
                    </m:nary>
                    <m:r>
                      <a:rPr lang="en-GB" b="0" i="1" smtClean="0">
                        <a:latin typeface="Cambria Math" panose="02040503050406030204" pitchFamily="18" charset="0"/>
                      </a:rPr>
                      <m:t>−</m:t>
                    </m:r>
                    <m:r>
                      <a:rPr lang="en-GB" b="0" i="1" smtClean="0">
                        <a:latin typeface="Cambria Math" panose="02040503050406030204" pitchFamily="18" charset="0"/>
                      </a:rPr>
                      <m:t>𝑎</m:t>
                    </m:r>
                    <m:nary>
                      <m:naryPr>
                        <m:chr m:val="∑"/>
                        <m:subHide m:val="on"/>
                        <m:supHide m:val="on"/>
                        <m:ctrlPr>
                          <a:rPr lang="en-GB" b="0" i="1" smtClean="0">
                            <a:latin typeface="Cambria Math" panose="02040503050406030204" pitchFamily="18" charset="0"/>
                          </a:rPr>
                        </m:ctrlPr>
                      </m:naryPr>
                      <m:sub/>
                      <m:sup/>
                      <m:e>
                        <m:sSubSup>
                          <m:sSubSupPr>
                            <m:ctrlPr>
                              <a:rPr lang="en-GB" i="1">
                                <a:latin typeface="Cambria Math" panose="02040503050406030204" pitchFamily="18" charset="0"/>
                              </a:rPr>
                            </m:ctrlPr>
                          </m:sSubSupPr>
                          <m:e>
                            <m:r>
                              <a:rPr lang="en-GB" i="1">
                                <a:latin typeface="Cambria Math" panose="02040503050406030204" pitchFamily="18" charset="0"/>
                              </a:rPr>
                              <m:t>𝑥</m:t>
                            </m:r>
                          </m:e>
                          <m:sub>
                            <m:r>
                              <a:rPr lang="en-GB" i="1">
                                <a:latin typeface="Cambria Math" panose="02040503050406030204" pitchFamily="18" charset="0"/>
                              </a:rPr>
                              <m:t>𝑖</m:t>
                            </m:r>
                          </m:sub>
                          <m:sup>
                            <m:r>
                              <a:rPr lang="en-GB" i="1">
                                <a:latin typeface="Cambria Math" panose="02040503050406030204" pitchFamily="18" charset="0"/>
                              </a:rPr>
                              <m:t>2</m:t>
                            </m:r>
                          </m:sup>
                        </m:sSubSup>
                      </m:e>
                    </m:nary>
                    <m:r>
                      <a:rPr lang="en-GB" b="0" i="1" smtClean="0">
                        <a:latin typeface="Cambria Math" panose="02040503050406030204" pitchFamily="18" charset="0"/>
                      </a:rPr>
                      <m:t>−</m:t>
                    </m:r>
                    <m:d>
                      <m:dPr>
                        <m:ctrlPr>
                          <a:rPr lang="en-US" b="0" i="1" smtClean="0">
                            <a:latin typeface="Cambria Math" panose="02040503050406030204" pitchFamily="18" charset="0"/>
                          </a:rPr>
                        </m:ctrlPr>
                      </m:dPr>
                      <m:e>
                        <m:f>
                          <m:fPr>
                            <m:ctrlPr>
                              <a:rPr lang="en-GB" i="1">
                                <a:latin typeface="Cambria Math" panose="02040503050406030204" pitchFamily="18" charset="0"/>
                              </a:rPr>
                            </m:ctrlPr>
                          </m:fPr>
                          <m:num>
                            <m:nary>
                              <m:naryPr>
                                <m:chr m:val="∑"/>
                                <m:subHide m:val="on"/>
                                <m:supHide m:val="on"/>
                                <m:ctrlPr>
                                  <a:rPr lang="en-GB" i="1">
                                    <a:latin typeface="Cambria Math" panose="02040503050406030204" pitchFamily="18" charset="0"/>
                                  </a:rPr>
                                </m:ctrlPr>
                              </m:naryPr>
                              <m:sub/>
                              <m:sup/>
                              <m:e>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sub>
                                </m:sSub>
                              </m:e>
                            </m:nary>
                          </m:num>
                          <m:den>
                            <m:r>
                              <a:rPr lang="en-GB" i="1">
                                <a:latin typeface="Cambria Math" panose="02040503050406030204" pitchFamily="18" charset="0"/>
                              </a:rPr>
                              <m:t>𝑁</m:t>
                            </m:r>
                          </m:den>
                        </m:f>
                        <m:r>
                          <a:rPr lang="en-GB" i="1">
                            <a:latin typeface="Cambria Math" panose="02040503050406030204" pitchFamily="18" charset="0"/>
                          </a:rPr>
                          <m:t>−</m:t>
                        </m:r>
                        <m:r>
                          <a:rPr lang="en-GB" i="1">
                            <a:latin typeface="Cambria Math" panose="02040503050406030204" pitchFamily="18" charset="0"/>
                          </a:rPr>
                          <m:t>𝑎</m:t>
                        </m:r>
                        <m:f>
                          <m:fPr>
                            <m:ctrlPr>
                              <a:rPr lang="en-GB" i="1">
                                <a:latin typeface="Cambria Math" panose="02040503050406030204" pitchFamily="18" charset="0"/>
                              </a:rPr>
                            </m:ctrlPr>
                          </m:fPr>
                          <m:num>
                            <m:nary>
                              <m:naryPr>
                                <m:chr m:val="∑"/>
                                <m:subHide m:val="on"/>
                                <m:supHide m:val="on"/>
                                <m:ctrlPr>
                                  <a:rPr lang="en-GB" i="1">
                                    <a:latin typeface="Cambria Math" panose="02040503050406030204" pitchFamily="18" charset="0"/>
                                  </a:rPr>
                                </m:ctrlPr>
                              </m:naryPr>
                              <m:sub/>
                              <m:sup/>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𝑖</m:t>
                                    </m:r>
                                  </m:sub>
                                </m:sSub>
                              </m:e>
                            </m:nary>
                          </m:num>
                          <m:den>
                            <m:r>
                              <a:rPr lang="en-GB" i="1">
                                <a:latin typeface="Cambria Math" panose="02040503050406030204" pitchFamily="18" charset="0"/>
                              </a:rPr>
                              <m:t>𝑁</m:t>
                            </m:r>
                          </m:den>
                        </m:f>
                      </m:e>
                    </m:d>
                    <m:nary>
                      <m:naryPr>
                        <m:chr m:val="∑"/>
                        <m:subHide m:val="on"/>
                        <m:supHide m:val="on"/>
                        <m:ctrlPr>
                          <a:rPr lang="en-GB" b="0" i="1" smtClean="0">
                            <a:latin typeface="Cambria Math" panose="02040503050406030204" pitchFamily="18" charset="0"/>
                          </a:rPr>
                        </m:ctrlPr>
                      </m:naryPr>
                      <m:sub/>
                      <m:sup/>
                      <m:e>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e>
                    </m:nary>
                    <m:r>
                      <a:rPr lang="en-GB" b="0" i="1" smtClean="0">
                        <a:latin typeface="Cambria Math" panose="02040503050406030204" pitchFamily="18" charset="0"/>
                      </a:rPr>
                      <m:t>=0</m:t>
                    </m:r>
                  </m:oMath>
                </a14:m>
                <a:endParaRPr lang="en-GB"/>
              </a:p>
              <a:p>
                <a:r>
                  <a:rPr lang="en-GB"/>
                  <a:t>Let’s say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𝑥</m:t>
                        </m:r>
                      </m:sub>
                    </m:sSub>
                    <m:r>
                      <a:rPr lang="en-US" b="0" i="1" smtClean="0">
                        <a:latin typeface="Cambria Math" panose="02040503050406030204" pitchFamily="18" charset="0"/>
                      </a:rPr>
                      <m:t>=</m:t>
                    </m:r>
                    <m:nary>
                      <m:naryPr>
                        <m:chr m:val="∑"/>
                        <m:subHide m:val="on"/>
                        <m:supHide m:val="on"/>
                        <m:ctrlPr>
                          <a:rPr lang="en-US" b="0" i="1" smtClean="0">
                            <a:latin typeface="Cambria Math" panose="02040503050406030204" pitchFamily="18" charset="0"/>
                          </a:rPr>
                        </m:ctrlPr>
                      </m:naryP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e>
                    </m:nary>
                    <m:r>
                      <a:rPr lang="en-US" b="0" i="1" smtClean="0">
                        <a:latin typeface="Cambria Math" panose="02040503050406030204" pitchFamily="18" charset="0"/>
                      </a:rPr>
                      <m:t>;</m:t>
                    </m:r>
                    <m:r>
                      <a:rPr lang="en-US" b="0" i="1" smtClean="0">
                        <a:latin typeface="Cambria Math" panose="02040503050406030204" pitchFamily="18" charset="0"/>
                      </a:rPr>
                      <m:t>𝑆𝑦</m:t>
                    </m:r>
                    <m:r>
                      <a:rPr lang="en-US" b="0" i="1" smtClean="0">
                        <a:latin typeface="Cambria Math" panose="02040503050406030204" pitchFamily="18" charset="0"/>
                      </a:rPr>
                      <m:t>=</m:t>
                    </m:r>
                    <m:nary>
                      <m:naryPr>
                        <m:chr m:val="∑"/>
                        <m:subHide m:val="on"/>
                        <m:supHide m:val="on"/>
                        <m:ctrlPr>
                          <a:rPr lang="en-US" b="0" i="1" smtClean="0">
                            <a:latin typeface="Cambria Math" panose="02040503050406030204" pitchFamily="18" charset="0"/>
                          </a:rPr>
                        </m:ctrlPr>
                      </m:naryP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e>
                    </m:nary>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𝑥𝑦</m:t>
                        </m:r>
                      </m:sub>
                    </m:sSub>
                    <m:r>
                      <a:rPr lang="en-US" b="0" i="1" smtClean="0">
                        <a:latin typeface="Cambria Math" panose="02040503050406030204" pitchFamily="18" charset="0"/>
                      </a:rPr>
                      <m:t>=</m:t>
                    </m:r>
                    <m:nary>
                      <m:naryPr>
                        <m:chr m:val="∑"/>
                        <m:subHide m:val="on"/>
                        <m:supHide m:val="on"/>
                        <m:ctrlPr>
                          <a:rPr lang="en-US" b="0" i="1" smtClean="0">
                            <a:latin typeface="Cambria Math" panose="02040503050406030204" pitchFamily="18" charset="0"/>
                          </a:rPr>
                        </m:ctrlPr>
                      </m:naryP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e>
                    </m:nary>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𝑖</m:t>
                        </m:r>
                      </m:sub>
                      <m:sup>
                        <m:r>
                          <a:rPr lang="en-US" b="0" i="1" smtClean="0">
                            <a:latin typeface="Cambria Math" panose="02040503050406030204" pitchFamily="18" charset="0"/>
                          </a:rPr>
                          <m:t>2</m:t>
                        </m:r>
                      </m:sup>
                    </m:sSubSup>
                  </m:oMath>
                </a14:m>
                <a:endParaRPr lang="en-GB"/>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𝑥𝑦</m:t>
                        </m:r>
                      </m:sub>
                    </m:sSub>
                    <m:r>
                      <a:rPr lang="en-GB" b="0" i="1" smtClean="0">
                        <a:latin typeface="Cambria Math" panose="02040503050406030204" pitchFamily="18" charset="0"/>
                      </a:rPr>
                      <m:t>−</m:t>
                    </m:r>
                    <m:r>
                      <a:rPr lang="en-GB" b="0" i="1" smtClean="0">
                        <a:latin typeface="Cambria Math" panose="02040503050406030204" pitchFamily="18" charset="0"/>
                      </a:rPr>
                      <m:t>𝑎</m:t>
                    </m:r>
                    <m:sSub>
                      <m:sSubPr>
                        <m:ctrlPr>
                          <a:rPr lang="en-US" i="1">
                            <a:latin typeface="Cambria Math" panose="02040503050406030204" pitchFamily="18" charset="0"/>
                          </a:rPr>
                        </m:ctrlPr>
                      </m:sSubPr>
                      <m:e>
                        <m:r>
                          <a:rPr lang="en-US" i="1">
                            <a:latin typeface="Cambria Math" panose="02040503050406030204" pitchFamily="18" charset="0"/>
                          </a:rPr>
                          <m:t>𝑆</m:t>
                        </m:r>
                      </m:e>
                      <m:sub>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2</m:t>
                            </m:r>
                          </m:sup>
                        </m:sSup>
                      </m:sub>
                    </m:sSub>
                    <m:r>
                      <a:rPr lang="en-GB" b="0" i="1" smtClean="0">
                        <a:latin typeface="Cambria Math" panose="02040503050406030204" pitchFamily="18" charset="0"/>
                      </a:rPr>
                      <m:t>−</m:t>
                    </m:r>
                    <m:d>
                      <m:dPr>
                        <m:ctrlPr>
                          <a:rPr lang="en-US" b="0" i="1" smtClean="0">
                            <a:latin typeface="Cambria Math" panose="02040503050406030204" pitchFamily="18" charset="0"/>
                          </a:rPr>
                        </m:ctrlPr>
                      </m:dPr>
                      <m:e>
                        <m:f>
                          <m:fPr>
                            <m:ctrlPr>
                              <a:rPr lang="en-GB" i="1">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𝑦</m:t>
                                </m:r>
                              </m:sub>
                            </m:sSub>
                          </m:num>
                          <m:den>
                            <m:r>
                              <a:rPr lang="en-GB" i="1">
                                <a:latin typeface="Cambria Math" panose="02040503050406030204" pitchFamily="18" charset="0"/>
                              </a:rPr>
                              <m:t>𝑁</m:t>
                            </m:r>
                          </m:den>
                        </m:f>
                        <m:r>
                          <a:rPr lang="en-GB" i="1">
                            <a:latin typeface="Cambria Math" panose="02040503050406030204" pitchFamily="18" charset="0"/>
                          </a:rPr>
                          <m:t>−</m:t>
                        </m:r>
                        <m:r>
                          <a:rPr lang="en-GB" i="1">
                            <a:latin typeface="Cambria Math" panose="02040503050406030204" pitchFamily="18" charset="0"/>
                          </a:rPr>
                          <m:t>𝑎</m:t>
                        </m:r>
                        <m:f>
                          <m:fPr>
                            <m:ctrlPr>
                              <a:rPr lang="en-GB" i="1">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𝑥</m:t>
                                </m:r>
                              </m:sub>
                            </m:sSub>
                          </m:num>
                          <m:den>
                            <m:r>
                              <a:rPr lang="en-GB" i="1">
                                <a:latin typeface="Cambria Math" panose="02040503050406030204" pitchFamily="18" charset="0"/>
                              </a:rPr>
                              <m:t>𝑁</m:t>
                            </m:r>
                          </m:den>
                        </m:f>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𝑥</m:t>
                        </m:r>
                      </m:sub>
                    </m:sSub>
                    <m:r>
                      <a:rPr lang="en-GB" b="0" i="1" smtClean="0">
                        <a:latin typeface="Cambria Math" panose="02040503050406030204" pitchFamily="18" charset="0"/>
                      </a:rPr>
                      <m:t>=0</m:t>
                    </m:r>
                  </m:oMath>
                </a14:m>
                <a:r>
                  <a:rPr lang="en-GB"/>
                  <a:t>, or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𝑥𝑦</m:t>
                        </m:r>
                      </m:sub>
                    </m:sSub>
                    <m:r>
                      <a:rPr lang="en-GB" i="1">
                        <a:latin typeface="Cambria Math" panose="02040503050406030204" pitchFamily="18" charset="0"/>
                      </a:rPr>
                      <m:t>−</m:t>
                    </m:r>
                    <m:r>
                      <a:rPr lang="en-GB" i="1">
                        <a:latin typeface="Cambria Math" panose="02040503050406030204" pitchFamily="18" charset="0"/>
                      </a:rPr>
                      <m:t>𝑎</m:t>
                    </m:r>
                    <m:sSub>
                      <m:sSubPr>
                        <m:ctrlPr>
                          <a:rPr lang="en-US" i="1">
                            <a:latin typeface="Cambria Math" panose="02040503050406030204" pitchFamily="18" charset="0"/>
                          </a:rPr>
                        </m:ctrlPr>
                      </m:sSubPr>
                      <m:e>
                        <m:r>
                          <a:rPr lang="en-US" i="1">
                            <a:latin typeface="Cambria Math" panose="02040503050406030204" pitchFamily="18" charset="0"/>
                          </a:rPr>
                          <m:t>𝑆</m:t>
                        </m:r>
                      </m:e>
                      <m:sub>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2</m:t>
                            </m:r>
                          </m:sup>
                        </m:sSup>
                      </m:sub>
                    </m:sSub>
                    <m:r>
                      <a:rPr lang="en-GB" i="1">
                        <a:latin typeface="Cambria Math" panose="02040503050406030204" pitchFamily="18" charset="0"/>
                      </a:rPr>
                      <m:t>−</m:t>
                    </m:r>
                    <m:f>
                      <m:fPr>
                        <m:ctrlPr>
                          <a:rPr lang="en-GB" i="1">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𝑥</m:t>
                            </m:r>
                          </m:sub>
                        </m:sSub>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𝑦</m:t>
                            </m:r>
                          </m:sub>
                        </m:sSub>
                      </m:num>
                      <m:den>
                        <m:r>
                          <a:rPr lang="en-GB" i="1">
                            <a:latin typeface="Cambria Math" panose="02040503050406030204" pitchFamily="18" charset="0"/>
                          </a:rPr>
                          <m:t>𝑁</m:t>
                        </m:r>
                      </m:den>
                    </m:f>
                    <m:r>
                      <a:rPr lang="en-US" b="0" i="1" smtClean="0">
                        <a:latin typeface="Cambria Math" panose="02040503050406030204" pitchFamily="18" charset="0"/>
                      </a:rPr>
                      <m:t>+</m:t>
                    </m:r>
                    <m:r>
                      <a:rPr lang="en-GB" i="1">
                        <a:latin typeface="Cambria Math" panose="02040503050406030204" pitchFamily="18" charset="0"/>
                      </a:rPr>
                      <m:t>𝑎</m:t>
                    </m:r>
                    <m:f>
                      <m:fPr>
                        <m:ctrlPr>
                          <a:rPr lang="en-GB"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𝑥</m:t>
                            </m:r>
                          </m:sub>
                        </m:sSub>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𝑥</m:t>
                            </m:r>
                          </m:sub>
                        </m:sSub>
                      </m:num>
                      <m:den>
                        <m:r>
                          <a:rPr lang="en-GB" i="1">
                            <a:latin typeface="Cambria Math" panose="02040503050406030204" pitchFamily="18" charset="0"/>
                          </a:rPr>
                          <m:t>𝑁</m:t>
                        </m:r>
                      </m:den>
                    </m:f>
                    <m:r>
                      <a:rPr lang="en-US" b="0" i="1" smtClean="0">
                        <a:latin typeface="Cambria Math" panose="02040503050406030204" pitchFamily="18" charset="0"/>
                      </a:rPr>
                      <m:t>=0</m:t>
                    </m:r>
                  </m:oMath>
                </a14:m>
                <a:endParaRPr lang="en-US" b="0"/>
              </a:p>
              <a:p>
                <a:r>
                  <a:rPr lang="en-GB"/>
                  <a:t>Separate out </a:t>
                </a:r>
                <a14:m>
                  <m:oMath xmlns:m="http://schemas.openxmlformats.org/officeDocument/2006/math">
                    <m:r>
                      <a:rPr lang="en-US" b="0" i="1" smtClean="0">
                        <a:latin typeface="Cambria Math" panose="02040503050406030204" pitchFamily="18" charset="0"/>
                      </a:rPr>
                      <m:t>𝑎</m:t>
                    </m:r>
                  </m:oMath>
                </a14:m>
                <a:r>
                  <a:rPr lang="en-GB"/>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𝑥𝑦</m:t>
                        </m:r>
                      </m:sub>
                    </m:sSub>
                    <m:r>
                      <a:rPr lang="en-GB" i="1">
                        <a:latin typeface="Cambria Math" panose="02040503050406030204" pitchFamily="18" charset="0"/>
                      </a:rPr>
                      <m:t>−</m:t>
                    </m:r>
                    <m:f>
                      <m:fPr>
                        <m:ctrlPr>
                          <a:rPr lang="en-GB"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𝑥</m:t>
                            </m:r>
                          </m:sub>
                        </m:sSub>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𝑦</m:t>
                            </m:r>
                          </m:sub>
                        </m:sSub>
                      </m:num>
                      <m:den>
                        <m:r>
                          <a:rPr lang="en-GB" i="1">
                            <a:latin typeface="Cambria Math" panose="02040503050406030204" pitchFamily="18" charset="0"/>
                          </a:rPr>
                          <m:t>𝑁</m:t>
                        </m:r>
                      </m:den>
                    </m:f>
                    <m:r>
                      <a:rPr lang="en-GB" i="1">
                        <a:latin typeface="Cambria Math" panose="02040503050406030204" pitchFamily="18" charset="0"/>
                      </a:rPr>
                      <m:t>−</m:t>
                    </m:r>
                    <m:r>
                      <a:rPr lang="en-GB" i="1">
                        <a:latin typeface="Cambria Math" panose="02040503050406030204" pitchFamily="18" charset="0"/>
                      </a:rPr>
                      <m:t>𝑎</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2</m:t>
                                </m:r>
                              </m:sup>
                            </m:sSup>
                          </m:sub>
                        </m:sSub>
                        <m:r>
                          <a:rPr lang="en-US" i="1">
                            <a:latin typeface="Cambria Math" panose="02040503050406030204" pitchFamily="18" charset="0"/>
                          </a:rPr>
                          <m:t>−</m:t>
                        </m:r>
                        <m:r>
                          <a:rPr lang="en-GB" i="1">
                            <a:latin typeface="Cambria Math" panose="02040503050406030204" pitchFamily="18" charset="0"/>
                          </a:rPr>
                          <m:t>𝑎</m:t>
                        </m:r>
                        <m:f>
                          <m:fPr>
                            <m:ctrlPr>
                              <a:rPr lang="en-GB"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𝑥</m:t>
                                </m:r>
                              </m:sub>
                            </m:sSub>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𝑥</m:t>
                                </m:r>
                              </m:sub>
                            </m:sSub>
                          </m:num>
                          <m:den>
                            <m:r>
                              <a:rPr lang="en-GB" i="1">
                                <a:latin typeface="Cambria Math" panose="02040503050406030204" pitchFamily="18" charset="0"/>
                              </a:rPr>
                              <m:t>𝑁</m:t>
                            </m:r>
                          </m:den>
                        </m:f>
                      </m:e>
                    </m:d>
                    <m:r>
                      <a:rPr lang="en-US" i="1">
                        <a:latin typeface="Cambria Math" panose="02040503050406030204" pitchFamily="18" charset="0"/>
                      </a:rPr>
                      <m:t>=0</m:t>
                    </m:r>
                  </m:oMath>
                </a14:m>
                <a:r>
                  <a:rPr lang="en-GB"/>
                  <a:t>; </a:t>
                </a:r>
                <a14:m>
                  <m:oMath xmlns:m="http://schemas.openxmlformats.org/officeDocument/2006/math">
                    <m:r>
                      <a:rPr lang="en-US" i="1">
                        <a:latin typeface="Cambria Math" panose="02040503050406030204" pitchFamily="18" charset="0"/>
                      </a:rPr>
                      <m:t>𝑎</m:t>
                    </m:r>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𝑥𝑦</m:t>
                            </m:r>
                          </m:sub>
                        </m:sSub>
                        <m:r>
                          <a:rPr lang="en-GB" i="1">
                            <a:latin typeface="Cambria Math" panose="02040503050406030204" pitchFamily="18" charset="0"/>
                          </a:rPr>
                          <m:t>−</m:t>
                        </m:r>
                        <m:f>
                          <m:fPr>
                            <m:ctrlPr>
                              <a:rPr lang="en-GB"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𝑥</m:t>
                                </m:r>
                              </m:sub>
                            </m:sSub>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𝑦</m:t>
                                </m:r>
                              </m:sub>
                            </m:sSub>
                          </m:num>
                          <m:den>
                            <m:r>
                              <a:rPr lang="en-GB" i="1">
                                <a:latin typeface="Cambria Math" panose="02040503050406030204" pitchFamily="18" charset="0"/>
                              </a:rPr>
                              <m:t>𝑁</m:t>
                            </m:r>
                          </m:den>
                        </m:f>
                      </m:num>
                      <m:den>
                        <m:sSub>
                          <m:sSubPr>
                            <m:ctrlPr>
                              <a:rPr lang="en-US" i="1">
                                <a:latin typeface="Cambria Math" panose="02040503050406030204" pitchFamily="18" charset="0"/>
                              </a:rPr>
                            </m:ctrlPr>
                          </m:sSubPr>
                          <m:e>
                            <m:r>
                              <a:rPr lang="en-US" i="1">
                                <a:latin typeface="Cambria Math" panose="02040503050406030204" pitchFamily="18" charset="0"/>
                              </a:rPr>
                              <m:t>𝑆</m:t>
                            </m:r>
                          </m:e>
                          <m:sub>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2</m:t>
                                </m:r>
                              </m:sup>
                            </m:sSup>
                          </m:sub>
                        </m:sSub>
                        <m:r>
                          <a:rPr lang="en-US" i="1">
                            <a:latin typeface="Cambria Math" panose="02040503050406030204" pitchFamily="18" charset="0"/>
                          </a:rPr>
                          <m:t>−</m:t>
                        </m:r>
                        <m:r>
                          <a:rPr lang="en-GB" i="1">
                            <a:latin typeface="Cambria Math" panose="02040503050406030204" pitchFamily="18" charset="0"/>
                          </a:rPr>
                          <m:t>𝑎</m:t>
                        </m:r>
                        <m:f>
                          <m:fPr>
                            <m:ctrlPr>
                              <a:rPr lang="en-GB"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𝑥</m:t>
                                </m:r>
                              </m:sub>
                            </m:sSub>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𝑥</m:t>
                                </m:r>
                              </m:sub>
                            </m:sSub>
                          </m:num>
                          <m:den>
                            <m:r>
                              <a:rPr lang="en-GB" i="1">
                                <a:latin typeface="Cambria Math" panose="02040503050406030204" pitchFamily="18" charset="0"/>
                              </a:rPr>
                              <m:t>𝑁</m:t>
                            </m:r>
                          </m:den>
                        </m:f>
                      </m:den>
                    </m:f>
                  </m:oMath>
                </a14:m>
                <a:endParaRPr lang="en-GB"/>
              </a:p>
            </p:txBody>
          </p:sp>
        </mc:Choice>
        <mc:Fallback>
          <p:sp>
            <p:nvSpPr>
              <p:cNvPr id="3" name="Text Placeholder 2">
                <a:extLst>
                  <a:ext uri="{FF2B5EF4-FFF2-40B4-BE49-F238E27FC236}">
                    <a16:creationId xmlns:a16="http://schemas.microsoft.com/office/drawing/2014/main" id="{8AAF4175-AE55-173C-94CE-23D735E796E1}"/>
                  </a:ext>
                </a:extLst>
              </p:cNvPr>
              <p:cNvSpPr>
                <a:spLocks noGrp="1" noRot="1" noChangeAspect="1" noMove="1" noResize="1" noEditPoints="1" noAdjustHandles="1" noChangeArrowheads="1" noChangeShapeType="1" noTextEdit="1"/>
              </p:cNvSpPr>
              <p:nvPr>
                <p:ph type="body" idx="1"/>
              </p:nvPr>
            </p:nvSpPr>
            <p:spPr>
              <a:blipFill>
                <a:blip r:embed="rId3"/>
                <a:stretch>
                  <a:fillRect t="-9290"/>
                </a:stretch>
              </a:blipFill>
            </p:spPr>
            <p:txBody>
              <a:bodyPr/>
              <a:lstStyle/>
              <a:p>
                <a:r>
                  <a:rPr lang="en-US">
                    <a:noFill/>
                  </a:rPr>
                  <a:t> </a:t>
                </a:r>
              </a:p>
            </p:txBody>
          </p:sp>
        </mc:Fallback>
      </mc:AlternateContent>
    </p:spTree>
    <p:extLst>
      <p:ext uri="{BB962C8B-B14F-4D97-AF65-F5344CB8AC3E}">
        <p14:creationId xmlns:p14="http://schemas.microsoft.com/office/powerpoint/2010/main" val="29668055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73">
          <a:extLst>
            <a:ext uri="{FF2B5EF4-FFF2-40B4-BE49-F238E27FC236}">
              <a16:creationId xmlns:a16="http://schemas.microsoft.com/office/drawing/2014/main" id="{14CD050B-CB93-A2B5-E8C3-ABA5FB7ABBD6}"/>
            </a:ext>
          </a:extLst>
        </p:cNvPr>
        <p:cNvGrpSpPr/>
        <p:nvPr/>
      </p:nvGrpSpPr>
      <p:grpSpPr>
        <a:xfrm>
          <a:off x="0" y="0"/>
          <a:ext cx="0" cy="0"/>
          <a:chOff x="0" y="0"/>
          <a:chExt cx="0" cy="0"/>
        </a:xfrm>
      </p:grpSpPr>
      <p:sp>
        <p:nvSpPr>
          <p:cNvPr id="374" name="Google Shape;374;p41">
            <a:extLst>
              <a:ext uri="{FF2B5EF4-FFF2-40B4-BE49-F238E27FC236}">
                <a16:creationId xmlns:a16="http://schemas.microsoft.com/office/drawing/2014/main" id="{D7A33E5A-3252-9AD4-EA7E-26BBBF82AF1C}"/>
              </a:ext>
            </a:extLst>
          </p:cNvPr>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Computing the least squares estimate</a:t>
            </a:r>
            <a:endParaRP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2108F2D4-7706-815D-FBCF-F4732608E775}"/>
                  </a:ext>
                </a:extLst>
              </p:cNvPr>
              <p:cNvSpPr>
                <a:spLocks noGrp="1"/>
              </p:cNvSpPr>
              <p:nvPr>
                <p:ph type="body" idx="1"/>
              </p:nvPr>
            </p:nvSpPr>
            <p:spPr/>
            <p:txBody>
              <a:bodyPr>
                <a:normAutofit/>
              </a:bodyPr>
              <a:lstStyle/>
              <a:p>
                <a:r>
                  <a:rPr lang="en-US"/>
                  <a:t>Substituting original equations back:</a:t>
                </a:r>
              </a:p>
              <a:p>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f>
                      <m:fPr>
                        <m:ctrlPr>
                          <a:rPr lang="en-US" b="0" i="1" smtClean="0">
                            <a:latin typeface="Cambria Math" panose="02040503050406030204" pitchFamily="18" charset="0"/>
                          </a:rPr>
                        </m:ctrlPr>
                      </m:fPr>
                      <m:num>
                        <m:nary>
                          <m:naryPr>
                            <m:chr m:val="∑"/>
                            <m:subHide m:val="on"/>
                            <m:supHide m:val="on"/>
                            <m:ctrlPr>
                              <a:rPr lang="en-US" i="1">
                                <a:latin typeface="Cambria Math" panose="02040503050406030204" pitchFamily="18" charset="0"/>
                              </a:rPr>
                            </m:ctrlPr>
                          </m:naryPr>
                          <m:sub/>
                          <m:sup/>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e>
                        </m:nary>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num>
                          <m:den>
                            <m:r>
                              <a:rPr lang="en-US" b="0" i="1" smtClean="0">
                                <a:latin typeface="Cambria Math" panose="02040503050406030204" pitchFamily="18" charset="0"/>
                              </a:rPr>
                              <m:t>𝑁</m:t>
                            </m:r>
                          </m:den>
                        </m:f>
                      </m:num>
                      <m:den>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𝑖</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e>
                                </m:d>
                              </m:e>
                              <m:sup>
                                <m:r>
                                  <a:rPr lang="en-US" b="0" i="1" smtClean="0">
                                    <a:latin typeface="Cambria Math" panose="02040503050406030204" pitchFamily="18" charset="0"/>
                                  </a:rPr>
                                  <m:t>2</m:t>
                                </m:r>
                              </m:sup>
                            </m:sSup>
                          </m:num>
                          <m:den>
                            <m:r>
                              <a:rPr lang="en-US" b="0" i="1" smtClean="0">
                                <a:latin typeface="Cambria Math" panose="02040503050406030204" pitchFamily="18" charset="0"/>
                              </a:rPr>
                              <m:t>𝑁</m:t>
                            </m:r>
                          </m:den>
                        </m:f>
                      </m:den>
                    </m:f>
                  </m:oMath>
                </a14:m>
                <a:endParaRPr lang="en-US" b="0"/>
              </a:p>
              <a:p>
                <a:r>
                  <a:rPr lang="en-US"/>
                  <a:t>Which is equivalent to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𝑖</m:t>
                                </m:r>
                              </m:sub>
                            </m:sSub>
                            <m:r>
                              <a:rPr lang="en-GB" i="1">
                                <a:latin typeface="Cambria Math" panose="02040503050406030204" pitchFamily="18" charset="0"/>
                              </a:rPr>
                              <m:t>−</m:t>
                            </m:r>
                            <m:acc>
                              <m:accPr>
                                <m:chr m:val="̅"/>
                                <m:ctrlPr>
                                  <a:rPr lang="en-GB" i="1">
                                    <a:latin typeface="Cambria Math" panose="02040503050406030204" pitchFamily="18" charset="0"/>
                                  </a:rPr>
                                </m:ctrlPr>
                              </m:accPr>
                              <m:e>
                                <m:r>
                                  <a:rPr lang="en-GB" i="1">
                                    <a:latin typeface="Cambria Math" panose="02040503050406030204" pitchFamily="18" charset="0"/>
                                  </a:rPr>
                                  <m:t>𝑥</m:t>
                                </m:r>
                              </m:e>
                            </m:acc>
                          </m:e>
                        </m:d>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sub>
                            </m:sSub>
                            <m:r>
                              <a:rPr lang="en-GB" i="1">
                                <a:latin typeface="Cambria Math" panose="02040503050406030204" pitchFamily="18" charset="0"/>
                              </a:rPr>
                              <m:t>−</m:t>
                            </m:r>
                            <m:acc>
                              <m:accPr>
                                <m:chr m:val="̅"/>
                                <m:ctrlPr>
                                  <a:rPr lang="en-GB" i="1">
                                    <a:latin typeface="Cambria Math" panose="02040503050406030204" pitchFamily="18" charset="0"/>
                                  </a:rPr>
                                </m:ctrlPr>
                              </m:accPr>
                              <m:e>
                                <m:r>
                                  <a:rPr lang="en-GB" i="1">
                                    <a:latin typeface="Cambria Math" panose="02040503050406030204" pitchFamily="18" charset="0"/>
                                  </a:rPr>
                                  <m:t>𝑦</m:t>
                                </m:r>
                              </m:e>
                            </m:acc>
                          </m:e>
                        </m:d>
                      </m:num>
                      <m:den>
                        <m:r>
                          <a:rPr lang="en-GB" i="1">
                            <a:latin typeface="Cambria Math" panose="02040503050406030204" pitchFamily="18" charset="0"/>
                          </a:rPr>
                          <m:t>∑</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𝑖</m:t>
                                    </m:r>
                                  </m:sub>
                                </m:sSub>
                                <m:r>
                                  <a:rPr lang="en-GB" i="1">
                                    <a:latin typeface="Cambria Math" panose="02040503050406030204" pitchFamily="18" charset="0"/>
                                  </a:rPr>
                                  <m:t>−</m:t>
                                </m:r>
                                <m:acc>
                                  <m:accPr>
                                    <m:chr m:val="̅"/>
                                    <m:ctrlPr>
                                      <a:rPr lang="en-GB" i="1">
                                        <a:latin typeface="Cambria Math" panose="02040503050406030204" pitchFamily="18" charset="0"/>
                                      </a:rPr>
                                    </m:ctrlPr>
                                  </m:accPr>
                                  <m:e>
                                    <m:r>
                                      <a:rPr lang="en-GB" i="1">
                                        <a:latin typeface="Cambria Math" panose="02040503050406030204" pitchFamily="18" charset="0"/>
                                      </a:rPr>
                                      <m:t>𝑥</m:t>
                                    </m:r>
                                  </m:e>
                                </m:acc>
                              </m:e>
                            </m:d>
                          </m:e>
                          <m:sup>
                            <m:r>
                              <a:rPr lang="en-GB" i="1">
                                <a:latin typeface="Cambria Math" panose="02040503050406030204" pitchFamily="18" charset="0"/>
                              </a:rPr>
                              <m:t>2</m:t>
                            </m:r>
                          </m:sup>
                        </m:sSup>
                      </m:den>
                    </m:f>
                  </m:oMath>
                </a14:m>
                <a:endParaRPr lang="en-GB"/>
              </a:p>
            </p:txBody>
          </p:sp>
        </mc:Choice>
        <mc:Fallback>
          <p:sp>
            <p:nvSpPr>
              <p:cNvPr id="3" name="Text Placeholder 2">
                <a:extLst>
                  <a:ext uri="{FF2B5EF4-FFF2-40B4-BE49-F238E27FC236}">
                    <a16:creationId xmlns:a16="http://schemas.microsoft.com/office/drawing/2014/main" id="{2108F2D4-7706-815D-FBCF-F4732608E775}"/>
                  </a:ext>
                </a:extLst>
              </p:cNvPr>
              <p:cNvSpPr>
                <a:spLocks noGrp="1" noRot="1" noChangeAspect="1" noMove="1" noResize="1" noEditPoints="1" noAdjustHandles="1" noChangeArrowheads="1" noChangeShapeType="1" noTextEdit="1"/>
              </p:cNvSpPr>
              <p:nvPr>
                <p:ph type="body" idx="1"/>
              </p:nvPr>
            </p:nvSpPr>
            <p:spPr>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441403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42"/>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Result!</a:t>
            </a:r>
            <a:endParaRPr/>
          </a:p>
        </p:txBody>
      </p:sp>
      <p:sp>
        <p:nvSpPr>
          <p:cNvPr id="384" name="Google Shape;384;p42"/>
          <p:cNvSpPr txBox="1">
            <a:spLocks noGrp="1"/>
          </p:cNvSpPr>
          <p:nvPr>
            <p:ph type="body" idx="1"/>
          </p:nvPr>
        </p:nvSpPr>
        <p:spPr>
          <a:xfrm>
            <a:off x="727650" y="1354325"/>
            <a:ext cx="7688700" cy="2848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300"/>
              <a:buNone/>
            </a:pPr>
            <a:r>
              <a:rPr lang="en" sz="1600"/>
              <a:t>Does the least squares estimate result in the line of best fit visually?</a:t>
            </a:r>
            <a:endParaRPr sz="1600"/>
          </a:p>
        </p:txBody>
      </p:sp>
      <p:pic>
        <p:nvPicPr>
          <p:cNvPr id="385" name="Google Shape;385;p42"/>
          <p:cNvPicPr preferRelativeResize="0"/>
          <p:nvPr/>
        </p:nvPicPr>
        <p:blipFill rotWithShape="1">
          <a:blip r:embed="rId3">
            <a:alphaModFix/>
          </a:blip>
          <a:srcRect/>
          <a:stretch/>
        </p:blipFill>
        <p:spPr>
          <a:xfrm>
            <a:off x="2326025" y="1780400"/>
            <a:ext cx="4491954" cy="299462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43"/>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300"/>
              <a:t>Predicting the labels for new observations</a:t>
            </a:r>
            <a:endParaRPr sz="2300"/>
          </a:p>
          <a:p>
            <a:pPr marL="0" lvl="0" indent="0" algn="l" rtl="0">
              <a:lnSpc>
                <a:spcPct val="100000"/>
              </a:lnSpc>
              <a:spcBef>
                <a:spcPts val="0"/>
              </a:spcBef>
              <a:spcAft>
                <a:spcPts val="0"/>
              </a:spcAft>
              <a:buSzPts val="990"/>
              <a:buNone/>
            </a:pPr>
            <a:endParaRPr sz="1840"/>
          </a:p>
        </p:txBody>
      </p:sp>
      <p:pic>
        <p:nvPicPr>
          <p:cNvPr id="391" name="Google Shape;391;p43"/>
          <p:cNvPicPr preferRelativeResize="0"/>
          <p:nvPr/>
        </p:nvPicPr>
        <p:blipFill rotWithShape="1">
          <a:blip r:embed="rId3">
            <a:alphaModFix/>
          </a:blip>
          <a:srcRect/>
          <a:stretch/>
        </p:blipFill>
        <p:spPr>
          <a:xfrm>
            <a:off x="2174100" y="1709275"/>
            <a:ext cx="4795803" cy="3197226"/>
          </a:xfrm>
          <a:prstGeom prst="rect">
            <a:avLst/>
          </a:prstGeom>
          <a:noFill/>
          <a:ln>
            <a:noFill/>
          </a:ln>
        </p:spPr>
      </p:pic>
      <p:sp>
        <p:nvSpPr>
          <p:cNvPr id="392" name="Google Shape;392;p43"/>
          <p:cNvSpPr txBox="1">
            <a:spLocks noGrp="1"/>
          </p:cNvSpPr>
          <p:nvPr>
            <p:ph type="body" idx="1"/>
          </p:nvPr>
        </p:nvSpPr>
        <p:spPr>
          <a:xfrm>
            <a:off x="727650" y="1354325"/>
            <a:ext cx="7688700" cy="2848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300"/>
              <a:buNone/>
            </a:pPr>
            <a:r>
              <a:rPr lang="en" sz="1600"/>
              <a:t>Does our model generalise to the data we have not seen before?</a:t>
            </a:r>
            <a:endParaRPr sz="16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8" name="Google Shape;398;p44"/>
          <p:cNvSpPr txBox="1">
            <a:spLocks noGrp="1"/>
          </p:cNvSpPr>
          <p:nvPr>
            <p:ph type="body" idx="1"/>
          </p:nvPr>
        </p:nvSpPr>
        <p:spPr>
          <a:xfrm>
            <a:off x="693375" y="1672500"/>
            <a:ext cx="7688700" cy="1297411"/>
          </a:xfrm>
          <a:prstGeom prst="rect">
            <a:avLst/>
          </a:prstGeom>
        </p:spPr>
        <p:txBody>
          <a:bodyPr spcFirstLastPara="1" wrap="square" lIns="91425" tIns="91425" rIns="91425" bIns="91425" anchor="t" anchorCtr="0">
            <a:normAutofit fontScale="92500" lnSpcReduction="10000"/>
          </a:bodyPr>
          <a:lstStyle/>
          <a:p>
            <a:pPr marL="285750" indent="-285750"/>
            <a:r>
              <a:rPr lang="en-GB"/>
              <a:t>Not all regression problems can be simplified as Simple Linear Regression. We often need to </a:t>
            </a:r>
            <a:r>
              <a:rPr lang="en-GB" b="1"/>
              <a:t>include more inputs in our model</a:t>
            </a:r>
            <a:r>
              <a:rPr lang="en-GB"/>
              <a:t>!</a:t>
            </a:r>
          </a:p>
          <a:p>
            <a:pPr marL="285750" indent="-285750"/>
            <a:r>
              <a:rPr lang="en-GB"/>
              <a:t>Let’s revisit our dataset, which now has another feature, </a:t>
            </a:r>
            <a:r>
              <a:rPr lang="en-GB" b="1"/>
              <a:t>Hours of Sleep</a:t>
            </a:r>
            <a:endParaRPr b="1"/>
          </a:p>
        </p:txBody>
      </p:sp>
      <p:sp>
        <p:nvSpPr>
          <p:cNvPr id="399" name="Google Shape;399;p44"/>
          <p:cNvSpPr txBox="1">
            <a:spLocks noGrp="1"/>
          </p:cNvSpPr>
          <p:nvPr>
            <p:ph type="title"/>
          </p:nvPr>
        </p:nvSpPr>
        <p:spPr>
          <a:xfrm>
            <a:off x="620075" y="677188"/>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 to do if the output depends on more input variables? </a:t>
            </a:r>
            <a:endParaRPr/>
          </a:p>
        </p:txBody>
      </p:sp>
      <p:graphicFrame>
        <p:nvGraphicFramePr>
          <p:cNvPr id="2" name="Table 1">
            <a:extLst>
              <a:ext uri="{FF2B5EF4-FFF2-40B4-BE49-F238E27FC236}">
                <a16:creationId xmlns:a16="http://schemas.microsoft.com/office/drawing/2014/main" id="{71110B7F-FBB2-926A-6926-9DDC7DCCD9BF}"/>
              </a:ext>
            </a:extLst>
          </p:cNvPr>
          <p:cNvGraphicFramePr>
            <a:graphicFrameLocks noGrp="1"/>
          </p:cNvGraphicFramePr>
          <p:nvPr>
            <p:extLst>
              <p:ext uri="{D42A27DB-BD31-4B8C-83A1-F6EECF244321}">
                <p14:modId xmlns:p14="http://schemas.microsoft.com/office/powerpoint/2010/main" val="2410222694"/>
              </p:ext>
            </p:extLst>
          </p:nvPr>
        </p:nvGraphicFramePr>
        <p:xfrm>
          <a:off x="1519074" y="3083266"/>
          <a:ext cx="4973273" cy="1905000"/>
        </p:xfrm>
        <a:graphic>
          <a:graphicData uri="http://schemas.openxmlformats.org/drawingml/2006/table">
            <a:tbl>
              <a:tblPr>
                <a:tableStyleId>{BC89EF96-8CEA-46FF-86C4-4CE0E7609802}</a:tableStyleId>
              </a:tblPr>
              <a:tblGrid>
                <a:gridCol w="2052272">
                  <a:extLst>
                    <a:ext uri="{9D8B030D-6E8A-4147-A177-3AD203B41FA5}">
                      <a16:colId xmlns:a16="http://schemas.microsoft.com/office/drawing/2014/main" val="1602305497"/>
                    </a:ext>
                  </a:extLst>
                </a:gridCol>
                <a:gridCol w="1046163">
                  <a:extLst>
                    <a:ext uri="{9D8B030D-6E8A-4147-A177-3AD203B41FA5}">
                      <a16:colId xmlns:a16="http://schemas.microsoft.com/office/drawing/2014/main" val="3032840872"/>
                    </a:ext>
                  </a:extLst>
                </a:gridCol>
                <a:gridCol w="1030288">
                  <a:extLst>
                    <a:ext uri="{9D8B030D-6E8A-4147-A177-3AD203B41FA5}">
                      <a16:colId xmlns:a16="http://schemas.microsoft.com/office/drawing/2014/main" val="3993808166"/>
                    </a:ext>
                  </a:extLst>
                </a:gridCol>
                <a:gridCol w="844550">
                  <a:extLst>
                    <a:ext uri="{9D8B030D-6E8A-4147-A177-3AD203B41FA5}">
                      <a16:colId xmlns:a16="http://schemas.microsoft.com/office/drawing/2014/main" val="3257428542"/>
                    </a:ext>
                  </a:extLst>
                </a:gridCol>
              </a:tblGrid>
              <a:tr h="190500">
                <a:tc>
                  <a:txBody>
                    <a:bodyPr/>
                    <a:lstStyle/>
                    <a:p>
                      <a:pPr algn="l" fontAlgn="b"/>
                      <a:r>
                        <a:rPr lang="en-GB" sz="1100" b="1" u="none" strike="noStrike">
                          <a:solidFill>
                            <a:schemeClr val="bg2"/>
                          </a:solidFill>
                          <a:effectLst/>
                        </a:rPr>
                        <a:t>Student</a:t>
                      </a:r>
                      <a:endParaRPr lang="en-GB" sz="1100" b="1" i="0" u="none" strike="noStrike">
                        <a:solidFill>
                          <a:schemeClr val="bg2"/>
                        </a:solidFill>
                        <a:effectLst/>
                        <a:latin typeface="Aptos Narrow" panose="020B0004020202020204" pitchFamily="34" charset="0"/>
                      </a:endParaRPr>
                    </a:p>
                  </a:txBody>
                  <a:tcPr marL="9525" marR="9525" marT="9525" marB="0" anchor="b"/>
                </a:tc>
                <a:tc>
                  <a:txBody>
                    <a:bodyPr/>
                    <a:lstStyle/>
                    <a:p>
                      <a:pPr algn="l" fontAlgn="b"/>
                      <a:r>
                        <a:rPr lang="en-GB" sz="1100" b="1" u="none" strike="noStrike">
                          <a:solidFill>
                            <a:schemeClr val="bg2"/>
                          </a:solidFill>
                          <a:effectLst/>
                        </a:rPr>
                        <a:t>Hours of Study</a:t>
                      </a:r>
                      <a:endParaRPr lang="en-GB" sz="1100" b="1" i="0" u="none" strike="noStrike">
                        <a:solidFill>
                          <a:schemeClr val="bg2"/>
                        </a:solidFill>
                        <a:effectLst/>
                        <a:latin typeface="Aptos Narrow" panose="020B0004020202020204" pitchFamily="34" charset="0"/>
                      </a:endParaRPr>
                    </a:p>
                  </a:txBody>
                  <a:tcPr marL="9525" marR="9525" marT="9525" marB="0" anchor="b"/>
                </a:tc>
                <a:tc>
                  <a:txBody>
                    <a:bodyPr/>
                    <a:lstStyle/>
                    <a:p>
                      <a:pPr algn="l" fontAlgn="b"/>
                      <a:r>
                        <a:rPr lang="en-GB" sz="1100" b="1" u="none" strike="noStrike">
                          <a:solidFill>
                            <a:schemeClr val="bg2"/>
                          </a:solidFill>
                          <a:effectLst/>
                        </a:rPr>
                        <a:t>Hours of Sleep</a:t>
                      </a:r>
                      <a:endParaRPr lang="en-GB" sz="1100" b="1" i="0" u="none" strike="noStrike">
                        <a:solidFill>
                          <a:schemeClr val="bg2"/>
                        </a:solidFill>
                        <a:effectLst/>
                        <a:latin typeface="Aptos Narrow" panose="020B0004020202020204" pitchFamily="34" charset="0"/>
                      </a:endParaRPr>
                    </a:p>
                  </a:txBody>
                  <a:tcPr marL="9525" marR="9525" marT="9525" marB="0" anchor="b"/>
                </a:tc>
                <a:tc>
                  <a:txBody>
                    <a:bodyPr/>
                    <a:lstStyle/>
                    <a:p>
                      <a:pPr algn="l" fontAlgn="b"/>
                      <a:r>
                        <a:rPr lang="en-GB" sz="1100" b="1" u="none" strike="noStrike">
                          <a:solidFill>
                            <a:schemeClr val="bg2"/>
                          </a:solidFill>
                          <a:effectLst/>
                        </a:rPr>
                        <a:t>Exam Score</a:t>
                      </a:r>
                      <a:endParaRPr lang="en-GB" sz="1100" b="1" i="0" u="none" strike="noStrike">
                        <a:solidFill>
                          <a:schemeClr val="bg2"/>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948491406"/>
                  </a:ext>
                </a:extLst>
              </a:tr>
              <a:tr h="190500">
                <a:tc>
                  <a:txBody>
                    <a:bodyPr/>
                    <a:lstStyle/>
                    <a:p>
                      <a:pPr algn="l" fontAlgn="b"/>
                      <a:r>
                        <a:rPr lang="en-GB" sz="1100" u="none" strike="noStrike">
                          <a:solidFill>
                            <a:schemeClr val="bg2"/>
                          </a:solidFill>
                          <a:effectLst/>
                        </a:rPr>
                        <a:t>Abdullah</a:t>
                      </a:r>
                      <a:endParaRPr lang="en-GB" sz="110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chemeClr val="bg2"/>
                          </a:solidFill>
                          <a:effectLst/>
                        </a:rPr>
                        <a:t>2</a:t>
                      </a:r>
                      <a:endParaRPr lang="en-PK" sz="110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chemeClr val="bg2"/>
                          </a:solidFill>
                          <a:effectLst/>
                        </a:rPr>
                        <a:t>7</a:t>
                      </a:r>
                      <a:endParaRPr lang="en-PK" sz="110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chemeClr val="bg2"/>
                          </a:solidFill>
                          <a:effectLst/>
                        </a:rPr>
                        <a:t>67</a:t>
                      </a:r>
                      <a:endParaRPr lang="en-PK" sz="1100" b="0" i="0" u="none" strike="noStrike">
                        <a:solidFill>
                          <a:schemeClr val="bg2"/>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225848761"/>
                  </a:ext>
                </a:extLst>
              </a:tr>
              <a:tr h="190500">
                <a:tc>
                  <a:txBody>
                    <a:bodyPr/>
                    <a:lstStyle/>
                    <a:p>
                      <a:pPr algn="l" fontAlgn="b"/>
                      <a:r>
                        <a:rPr lang="en-GB" sz="1100" u="none" strike="noStrike">
                          <a:solidFill>
                            <a:schemeClr val="bg2"/>
                          </a:solidFill>
                          <a:effectLst/>
                        </a:rPr>
                        <a:t>Aroob</a:t>
                      </a:r>
                      <a:endParaRPr lang="en-GB" sz="110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chemeClr val="bg2"/>
                          </a:solidFill>
                          <a:effectLst/>
                        </a:rPr>
                        <a:t>4</a:t>
                      </a:r>
                      <a:endParaRPr lang="en-PK" sz="110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chemeClr val="bg2"/>
                          </a:solidFill>
                          <a:effectLst/>
                        </a:rPr>
                        <a:t>4</a:t>
                      </a:r>
                      <a:endParaRPr lang="en-PK" sz="110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chemeClr val="bg2"/>
                          </a:solidFill>
                          <a:effectLst/>
                        </a:rPr>
                        <a:t>62</a:t>
                      </a:r>
                      <a:endParaRPr lang="en-PK" sz="1100" b="0" i="0" u="none" strike="noStrike">
                        <a:solidFill>
                          <a:schemeClr val="bg2"/>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19692450"/>
                  </a:ext>
                </a:extLst>
              </a:tr>
              <a:tr h="190500">
                <a:tc>
                  <a:txBody>
                    <a:bodyPr/>
                    <a:lstStyle/>
                    <a:p>
                      <a:pPr algn="l" fontAlgn="b"/>
                      <a:r>
                        <a:rPr lang="en-GB" sz="1100" u="none" strike="noStrike">
                          <a:solidFill>
                            <a:schemeClr val="bg2"/>
                          </a:solidFill>
                          <a:effectLst/>
                        </a:rPr>
                        <a:t>Aminah</a:t>
                      </a:r>
                      <a:endParaRPr lang="en-GB" sz="110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chemeClr val="bg2"/>
                          </a:solidFill>
                          <a:effectLst/>
                        </a:rPr>
                        <a:t>3</a:t>
                      </a:r>
                      <a:endParaRPr lang="en-PK" sz="110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chemeClr val="bg2"/>
                          </a:solidFill>
                          <a:effectLst/>
                        </a:rPr>
                        <a:t>5</a:t>
                      </a:r>
                      <a:endParaRPr lang="en-PK" sz="110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chemeClr val="bg2"/>
                          </a:solidFill>
                          <a:effectLst/>
                        </a:rPr>
                        <a:t>61</a:t>
                      </a:r>
                      <a:endParaRPr lang="en-PK" sz="1100" b="0" i="0" u="none" strike="noStrike">
                        <a:solidFill>
                          <a:schemeClr val="bg2"/>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262295918"/>
                  </a:ext>
                </a:extLst>
              </a:tr>
              <a:tr h="190500">
                <a:tc>
                  <a:txBody>
                    <a:bodyPr/>
                    <a:lstStyle/>
                    <a:p>
                      <a:pPr algn="l" fontAlgn="b"/>
                      <a:r>
                        <a:rPr lang="en-GB" sz="1100" u="none" strike="noStrike">
                          <a:solidFill>
                            <a:schemeClr val="bg2"/>
                          </a:solidFill>
                          <a:effectLst/>
                        </a:rPr>
                        <a:t>Azka</a:t>
                      </a:r>
                      <a:endParaRPr lang="en-GB" sz="110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chemeClr val="bg2"/>
                          </a:solidFill>
                          <a:effectLst/>
                        </a:rPr>
                        <a:t>6</a:t>
                      </a:r>
                      <a:endParaRPr lang="en-PK" sz="110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chemeClr val="bg2"/>
                          </a:solidFill>
                          <a:effectLst/>
                        </a:rPr>
                        <a:t>6</a:t>
                      </a:r>
                      <a:endParaRPr lang="en-PK" sz="110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chemeClr val="bg2"/>
                          </a:solidFill>
                          <a:effectLst/>
                        </a:rPr>
                        <a:t>93</a:t>
                      </a:r>
                      <a:endParaRPr lang="en-PK" sz="1100" b="0" i="0" u="none" strike="noStrike">
                        <a:solidFill>
                          <a:schemeClr val="bg2"/>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647136322"/>
                  </a:ext>
                </a:extLst>
              </a:tr>
              <a:tr h="190500">
                <a:tc>
                  <a:txBody>
                    <a:bodyPr/>
                    <a:lstStyle/>
                    <a:p>
                      <a:pPr algn="l" fontAlgn="b"/>
                      <a:r>
                        <a:rPr lang="en-GB" sz="1100" u="none" strike="noStrike">
                          <a:solidFill>
                            <a:schemeClr val="bg2"/>
                          </a:solidFill>
                          <a:effectLst/>
                        </a:rPr>
                        <a:t>Summiya</a:t>
                      </a:r>
                      <a:endParaRPr lang="en-GB" sz="110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chemeClr val="bg2"/>
                          </a:solidFill>
                          <a:effectLst/>
                        </a:rPr>
                        <a:t>5</a:t>
                      </a:r>
                      <a:endParaRPr lang="en-PK" sz="110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chemeClr val="bg2"/>
                          </a:solidFill>
                          <a:effectLst/>
                        </a:rPr>
                        <a:t>4</a:t>
                      </a:r>
                      <a:endParaRPr lang="en-PK" sz="110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chemeClr val="bg2"/>
                          </a:solidFill>
                          <a:effectLst/>
                        </a:rPr>
                        <a:t>70</a:t>
                      </a:r>
                      <a:endParaRPr lang="en-PK" sz="1100" b="0" i="0" u="none" strike="noStrike">
                        <a:solidFill>
                          <a:schemeClr val="bg2"/>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387847025"/>
                  </a:ext>
                </a:extLst>
              </a:tr>
              <a:tr h="190500">
                <a:tc>
                  <a:txBody>
                    <a:bodyPr/>
                    <a:lstStyle/>
                    <a:p>
                      <a:pPr algn="l" fontAlgn="b"/>
                      <a:r>
                        <a:rPr lang="en-GB" sz="1100" u="none" strike="noStrike">
                          <a:solidFill>
                            <a:schemeClr val="bg2"/>
                          </a:solidFill>
                          <a:effectLst/>
                        </a:rPr>
                        <a:t>Owais</a:t>
                      </a:r>
                      <a:endParaRPr lang="en-GB" sz="110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chemeClr val="bg2"/>
                          </a:solidFill>
                          <a:effectLst/>
                        </a:rPr>
                        <a:t>4</a:t>
                      </a:r>
                      <a:endParaRPr lang="en-PK" sz="110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chemeClr val="bg2"/>
                          </a:solidFill>
                          <a:effectLst/>
                        </a:rPr>
                        <a:t>6</a:t>
                      </a:r>
                      <a:endParaRPr lang="en-PK" sz="110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chemeClr val="bg2"/>
                          </a:solidFill>
                          <a:effectLst/>
                        </a:rPr>
                        <a:t>76</a:t>
                      </a:r>
                      <a:endParaRPr lang="en-PK" sz="1100" b="0" i="0" u="none" strike="noStrike">
                        <a:solidFill>
                          <a:schemeClr val="bg2"/>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143221242"/>
                  </a:ext>
                </a:extLst>
              </a:tr>
              <a:tr h="190500">
                <a:tc>
                  <a:txBody>
                    <a:bodyPr/>
                    <a:lstStyle/>
                    <a:p>
                      <a:pPr algn="l" fontAlgn="b"/>
                      <a:r>
                        <a:rPr lang="en-GB" sz="1100" u="none" strike="noStrike">
                          <a:solidFill>
                            <a:schemeClr val="bg2"/>
                          </a:solidFill>
                          <a:effectLst/>
                        </a:rPr>
                        <a:t>Tim</a:t>
                      </a:r>
                      <a:endParaRPr lang="en-GB" sz="110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chemeClr val="bg2"/>
                          </a:solidFill>
                          <a:effectLst/>
                        </a:rPr>
                        <a:t>7</a:t>
                      </a:r>
                      <a:endParaRPr lang="en-PK" sz="110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chemeClr val="bg2"/>
                          </a:solidFill>
                          <a:effectLst/>
                        </a:rPr>
                        <a:t>4</a:t>
                      </a:r>
                      <a:endParaRPr lang="en-PK" sz="110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chemeClr val="bg2"/>
                          </a:solidFill>
                          <a:effectLst/>
                        </a:rPr>
                        <a:t>71</a:t>
                      </a:r>
                      <a:endParaRPr lang="en-PK" sz="1100" b="0" i="0" u="none" strike="noStrike">
                        <a:solidFill>
                          <a:schemeClr val="bg2"/>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160206393"/>
                  </a:ext>
                </a:extLst>
              </a:tr>
              <a:tr h="190500">
                <a:tc>
                  <a:txBody>
                    <a:bodyPr/>
                    <a:lstStyle/>
                    <a:p>
                      <a:pPr algn="l" fontAlgn="b"/>
                      <a:r>
                        <a:rPr lang="en-GB" sz="1100" u="none" strike="noStrike">
                          <a:solidFill>
                            <a:schemeClr val="bg2"/>
                          </a:solidFill>
                          <a:effectLst/>
                        </a:rPr>
                        <a:t>Liza</a:t>
                      </a:r>
                      <a:endParaRPr lang="en-GB" sz="110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chemeClr val="bg2"/>
                          </a:solidFill>
                          <a:effectLst/>
                        </a:rPr>
                        <a:t>3</a:t>
                      </a:r>
                      <a:endParaRPr lang="en-PK" sz="110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chemeClr val="bg2"/>
                          </a:solidFill>
                          <a:effectLst/>
                        </a:rPr>
                        <a:t>8</a:t>
                      </a:r>
                      <a:endParaRPr lang="en-PK" sz="110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chemeClr val="bg2"/>
                          </a:solidFill>
                          <a:effectLst/>
                        </a:rPr>
                        <a:t>69</a:t>
                      </a:r>
                      <a:endParaRPr lang="en-PK" sz="1100" b="0" i="0" u="none" strike="noStrike">
                        <a:solidFill>
                          <a:schemeClr val="bg2"/>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757788248"/>
                  </a:ext>
                </a:extLst>
              </a:tr>
              <a:tr h="190500">
                <a:tc>
                  <a:txBody>
                    <a:bodyPr/>
                    <a:lstStyle/>
                    <a:p>
                      <a:pPr algn="l" fontAlgn="b"/>
                      <a:r>
                        <a:rPr lang="en-GB" sz="1100" u="none" strike="noStrike">
                          <a:solidFill>
                            <a:schemeClr val="bg2"/>
                          </a:solidFill>
                          <a:effectLst/>
                        </a:rPr>
                        <a:t>Martin</a:t>
                      </a:r>
                      <a:endParaRPr lang="en-GB" sz="110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chemeClr val="bg2"/>
                          </a:solidFill>
                          <a:effectLst/>
                        </a:rPr>
                        <a:t>1</a:t>
                      </a:r>
                      <a:endParaRPr lang="en-PK" sz="110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chemeClr val="bg2"/>
                          </a:solidFill>
                          <a:effectLst/>
                        </a:rPr>
                        <a:t>8</a:t>
                      </a:r>
                      <a:endParaRPr lang="en-PK" sz="1100" b="0" i="0" u="none" strike="noStrike">
                        <a:solidFill>
                          <a:schemeClr val="bg2"/>
                        </a:solidFill>
                        <a:effectLst/>
                        <a:latin typeface="Aptos Narrow" panose="020B0004020202020204" pitchFamily="34" charset="0"/>
                      </a:endParaRPr>
                    </a:p>
                  </a:txBody>
                  <a:tcPr marL="9525" marR="9525" marT="9525" marB="0" anchor="b"/>
                </a:tc>
                <a:tc>
                  <a:txBody>
                    <a:bodyPr/>
                    <a:lstStyle/>
                    <a:p>
                      <a:pPr algn="r" fontAlgn="b"/>
                      <a:r>
                        <a:rPr lang="en-PK" sz="1100" u="none" strike="noStrike">
                          <a:solidFill>
                            <a:schemeClr val="bg2"/>
                          </a:solidFill>
                          <a:effectLst/>
                        </a:rPr>
                        <a:t>52</a:t>
                      </a:r>
                      <a:endParaRPr lang="en-PK" sz="1100" b="0" i="0" u="none" strike="noStrike">
                        <a:solidFill>
                          <a:schemeClr val="bg2"/>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61727069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45"/>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300"/>
              <a:t>Extending to higher dimensional features</a:t>
            </a:r>
            <a:endParaRPr sz="1840"/>
          </a:p>
        </p:txBody>
      </p:sp>
      <mc:AlternateContent xmlns:mc="http://schemas.openxmlformats.org/markup-compatibility/2006">
        <mc:Choice xmlns:a14="http://schemas.microsoft.com/office/drawing/2010/main" Requires="a14">
          <p:sp>
            <p:nvSpPr>
              <p:cNvPr id="417" name="Google Shape;417;p45"/>
              <p:cNvSpPr txBox="1">
                <a:spLocks noGrp="1"/>
              </p:cNvSpPr>
              <p:nvPr>
                <p:ph type="body" idx="1"/>
              </p:nvPr>
            </p:nvSpPr>
            <p:spPr>
              <a:xfrm>
                <a:off x="727650" y="1212400"/>
                <a:ext cx="7688700" cy="3825600"/>
              </a:xfrm>
              <a:prstGeom prst="rect">
                <a:avLst/>
              </a:prstGeom>
              <a:noFill/>
              <a:ln>
                <a:noFill/>
              </a:ln>
            </p:spPr>
            <p:txBody>
              <a:bodyPr spcFirstLastPara="1" wrap="square" lIns="91425" tIns="91425" rIns="91425" bIns="91425" anchor="t" anchorCtr="0">
                <a:normAutofit lnSpcReduction="10000"/>
              </a:bodyPr>
              <a:lstStyle/>
              <a:p>
                <a:pPr marL="457200" lvl="0" indent="-314960" algn="l" rtl="0">
                  <a:lnSpc>
                    <a:spcPct val="150000"/>
                  </a:lnSpc>
                  <a:spcBef>
                    <a:spcPts val="0"/>
                  </a:spcBef>
                  <a:spcAft>
                    <a:spcPts val="0"/>
                  </a:spcAft>
                  <a:buSzPct val="100000"/>
                  <a:buChar char="➔"/>
                </a:pPr>
                <a:r>
                  <a:rPr lang="en-GB" sz="1600"/>
                  <a:t>Here we predict Exam Score as: </a:t>
                </a:r>
                <a14:m>
                  <m:oMath xmlns:m="http://schemas.openxmlformats.org/officeDocument/2006/math">
                    <m:r>
                      <a:rPr lang="en-GB" sz="1600" i="1" dirty="0" smtClean="0">
                        <a:latin typeface="Cambria Math" panose="02040503050406030204" pitchFamily="18" charset="0"/>
                        <a:ea typeface="Times New Roman"/>
                        <a:cs typeface="Times New Roman"/>
                        <a:sym typeface="Times New Roman"/>
                      </a:rPr>
                      <m:t>𝑓</m:t>
                    </m:r>
                    <m:d>
                      <m:dPr>
                        <m:ctrlPr>
                          <a:rPr lang="en-US" sz="1600" b="0" i="1" dirty="0" smtClean="0">
                            <a:latin typeface="Cambria Math" panose="02040503050406030204" pitchFamily="18" charset="0"/>
                            <a:ea typeface="Times New Roman"/>
                            <a:cs typeface="Times New Roman"/>
                            <a:sym typeface="Times New Roman"/>
                          </a:rPr>
                        </m:ctrlPr>
                      </m:dPr>
                      <m:e>
                        <m:sSub>
                          <m:sSubPr>
                            <m:ctrlPr>
                              <a:rPr lang="en-US" sz="1600" b="0" i="1" dirty="0" smtClean="0">
                                <a:latin typeface="Cambria Math" panose="02040503050406030204" pitchFamily="18" charset="0"/>
                                <a:ea typeface="Times New Roman"/>
                                <a:cs typeface="Times New Roman"/>
                                <a:sym typeface="Times New Roman"/>
                              </a:rPr>
                            </m:ctrlPr>
                          </m:sSubPr>
                          <m:e>
                            <m:r>
                              <a:rPr lang="en-US" sz="1600" b="0" i="1" dirty="0" smtClean="0">
                                <a:latin typeface="Cambria Math" panose="02040503050406030204" pitchFamily="18" charset="0"/>
                                <a:ea typeface="Times New Roman"/>
                                <a:cs typeface="Times New Roman"/>
                                <a:sym typeface="Times New Roman"/>
                              </a:rPr>
                              <m:t>𝑥</m:t>
                            </m:r>
                          </m:e>
                          <m:sub>
                            <m:r>
                              <a:rPr lang="en-US" sz="1600" b="0" i="1" dirty="0" smtClean="0">
                                <a:latin typeface="Cambria Math" panose="02040503050406030204" pitchFamily="18" charset="0"/>
                                <a:ea typeface="Times New Roman"/>
                                <a:cs typeface="Times New Roman"/>
                                <a:sym typeface="Times New Roman"/>
                              </a:rPr>
                              <m:t>1</m:t>
                            </m:r>
                          </m:sub>
                        </m:sSub>
                        <m:r>
                          <a:rPr lang="en-US" sz="1600" b="0" i="1" dirty="0" smtClean="0">
                            <a:latin typeface="Cambria Math" panose="02040503050406030204" pitchFamily="18" charset="0"/>
                            <a:ea typeface="Times New Roman"/>
                            <a:cs typeface="Times New Roman"/>
                            <a:sym typeface="Times New Roman"/>
                          </a:rPr>
                          <m:t>,</m:t>
                        </m:r>
                        <m:sSub>
                          <m:sSubPr>
                            <m:ctrlPr>
                              <a:rPr lang="en-US" sz="1600" b="0" i="1" dirty="0" smtClean="0">
                                <a:latin typeface="Cambria Math" panose="02040503050406030204" pitchFamily="18" charset="0"/>
                                <a:ea typeface="Times New Roman"/>
                                <a:cs typeface="Times New Roman"/>
                                <a:sym typeface="Times New Roman"/>
                              </a:rPr>
                            </m:ctrlPr>
                          </m:sSubPr>
                          <m:e>
                            <m:r>
                              <a:rPr lang="en-US" sz="1600" b="0" i="1" dirty="0" smtClean="0">
                                <a:latin typeface="Cambria Math" panose="02040503050406030204" pitchFamily="18" charset="0"/>
                                <a:ea typeface="Times New Roman"/>
                                <a:cs typeface="Times New Roman"/>
                                <a:sym typeface="Times New Roman"/>
                              </a:rPr>
                              <m:t>𝑥</m:t>
                            </m:r>
                          </m:e>
                          <m:sub>
                            <m:r>
                              <a:rPr lang="en-US" sz="1600" b="0" i="1" dirty="0" smtClean="0">
                                <a:latin typeface="Cambria Math" panose="02040503050406030204" pitchFamily="18" charset="0"/>
                                <a:ea typeface="Times New Roman"/>
                                <a:cs typeface="Times New Roman"/>
                                <a:sym typeface="Times New Roman"/>
                              </a:rPr>
                              <m:t>2</m:t>
                            </m:r>
                          </m:sub>
                        </m:sSub>
                      </m:e>
                    </m:d>
                    <m:r>
                      <a:rPr lang="en-US" sz="1600" b="0" i="1" dirty="0" smtClean="0">
                        <a:latin typeface="Cambria Math" panose="02040503050406030204" pitchFamily="18" charset="0"/>
                        <a:ea typeface="Times New Roman"/>
                        <a:cs typeface="Times New Roman"/>
                        <a:sym typeface="Times New Roman"/>
                      </a:rPr>
                      <m:t>=</m:t>
                    </m:r>
                    <m:r>
                      <a:rPr lang="en-US" sz="1600" b="0" i="1" dirty="0" smtClean="0">
                        <a:latin typeface="Cambria Math" panose="02040503050406030204" pitchFamily="18" charset="0"/>
                        <a:ea typeface="Times New Roman"/>
                        <a:cs typeface="Times New Roman"/>
                        <a:sym typeface="Times New Roman"/>
                      </a:rPr>
                      <m:t>𝑓</m:t>
                    </m:r>
                    <m:r>
                      <a:rPr lang="en-GB" sz="1600" i="1" dirty="0">
                        <a:latin typeface="Cambria Math" panose="02040503050406030204" pitchFamily="18" charset="0"/>
                      </a:rPr>
                      <m:t>(</m:t>
                    </m:r>
                    <m:r>
                      <a:rPr lang="en-GB" sz="1600" b="0" i="1" dirty="0" smtClean="0">
                        <a:latin typeface="Cambria Math" panose="02040503050406030204" pitchFamily="18" charset="0"/>
                      </a:rPr>
                      <m:t>𝐻</m:t>
                    </m:r>
                    <m:r>
                      <a:rPr lang="en-US" sz="1600" b="0" i="1" dirty="0" smtClean="0">
                        <a:latin typeface="Cambria Math" panose="02040503050406030204" pitchFamily="18" charset="0"/>
                      </a:rPr>
                      <m:t>𝑜𝑢𝑟𝑠</m:t>
                    </m:r>
                    <m:r>
                      <a:rPr lang="en-US" sz="1600" b="0" i="1" dirty="0" smtClean="0">
                        <a:latin typeface="Cambria Math" panose="02040503050406030204" pitchFamily="18" charset="0"/>
                      </a:rPr>
                      <m:t> </m:t>
                    </m:r>
                    <m:r>
                      <a:rPr lang="en-US" sz="1600" b="0" i="1" dirty="0" smtClean="0">
                        <a:latin typeface="Cambria Math" panose="02040503050406030204" pitchFamily="18" charset="0"/>
                      </a:rPr>
                      <m:t>𝑜𝑓</m:t>
                    </m:r>
                    <m:r>
                      <a:rPr lang="en-US" sz="1600" b="0" i="1" dirty="0" smtClean="0">
                        <a:latin typeface="Cambria Math" panose="02040503050406030204" pitchFamily="18" charset="0"/>
                      </a:rPr>
                      <m:t> </m:t>
                    </m:r>
                    <m:r>
                      <a:rPr lang="en-US" sz="1600" b="0" i="1" dirty="0" smtClean="0">
                        <a:latin typeface="Cambria Math" panose="02040503050406030204" pitchFamily="18" charset="0"/>
                      </a:rPr>
                      <m:t>𝑆𝑡𝑢𝑑𝑦</m:t>
                    </m:r>
                    <m:r>
                      <a:rPr lang="en-GB" sz="1600" i="1" dirty="0">
                        <a:latin typeface="Cambria Math" panose="02040503050406030204" pitchFamily="18" charset="0"/>
                      </a:rPr>
                      <m:t>, </m:t>
                    </m:r>
                    <m:r>
                      <a:rPr lang="en-US" sz="1600" b="0" i="1" dirty="0" smtClean="0">
                        <a:latin typeface="Cambria Math" panose="02040503050406030204" pitchFamily="18" charset="0"/>
                      </a:rPr>
                      <m:t>𝐻𝑜𝑢𝑟𝑠</m:t>
                    </m:r>
                    <m:r>
                      <a:rPr lang="en-US" sz="1600" b="0" i="1" dirty="0" smtClean="0">
                        <a:latin typeface="Cambria Math" panose="02040503050406030204" pitchFamily="18" charset="0"/>
                      </a:rPr>
                      <m:t> </m:t>
                    </m:r>
                    <m:r>
                      <a:rPr lang="en-US" sz="1600" b="0" i="1" dirty="0" smtClean="0">
                        <a:latin typeface="Cambria Math" panose="02040503050406030204" pitchFamily="18" charset="0"/>
                      </a:rPr>
                      <m:t>𝑜𝑓</m:t>
                    </m:r>
                    <m:r>
                      <a:rPr lang="en-US" sz="1600" b="0" i="1" dirty="0" smtClean="0">
                        <a:latin typeface="Cambria Math" panose="02040503050406030204" pitchFamily="18" charset="0"/>
                      </a:rPr>
                      <m:t> </m:t>
                    </m:r>
                    <m:r>
                      <a:rPr lang="en-US" sz="1600" b="0" i="1" dirty="0" smtClean="0">
                        <a:latin typeface="Cambria Math" panose="02040503050406030204" pitchFamily="18" charset="0"/>
                      </a:rPr>
                      <m:t>𝑆𝑙𝑒𝑒𝑝</m:t>
                    </m:r>
                    <m:r>
                      <a:rPr lang="en-GB" sz="1600" i="1" dirty="0">
                        <a:latin typeface="Cambria Math" panose="02040503050406030204" pitchFamily="18" charset="0"/>
                      </a:rPr>
                      <m:t>)</m:t>
                    </m:r>
                  </m:oMath>
                </a14:m>
                <a:endParaRPr lang="en-GB" sz="1600"/>
              </a:p>
              <a:p>
                <a:pPr marL="457200" lvl="0" indent="-314960" algn="l" rtl="0">
                  <a:lnSpc>
                    <a:spcPct val="150000"/>
                  </a:lnSpc>
                  <a:spcBef>
                    <a:spcPts val="0"/>
                  </a:spcBef>
                  <a:spcAft>
                    <a:spcPts val="0"/>
                  </a:spcAft>
                  <a:buSzPct val="100000"/>
                  <a:buChar char="➔"/>
                </a:pPr>
                <a:r>
                  <a:rPr lang="en-GB" sz="1600"/>
                  <a:t>We can now model our output as:</a:t>
                </a:r>
              </a:p>
              <a:p>
                <a:pPr marL="142240" lvl="0" indent="0" algn="ctr" rtl="0">
                  <a:lnSpc>
                    <a:spcPct val="150000"/>
                  </a:lnSpc>
                  <a:spcBef>
                    <a:spcPts val="0"/>
                  </a:spcBef>
                  <a:spcAft>
                    <a:spcPts val="0"/>
                  </a:spcAft>
                  <a:buSzPct val="100000"/>
                  <a:buNone/>
                </a:pPr>
                <a14:m>
                  <m:oMathPara xmlns:m="http://schemas.openxmlformats.org/officeDocument/2006/math">
                    <m:oMathParaPr>
                      <m:jc m:val="centerGroup"/>
                    </m:oMathParaPr>
                    <m:oMath xmlns:m="http://schemas.openxmlformats.org/officeDocument/2006/math">
                      <m:r>
                        <a:rPr lang="en-GB" sz="1835" i="1" dirty="0" smtClean="0">
                          <a:latin typeface="Cambria Math" panose="02040503050406030204" pitchFamily="18" charset="0"/>
                          <a:ea typeface="Times New Roman"/>
                          <a:cs typeface="Times New Roman"/>
                          <a:sym typeface="Times New Roman"/>
                        </a:rPr>
                        <m:t>𝑦</m:t>
                      </m:r>
                      <m:r>
                        <a:rPr lang="en-GB" sz="1835" i="1" dirty="0" smtClean="0">
                          <a:latin typeface="Cambria Math" panose="02040503050406030204" pitchFamily="18" charset="0"/>
                          <a:ea typeface="Times New Roman"/>
                          <a:cs typeface="Times New Roman"/>
                          <a:sym typeface="Times New Roman"/>
                        </a:rPr>
                        <m:t>=</m:t>
                      </m:r>
                      <m:r>
                        <a:rPr lang="en-GB" sz="1835" i="1" dirty="0">
                          <a:latin typeface="Cambria Math" panose="02040503050406030204" pitchFamily="18" charset="0"/>
                          <a:ea typeface="Times New Roman"/>
                          <a:cs typeface="Times New Roman"/>
                          <a:sym typeface="Times New Roman"/>
                        </a:rPr>
                        <m:t>𝑎</m:t>
                      </m:r>
                      <m:r>
                        <a:rPr lang="en-GB" sz="1835" i="1" baseline="-25000" dirty="0">
                          <a:latin typeface="Cambria Math" panose="02040503050406030204" pitchFamily="18" charset="0"/>
                          <a:ea typeface="Times New Roman"/>
                          <a:cs typeface="Times New Roman"/>
                          <a:sym typeface="Times New Roman"/>
                        </a:rPr>
                        <m:t>1</m:t>
                      </m:r>
                      <m:r>
                        <a:rPr lang="en-GB" sz="1835" i="1" dirty="0">
                          <a:latin typeface="Cambria Math" panose="02040503050406030204" pitchFamily="18" charset="0"/>
                          <a:ea typeface="Times New Roman"/>
                          <a:cs typeface="Times New Roman"/>
                          <a:sym typeface="Times New Roman"/>
                        </a:rPr>
                        <m:t>𝑥</m:t>
                      </m:r>
                      <m:r>
                        <a:rPr lang="en-GB" sz="1835" i="1" baseline="-25000" dirty="0">
                          <a:latin typeface="Cambria Math" panose="02040503050406030204" pitchFamily="18" charset="0"/>
                          <a:ea typeface="Times New Roman"/>
                          <a:cs typeface="Times New Roman"/>
                          <a:sym typeface="Times New Roman"/>
                        </a:rPr>
                        <m:t>1</m:t>
                      </m:r>
                      <m:r>
                        <a:rPr lang="en-GB" sz="1835" i="1" dirty="0">
                          <a:latin typeface="Cambria Math" panose="02040503050406030204" pitchFamily="18" charset="0"/>
                          <a:ea typeface="Times New Roman"/>
                          <a:cs typeface="Times New Roman"/>
                          <a:sym typeface="Times New Roman"/>
                        </a:rPr>
                        <m:t>+</m:t>
                      </m:r>
                      <m:r>
                        <a:rPr lang="en-GB" sz="1835" i="1" dirty="0">
                          <a:latin typeface="Cambria Math" panose="02040503050406030204" pitchFamily="18" charset="0"/>
                          <a:ea typeface="Times New Roman"/>
                          <a:cs typeface="Times New Roman"/>
                          <a:sym typeface="Times New Roman"/>
                        </a:rPr>
                        <m:t>𝑎</m:t>
                      </m:r>
                      <m:r>
                        <a:rPr lang="en-GB" sz="1835" i="1" baseline="-25000" dirty="0">
                          <a:latin typeface="Cambria Math" panose="02040503050406030204" pitchFamily="18" charset="0"/>
                          <a:ea typeface="Times New Roman"/>
                          <a:cs typeface="Times New Roman"/>
                          <a:sym typeface="Times New Roman"/>
                        </a:rPr>
                        <m:t>2</m:t>
                      </m:r>
                      <m:r>
                        <a:rPr lang="en-GB" sz="1835" i="1" dirty="0">
                          <a:latin typeface="Cambria Math" panose="02040503050406030204" pitchFamily="18" charset="0"/>
                          <a:ea typeface="Times New Roman"/>
                          <a:cs typeface="Times New Roman"/>
                          <a:sym typeface="Times New Roman"/>
                        </a:rPr>
                        <m:t>𝑥</m:t>
                      </m:r>
                      <m:r>
                        <a:rPr lang="en-GB" sz="1835" i="1" baseline="-25000" dirty="0">
                          <a:latin typeface="Cambria Math" panose="02040503050406030204" pitchFamily="18" charset="0"/>
                          <a:ea typeface="Times New Roman"/>
                          <a:cs typeface="Times New Roman"/>
                          <a:sym typeface="Times New Roman"/>
                        </a:rPr>
                        <m:t>2</m:t>
                      </m:r>
                      <m:r>
                        <a:rPr lang="en-GB" sz="1835" i="1" dirty="0">
                          <a:latin typeface="Cambria Math" panose="02040503050406030204" pitchFamily="18" charset="0"/>
                          <a:ea typeface="Times New Roman"/>
                          <a:cs typeface="Times New Roman"/>
                          <a:sym typeface="Times New Roman"/>
                        </a:rPr>
                        <m:t>+</m:t>
                      </m:r>
                      <m:r>
                        <a:rPr lang="en-GB" sz="1835" i="1" dirty="0">
                          <a:latin typeface="Cambria Math" panose="02040503050406030204" pitchFamily="18" charset="0"/>
                          <a:ea typeface="Times New Roman"/>
                          <a:cs typeface="Times New Roman"/>
                          <a:sym typeface="Times New Roman"/>
                        </a:rPr>
                        <m:t>𝑏</m:t>
                      </m:r>
                    </m:oMath>
                  </m:oMathPara>
                </a14:m>
                <a:endParaRPr lang="en-GB" sz="1600" i="1">
                  <a:latin typeface="Times New Roman"/>
                  <a:ea typeface="Times New Roman"/>
                  <a:cs typeface="Times New Roman"/>
                  <a:sym typeface="Times New Roman"/>
                </a:endParaRPr>
              </a:p>
              <a:p>
                <a:pPr marL="457200" lvl="0" indent="-314960" algn="l" rtl="0">
                  <a:lnSpc>
                    <a:spcPct val="150000"/>
                  </a:lnSpc>
                  <a:spcBef>
                    <a:spcPts val="0"/>
                  </a:spcBef>
                  <a:spcAft>
                    <a:spcPts val="0"/>
                  </a:spcAft>
                  <a:buSzPct val="100000"/>
                  <a:buChar char="➔"/>
                </a:pPr>
                <a:r>
                  <a:rPr lang="en-GB" sz="1600"/>
                  <a:t>We can also keep the previous notation by putting all the features in a vector and their slopes in another:</a:t>
                </a:r>
              </a:p>
              <a:p>
                <a:pPr marL="2286000" lvl="0" indent="0" algn="l" rtl="0">
                  <a:lnSpc>
                    <a:spcPct val="150000"/>
                  </a:lnSpc>
                  <a:spcBef>
                    <a:spcPts val="0"/>
                  </a:spcBef>
                  <a:spcAft>
                    <a:spcPts val="0"/>
                  </a:spcAft>
                  <a:buNone/>
                </a:pPr>
                <a14:m>
                  <m:oMath xmlns:m="http://schemas.openxmlformats.org/officeDocument/2006/math">
                    <m:r>
                      <a:rPr lang="en-GB" sz="1835" b="1" i="1" dirty="0" smtClean="0">
                        <a:latin typeface="Cambria Math" panose="02040503050406030204" pitchFamily="18" charset="0"/>
                        <a:ea typeface="Times New Roman"/>
                        <a:cs typeface="Times New Roman"/>
                        <a:sym typeface="Times New Roman"/>
                      </a:rPr>
                      <m:t>𝒙</m:t>
                    </m:r>
                    <m:r>
                      <a:rPr lang="en-GB" sz="1835" i="1" dirty="0">
                        <a:latin typeface="Cambria Math" panose="02040503050406030204" pitchFamily="18" charset="0"/>
                        <a:ea typeface="Times New Roman"/>
                        <a:cs typeface="Times New Roman"/>
                        <a:sym typeface="Times New Roman"/>
                      </a:rPr>
                      <m:t> = [</m:t>
                    </m:r>
                    <m:r>
                      <a:rPr lang="en-GB" sz="1835" i="1" dirty="0">
                        <a:latin typeface="Cambria Math" panose="02040503050406030204" pitchFamily="18" charset="0"/>
                        <a:ea typeface="Times New Roman"/>
                        <a:cs typeface="Times New Roman"/>
                        <a:sym typeface="Times New Roman"/>
                      </a:rPr>
                      <m:t>𝑥</m:t>
                    </m:r>
                    <m:r>
                      <a:rPr lang="en-GB" sz="1835" i="1" baseline="-25000" dirty="0">
                        <a:latin typeface="Cambria Math" panose="02040503050406030204" pitchFamily="18" charset="0"/>
                        <a:ea typeface="Times New Roman"/>
                        <a:cs typeface="Times New Roman"/>
                        <a:sym typeface="Times New Roman"/>
                      </a:rPr>
                      <m:t>1</m:t>
                    </m:r>
                    <m:r>
                      <a:rPr lang="en-GB" sz="1835" i="1" dirty="0">
                        <a:latin typeface="Cambria Math" panose="02040503050406030204" pitchFamily="18" charset="0"/>
                        <a:ea typeface="Times New Roman"/>
                        <a:cs typeface="Times New Roman"/>
                        <a:sym typeface="Times New Roman"/>
                      </a:rPr>
                      <m:t>,</m:t>
                    </m:r>
                    <m:r>
                      <a:rPr lang="en-GB" sz="1835" i="1" dirty="0">
                        <a:latin typeface="Cambria Math" panose="02040503050406030204" pitchFamily="18" charset="0"/>
                        <a:ea typeface="Times New Roman"/>
                        <a:cs typeface="Times New Roman"/>
                        <a:sym typeface="Times New Roman"/>
                      </a:rPr>
                      <m:t>𝑥</m:t>
                    </m:r>
                    <m:r>
                      <a:rPr lang="en-GB" sz="1835" i="1" baseline="-25000" dirty="0">
                        <a:latin typeface="Cambria Math" panose="02040503050406030204" pitchFamily="18" charset="0"/>
                        <a:ea typeface="Times New Roman"/>
                        <a:cs typeface="Times New Roman"/>
                        <a:sym typeface="Times New Roman"/>
                      </a:rPr>
                      <m:t>2</m:t>
                    </m:r>
                    <m:r>
                      <a:rPr lang="en-GB" sz="1835" i="1" dirty="0">
                        <a:latin typeface="Cambria Math" panose="02040503050406030204" pitchFamily="18" charset="0"/>
                        <a:ea typeface="Times New Roman"/>
                        <a:cs typeface="Times New Roman"/>
                        <a:sym typeface="Times New Roman"/>
                      </a:rPr>
                      <m:t>]</m:t>
                    </m:r>
                    <m:r>
                      <a:rPr lang="en-GB" sz="1835" i="1" baseline="30000" dirty="0">
                        <a:latin typeface="Cambria Math" panose="02040503050406030204" pitchFamily="18" charset="0"/>
                        <a:ea typeface="Times New Roman"/>
                        <a:cs typeface="Times New Roman"/>
                        <a:sym typeface="Times New Roman"/>
                      </a:rPr>
                      <m:t>𝑇</m:t>
                    </m:r>
                  </m:oMath>
                </a14:m>
                <a:r>
                  <a:rPr lang="en-GB" sz="1835"/>
                  <a:t> and </a:t>
                </a:r>
                <a14:m>
                  <m:oMath xmlns:m="http://schemas.openxmlformats.org/officeDocument/2006/math">
                    <m:r>
                      <a:rPr lang="en-GB" sz="1835" b="1" i="1" dirty="0" smtClean="0">
                        <a:latin typeface="Cambria Math" panose="02040503050406030204" pitchFamily="18" charset="0"/>
                        <a:ea typeface="Times New Roman"/>
                        <a:cs typeface="Times New Roman"/>
                        <a:sym typeface="Times New Roman"/>
                      </a:rPr>
                      <m:t>𝒂</m:t>
                    </m:r>
                    <m:r>
                      <a:rPr lang="en-GB" sz="1835" i="1" dirty="0">
                        <a:latin typeface="Cambria Math" panose="02040503050406030204" pitchFamily="18" charset="0"/>
                        <a:ea typeface="Times New Roman"/>
                        <a:cs typeface="Times New Roman"/>
                        <a:sym typeface="Times New Roman"/>
                      </a:rPr>
                      <m:t> = [</m:t>
                    </m:r>
                    <m:r>
                      <a:rPr lang="en-GB" sz="1835" i="1" dirty="0">
                        <a:latin typeface="Cambria Math" panose="02040503050406030204" pitchFamily="18" charset="0"/>
                        <a:ea typeface="Times New Roman"/>
                        <a:cs typeface="Times New Roman"/>
                        <a:sym typeface="Times New Roman"/>
                      </a:rPr>
                      <m:t>𝑎</m:t>
                    </m:r>
                    <m:r>
                      <a:rPr lang="en-GB" sz="1835" i="1" baseline="-25000" dirty="0">
                        <a:latin typeface="Cambria Math" panose="02040503050406030204" pitchFamily="18" charset="0"/>
                        <a:ea typeface="Times New Roman"/>
                        <a:cs typeface="Times New Roman"/>
                        <a:sym typeface="Times New Roman"/>
                      </a:rPr>
                      <m:t>1</m:t>
                    </m:r>
                    <m:r>
                      <a:rPr lang="en-GB" sz="1835" i="1" dirty="0">
                        <a:latin typeface="Cambria Math" panose="02040503050406030204" pitchFamily="18" charset="0"/>
                        <a:ea typeface="Times New Roman"/>
                        <a:cs typeface="Times New Roman"/>
                        <a:sym typeface="Times New Roman"/>
                      </a:rPr>
                      <m:t>,</m:t>
                    </m:r>
                    <m:r>
                      <a:rPr lang="en-GB" sz="1835" i="1" dirty="0">
                        <a:latin typeface="Cambria Math" panose="02040503050406030204" pitchFamily="18" charset="0"/>
                        <a:ea typeface="Times New Roman"/>
                        <a:cs typeface="Times New Roman"/>
                        <a:sym typeface="Times New Roman"/>
                      </a:rPr>
                      <m:t>𝑎</m:t>
                    </m:r>
                    <m:r>
                      <a:rPr lang="en-GB" sz="1835" i="1" baseline="-25000" dirty="0">
                        <a:latin typeface="Cambria Math" panose="02040503050406030204" pitchFamily="18" charset="0"/>
                        <a:ea typeface="Times New Roman"/>
                        <a:cs typeface="Times New Roman"/>
                        <a:sym typeface="Times New Roman"/>
                      </a:rPr>
                      <m:t>2</m:t>
                    </m:r>
                    <m:r>
                      <a:rPr lang="en-GB" sz="1835" i="1" dirty="0">
                        <a:latin typeface="Cambria Math" panose="02040503050406030204" pitchFamily="18" charset="0"/>
                        <a:ea typeface="Times New Roman"/>
                        <a:cs typeface="Times New Roman"/>
                        <a:sym typeface="Times New Roman"/>
                      </a:rPr>
                      <m:t>]</m:t>
                    </m:r>
                    <m:r>
                      <a:rPr lang="en-GB" sz="1835" i="1" baseline="30000" dirty="0" smtClean="0">
                        <a:latin typeface="Cambria Math" panose="02040503050406030204" pitchFamily="18" charset="0"/>
                        <a:ea typeface="Times New Roman"/>
                        <a:cs typeface="Times New Roman"/>
                        <a:sym typeface="Times New Roman"/>
                      </a:rPr>
                      <m:t>𝑇</m:t>
                    </m:r>
                  </m:oMath>
                </a14:m>
                <a:endParaRPr lang="en-GB" sz="1600"/>
              </a:p>
              <a:p>
                <a:pPr marL="457200" lvl="0" indent="0" rtl="0">
                  <a:lnSpc>
                    <a:spcPct val="150000"/>
                  </a:lnSpc>
                  <a:spcBef>
                    <a:spcPts val="0"/>
                  </a:spcBef>
                  <a:spcAft>
                    <a:spcPts val="0"/>
                  </a:spcAft>
                  <a:buNone/>
                </a:pPr>
                <a:r>
                  <a:rPr lang="en-GB" sz="1600"/>
                  <a:t>Therefore, we can represent the function simply as: </a:t>
                </a:r>
                <a14:m>
                  <m:oMath xmlns:m="http://schemas.openxmlformats.org/officeDocument/2006/math">
                    <m:r>
                      <a:rPr lang="en-GB" sz="1835" i="1" dirty="0" smtClean="0">
                        <a:latin typeface="Cambria Math" panose="02040503050406030204" pitchFamily="18" charset="0"/>
                        <a:ea typeface="Times New Roman"/>
                        <a:cs typeface="Times New Roman"/>
                        <a:sym typeface="Times New Roman"/>
                      </a:rPr>
                      <m:t>𝑦</m:t>
                    </m:r>
                    <m:r>
                      <a:rPr lang="en-GB" sz="1835" i="1" dirty="0">
                        <a:latin typeface="Cambria Math" panose="02040503050406030204" pitchFamily="18" charset="0"/>
                        <a:ea typeface="Times New Roman"/>
                        <a:cs typeface="Times New Roman"/>
                        <a:sym typeface="Times New Roman"/>
                      </a:rPr>
                      <m:t>=</m:t>
                    </m:r>
                    <m:r>
                      <a:rPr lang="en-GB" sz="1835" b="1" i="1" dirty="0">
                        <a:latin typeface="Cambria Math" panose="02040503050406030204" pitchFamily="18" charset="0"/>
                        <a:ea typeface="Times New Roman"/>
                        <a:cs typeface="Times New Roman"/>
                        <a:sym typeface="Times New Roman"/>
                      </a:rPr>
                      <m:t>𝒂</m:t>
                    </m:r>
                    <m:r>
                      <a:rPr lang="en-GB" sz="1835" i="1" baseline="30000" dirty="0">
                        <a:latin typeface="Cambria Math" panose="02040503050406030204" pitchFamily="18" charset="0"/>
                        <a:ea typeface="Times New Roman"/>
                        <a:cs typeface="Times New Roman"/>
                        <a:sym typeface="Times New Roman"/>
                      </a:rPr>
                      <m:t>𝑇</m:t>
                    </m:r>
                    <m:r>
                      <a:rPr lang="en-GB" sz="1835" b="1" i="1" dirty="0">
                        <a:latin typeface="Cambria Math" panose="02040503050406030204" pitchFamily="18" charset="0"/>
                        <a:ea typeface="Times New Roman"/>
                        <a:cs typeface="Times New Roman"/>
                        <a:sym typeface="Times New Roman"/>
                      </a:rPr>
                      <m:t>𝒙</m:t>
                    </m:r>
                    <m:r>
                      <a:rPr lang="en-GB" sz="1835" i="1" dirty="0">
                        <a:latin typeface="Cambria Math" panose="02040503050406030204" pitchFamily="18" charset="0"/>
                        <a:ea typeface="Times New Roman"/>
                        <a:cs typeface="Times New Roman"/>
                        <a:sym typeface="Times New Roman"/>
                      </a:rPr>
                      <m:t>+</m:t>
                    </m:r>
                    <m:r>
                      <a:rPr lang="en-GB" sz="1835" i="1" dirty="0">
                        <a:latin typeface="Cambria Math" panose="02040503050406030204" pitchFamily="18" charset="0"/>
                        <a:ea typeface="Times New Roman"/>
                        <a:cs typeface="Times New Roman"/>
                        <a:sym typeface="Times New Roman"/>
                      </a:rPr>
                      <m:t>𝑏</m:t>
                    </m:r>
                  </m:oMath>
                </a14:m>
                <a:endParaRPr lang="en-GB" sz="1600" i="1">
                  <a:latin typeface="Times New Roman"/>
                  <a:ea typeface="Times New Roman"/>
                  <a:cs typeface="Times New Roman"/>
                  <a:sym typeface="Times New Roman"/>
                </a:endParaRPr>
              </a:p>
              <a:p>
                <a:pPr marL="457200" lvl="0" indent="-314960" algn="l" rtl="0">
                  <a:lnSpc>
                    <a:spcPct val="150000"/>
                  </a:lnSpc>
                  <a:spcBef>
                    <a:spcPts val="0"/>
                  </a:spcBef>
                  <a:spcAft>
                    <a:spcPts val="0"/>
                  </a:spcAft>
                  <a:buSzPct val="100000"/>
                  <a:buChar char="➔"/>
                </a:pPr>
                <a:r>
                  <a:rPr lang="en-GB" sz="1600"/>
                  <a:t>We can also integrate the intercept </a:t>
                </a:r>
                <a14:m>
                  <m:oMath xmlns:m="http://schemas.openxmlformats.org/officeDocument/2006/math">
                    <m:r>
                      <a:rPr lang="en-US" sz="1600" b="0" i="1" smtClean="0">
                        <a:latin typeface="Cambria Math" panose="02040503050406030204" pitchFamily="18" charset="0"/>
                      </a:rPr>
                      <m:t>𝑏</m:t>
                    </m:r>
                  </m:oMath>
                </a14:m>
                <a:r>
                  <a:rPr lang="en-GB" sz="1600"/>
                  <a:t> coefficient vector:</a:t>
                </a:r>
              </a:p>
              <a:p>
                <a:pPr marL="457200" lvl="0" indent="0" algn="l" rtl="0">
                  <a:lnSpc>
                    <a:spcPct val="150000"/>
                  </a:lnSpc>
                  <a:spcBef>
                    <a:spcPts val="0"/>
                  </a:spcBef>
                  <a:spcAft>
                    <a:spcPts val="0"/>
                  </a:spcAft>
                  <a:buNone/>
                </a:pPr>
                <a14:m>
                  <m:oMath xmlns:m="http://schemas.openxmlformats.org/officeDocument/2006/math">
                    <m:r>
                      <a:rPr lang="en-GB" sz="1600" b="0" i="1" dirty="0" smtClean="0">
                        <a:latin typeface="Cambria Math" panose="02040503050406030204" pitchFamily="18" charset="0"/>
                        <a:ea typeface="Times New Roman"/>
                        <a:cs typeface="Times New Roman"/>
                        <a:sym typeface="Times New Roman"/>
                      </a:rPr>
                      <m:t>𝑥</m:t>
                    </m:r>
                    <m:r>
                      <a:rPr lang="en-GB" sz="1600" i="1" dirty="0">
                        <a:latin typeface="Cambria Math" panose="02040503050406030204" pitchFamily="18" charset="0"/>
                        <a:ea typeface="Times New Roman"/>
                        <a:cs typeface="Times New Roman"/>
                        <a:sym typeface="Times New Roman"/>
                      </a:rPr>
                      <m:t>=[</m:t>
                    </m:r>
                    <m:r>
                      <a:rPr lang="en-GB" sz="1600" i="1" dirty="0">
                        <a:latin typeface="Cambria Math" panose="02040503050406030204" pitchFamily="18" charset="0"/>
                        <a:ea typeface="Times New Roman"/>
                        <a:cs typeface="Times New Roman"/>
                        <a:sym typeface="Times New Roman"/>
                      </a:rPr>
                      <m:t>𝑥</m:t>
                    </m:r>
                    <m:r>
                      <a:rPr lang="en-GB" sz="1600" i="1" baseline="-25000" dirty="0">
                        <a:latin typeface="Cambria Math" panose="02040503050406030204" pitchFamily="18" charset="0"/>
                        <a:ea typeface="Times New Roman"/>
                        <a:cs typeface="Times New Roman"/>
                        <a:sym typeface="Times New Roman"/>
                      </a:rPr>
                      <m:t>1</m:t>
                    </m:r>
                    <m:r>
                      <a:rPr lang="en-GB" sz="1600" i="1" dirty="0">
                        <a:latin typeface="Cambria Math" panose="02040503050406030204" pitchFamily="18" charset="0"/>
                        <a:ea typeface="Times New Roman"/>
                        <a:cs typeface="Times New Roman"/>
                        <a:sym typeface="Times New Roman"/>
                      </a:rPr>
                      <m:t>,</m:t>
                    </m:r>
                    <m:r>
                      <a:rPr lang="en-GB" sz="1600" i="1" dirty="0">
                        <a:latin typeface="Cambria Math" panose="02040503050406030204" pitchFamily="18" charset="0"/>
                        <a:ea typeface="Times New Roman"/>
                        <a:cs typeface="Times New Roman"/>
                        <a:sym typeface="Times New Roman"/>
                      </a:rPr>
                      <m:t>𝑥</m:t>
                    </m:r>
                    <m:r>
                      <a:rPr lang="en-GB" sz="1600" i="1" baseline="-25000" dirty="0">
                        <a:latin typeface="Cambria Math" panose="02040503050406030204" pitchFamily="18" charset="0"/>
                        <a:ea typeface="Times New Roman"/>
                        <a:cs typeface="Times New Roman"/>
                        <a:sym typeface="Times New Roman"/>
                      </a:rPr>
                      <m:t>2</m:t>
                    </m:r>
                    <m:r>
                      <a:rPr lang="en-GB" sz="1600" i="1" dirty="0">
                        <a:latin typeface="Cambria Math" panose="02040503050406030204" pitchFamily="18" charset="0"/>
                        <a:ea typeface="Times New Roman"/>
                        <a:cs typeface="Times New Roman"/>
                        <a:sym typeface="Times New Roman"/>
                      </a:rPr>
                      <m:t>,1]</m:t>
                    </m:r>
                    <m:r>
                      <a:rPr lang="en-GB" sz="1600" i="1" baseline="30000" dirty="0">
                        <a:latin typeface="Cambria Math" panose="02040503050406030204" pitchFamily="18" charset="0"/>
                        <a:ea typeface="Times New Roman"/>
                        <a:cs typeface="Times New Roman"/>
                        <a:sym typeface="Times New Roman"/>
                      </a:rPr>
                      <m:t>𝑇</m:t>
                    </m:r>
                  </m:oMath>
                </a14:m>
                <a:r>
                  <a:rPr lang="en-GB" sz="1600"/>
                  <a:t> and </a:t>
                </a:r>
                <a14:m>
                  <m:oMath xmlns:m="http://schemas.openxmlformats.org/officeDocument/2006/math">
                    <m:r>
                      <a:rPr lang="en-GB" sz="1600" b="0" i="1" dirty="0" smtClean="0">
                        <a:latin typeface="Cambria Math" panose="02040503050406030204" pitchFamily="18" charset="0"/>
                        <a:ea typeface="Times New Roman"/>
                        <a:cs typeface="Times New Roman"/>
                        <a:sym typeface="Times New Roman"/>
                      </a:rPr>
                      <m:t>𝑎</m:t>
                    </m:r>
                    <m:r>
                      <a:rPr lang="en-GB" sz="1600" i="1" dirty="0">
                        <a:latin typeface="Cambria Math" panose="02040503050406030204" pitchFamily="18" charset="0"/>
                        <a:ea typeface="Times New Roman"/>
                        <a:cs typeface="Times New Roman"/>
                        <a:sym typeface="Times New Roman"/>
                      </a:rPr>
                      <m:t>=[</m:t>
                    </m:r>
                    <m:r>
                      <a:rPr lang="en-GB" sz="1600" i="1" dirty="0">
                        <a:latin typeface="Cambria Math" panose="02040503050406030204" pitchFamily="18" charset="0"/>
                        <a:ea typeface="Times New Roman"/>
                        <a:cs typeface="Times New Roman"/>
                        <a:sym typeface="Times New Roman"/>
                      </a:rPr>
                      <m:t>𝑎</m:t>
                    </m:r>
                    <m:r>
                      <a:rPr lang="en-GB" sz="1600" i="1" baseline="-25000" dirty="0">
                        <a:latin typeface="Cambria Math" panose="02040503050406030204" pitchFamily="18" charset="0"/>
                        <a:ea typeface="Times New Roman"/>
                        <a:cs typeface="Times New Roman"/>
                        <a:sym typeface="Times New Roman"/>
                      </a:rPr>
                      <m:t>1</m:t>
                    </m:r>
                    <m:r>
                      <a:rPr lang="en-GB" sz="1600" i="1" dirty="0">
                        <a:latin typeface="Cambria Math" panose="02040503050406030204" pitchFamily="18" charset="0"/>
                        <a:ea typeface="Times New Roman"/>
                        <a:cs typeface="Times New Roman"/>
                        <a:sym typeface="Times New Roman"/>
                      </a:rPr>
                      <m:t>,</m:t>
                    </m:r>
                    <m:r>
                      <a:rPr lang="en-GB" sz="1600" i="1" dirty="0">
                        <a:latin typeface="Cambria Math" panose="02040503050406030204" pitchFamily="18" charset="0"/>
                        <a:ea typeface="Times New Roman"/>
                        <a:cs typeface="Times New Roman"/>
                        <a:sym typeface="Times New Roman"/>
                      </a:rPr>
                      <m:t>𝑎</m:t>
                    </m:r>
                    <m:r>
                      <a:rPr lang="en-GB" sz="1600" i="1" baseline="-25000" dirty="0">
                        <a:latin typeface="Cambria Math" panose="02040503050406030204" pitchFamily="18" charset="0"/>
                        <a:ea typeface="Times New Roman"/>
                        <a:cs typeface="Times New Roman"/>
                        <a:sym typeface="Times New Roman"/>
                      </a:rPr>
                      <m:t>2</m:t>
                    </m:r>
                    <m:r>
                      <a:rPr lang="en-GB" sz="1600" i="1" dirty="0">
                        <a:latin typeface="Cambria Math" panose="02040503050406030204" pitchFamily="18" charset="0"/>
                        <a:ea typeface="Times New Roman"/>
                        <a:cs typeface="Times New Roman"/>
                        <a:sym typeface="Times New Roman"/>
                      </a:rPr>
                      <m:t>,</m:t>
                    </m:r>
                    <m:r>
                      <a:rPr lang="en-GB" sz="1600" i="1" dirty="0">
                        <a:latin typeface="Cambria Math" panose="02040503050406030204" pitchFamily="18" charset="0"/>
                        <a:ea typeface="Times New Roman"/>
                        <a:cs typeface="Times New Roman"/>
                        <a:sym typeface="Times New Roman"/>
                      </a:rPr>
                      <m:t>𝑏</m:t>
                    </m:r>
                    <m:r>
                      <a:rPr lang="en-GB" sz="1600" i="1" dirty="0">
                        <a:latin typeface="Cambria Math" panose="02040503050406030204" pitchFamily="18" charset="0"/>
                        <a:ea typeface="Times New Roman"/>
                        <a:cs typeface="Times New Roman"/>
                        <a:sym typeface="Times New Roman"/>
                      </a:rPr>
                      <m:t>]</m:t>
                    </m:r>
                    <m:r>
                      <a:rPr lang="en-GB" sz="1600" i="1" baseline="30000" dirty="0">
                        <a:latin typeface="Cambria Math" panose="02040503050406030204" pitchFamily="18" charset="0"/>
                        <a:ea typeface="Times New Roman"/>
                        <a:cs typeface="Times New Roman"/>
                        <a:sym typeface="Times New Roman"/>
                      </a:rPr>
                      <m:t>𝑇</m:t>
                    </m:r>
                  </m:oMath>
                </a14:m>
                <a:r>
                  <a:rPr lang="en-GB" sz="1600"/>
                  <a:t> this yields the final equation: </a:t>
                </a:r>
                <a14:m>
                  <m:oMath xmlns:m="http://schemas.openxmlformats.org/officeDocument/2006/math">
                    <m:r>
                      <a:rPr lang="en-GB" sz="1600" b="1" i="1" dirty="0" smtClean="0">
                        <a:latin typeface="Cambria Math" panose="02040503050406030204" pitchFamily="18" charset="0"/>
                        <a:ea typeface="Times New Roman"/>
                        <a:cs typeface="Times New Roman"/>
                        <a:sym typeface="Times New Roman"/>
                      </a:rPr>
                      <m:t>𝒚</m:t>
                    </m:r>
                    <m:r>
                      <a:rPr lang="en-GB" sz="1600" b="1" i="1" dirty="0" smtClean="0">
                        <a:latin typeface="Cambria Math" panose="02040503050406030204" pitchFamily="18" charset="0"/>
                        <a:ea typeface="Times New Roman"/>
                        <a:cs typeface="Times New Roman"/>
                        <a:sym typeface="Times New Roman"/>
                      </a:rPr>
                      <m:t>=</m:t>
                    </m:r>
                    <m:r>
                      <a:rPr lang="en-GB" sz="1600" b="1" i="1" dirty="0">
                        <a:latin typeface="Cambria Math" panose="02040503050406030204" pitchFamily="18" charset="0"/>
                        <a:ea typeface="Times New Roman"/>
                        <a:cs typeface="Times New Roman"/>
                        <a:sym typeface="Times New Roman"/>
                      </a:rPr>
                      <m:t>𝒂</m:t>
                    </m:r>
                    <m:r>
                      <a:rPr lang="en-GB" sz="1600" b="1" i="1" baseline="30000" dirty="0">
                        <a:latin typeface="Cambria Math" panose="02040503050406030204" pitchFamily="18" charset="0"/>
                        <a:ea typeface="Times New Roman"/>
                        <a:cs typeface="Times New Roman"/>
                        <a:sym typeface="Times New Roman"/>
                      </a:rPr>
                      <m:t>𝑻</m:t>
                    </m:r>
                    <m:r>
                      <a:rPr lang="en-GB" sz="1600" b="1" i="1" dirty="0">
                        <a:latin typeface="Cambria Math" panose="02040503050406030204" pitchFamily="18" charset="0"/>
                        <a:ea typeface="Times New Roman"/>
                        <a:cs typeface="Times New Roman"/>
                        <a:sym typeface="Times New Roman"/>
                      </a:rPr>
                      <m:t>𝒙</m:t>
                    </m:r>
                  </m:oMath>
                </a14:m>
                <a:endParaRPr sz="1600" b="1"/>
              </a:p>
            </p:txBody>
          </p:sp>
        </mc:Choice>
        <mc:Fallback>
          <p:sp>
            <p:nvSpPr>
              <p:cNvPr id="417" name="Google Shape;417;p45"/>
              <p:cNvSpPr txBox="1">
                <a:spLocks noGrp="1" noRot="1" noChangeAspect="1" noMove="1" noResize="1" noEditPoints="1" noAdjustHandles="1" noChangeArrowheads="1" noChangeShapeType="1" noTextEdit="1"/>
              </p:cNvSpPr>
              <p:nvPr>
                <p:ph type="body" idx="1"/>
              </p:nvPr>
            </p:nvSpPr>
            <p:spPr>
              <a:xfrm>
                <a:off x="727650" y="1212400"/>
                <a:ext cx="7688700" cy="3825600"/>
              </a:xfrm>
              <a:prstGeom prst="rect">
                <a:avLst/>
              </a:prstGeom>
              <a:blipFill>
                <a:blip r:embed="rId3"/>
                <a:stretch>
                  <a:fillRect/>
                </a:stretch>
              </a:blipFill>
              <a:ln>
                <a:noFill/>
              </a:ln>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1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1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47"/>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300"/>
              <a:t>Extending to higher dimensional features</a:t>
            </a:r>
            <a:endParaRPr sz="1840"/>
          </a:p>
        </p:txBody>
      </p:sp>
      <mc:AlternateContent xmlns:mc="http://schemas.openxmlformats.org/markup-compatibility/2006">
        <mc:Choice xmlns:a14="http://schemas.microsoft.com/office/drawing/2010/main" Requires="a14">
          <p:sp>
            <p:nvSpPr>
              <p:cNvPr id="431" name="Google Shape;431;p47"/>
              <p:cNvSpPr txBox="1">
                <a:spLocks noGrp="1"/>
              </p:cNvSpPr>
              <p:nvPr>
                <p:ph type="body" idx="1"/>
              </p:nvPr>
            </p:nvSpPr>
            <p:spPr>
              <a:xfrm>
                <a:off x="727650" y="1354325"/>
                <a:ext cx="7688700" cy="3689700"/>
              </a:xfrm>
              <a:prstGeom prst="rect">
                <a:avLst/>
              </a:prstGeom>
              <a:noFill/>
              <a:ln>
                <a:noFill/>
              </a:ln>
            </p:spPr>
            <p:txBody>
              <a:bodyPr spcFirstLastPara="1" wrap="square" lIns="91425" tIns="91425" rIns="91425" bIns="91425" anchor="t" anchorCtr="0">
                <a:normAutofit/>
              </a:bodyPr>
              <a:lstStyle/>
              <a:p>
                <a:pPr marL="457200" lvl="0" indent="-330200" algn="l" rtl="0">
                  <a:lnSpc>
                    <a:spcPct val="115000"/>
                  </a:lnSpc>
                  <a:spcBef>
                    <a:spcPts val="0"/>
                  </a:spcBef>
                  <a:spcAft>
                    <a:spcPts val="0"/>
                  </a:spcAft>
                  <a:buSzPts val="1600"/>
                  <a:buChar char="➔"/>
                </a:pPr>
                <a:r>
                  <a:rPr lang="en-GB" sz="1600"/>
                  <a:t>Similarly, for any number of features, our linear regression model becomes</a:t>
                </a:r>
              </a:p>
              <a:p>
                <a:pPr marL="914400" lvl="1" indent="-330200" algn="l" rtl="0">
                  <a:lnSpc>
                    <a:spcPct val="115000"/>
                  </a:lnSpc>
                  <a:spcBef>
                    <a:spcPts val="400"/>
                  </a:spcBef>
                  <a:spcAft>
                    <a:spcPts val="0"/>
                  </a:spcAft>
                  <a:buSzPts val="1600"/>
                  <a:buChar char="◆"/>
                </a:pPr>
                <a:r>
                  <a:rPr lang="en-GB" i="1">
                    <a:latin typeface="Times New Roman"/>
                    <a:ea typeface="Times New Roman"/>
                    <a:cs typeface="Times New Roman"/>
                    <a:sym typeface="Times New Roman"/>
                  </a:rPr>
                  <a:t>y</a:t>
                </a:r>
                <a:r>
                  <a:rPr lang="en-GB">
                    <a:latin typeface="Times New Roman"/>
                    <a:ea typeface="Times New Roman"/>
                    <a:cs typeface="Times New Roman"/>
                    <a:sym typeface="Times New Roman"/>
                  </a:rPr>
                  <a:t> = </a:t>
                </a:r>
                <a:r>
                  <a:rPr lang="en-GB" b="1">
                    <a:latin typeface="Times New Roman"/>
                    <a:ea typeface="Times New Roman"/>
                    <a:cs typeface="Times New Roman"/>
                    <a:sym typeface="Times New Roman"/>
                  </a:rPr>
                  <a:t>a</a:t>
                </a:r>
                <a:r>
                  <a:rPr lang="en-GB" baseline="30000">
                    <a:latin typeface="Times New Roman"/>
                    <a:ea typeface="Times New Roman"/>
                    <a:cs typeface="Times New Roman"/>
                    <a:sym typeface="Times New Roman"/>
                  </a:rPr>
                  <a:t>T</a:t>
                </a:r>
                <a:r>
                  <a:rPr lang="en-GB" b="1">
                    <a:latin typeface="Times New Roman"/>
                    <a:ea typeface="Times New Roman"/>
                    <a:cs typeface="Times New Roman"/>
                    <a:sym typeface="Times New Roman"/>
                  </a:rPr>
                  <a:t>x</a:t>
                </a:r>
                <a:r>
                  <a:rPr lang="en-GB" sz="1600"/>
                  <a:t>, where </a:t>
                </a:r>
                <a:r>
                  <a:rPr lang="en-GB" b="1">
                    <a:latin typeface="Times New Roman"/>
                    <a:ea typeface="Times New Roman"/>
                    <a:cs typeface="Times New Roman"/>
                    <a:sym typeface="Times New Roman"/>
                  </a:rPr>
                  <a:t>a</a:t>
                </a:r>
                <a:r>
                  <a:rPr lang="en-GB">
                    <a:latin typeface="Times New Roman"/>
                    <a:ea typeface="Times New Roman"/>
                    <a:cs typeface="Times New Roman"/>
                    <a:sym typeface="Times New Roman"/>
                  </a:rPr>
                  <a:t> </a:t>
                </a:r>
                <a:r>
                  <a:rPr lang="en-GB" i="1">
                    <a:latin typeface="Times New Roman"/>
                    <a:ea typeface="Times New Roman"/>
                    <a:cs typeface="Times New Roman"/>
                    <a:sym typeface="Times New Roman"/>
                  </a:rPr>
                  <a:t>= [a</a:t>
                </a:r>
                <a:r>
                  <a:rPr lang="en-GB" i="1" baseline="-25000">
                    <a:latin typeface="Times New Roman"/>
                    <a:ea typeface="Times New Roman"/>
                    <a:cs typeface="Times New Roman"/>
                    <a:sym typeface="Times New Roman"/>
                  </a:rPr>
                  <a:t>1 </a:t>
                </a:r>
                <a:r>
                  <a:rPr lang="en-GB" i="1">
                    <a:latin typeface="Times New Roman"/>
                    <a:ea typeface="Times New Roman"/>
                    <a:cs typeface="Times New Roman"/>
                    <a:sym typeface="Times New Roman"/>
                  </a:rPr>
                  <a:t>,a</a:t>
                </a:r>
                <a:r>
                  <a:rPr lang="en-GB" i="1" baseline="-25000">
                    <a:latin typeface="Times New Roman"/>
                    <a:ea typeface="Times New Roman"/>
                    <a:cs typeface="Times New Roman"/>
                    <a:sym typeface="Times New Roman"/>
                  </a:rPr>
                  <a:t>2  </a:t>
                </a:r>
                <a:r>
                  <a:rPr lang="en-GB" i="1">
                    <a:latin typeface="Times New Roman"/>
                    <a:ea typeface="Times New Roman"/>
                    <a:cs typeface="Times New Roman"/>
                    <a:sym typeface="Times New Roman"/>
                  </a:rPr>
                  <a:t>,.., a</a:t>
                </a:r>
                <a:r>
                  <a:rPr lang="en-GB" i="1" baseline="-25000">
                    <a:latin typeface="Times New Roman"/>
                    <a:ea typeface="Times New Roman"/>
                    <a:cs typeface="Times New Roman"/>
                    <a:sym typeface="Times New Roman"/>
                  </a:rPr>
                  <a:t>d</a:t>
                </a:r>
                <a:r>
                  <a:rPr lang="en-GB" i="1">
                    <a:latin typeface="Times New Roman"/>
                    <a:ea typeface="Times New Roman"/>
                    <a:cs typeface="Times New Roman"/>
                    <a:sym typeface="Times New Roman"/>
                  </a:rPr>
                  <a:t> , b]</a:t>
                </a:r>
                <a:r>
                  <a:rPr lang="en-GB" i="1" baseline="30000">
                    <a:latin typeface="Times New Roman"/>
                    <a:ea typeface="Times New Roman"/>
                    <a:cs typeface="Times New Roman"/>
                    <a:sym typeface="Times New Roman"/>
                  </a:rPr>
                  <a:t>T</a:t>
                </a:r>
                <a:r>
                  <a:rPr lang="en-GB"/>
                  <a:t> and </a:t>
                </a:r>
                <a:r>
                  <a:rPr lang="en-GB" b="1">
                    <a:latin typeface="Times New Roman"/>
                    <a:ea typeface="Times New Roman"/>
                    <a:cs typeface="Times New Roman"/>
                    <a:sym typeface="Times New Roman"/>
                  </a:rPr>
                  <a:t>x</a:t>
                </a:r>
                <a:r>
                  <a:rPr lang="en-GB" i="1">
                    <a:latin typeface="Times New Roman"/>
                    <a:ea typeface="Times New Roman"/>
                    <a:cs typeface="Times New Roman"/>
                    <a:sym typeface="Times New Roman"/>
                  </a:rPr>
                  <a:t> = [x</a:t>
                </a:r>
                <a:r>
                  <a:rPr lang="en-GB" i="1" baseline="-25000">
                    <a:latin typeface="Times New Roman"/>
                    <a:ea typeface="Times New Roman"/>
                    <a:cs typeface="Times New Roman"/>
                    <a:sym typeface="Times New Roman"/>
                  </a:rPr>
                  <a:t>1</a:t>
                </a:r>
                <a:r>
                  <a:rPr lang="en-GB" i="1">
                    <a:latin typeface="Times New Roman"/>
                    <a:ea typeface="Times New Roman"/>
                    <a:cs typeface="Times New Roman"/>
                    <a:sym typeface="Times New Roman"/>
                  </a:rPr>
                  <a:t>,x</a:t>
                </a:r>
                <a:r>
                  <a:rPr lang="en-GB" i="1" baseline="-25000">
                    <a:latin typeface="Times New Roman"/>
                    <a:ea typeface="Times New Roman"/>
                    <a:cs typeface="Times New Roman"/>
                    <a:sym typeface="Times New Roman"/>
                  </a:rPr>
                  <a:t>2</a:t>
                </a:r>
                <a:r>
                  <a:rPr lang="en-GB" i="1">
                    <a:latin typeface="Times New Roman"/>
                    <a:ea typeface="Times New Roman"/>
                    <a:cs typeface="Times New Roman"/>
                    <a:sym typeface="Times New Roman"/>
                  </a:rPr>
                  <a:t>,.., x</a:t>
                </a:r>
                <a:r>
                  <a:rPr lang="en-GB" i="1" baseline="-25000">
                    <a:latin typeface="Times New Roman"/>
                    <a:ea typeface="Times New Roman"/>
                    <a:cs typeface="Times New Roman"/>
                    <a:sym typeface="Times New Roman"/>
                  </a:rPr>
                  <a:t>d</a:t>
                </a:r>
                <a:r>
                  <a:rPr lang="en-GB" i="1">
                    <a:latin typeface="Times New Roman"/>
                    <a:ea typeface="Times New Roman"/>
                    <a:cs typeface="Times New Roman"/>
                    <a:sym typeface="Times New Roman"/>
                  </a:rPr>
                  <a:t> ,1]</a:t>
                </a:r>
                <a:r>
                  <a:rPr lang="en-GB" i="1" baseline="30000">
                    <a:latin typeface="Times New Roman"/>
                    <a:ea typeface="Times New Roman"/>
                    <a:cs typeface="Times New Roman"/>
                    <a:sym typeface="Times New Roman"/>
                  </a:rPr>
                  <a:t>T</a:t>
                </a:r>
                <a:endParaRPr lang="en-GB" sz="1600"/>
              </a:p>
              <a:p>
                <a:pPr marL="457200" lvl="0" indent="-330200" algn="l" rtl="0">
                  <a:lnSpc>
                    <a:spcPct val="115000"/>
                  </a:lnSpc>
                  <a:spcBef>
                    <a:spcPts val="400"/>
                  </a:spcBef>
                  <a:spcAft>
                    <a:spcPts val="0"/>
                  </a:spcAft>
                  <a:buSzPts val="1600"/>
                  <a:buChar char="➔"/>
                </a:pPr>
                <a:r>
                  <a:rPr lang="en-GB" sz="1600"/>
                  <a:t>If we have a dataset of </a:t>
                </a:r>
                <a:r>
                  <a:rPr lang="en-GB" sz="1600" i="1"/>
                  <a:t>N</a:t>
                </a:r>
                <a:r>
                  <a:rPr lang="en-GB" sz="1600"/>
                  <a:t> observations, we express them in matrix form:</a:t>
                </a:r>
              </a:p>
              <a:p>
                <a:pPr marL="127000" lvl="0" indent="0">
                  <a:lnSpc>
                    <a:spcPct val="115000"/>
                  </a:lnSpc>
                  <a:spcBef>
                    <a:spcPts val="400"/>
                  </a:spcBef>
                  <a:buSzPts val="1600"/>
                  <a:buNone/>
                </a:pPr>
                <a14:m>
                  <m:oMath xmlns:m="http://schemas.openxmlformats.org/officeDocument/2006/math">
                    <m:r>
                      <a:rPr lang="en-GB" sz="1600" b="0" i="1" smtClean="0">
                        <a:latin typeface="Cambria Math" panose="02040503050406030204" pitchFamily="18" charset="0"/>
                      </a:rPr>
                      <m:t>𝑋</m:t>
                    </m:r>
                    <m:r>
                      <a:rPr lang="en-US" sz="1600" b="0" i="1" smtClean="0">
                        <a:latin typeface="Cambria Math" panose="02040503050406030204" pitchFamily="18" charset="0"/>
                      </a:rPr>
                      <m:t>=</m:t>
                    </m:r>
                    <m:d>
                      <m:dPr>
                        <m:begChr m:val="["/>
                        <m:endChr m:val="]"/>
                        <m:ctrlPr>
                          <a:rPr lang="en-US" sz="1600" b="0" i="1" smtClean="0">
                            <a:latin typeface="Cambria Math" panose="02040503050406030204" pitchFamily="18" charset="0"/>
                          </a:rPr>
                        </m:ctrlPr>
                      </m:dPr>
                      <m:e>
                        <m:m>
                          <m:mPr>
                            <m:mcs>
                              <m:mc>
                                <m:mcPr>
                                  <m:count m:val="1"/>
                                  <m:mcJc m:val="center"/>
                                </m:mcPr>
                              </m:mc>
                            </m:mcs>
                            <m:ctrlPr>
                              <a:rPr lang="en-US" sz="1600" b="0" i="1" smtClean="0">
                                <a:latin typeface="Cambria Math" panose="02040503050406030204" pitchFamily="18" charset="0"/>
                              </a:rPr>
                            </m:ctrlPr>
                          </m:mPr>
                          <m:mr>
                            <m:e>
                              <m:sSubSup>
                                <m:sSubSupPr>
                                  <m:ctrlPr>
                                    <a:rPr lang="en-US" sz="1600" b="0" i="1" smtClean="0">
                                      <a:latin typeface="Cambria Math" panose="02040503050406030204" pitchFamily="18" charset="0"/>
                                    </a:rPr>
                                  </m:ctrlPr>
                                </m:sSubSupPr>
                                <m:e>
                                  <m:r>
                                    <m:rPr>
                                      <m:brk m:alnAt="7"/>
                                    </m:rPr>
                                    <a:rPr lang="en-US" sz="1600" b="0" i="1" smtClean="0">
                                      <a:latin typeface="Cambria Math" panose="02040503050406030204" pitchFamily="18" charset="0"/>
                                    </a:rPr>
                                    <m:t>𝑥</m:t>
                                  </m:r>
                                </m:e>
                                <m:sub>
                                  <m:r>
                                    <m:rPr>
                                      <m:brk m:alnAt="7"/>
                                    </m:rPr>
                                    <a:rPr lang="en-US" sz="1600" b="0" i="1" smtClean="0">
                                      <a:latin typeface="Cambria Math" panose="02040503050406030204" pitchFamily="18" charset="0"/>
                                    </a:rPr>
                                    <m:t>1</m:t>
                                  </m:r>
                                </m:sub>
                                <m:sup>
                                  <m:r>
                                    <m:rPr>
                                      <m:brk m:alnAt="7"/>
                                    </m:rPr>
                                    <a:rPr lang="en-US" sz="1600" b="0" i="1" smtClean="0">
                                      <a:latin typeface="Cambria Math" panose="02040503050406030204" pitchFamily="18" charset="0"/>
                                    </a:rPr>
                                    <m:t>𝑇</m:t>
                                  </m:r>
                                </m:sup>
                              </m:sSubSup>
                            </m:e>
                          </m:mr>
                          <m:mr>
                            <m:e>
                              <m:sSubSup>
                                <m:sSubSupPr>
                                  <m:ctrlPr>
                                    <a:rPr lang="en-US" sz="1600" i="1">
                                      <a:latin typeface="Cambria Math" panose="02040503050406030204" pitchFamily="18" charset="0"/>
                                    </a:rPr>
                                  </m:ctrlPr>
                                </m:sSubSupPr>
                                <m:e>
                                  <m:r>
                                    <m:rPr>
                                      <m:brk m:alnAt="7"/>
                                    </m:rPr>
                                    <a:rPr lang="en-US" sz="1600" i="1">
                                      <a:latin typeface="Cambria Math" panose="02040503050406030204" pitchFamily="18" charset="0"/>
                                    </a:rPr>
                                    <m:t>𝑥</m:t>
                                  </m:r>
                                </m:e>
                                <m:sub>
                                  <m:r>
                                    <a:rPr lang="en-US" sz="1600" b="0" i="1" smtClean="0">
                                      <a:latin typeface="Cambria Math" panose="02040503050406030204" pitchFamily="18" charset="0"/>
                                    </a:rPr>
                                    <m:t>2</m:t>
                                  </m:r>
                                </m:sub>
                                <m:sup>
                                  <m:r>
                                    <m:rPr>
                                      <m:brk m:alnAt="7"/>
                                    </m:rPr>
                                    <a:rPr lang="en-US" sz="1600" i="1">
                                      <a:latin typeface="Cambria Math" panose="02040503050406030204" pitchFamily="18" charset="0"/>
                                    </a:rPr>
                                    <m:t>𝑇</m:t>
                                  </m:r>
                                </m:sup>
                              </m:sSubSup>
                            </m:e>
                          </m:mr>
                          <m:mr>
                            <m:e>
                              <m:m>
                                <m:mPr>
                                  <m:mcs>
                                    <m:mc>
                                      <m:mcPr>
                                        <m:count m:val="1"/>
                                        <m:mcJc m:val="center"/>
                                      </m:mcPr>
                                    </m:mc>
                                  </m:mcs>
                                  <m:ctrlPr>
                                    <a:rPr lang="en-US" sz="1600" b="0" i="1" smtClean="0">
                                      <a:latin typeface="Cambria Math" panose="02040503050406030204" pitchFamily="18" charset="0"/>
                                    </a:rPr>
                                  </m:ctrlPr>
                                </m:mPr>
                                <m:mr>
                                  <m:e>
                                    <m:r>
                                      <m:rPr>
                                        <m:brk m:alnAt="7"/>
                                      </m:rPr>
                                      <a:rPr lang="en-US" sz="1600" b="0" i="1" smtClean="0">
                                        <a:latin typeface="Cambria Math" panose="02040503050406030204" pitchFamily="18" charset="0"/>
                                      </a:rPr>
                                      <m:t>.</m:t>
                                    </m:r>
                                  </m:e>
                                </m:mr>
                                <m:mr>
                                  <m:e>
                                    <m:r>
                                      <a:rPr lang="en-US" sz="1600" b="0" i="1" smtClean="0">
                                        <a:latin typeface="Cambria Math" panose="02040503050406030204" pitchFamily="18" charset="0"/>
                                      </a:rPr>
                                      <m:t>.</m:t>
                                    </m:r>
                                  </m:e>
                                </m:mr>
                                <m:mr>
                                  <m:e>
                                    <m:sSubSup>
                                      <m:sSubSupPr>
                                        <m:ctrlPr>
                                          <a:rPr lang="en-US" sz="1600" i="1">
                                            <a:latin typeface="Cambria Math" panose="02040503050406030204" pitchFamily="18" charset="0"/>
                                          </a:rPr>
                                        </m:ctrlPr>
                                      </m:sSubSupPr>
                                      <m:e>
                                        <m:r>
                                          <m:rPr>
                                            <m:brk m:alnAt="7"/>
                                          </m:rPr>
                                          <a:rPr lang="en-US" sz="1600" i="1">
                                            <a:latin typeface="Cambria Math" panose="02040503050406030204" pitchFamily="18" charset="0"/>
                                          </a:rPr>
                                          <m:t>𝑥</m:t>
                                        </m:r>
                                      </m:e>
                                      <m:sub>
                                        <m:r>
                                          <a:rPr lang="en-US" sz="1600" b="0" i="1" smtClean="0">
                                            <a:latin typeface="Cambria Math" panose="02040503050406030204" pitchFamily="18" charset="0"/>
                                          </a:rPr>
                                          <m:t>𝑁</m:t>
                                        </m:r>
                                      </m:sub>
                                      <m:sup>
                                        <m:r>
                                          <m:rPr>
                                            <m:brk m:alnAt="7"/>
                                          </m:rPr>
                                          <a:rPr lang="en-US" sz="1600" i="1">
                                            <a:latin typeface="Cambria Math" panose="02040503050406030204" pitchFamily="18" charset="0"/>
                                          </a:rPr>
                                          <m:t>𝑇</m:t>
                                        </m:r>
                                      </m:sup>
                                    </m:sSubSup>
                                  </m:e>
                                </m:mr>
                              </m:m>
                            </m:e>
                          </m:mr>
                        </m:m>
                      </m:e>
                    </m:d>
                    <m:r>
                      <a:rPr lang="en-US" sz="1600" b="0" i="1" smtClean="0">
                        <a:latin typeface="Cambria Math" panose="02040503050406030204" pitchFamily="18" charset="0"/>
                      </a:rPr>
                      <m:t>;</m:t>
                    </m:r>
                    <m:r>
                      <a:rPr lang="en-US" sz="1600" b="0" i="1" smtClean="0">
                        <a:latin typeface="Cambria Math" panose="02040503050406030204" pitchFamily="18" charset="0"/>
                      </a:rPr>
                      <m:t>𝑦</m:t>
                    </m:r>
                    <m:r>
                      <a:rPr lang="en-US" sz="1600" i="1">
                        <a:latin typeface="Cambria Math" panose="02040503050406030204" pitchFamily="18" charset="0"/>
                      </a:rPr>
                      <m:t>=</m:t>
                    </m:r>
                    <m:d>
                      <m:dPr>
                        <m:begChr m:val="["/>
                        <m:endChr m:val="]"/>
                        <m:ctrlPr>
                          <a:rPr lang="en-US" sz="1600" i="1">
                            <a:latin typeface="Cambria Math" panose="02040503050406030204" pitchFamily="18" charset="0"/>
                          </a:rPr>
                        </m:ctrlPr>
                      </m:dPr>
                      <m:e>
                        <m:m>
                          <m:mPr>
                            <m:mcs>
                              <m:mc>
                                <m:mcPr>
                                  <m:count m:val="1"/>
                                  <m:mcJc m:val="center"/>
                                </m:mcPr>
                              </m:mc>
                            </m:mcs>
                            <m:ctrlPr>
                              <a:rPr lang="en-US" sz="1600" i="1">
                                <a:latin typeface="Cambria Math" panose="02040503050406030204" pitchFamily="18" charset="0"/>
                              </a:rPr>
                            </m:ctrlPr>
                          </m:mPr>
                          <m:m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𝑦</m:t>
                                  </m:r>
                                </m:e>
                                <m:sub>
                                  <m:r>
                                    <a:rPr lang="en-US" sz="1600" b="0" i="1" smtClean="0">
                                      <a:latin typeface="Cambria Math" panose="02040503050406030204" pitchFamily="18" charset="0"/>
                                    </a:rPr>
                                    <m:t>1</m:t>
                                  </m:r>
                                </m:sub>
                              </m:sSub>
                            </m:e>
                          </m:mr>
                          <m:m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𝑦</m:t>
                                  </m:r>
                                </m:e>
                                <m:sub>
                                  <m:r>
                                    <a:rPr lang="en-US" sz="1600" b="0" i="1" smtClean="0">
                                      <a:latin typeface="Cambria Math" panose="02040503050406030204" pitchFamily="18" charset="0"/>
                                    </a:rPr>
                                    <m:t>2</m:t>
                                  </m:r>
                                </m:sub>
                              </m:sSub>
                            </m:e>
                          </m:mr>
                          <m:mr>
                            <m:e>
                              <m:m>
                                <m:mPr>
                                  <m:mcs>
                                    <m:mc>
                                      <m:mcPr>
                                        <m:count m:val="1"/>
                                        <m:mcJc m:val="center"/>
                                      </m:mcPr>
                                    </m:mc>
                                  </m:mcs>
                                  <m:ctrlPr>
                                    <a:rPr lang="en-US" sz="1600" i="1">
                                      <a:latin typeface="Cambria Math" panose="02040503050406030204" pitchFamily="18" charset="0"/>
                                    </a:rPr>
                                  </m:ctrlPr>
                                </m:mPr>
                                <m:mr>
                                  <m:e>
                                    <m:r>
                                      <m:rPr>
                                        <m:brk m:alnAt="7"/>
                                      </m:rPr>
                                      <a:rPr lang="en-US" sz="1600" i="1">
                                        <a:latin typeface="Cambria Math" panose="02040503050406030204" pitchFamily="18" charset="0"/>
                                      </a:rPr>
                                      <m:t>.</m:t>
                                    </m:r>
                                  </m:e>
                                </m:mr>
                                <m:mr>
                                  <m:e>
                                    <m:r>
                                      <a:rPr lang="en-US" sz="1600" i="1">
                                        <a:latin typeface="Cambria Math" panose="02040503050406030204" pitchFamily="18" charset="0"/>
                                      </a:rPr>
                                      <m:t>.</m:t>
                                    </m:r>
                                  </m:e>
                                </m:mr>
                                <m:m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𝑦</m:t>
                                        </m:r>
                                      </m:e>
                                      <m:sub>
                                        <m:r>
                                          <a:rPr lang="en-US" sz="1600" b="0" i="1" smtClean="0">
                                            <a:latin typeface="Cambria Math" panose="02040503050406030204" pitchFamily="18" charset="0"/>
                                          </a:rPr>
                                          <m:t>𝑁</m:t>
                                        </m:r>
                                      </m:sub>
                                    </m:sSub>
                                  </m:e>
                                </m:mr>
                              </m:m>
                            </m:e>
                          </m:mr>
                        </m:m>
                      </m:e>
                    </m:d>
                  </m:oMath>
                </a14:m>
                <a:r>
                  <a:rPr lang="en-GB" sz="1600"/>
                  <a:t>	Each row is one observation; each column is one input variable</a:t>
                </a:r>
              </a:p>
              <a:p>
                <a:pPr marL="457200" lvl="0" indent="-330200" algn="l" rtl="0">
                  <a:lnSpc>
                    <a:spcPct val="115000"/>
                  </a:lnSpc>
                  <a:spcBef>
                    <a:spcPts val="1200"/>
                  </a:spcBef>
                  <a:spcAft>
                    <a:spcPts val="0"/>
                  </a:spcAft>
                  <a:buSzPts val="1600"/>
                  <a:buChar char="➔"/>
                </a:pPr>
                <a:r>
                  <a:rPr lang="en-GB" sz="1600"/>
                  <a:t>This allows us to make prediction as </a:t>
                </a:r>
                <a14:m>
                  <m:oMath xmlns:m="http://schemas.openxmlformats.org/officeDocument/2006/math">
                    <m:r>
                      <a:rPr lang="en-GB" sz="1600" b="1" i="1" dirty="0" smtClean="0">
                        <a:latin typeface="Cambria Math" panose="02040503050406030204" pitchFamily="18" charset="0"/>
                        <a:ea typeface="Times New Roman"/>
                        <a:cs typeface="Times New Roman"/>
                        <a:sym typeface="Times New Roman"/>
                      </a:rPr>
                      <m:t>ŷ=</m:t>
                    </m:r>
                    <m:r>
                      <a:rPr lang="en-GB" sz="1600" b="1" i="1" dirty="0" smtClean="0">
                        <a:latin typeface="Cambria Math" panose="02040503050406030204" pitchFamily="18" charset="0"/>
                        <a:ea typeface="Times New Roman"/>
                        <a:cs typeface="Times New Roman"/>
                        <a:sym typeface="Times New Roman"/>
                      </a:rPr>
                      <m:t>𝑿𝒂</m:t>
                    </m:r>
                  </m:oMath>
                </a14:m>
                <a:endParaRPr sz="1600"/>
              </a:p>
            </p:txBody>
          </p:sp>
        </mc:Choice>
        <mc:Fallback>
          <p:sp>
            <p:nvSpPr>
              <p:cNvPr id="431" name="Google Shape;431;p47"/>
              <p:cNvSpPr txBox="1">
                <a:spLocks noGrp="1" noRot="1" noChangeAspect="1" noMove="1" noResize="1" noEditPoints="1" noAdjustHandles="1" noChangeArrowheads="1" noChangeShapeType="1" noTextEdit="1"/>
              </p:cNvSpPr>
              <p:nvPr>
                <p:ph type="body" idx="1"/>
              </p:nvPr>
            </p:nvSpPr>
            <p:spPr>
              <a:xfrm>
                <a:off x="727650" y="1354325"/>
                <a:ext cx="7688700" cy="3689700"/>
              </a:xfrm>
              <a:prstGeom prst="rect">
                <a:avLst/>
              </a:prstGeom>
              <a:blipFill>
                <a:blip r:embed="rId3"/>
                <a:stretch>
                  <a:fillRect/>
                </a:stretch>
              </a:blipFill>
              <a:ln>
                <a:noFill/>
              </a:ln>
            </p:spPr>
            <p:txBody>
              <a:bodyPr/>
              <a:lstStyle/>
              <a:p>
                <a:r>
                  <a:rPr lang="en-US">
                    <a:noFill/>
                  </a:rPr>
                  <a:t> </a:t>
                </a:r>
              </a:p>
            </p:txBody>
          </p:sp>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37">
          <a:extLst>
            <a:ext uri="{FF2B5EF4-FFF2-40B4-BE49-F238E27FC236}">
              <a16:creationId xmlns:a16="http://schemas.microsoft.com/office/drawing/2014/main" id="{EDC51FA7-22DC-BEE5-6064-8DB8D787BA40}"/>
            </a:ext>
          </a:extLst>
        </p:cNvPr>
        <p:cNvGrpSpPr/>
        <p:nvPr/>
      </p:nvGrpSpPr>
      <p:grpSpPr>
        <a:xfrm>
          <a:off x="0" y="0"/>
          <a:ext cx="0" cy="0"/>
          <a:chOff x="0" y="0"/>
          <a:chExt cx="0" cy="0"/>
        </a:xfrm>
      </p:grpSpPr>
      <p:sp>
        <p:nvSpPr>
          <p:cNvPr id="238" name="Google Shape;238;p22">
            <a:extLst>
              <a:ext uri="{FF2B5EF4-FFF2-40B4-BE49-F238E27FC236}">
                <a16:creationId xmlns:a16="http://schemas.microsoft.com/office/drawing/2014/main" id="{01EE53DF-63E0-CC22-7E82-7BA1AE6D71C5}"/>
              </a:ext>
            </a:extLst>
          </p:cNvPr>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4200"/>
              <a:buNone/>
            </a:pPr>
            <a:r>
              <a:rPr lang="en"/>
              <a:t>Implementation on Google Colab</a:t>
            </a:r>
            <a:endParaRPr/>
          </a:p>
        </p:txBody>
      </p:sp>
      <p:sp>
        <p:nvSpPr>
          <p:cNvPr id="2" name="Google Shape;431;p47">
            <a:extLst>
              <a:ext uri="{FF2B5EF4-FFF2-40B4-BE49-F238E27FC236}">
                <a16:creationId xmlns:a16="http://schemas.microsoft.com/office/drawing/2014/main" id="{BC1E258D-34BC-E631-DD2E-DE54EAEDF86D}"/>
              </a:ext>
            </a:extLst>
          </p:cNvPr>
          <p:cNvSpPr txBox="1">
            <a:spLocks/>
          </p:cNvSpPr>
          <p:nvPr/>
        </p:nvSpPr>
        <p:spPr>
          <a:xfrm>
            <a:off x="727650" y="2571749"/>
            <a:ext cx="7688700" cy="2472275"/>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30200">
              <a:lnSpc>
                <a:spcPct val="115000"/>
              </a:lnSpc>
              <a:buSzPts val="1600"/>
              <a:buFont typeface="Arial"/>
              <a:buChar char="➔"/>
            </a:pPr>
            <a:r>
              <a:rPr lang="cy-GB" sz="1600"/>
              <a:t>Objective 1: Learn a Linear model to predict Exam score using StudyHours and SleepHours</a:t>
            </a:r>
          </a:p>
          <a:p>
            <a:pPr marL="457200" indent="-330200">
              <a:lnSpc>
                <a:spcPct val="115000"/>
              </a:lnSpc>
              <a:buSzPts val="1600"/>
              <a:buFont typeface="Arial"/>
              <a:buChar char="➔"/>
            </a:pPr>
            <a:r>
              <a:rPr lang="cy-GB" sz="1600"/>
              <a:t>Objective 2: Using Scikit-Learn, fit a Linear model to predict “petal width” from “sepal width, sepal length and petal length”</a:t>
            </a:r>
          </a:p>
          <a:p>
            <a:pPr marL="457200" indent="-330200">
              <a:lnSpc>
                <a:spcPct val="115000"/>
              </a:lnSpc>
              <a:buSzPts val="1600"/>
              <a:buFont typeface="Arial"/>
              <a:buChar char="➔"/>
            </a:pPr>
            <a:r>
              <a:rPr lang="cy-GB" sz="1600"/>
              <a:t>Extra: Visualize how the data looks like when you plot petal length against the other 3 variables. </a:t>
            </a:r>
          </a:p>
          <a:p>
            <a:pPr marL="457200" indent="-330200">
              <a:lnSpc>
                <a:spcPct val="115000"/>
              </a:lnSpc>
              <a:buSzPts val="1600"/>
              <a:buFont typeface="Arial"/>
              <a:buChar char="➔"/>
            </a:pPr>
            <a:endParaRPr lang="cy-GB" sz="1600"/>
          </a:p>
        </p:txBody>
      </p:sp>
    </p:spTree>
    <p:extLst>
      <p:ext uri="{BB962C8B-B14F-4D97-AF65-F5344CB8AC3E}">
        <p14:creationId xmlns:p14="http://schemas.microsoft.com/office/powerpoint/2010/main" val="15804999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49"/>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300"/>
              <a:t>Congratulations! 🥳</a:t>
            </a:r>
            <a:endParaRPr sz="2300"/>
          </a:p>
        </p:txBody>
      </p:sp>
      <p:sp>
        <p:nvSpPr>
          <p:cNvPr id="448" name="Google Shape;448;p49"/>
          <p:cNvSpPr txBox="1">
            <a:spLocks noGrp="1"/>
          </p:cNvSpPr>
          <p:nvPr>
            <p:ph type="body" idx="1"/>
          </p:nvPr>
        </p:nvSpPr>
        <p:spPr>
          <a:xfrm>
            <a:off x="727650" y="1356625"/>
            <a:ext cx="5002800" cy="36471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770"/>
              <a:buNone/>
            </a:pPr>
            <a:r>
              <a:rPr lang="en" sz="1320" b="1"/>
              <a:t>You have just:</a:t>
            </a:r>
            <a:endParaRPr sz="1320" b="1"/>
          </a:p>
          <a:p>
            <a:pPr marL="457200" lvl="0" indent="-312420" algn="l" rtl="0">
              <a:lnSpc>
                <a:spcPct val="95000"/>
              </a:lnSpc>
              <a:spcBef>
                <a:spcPts val="1200"/>
              </a:spcBef>
              <a:spcAft>
                <a:spcPts val="0"/>
              </a:spcAft>
              <a:buSzPts val="1320"/>
              <a:buChar char="➔"/>
            </a:pPr>
            <a:r>
              <a:rPr lang="en" sz="1320"/>
              <a:t>Learnt about the </a:t>
            </a:r>
            <a:r>
              <a:rPr lang="en" sz="1320" b="1"/>
              <a:t>basics of machine learning</a:t>
            </a:r>
            <a:r>
              <a:rPr lang="en" sz="1320"/>
              <a:t>;</a:t>
            </a:r>
            <a:endParaRPr sz="1320"/>
          </a:p>
          <a:p>
            <a:pPr marL="457200" lvl="0" indent="-312420" algn="l" rtl="0">
              <a:lnSpc>
                <a:spcPct val="95000"/>
              </a:lnSpc>
              <a:spcBef>
                <a:spcPts val="0"/>
              </a:spcBef>
              <a:spcAft>
                <a:spcPts val="0"/>
              </a:spcAft>
              <a:buSzPts val="1320"/>
              <a:buChar char="➔"/>
            </a:pPr>
            <a:r>
              <a:rPr lang="en" sz="1320"/>
              <a:t>Learnt the theory to build a </a:t>
            </a:r>
            <a:r>
              <a:rPr lang="en" sz="1320" b="1"/>
              <a:t>linear regression</a:t>
            </a:r>
            <a:r>
              <a:rPr lang="en" sz="1320"/>
              <a:t> model from scratch </a:t>
            </a:r>
            <a:endParaRPr sz="1320"/>
          </a:p>
          <a:p>
            <a:pPr marL="0" lvl="0" indent="0" algn="l" rtl="0">
              <a:lnSpc>
                <a:spcPct val="95000"/>
              </a:lnSpc>
              <a:spcBef>
                <a:spcPts val="1200"/>
              </a:spcBef>
              <a:spcAft>
                <a:spcPts val="0"/>
              </a:spcAft>
              <a:buSzPts val="770"/>
              <a:buNone/>
            </a:pPr>
            <a:r>
              <a:rPr lang="en" sz="1320" b="1"/>
              <a:t>Next week you will learn about:</a:t>
            </a:r>
            <a:endParaRPr sz="1320"/>
          </a:p>
          <a:p>
            <a:pPr marL="457200" lvl="0" indent="-312420" algn="l" rtl="0">
              <a:lnSpc>
                <a:spcPct val="95000"/>
              </a:lnSpc>
              <a:spcBef>
                <a:spcPts val="0"/>
              </a:spcBef>
              <a:spcAft>
                <a:spcPts val="0"/>
              </a:spcAft>
              <a:buSzPts val="1320"/>
              <a:buChar char="➔"/>
            </a:pPr>
            <a:r>
              <a:rPr lang="en" sz="1320"/>
              <a:t>...</a:t>
            </a:r>
            <a:r>
              <a:rPr lang="en" sz="1320" b="1"/>
              <a:t>classification</a:t>
            </a:r>
            <a:r>
              <a:rPr lang="en" sz="1320"/>
              <a:t> tasks and the </a:t>
            </a:r>
            <a:r>
              <a:rPr lang="en" sz="1320" b="1"/>
              <a:t>logistic regression</a:t>
            </a:r>
            <a:r>
              <a:rPr lang="en" sz="1320"/>
              <a:t> model,</a:t>
            </a:r>
            <a:endParaRPr sz="1320"/>
          </a:p>
          <a:p>
            <a:pPr marL="457200" lvl="0" indent="-312420" algn="l" rtl="0">
              <a:lnSpc>
                <a:spcPct val="95000"/>
              </a:lnSpc>
              <a:spcBef>
                <a:spcPts val="0"/>
              </a:spcBef>
              <a:spcAft>
                <a:spcPts val="0"/>
              </a:spcAft>
              <a:buSzPts val="1320"/>
              <a:buChar char="➔"/>
            </a:pPr>
            <a:r>
              <a:rPr lang="en" sz="1320"/>
              <a:t>...and more!</a:t>
            </a:r>
            <a:endParaRPr sz="1320"/>
          </a:p>
          <a:p>
            <a:pPr marL="457200" lvl="0" indent="0" algn="l" rtl="0">
              <a:lnSpc>
                <a:spcPct val="95000"/>
              </a:lnSpc>
              <a:spcBef>
                <a:spcPts val="0"/>
              </a:spcBef>
              <a:spcAft>
                <a:spcPts val="0"/>
              </a:spcAft>
              <a:buSzPts val="770"/>
              <a:buNone/>
            </a:pPr>
            <a:endParaRPr sz="1320"/>
          </a:p>
          <a:p>
            <a:pPr marL="0" lvl="0" indent="0" algn="l" rtl="0">
              <a:lnSpc>
                <a:spcPct val="95000"/>
              </a:lnSpc>
              <a:spcBef>
                <a:spcPts val="1200"/>
              </a:spcBef>
              <a:spcAft>
                <a:spcPts val="0"/>
              </a:spcAft>
              <a:buSzPts val="770"/>
              <a:buNone/>
            </a:pPr>
            <a:r>
              <a:rPr lang="en" sz="1320" b="1"/>
              <a:t>And now time to get some hands on experience!!</a:t>
            </a:r>
            <a:endParaRPr sz="1320" b="1"/>
          </a:p>
          <a:p>
            <a:pPr marL="457200" lvl="0" indent="-312420" algn="l" rtl="0">
              <a:lnSpc>
                <a:spcPct val="95000"/>
              </a:lnSpc>
              <a:spcBef>
                <a:spcPts val="1200"/>
              </a:spcBef>
              <a:spcAft>
                <a:spcPts val="0"/>
              </a:spcAft>
              <a:buSzPts val="1320"/>
              <a:buChar char="➔"/>
            </a:pPr>
            <a:r>
              <a:rPr lang="en" sz="1320"/>
              <a:t>Learn how to train a linear regression model from scratch in Python using both the Iris dataset and the house pricing dataset! </a:t>
            </a:r>
            <a:endParaRPr sz="1320"/>
          </a:p>
          <a:p>
            <a:pPr marL="457200" lvl="0" indent="-312420" algn="l" rtl="0">
              <a:lnSpc>
                <a:spcPct val="95000"/>
              </a:lnSpc>
              <a:spcBef>
                <a:spcPts val="0"/>
              </a:spcBef>
              <a:spcAft>
                <a:spcPts val="0"/>
              </a:spcAft>
              <a:buSzPts val="1320"/>
              <a:buChar char="➔"/>
            </a:pPr>
            <a:r>
              <a:rPr lang="en" sz="1320"/>
              <a:t>Have fun and don’t hesitate to ask questions to all the helpers!</a:t>
            </a:r>
            <a:endParaRPr sz="1320"/>
          </a:p>
          <a:p>
            <a:pPr marL="0" lvl="0" indent="0" algn="l" rtl="0">
              <a:lnSpc>
                <a:spcPct val="95000"/>
              </a:lnSpc>
              <a:spcBef>
                <a:spcPts val="1200"/>
              </a:spcBef>
              <a:spcAft>
                <a:spcPts val="1200"/>
              </a:spcAft>
              <a:buSzPts val="770"/>
              <a:buNone/>
            </a:pPr>
            <a:endParaRPr sz="1460"/>
          </a:p>
        </p:txBody>
      </p:sp>
      <p:sp>
        <p:nvSpPr>
          <p:cNvPr id="449" name="Google Shape;449;p49"/>
          <p:cNvSpPr txBox="1">
            <a:spLocks noGrp="1"/>
          </p:cNvSpPr>
          <p:nvPr>
            <p:ph type="subTitle" idx="2"/>
          </p:nvPr>
        </p:nvSpPr>
        <p:spPr>
          <a:xfrm>
            <a:off x="6132050" y="3876925"/>
            <a:ext cx="2309100" cy="487800"/>
          </a:xfrm>
          <a:prstGeom prst="rect">
            <a:avLst/>
          </a:prstGeom>
        </p:spPr>
        <p:txBody>
          <a:bodyPr spcFirstLastPara="1" wrap="square" lIns="91425" tIns="91425" rIns="91425" bIns="91425" anchor="t" anchorCtr="0">
            <a:normAutofit fontScale="85000" lnSpcReduction="10000"/>
          </a:bodyPr>
          <a:lstStyle/>
          <a:p>
            <a:pPr marL="0" lvl="0" indent="0" algn="l" rtl="0">
              <a:lnSpc>
                <a:spcPct val="100000"/>
              </a:lnSpc>
              <a:spcBef>
                <a:spcPts val="0"/>
              </a:spcBef>
              <a:spcAft>
                <a:spcPts val="0"/>
              </a:spcAft>
              <a:buNone/>
            </a:pPr>
            <a:r>
              <a:rPr lang="en"/>
              <a:t>PLEASE SHARE YOUR FEEDBACK WITH US (2mins) 😊!</a:t>
            </a:r>
            <a:endParaRP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36</Slides>
  <Notes>36</Notes>
  <HiddenSlides>0</HiddenSlide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Streamline</vt:lpstr>
      <vt:lpstr>Linear Regression</vt:lpstr>
      <vt:lpstr>Generative ML tasks</vt:lpstr>
      <vt:lpstr>Generative vs Discriminative models</vt:lpstr>
      <vt:lpstr>Generative vs Discriminative models</vt:lpstr>
      <vt:lpstr>Generative vs Discriminative models</vt:lpstr>
      <vt:lpstr>Generative vs Discriminative models</vt:lpstr>
      <vt:lpstr>In this course</vt:lpstr>
      <vt:lpstr>Survey</vt:lpstr>
      <vt:lpstr>Survey</vt:lpstr>
      <vt:lpstr>Survey</vt:lpstr>
      <vt:lpstr>And the first step is...</vt:lpstr>
      <vt:lpstr>Equation of a line</vt:lpstr>
      <vt:lpstr>Linear Regression</vt:lpstr>
      <vt:lpstr>Regression</vt:lpstr>
      <vt:lpstr>Linear model</vt:lpstr>
      <vt:lpstr>Example: Linear model for Survey</vt:lpstr>
      <vt:lpstr>Example: Linear model for Survey</vt:lpstr>
      <vt:lpstr>Implementation on Google Colab</vt:lpstr>
      <vt:lpstr>Example: The iris dataset</vt:lpstr>
      <vt:lpstr>Example: The iris dataset</vt:lpstr>
      <vt:lpstr>Choosing the line of best fit</vt:lpstr>
      <vt:lpstr>Measuring the residuals</vt:lpstr>
      <vt:lpstr>Mean squared error (MSE)</vt:lpstr>
      <vt:lpstr>Mean squared error (MSE)</vt:lpstr>
      <vt:lpstr>How do we find the best coefficients?</vt:lpstr>
      <vt:lpstr>Computing the least squares estimate</vt:lpstr>
      <vt:lpstr>Computing the least squares estimate</vt:lpstr>
      <vt:lpstr>Computing the least squares estimate</vt:lpstr>
      <vt:lpstr>Computing the least squares estimate</vt:lpstr>
      <vt:lpstr>Result!</vt:lpstr>
      <vt:lpstr>Predicting the labels for new observations </vt:lpstr>
      <vt:lpstr>What to do if the output depends on more input variables? </vt:lpstr>
      <vt:lpstr>Extending to higher dimensional features</vt:lpstr>
      <vt:lpstr>Extending to higher dimensional features</vt:lpstr>
      <vt:lpstr>Implementation on Google Colab</vt:lpstr>
      <vt:lpstr>Congratulations!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cp:revision>
  <dcterms:modified xsi:type="dcterms:W3CDTF">2025-07-19T14:10:11Z</dcterms:modified>
</cp:coreProperties>
</file>