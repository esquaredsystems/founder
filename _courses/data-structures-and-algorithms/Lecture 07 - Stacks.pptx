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03" r:id="rId5"/>
    <p:sldId id="2462" r:id="rId6"/>
    <p:sldId id="2479" r:id="rId7"/>
    <p:sldId id="2504" r:id="rId8"/>
    <p:sldId id="2506" r:id="rId9"/>
    <p:sldId id="2505" r:id="rId10"/>
    <p:sldId id="2508" r:id="rId11"/>
    <p:sldId id="2509" r:id="rId12"/>
    <p:sldId id="2507" r:id="rId13"/>
    <p:sldId id="2510" r:id="rId14"/>
    <p:sldId id="2511" r:id="rId15"/>
    <p:sldId id="2512" r:id="rId16"/>
    <p:sldId id="2513" r:id="rId17"/>
    <p:sldId id="2514" r:id="rId18"/>
    <p:sldId id="2515" r:id="rId19"/>
    <p:sldId id="24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2DD4F8-7620-4FC2-A6C3-391740F75364}" v="256" dt="2023-08-03T05:59:48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150" autoAdjust="0"/>
  </p:normalViewPr>
  <p:slideViewPr>
    <p:cSldViewPr snapToGrid="0">
      <p:cViewPr varScale="1">
        <p:scale>
          <a:sx n="82" d="100"/>
          <a:sy n="82" d="100"/>
        </p:scale>
        <p:origin x="158" y="7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B92DD4F8-7620-4FC2-A6C3-391740F75364}"/>
    <pc:docChg chg="undo custSel modSld">
      <pc:chgData name="Owais Ahmed" userId="6abc7d4556b3b071" providerId="LiveId" clId="{B92DD4F8-7620-4FC2-A6C3-391740F75364}" dt="2023-08-03T05:59:48.403" v="259"/>
      <pc:docMkLst>
        <pc:docMk/>
      </pc:docMkLst>
      <pc:sldChg chg="modSp mod modAnim">
        <pc:chgData name="Owais Ahmed" userId="6abc7d4556b3b071" providerId="LiveId" clId="{B92DD4F8-7620-4FC2-A6C3-391740F75364}" dt="2023-07-31T09:57:25.963" v="246" actId="20577"/>
        <pc:sldMkLst>
          <pc:docMk/>
          <pc:sldMk cId="3265271046" sldId="2505"/>
        </pc:sldMkLst>
        <pc:spChg chg="mod">
          <ac:chgData name="Owais Ahmed" userId="6abc7d4556b3b071" providerId="LiveId" clId="{B92DD4F8-7620-4FC2-A6C3-391740F75364}" dt="2023-07-31T09:57:25.963" v="246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modSp modAnim">
        <pc:chgData name="Owais Ahmed" userId="6abc7d4556b3b071" providerId="LiveId" clId="{B92DD4F8-7620-4FC2-A6C3-391740F75364}" dt="2023-07-31T09:57:50.533" v="252" actId="20577"/>
        <pc:sldMkLst>
          <pc:docMk/>
          <pc:sldMk cId="1552213775" sldId="2508"/>
        </pc:sldMkLst>
        <pc:spChg chg="mod">
          <ac:chgData name="Owais Ahmed" userId="6abc7d4556b3b071" providerId="LiveId" clId="{B92DD4F8-7620-4FC2-A6C3-391740F75364}" dt="2023-07-31T09:57:50.533" v="252" actId="20577"/>
          <ac:spMkLst>
            <pc:docMk/>
            <pc:sldMk cId="1552213775" sldId="2508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B92DD4F8-7620-4FC2-A6C3-391740F75364}" dt="2023-07-31T09:58:06.285" v="256" actId="20577"/>
        <pc:sldMkLst>
          <pc:docMk/>
          <pc:sldMk cId="3768378318" sldId="2509"/>
        </pc:sldMkLst>
        <pc:spChg chg="mod">
          <ac:chgData name="Owais Ahmed" userId="6abc7d4556b3b071" providerId="LiveId" clId="{B92DD4F8-7620-4FC2-A6C3-391740F75364}" dt="2023-07-31T09:58:06.285" v="256" actId="20577"/>
          <ac:spMkLst>
            <pc:docMk/>
            <pc:sldMk cId="3768378318" sldId="2509"/>
            <ac:spMk id="3" creationId="{4A1C0383-58FE-E486-295E-B33B8683B938}"/>
          </ac:spMkLst>
        </pc:spChg>
      </pc:sldChg>
      <pc:sldChg chg="addSp modSp mod modAnim">
        <pc:chgData name="Owais Ahmed" userId="6abc7d4556b3b071" providerId="LiveId" clId="{B92DD4F8-7620-4FC2-A6C3-391740F75364}" dt="2023-07-31T09:47:38.478" v="241"/>
        <pc:sldMkLst>
          <pc:docMk/>
          <pc:sldMk cId="64818802" sldId="2511"/>
        </pc:sldMkLst>
        <pc:spChg chg="mod">
          <ac:chgData name="Owais Ahmed" userId="6abc7d4556b3b071" providerId="LiveId" clId="{B92DD4F8-7620-4FC2-A6C3-391740F75364}" dt="2023-07-31T09:47:32.908" v="240" actId="20577"/>
          <ac:spMkLst>
            <pc:docMk/>
            <pc:sldMk cId="64818802" sldId="2511"/>
            <ac:spMk id="3" creationId="{4A1C0383-58FE-E486-295E-B33B8683B938}"/>
          </ac:spMkLst>
        </pc:spChg>
        <pc:picChg chg="add mod">
          <ac:chgData name="Owais Ahmed" userId="6abc7d4556b3b071" providerId="LiveId" clId="{B92DD4F8-7620-4FC2-A6C3-391740F75364}" dt="2023-07-31T09:26:36.039" v="71" actId="1076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Anim">
        <pc:chgData name="Owais Ahmed" userId="6abc7d4556b3b071" providerId="LiveId" clId="{B92DD4F8-7620-4FC2-A6C3-391740F75364}" dt="2023-08-03T05:59:48.403" v="259"/>
        <pc:sldMkLst>
          <pc:docMk/>
          <pc:sldMk cId="3068889018" sldId="2514"/>
        </pc:sldMkLst>
      </pc:sldChg>
    </pc:docChg>
  </pc:docChgLst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1T16:19:22.999" v="651" actId="20577"/>
      <pc:docMkLst>
        <pc:docMk/>
      </pc:docMkLst>
      <pc:sldChg chg="modSp modAnim">
        <pc:chgData name="Owais Ahmed" userId="6abc7d4556b3b071" providerId="LiveId" clId="{4CD71B15-CCD9-4CBF-BC84-B4C52C1D305A}" dt="2023-07-31T16:19:05.720" v="650" actId="20577"/>
        <pc:sldMkLst>
          <pc:docMk/>
          <pc:sldMk cId="1552213775" sldId="2508"/>
        </pc:sldMkLst>
        <pc:spChg chg="mod">
          <ac:chgData name="Owais Ahmed" userId="6abc7d4556b3b071" providerId="LiveId" clId="{4CD71B15-CCD9-4CBF-BC84-B4C52C1D305A}" dt="2023-07-31T16:19:05.720" v="650" actId="20577"/>
          <ac:spMkLst>
            <pc:docMk/>
            <pc:sldMk cId="1552213775" sldId="2508"/>
            <ac:spMk id="3" creationId="{4A1C0383-58FE-E486-295E-B33B8683B938}"/>
          </ac:spMkLst>
        </pc:spChg>
      </pc:sldChg>
      <pc:sldChg chg="modSp modAnim">
        <pc:chgData name="Owais Ahmed" userId="6abc7d4556b3b071" providerId="LiveId" clId="{4CD71B15-CCD9-4CBF-BC84-B4C52C1D305A}" dt="2023-07-31T16:19:22.999" v="651" actId="20577"/>
        <pc:sldMkLst>
          <pc:docMk/>
          <pc:sldMk cId="3768378318" sldId="2509"/>
        </pc:sldMkLst>
        <pc:spChg chg="mod">
          <ac:chgData name="Owais Ahmed" userId="6abc7d4556b3b071" providerId="LiveId" clId="{4CD71B15-CCD9-4CBF-BC84-B4C52C1D305A}" dt="2023-07-31T16:19:22.999" v="651" actId="20577"/>
          <ac:spMkLst>
            <pc:docMk/>
            <pc:sldMk cId="3768378318" sldId="2509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8/3/2023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82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737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1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900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896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06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873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491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2107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823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493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286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042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DATA STRUCTURES AND </a:t>
            </a:r>
            <a:r>
              <a:rPr lang="en-US" sz="5400" b="1"/>
              <a:t>ALGORITHMS (113215)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Stack</a:t>
            </a:r>
          </a:p>
          <a:p>
            <a:r>
              <a:rPr lang="en-US" dirty="0"/>
              <a:t>Memory representation</a:t>
            </a:r>
          </a:p>
          <a:p>
            <a:r>
              <a:rPr lang="en-US" dirty="0"/>
              <a:t>Stack Operations</a:t>
            </a:r>
          </a:p>
          <a:p>
            <a:r>
              <a:rPr lang="en-US" dirty="0"/>
              <a:t>Complexity Analysis</a:t>
            </a:r>
          </a:p>
          <a:p>
            <a:r>
              <a:rPr lang="en-US" dirty="0"/>
              <a:t>In real life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Stack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An Abstract Data Type which works on the principles of LIFO (Last-In-First-Out).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It can be constructed using an Array as well as Linked List.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stack allows only 5 operations: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Push: which is another name for Insert at the end of the list.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Pop: fetches the top element and removes from the list.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Peek: fetches the top element but does not remove it.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Is Empty: checks if the Stack has any elements.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Destroy or Clear: removes the elements and frees up the memory.</a:t>
            </a:r>
          </a:p>
        </p:txBody>
      </p:sp>
    </p:spTree>
    <p:extLst>
      <p:ext uri="{BB962C8B-B14F-4D97-AF65-F5344CB8AC3E}">
        <p14:creationId xmlns:p14="http://schemas.microsoft.com/office/powerpoint/2010/main" val="64103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Memory representation – In Array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1036109"/>
          </a:xfrm>
          <a:prstGeom prst="rect">
            <a:avLst/>
          </a:prstGeom>
        </p:spPr>
        <p:txBody>
          <a:bodyPr numCol="2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After Pushing first element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After Pushing 3 more elements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After Popping the Top element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10F7E04-CBD9-6E00-D078-8A9D7E85821A}"/>
              </a:ext>
            </a:extLst>
          </p:cNvPr>
          <p:cNvGrpSpPr/>
          <p:nvPr/>
        </p:nvGrpSpPr>
        <p:grpSpPr>
          <a:xfrm>
            <a:off x="200027" y="2702521"/>
            <a:ext cx="3657410" cy="3772895"/>
            <a:chOff x="200027" y="2702521"/>
            <a:chExt cx="3657410" cy="3772895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BDEFA9B-1746-FD32-4AA1-30E77765BCDA}"/>
                </a:ext>
              </a:extLst>
            </p:cNvPr>
            <p:cNvGrpSpPr/>
            <p:nvPr/>
          </p:nvGrpSpPr>
          <p:grpSpPr>
            <a:xfrm>
              <a:off x="291468" y="6017354"/>
              <a:ext cx="2632575" cy="370155"/>
              <a:chOff x="4586779" y="5256956"/>
              <a:chExt cx="3218793" cy="370155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D40A07-C13D-1931-F1E3-642B053E75E0}"/>
                  </a:ext>
                </a:extLst>
              </p:cNvPr>
              <p:cNvSpPr txBox="1"/>
              <p:nvPr/>
            </p:nvSpPr>
            <p:spPr>
              <a:xfrm>
                <a:off x="4586779" y="5256956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F82B9F-CF88-2404-CFF5-39C66786507B}"/>
                  </a:ext>
                </a:extLst>
              </p:cNvPr>
              <p:cNvSpPr txBox="1"/>
              <p:nvPr/>
            </p:nvSpPr>
            <p:spPr>
              <a:xfrm>
                <a:off x="6197490" y="525777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Index: 0</a:t>
                </a:r>
              </a:p>
            </p:txBody>
          </p:sp>
        </p:grp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67D4569-C3D0-688B-CFAF-E966BF95C790}"/>
                </a:ext>
              </a:extLst>
            </p:cNvPr>
            <p:cNvSpPr/>
            <p:nvPr/>
          </p:nvSpPr>
          <p:spPr>
            <a:xfrm>
              <a:off x="200027" y="2702521"/>
              <a:ext cx="2863563" cy="3772895"/>
            </a:xfrm>
            <a:prstGeom prst="rect">
              <a:avLst/>
            </a:prstGeom>
            <a:noFill/>
            <a:ln w="571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82EB85D-1352-C3ED-EBD0-8F5218275C85}"/>
                </a:ext>
              </a:extLst>
            </p:cNvPr>
            <p:cNvSpPr txBox="1"/>
            <p:nvPr/>
          </p:nvSpPr>
          <p:spPr>
            <a:xfrm>
              <a:off x="3204694" y="6011072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2000</a:t>
              </a:r>
              <a:endParaRPr lang="en-PK" b="1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897ACB1A-ADAF-9584-3381-C30521F23603}"/>
                </a:ext>
              </a:extLst>
            </p:cNvPr>
            <p:cNvCxnSpPr>
              <a:stCxn id="55" idx="1"/>
              <a:endCxn id="25" idx="3"/>
            </p:cNvCxnSpPr>
            <p:nvPr/>
          </p:nvCxnSpPr>
          <p:spPr>
            <a:xfrm flipH="1">
              <a:off x="2924043" y="6195738"/>
              <a:ext cx="280651" cy="710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566F85F-EDD6-F06C-9F1E-C9E6933A3F7D}"/>
                </a:ext>
              </a:extLst>
            </p:cNvPr>
            <p:cNvSpPr txBox="1"/>
            <p:nvPr/>
          </p:nvSpPr>
          <p:spPr>
            <a:xfrm>
              <a:off x="2003737" y="5410802"/>
              <a:ext cx="5254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Top</a:t>
              </a:r>
              <a:endParaRPr lang="en-PK" b="1" dirty="0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40AA493-A67C-E968-8E9F-8A583A4508C3}"/>
                </a:ext>
              </a:extLst>
            </p:cNvPr>
            <p:cNvCxnSpPr>
              <a:cxnSpLocks/>
              <a:stCxn id="58" idx="2"/>
              <a:endCxn id="25" idx="0"/>
            </p:cNvCxnSpPr>
            <p:nvPr/>
          </p:nvCxnSpPr>
          <p:spPr>
            <a:xfrm>
              <a:off x="2266437" y="5780134"/>
              <a:ext cx="0" cy="2380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17D3CAA-2C5E-0280-6DF1-095FD73C5959}"/>
              </a:ext>
            </a:extLst>
          </p:cNvPr>
          <p:cNvGrpSpPr/>
          <p:nvPr/>
        </p:nvGrpSpPr>
        <p:grpSpPr>
          <a:xfrm>
            <a:off x="4032374" y="2693907"/>
            <a:ext cx="3744867" cy="3772895"/>
            <a:chOff x="4032374" y="2693907"/>
            <a:chExt cx="3744867" cy="3772895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7772CB35-E250-8B2E-D54C-417919BE6046}"/>
                </a:ext>
              </a:extLst>
            </p:cNvPr>
            <p:cNvGrpSpPr/>
            <p:nvPr/>
          </p:nvGrpSpPr>
          <p:grpSpPr>
            <a:xfrm>
              <a:off x="4032374" y="2693907"/>
              <a:ext cx="3744867" cy="3772895"/>
              <a:chOff x="4032374" y="2693907"/>
              <a:chExt cx="3744867" cy="3772895"/>
            </a:xfrm>
          </p:grpSpPr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7F7BE51-31B0-2536-B4CF-EEC007288322}"/>
                  </a:ext>
                </a:extLst>
              </p:cNvPr>
              <p:cNvGrpSpPr/>
              <p:nvPr/>
            </p:nvGrpSpPr>
            <p:grpSpPr>
              <a:xfrm>
                <a:off x="4196368" y="6008740"/>
                <a:ext cx="2651932" cy="370155"/>
                <a:chOff x="4586779" y="5256956"/>
                <a:chExt cx="3218793" cy="370155"/>
              </a:xfrm>
            </p:grpSpPr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1B81A56-314D-B85C-ECC2-E976EBF2F9AF}"/>
                    </a:ext>
                  </a:extLst>
                </p:cNvPr>
                <p:cNvSpPr txBox="1"/>
                <p:nvPr/>
              </p:nvSpPr>
              <p:spPr>
                <a:xfrm>
                  <a:off x="4586779" y="5256956"/>
                  <a:ext cx="1608083" cy="36933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Hafs</a:t>
                  </a:r>
                  <a:endParaRPr lang="en-US" dirty="0"/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FA3E4743-768F-5955-EFA3-7B861E444265}"/>
                    </a:ext>
                  </a:extLst>
                </p:cNvPr>
                <p:cNvSpPr txBox="1"/>
                <p:nvPr/>
              </p:nvSpPr>
              <p:spPr>
                <a:xfrm>
                  <a:off x="6197490" y="5257779"/>
                  <a:ext cx="1608082" cy="3693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Index: 0</a:t>
                  </a:r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E357EEA6-6A35-2720-5C79-0B7B56719AB8}"/>
                  </a:ext>
                </a:extLst>
              </p:cNvPr>
              <p:cNvGrpSpPr/>
              <p:nvPr/>
            </p:nvGrpSpPr>
            <p:grpSpPr>
              <a:xfrm>
                <a:off x="4195054" y="5580038"/>
                <a:ext cx="2651932" cy="370155"/>
                <a:chOff x="4586779" y="5256956"/>
                <a:chExt cx="3218793" cy="370155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83437006-3C32-E4E4-89FC-A3597B6323B0}"/>
                    </a:ext>
                  </a:extLst>
                </p:cNvPr>
                <p:cNvSpPr txBox="1"/>
                <p:nvPr/>
              </p:nvSpPr>
              <p:spPr>
                <a:xfrm>
                  <a:off x="4586779" y="5256956"/>
                  <a:ext cx="1608083" cy="36933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Asra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2261DB8-C638-472E-F838-69B3DAE71C5E}"/>
                    </a:ext>
                  </a:extLst>
                </p:cNvPr>
                <p:cNvSpPr txBox="1"/>
                <p:nvPr/>
              </p:nvSpPr>
              <p:spPr>
                <a:xfrm>
                  <a:off x="6197490" y="5257779"/>
                  <a:ext cx="1608082" cy="3693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Index: 1</a:t>
                  </a: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48F3120A-C386-C057-6ACD-BBB8D0AD75D3}"/>
                  </a:ext>
                </a:extLst>
              </p:cNvPr>
              <p:cNvGrpSpPr/>
              <p:nvPr/>
            </p:nvGrpSpPr>
            <p:grpSpPr>
              <a:xfrm>
                <a:off x="4193740" y="5149690"/>
                <a:ext cx="2651932" cy="370155"/>
                <a:chOff x="4586779" y="5256956"/>
                <a:chExt cx="3218793" cy="370155"/>
              </a:xfrm>
            </p:grpSpPr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D211184B-EBB5-5F5B-3727-13AFB9BFE667}"/>
                    </a:ext>
                  </a:extLst>
                </p:cNvPr>
                <p:cNvSpPr txBox="1"/>
                <p:nvPr/>
              </p:nvSpPr>
              <p:spPr>
                <a:xfrm>
                  <a:off x="4586779" y="5256956"/>
                  <a:ext cx="1608083" cy="36933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Mohimin</a:t>
                  </a:r>
                  <a:endParaRPr lang="en-US" dirty="0"/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58F4C679-403E-C791-2058-A5AFD446BB96}"/>
                    </a:ext>
                  </a:extLst>
                </p:cNvPr>
                <p:cNvSpPr txBox="1"/>
                <p:nvPr/>
              </p:nvSpPr>
              <p:spPr>
                <a:xfrm>
                  <a:off x="6197490" y="5257779"/>
                  <a:ext cx="1608082" cy="3693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Index: 2</a:t>
                  </a:r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E16CC541-820B-8238-D99D-24DADEAB1706}"/>
                  </a:ext>
                </a:extLst>
              </p:cNvPr>
              <p:cNvGrpSpPr/>
              <p:nvPr/>
            </p:nvGrpSpPr>
            <p:grpSpPr>
              <a:xfrm>
                <a:off x="4192426" y="4720988"/>
                <a:ext cx="2651932" cy="370155"/>
                <a:chOff x="4586779" y="5256956"/>
                <a:chExt cx="3218793" cy="370155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E64E2A0-F115-2252-1A10-5437ADC08977}"/>
                    </a:ext>
                  </a:extLst>
                </p:cNvPr>
                <p:cNvSpPr txBox="1"/>
                <p:nvPr/>
              </p:nvSpPr>
              <p:spPr>
                <a:xfrm>
                  <a:off x="4586779" y="5256956"/>
                  <a:ext cx="1608083" cy="36933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Shahzaman</a:t>
                  </a:r>
                  <a:endParaRPr lang="en-US" dirty="0"/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4F48D1E9-D092-5972-C928-6E59CB1E0FE2}"/>
                    </a:ext>
                  </a:extLst>
                </p:cNvPr>
                <p:cNvSpPr txBox="1"/>
                <p:nvPr/>
              </p:nvSpPr>
              <p:spPr>
                <a:xfrm>
                  <a:off x="6197490" y="5257779"/>
                  <a:ext cx="1608082" cy="3693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Index: 3</a:t>
                  </a:r>
                </a:p>
              </p:txBody>
            </p:sp>
          </p:grp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389D7BB-E651-13E6-C975-575EB8C0AEAB}"/>
                  </a:ext>
                </a:extLst>
              </p:cNvPr>
              <p:cNvSpPr/>
              <p:nvPr/>
            </p:nvSpPr>
            <p:spPr>
              <a:xfrm>
                <a:off x="4032374" y="2693907"/>
                <a:ext cx="2955474" cy="3772895"/>
              </a:xfrm>
              <a:prstGeom prst="rect">
                <a:avLst/>
              </a:prstGeom>
              <a:noFill/>
              <a:ln w="571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4394852D-6A8A-CE34-0D2A-EE1CD7A6668A}"/>
                  </a:ext>
                </a:extLst>
              </p:cNvPr>
              <p:cNvSpPr txBox="1"/>
              <p:nvPr/>
            </p:nvSpPr>
            <p:spPr>
              <a:xfrm>
                <a:off x="7124498" y="6009563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2000</a:t>
                </a:r>
                <a:endParaRPr lang="en-PK" b="1" dirty="0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766D4FD1-F2A1-FA93-F6C1-AF6AAD95261D}"/>
                  </a:ext>
                </a:extLst>
              </p:cNvPr>
              <p:cNvCxnSpPr>
                <a:stCxn id="75" idx="1"/>
                <a:endCxn id="64" idx="3"/>
              </p:cNvCxnSpPr>
              <p:nvPr/>
            </p:nvCxnSpPr>
            <p:spPr>
              <a:xfrm flipH="1">
                <a:off x="6848300" y="6194229"/>
                <a:ext cx="2761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1F5F3AD-B817-62F2-F870-7BCFACA539A2}"/>
                  </a:ext>
                </a:extLst>
              </p:cNvPr>
              <p:cNvSpPr txBox="1"/>
              <p:nvPr/>
            </p:nvSpPr>
            <p:spPr>
              <a:xfrm>
                <a:off x="5919216" y="4136894"/>
                <a:ext cx="5254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Top</a:t>
                </a:r>
                <a:endParaRPr lang="en-PK" b="1" dirty="0"/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3A7F9EA7-8747-6758-C340-1024ECAD0084}"/>
                  </a:ext>
                </a:extLst>
              </p:cNvPr>
              <p:cNvCxnSpPr>
                <a:cxnSpLocks/>
                <a:stCxn id="83" idx="2"/>
                <a:endCxn id="73" idx="0"/>
              </p:cNvCxnSpPr>
              <p:nvPr/>
            </p:nvCxnSpPr>
            <p:spPr>
              <a:xfrm>
                <a:off x="6181916" y="4506226"/>
                <a:ext cx="1" cy="2155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D9287B1-6432-C528-DC71-B890161BC3B2}"/>
                </a:ext>
              </a:extLst>
            </p:cNvPr>
            <p:cNvSpPr txBox="1"/>
            <p:nvPr/>
          </p:nvSpPr>
          <p:spPr>
            <a:xfrm>
              <a:off x="7124497" y="4714879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2240</a:t>
              </a:r>
              <a:endParaRPr lang="en-PK" b="1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64E3703B-5CC0-CA3F-B5E6-3D35F552BA9B}"/>
                </a:ext>
              </a:extLst>
            </p:cNvPr>
            <p:cNvCxnSpPr>
              <a:cxnSpLocks/>
              <a:stCxn id="114" idx="1"/>
              <a:endCxn id="73" idx="3"/>
            </p:cNvCxnSpPr>
            <p:nvPr/>
          </p:nvCxnSpPr>
          <p:spPr>
            <a:xfrm flipH="1">
              <a:off x="6844358" y="4899545"/>
              <a:ext cx="280139" cy="693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4A46649-FF1D-B7B9-0527-7F662F697394}"/>
              </a:ext>
            </a:extLst>
          </p:cNvPr>
          <p:cNvGrpSpPr/>
          <p:nvPr/>
        </p:nvGrpSpPr>
        <p:grpSpPr>
          <a:xfrm>
            <a:off x="7913891" y="2693907"/>
            <a:ext cx="3744867" cy="3772895"/>
            <a:chOff x="7913891" y="2693907"/>
            <a:chExt cx="3744867" cy="3772895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05D338EB-A447-BC5C-DF13-17F5C3986E8C}"/>
                </a:ext>
              </a:extLst>
            </p:cNvPr>
            <p:cNvGrpSpPr/>
            <p:nvPr/>
          </p:nvGrpSpPr>
          <p:grpSpPr>
            <a:xfrm>
              <a:off x="7913891" y="2693907"/>
              <a:ext cx="3744867" cy="3772895"/>
              <a:chOff x="7913891" y="2693907"/>
              <a:chExt cx="3744867" cy="3772895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2627C36E-0A54-E21B-8F01-6310AC219D5D}"/>
                  </a:ext>
                </a:extLst>
              </p:cNvPr>
              <p:cNvGrpSpPr/>
              <p:nvPr/>
            </p:nvGrpSpPr>
            <p:grpSpPr>
              <a:xfrm>
                <a:off x="8077885" y="6008740"/>
                <a:ext cx="2651932" cy="370155"/>
                <a:chOff x="4586779" y="5256956"/>
                <a:chExt cx="3218793" cy="370155"/>
              </a:xfrm>
            </p:grpSpPr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7C7DDA25-F454-798C-FEBF-656B25E88FF5}"/>
                    </a:ext>
                  </a:extLst>
                </p:cNvPr>
                <p:cNvSpPr txBox="1"/>
                <p:nvPr/>
              </p:nvSpPr>
              <p:spPr>
                <a:xfrm>
                  <a:off x="4586779" y="5256956"/>
                  <a:ext cx="1608083" cy="36933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Hafs</a:t>
                  </a:r>
                  <a:endParaRPr lang="en-US" dirty="0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6A7263E4-75EC-63F5-036A-B63ECAA5EFBC}"/>
                    </a:ext>
                  </a:extLst>
                </p:cNvPr>
                <p:cNvSpPr txBox="1"/>
                <p:nvPr/>
              </p:nvSpPr>
              <p:spPr>
                <a:xfrm>
                  <a:off x="6197490" y="5257779"/>
                  <a:ext cx="1608082" cy="3693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Index: 0</a:t>
                  </a:r>
                </a:p>
              </p:txBody>
            </p: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7BA10412-0DDA-059F-81B6-A23146E6439B}"/>
                  </a:ext>
                </a:extLst>
              </p:cNvPr>
              <p:cNvGrpSpPr/>
              <p:nvPr/>
            </p:nvGrpSpPr>
            <p:grpSpPr>
              <a:xfrm>
                <a:off x="8076571" y="5580038"/>
                <a:ext cx="2651932" cy="370155"/>
                <a:chOff x="4586779" y="5256956"/>
                <a:chExt cx="3218793" cy="370155"/>
              </a:xfrm>
            </p:grpSpPr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5583500E-48D4-F0DE-62AD-6A91BFEF9EE4}"/>
                    </a:ext>
                  </a:extLst>
                </p:cNvPr>
                <p:cNvSpPr txBox="1"/>
                <p:nvPr/>
              </p:nvSpPr>
              <p:spPr>
                <a:xfrm>
                  <a:off x="4586779" y="5256956"/>
                  <a:ext cx="1608083" cy="36933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Asra</a:t>
                  </a:r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ACD9488B-C955-B658-284B-2925BA4B44E1}"/>
                    </a:ext>
                  </a:extLst>
                </p:cNvPr>
                <p:cNvSpPr txBox="1"/>
                <p:nvPr/>
              </p:nvSpPr>
              <p:spPr>
                <a:xfrm>
                  <a:off x="6197490" y="5257779"/>
                  <a:ext cx="1608082" cy="3693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Index: 1</a:t>
                  </a:r>
                </a:p>
              </p:txBody>
            </p: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FAB02450-2D78-6864-5B4D-1783C348C080}"/>
                  </a:ext>
                </a:extLst>
              </p:cNvPr>
              <p:cNvGrpSpPr/>
              <p:nvPr/>
            </p:nvGrpSpPr>
            <p:grpSpPr>
              <a:xfrm>
                <a:off x="8075257" y="5149690"/>
                <a:ext cx="2651932" cy="370155"/>
                <a:chOff x="4586779" y="5256956"/>
                <a:chExt cx="3218793" cy="370155"/>
              </a:xfrm>
            </p:grpSpPr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B9E0FF60-19F6-076E-6A49-A102CCA70537}"/>
                    </a:ext>
                  </a:extLst>
                </p:cNvPr>
                <p:cNvSpPr txBox="1"/>
                <p:nvPr/>
              </p:nvSpPr>
              <p:spPr>
                <a:xfrm>
                  <a:off x="4586779" y="5256956"/>
                  <a:ext cx="1608083" cy="369332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 err="1"/>
                    <a:t>Mohimin</a:t>
                  </a:r>
                  <a:endParaRPr lang="en-US" dirty="0"/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D18205D-F61B-7709-EB61-08F9499890BD}"/>
                    </a:ext>
                  </a:extLst>
                </p:cNvPr>
                <p:cNvSpPr txBox="1"/>
                <p:nvPr/>
              </p:nvSpPr>
              <p:spPr>
                <a:xfrm>
                  <a:off x="6197490" y="5257779"/>
                  <a:ext cx="1608082" cy="369332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Index: 2</a:t>
                  </a:r>
                </a:p>
              </p:txBody>
            </p:sp>
          </p:grp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8E681087-E946-1EAF-E646-A414E8E5045D}"/>
                  </a:ext>
                </a:extLst>
              </p:cNvPr>
              <p:cNvSpPr/>
              <p:nvPr/>
            </p:nvSpPr>
            <p:spPr>
              <a:xfrm>
                <a:off x="7913891" y="2693907"/>
                <a:ext cx="2955474" cy="3772895"/>
              </a:xfrm>
              <a:prstGeom prst="rect">
                <a:avLst/>
              </a:prstGeom>
              <a:noFill/>
              <a:ln w="571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81BA897-B022-144E-432B-93EBFC2E1FC6}"/>
                  </a:ext>
                </a:extLst>
              </p:cNvPr>
              <p:cNvSpPr txBox="1"/>
              <p:nvPr/>
            </p:nvSpPr>
            <p:spPr>
              <a:xfrm>
                <a:off x="11006015" y="6009563"/>
                <a:ext cx="652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2000</a:t>
                </a:r>
                <a:endParaRPr lang="en-PK" b="1" dirty="0"/>
              </a:p>
            </p:txBody>
          </p: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340D97C7-1F68-F5B3-92E4-2FB166FB1B75}"/>
                  </a:ext>
                </a:extLst>
              </p:cNvPr>
              <p:cNvCxnSpPr>
                <a:stCxn id="105" idx="1"/>
                <a:endCxn id="94" idx="3"/>
              </p:cNvCxnSpPr>
              <p:nvPr/>
            </p:nvCxnSpPr>
            <p:spPr>
              <a:xfrm flipH="1">
                <a:off x="10729817" y="6194229"/>
                <a:ext cx="27619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FA87665-825E-97CE-69ED-2235B5B54EDA}"/>
                  </a:ext>
                </a:extLst>
              </p:cNvPr>
              <p:cNvSpPr txBox="1"/>
              <p:nvPr/>
            </p:nvSpPr>
            <p:spPr>
              <a:xfrm>
                <a:off x="9802048" y="4553316"/>
                <a:ext cx="5254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Top</a:t>
                </a:r>
                <a:endParaRPr lang="en-PK" b="1" dirty="0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38922BB5-3433-D880-4BB7-80890D6D938C}"/>
                  </a:ext>
                </a:extLst>
              </p:cNvPr>
              <p:cNvCxnSpPr>
                <a:cxnSpLocks/>
                <a:stCxn id="107" idx="2"/>
                <a:endCxn id="100" idx="0"/>
              </p:cNvCxnSpPr>
              <p:nvPr/>
            </p:nvCxnSpPr>
            <p:spPr>
              <a:xfrm>
                <a:off x="10064748" y="4922648"/>
                <a:ext cx="0" cy="22786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5EEEFAB-139B-166B-B0FB-EE0CFE24A44A}"/>
                </a:ext>
              </a:extLst>
            </p:cNvPr>
            <p:cNvSpPr txBox="1"/>
            <p:nvPr/>
          </p:nvSpPr>
          <p:spPr>
            <a:xfrm>
              <a:off x="11006015" y="5145332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2240</a:t>
              </a:r>
              <a:endParaRPr lang="en-PK" b="1" dirty="0"/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B63005F-C5B0-BC8F-B552-988CFCD6BF6A}"/>
                </a:ext>
              </a:extLst>
            </p:cNvPr>
            <p:cNvCxnSpPr>
              <a:cxnSpLocks/>
              <a:stCxn id="119" idx="1"/>
              <a:endCxn id="100" idx="3"/>
            </p:cNvCxnSpPr>
            <p:nvPr/>
          </p:nvCxnSpPr>
          <p:spPr>
            <a:xfrm flipH="1">
              <a:off x="10727189" y="5329998"/>
              <a:ext cx="278826" cy="518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665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Memory representation – In Linked List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58053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case of Linked List, nothing changes except that instead of index, each node has a pointer which links to previous node.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addressing is also dynamic.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70CADC-0753-4CA8-DE6C-42F365E15889}"/>
              </a:ext>
            </a:extLst>
          </p:cNvPr>
          <p:cNvGrpSpPr/>
          <p:nvPr/>
        </p:nvGrpSpPr>
        <p:grpSpPr>
          <a:xfrm>
            <a:off x="7203440" y="1744455"/>
            <a:ext cx="3405568" cy="3818145"/>
            <a:chOff x="3664624" y="2471998"/>
            <a:chExt cx="3405568" cy="3818145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7F7BE51-31B0-2536-B4CF-EEC007288322}"/>
                </a:ext>
              </a:extLst>
            </p:cNvPr>
            <p:cNvGrpSpPr/>
            <p:nvPr/>
          </p:nvGrpSpPr>
          <p:grpSpPr>
            <a:xfrm>
              <a:off x="3664624" y="5919988"/>
              <a:ext cx="3402197" cy="370155"/>
              <a:chOff x="4586779" y="5256956"/>
              <a:chExt cx="3218793" cy="370155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1B81A56-314D-B85C-ECC2-E976EBF2F9AF}"/>
                  </a:ext>
                </a:extLst>
              </p:cNvPr>
              <p:cNvSpPr txBox="1"/>
              <p:nvPr/>
            </p:nvSpPr>
            <p:spPr>
              <a:xfrm>
                <a:off x="4586779" y="5256956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Hafs</a:t>
                </a:r>
                <a:endParaRPr lang="en-US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A3E4743-768F-5955-EFA3-7B861E444265}"/>
                  </a:ext>
                </a:extLst>
              </p:cNvPr>
              <p:cNvSpPr txBox="1"/>
              <p:nvPr/>
            </p:nvSpPr>
            <p:spPr>
              <a:xfrm>
                <a:off x="6197490" y="525777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Address: 2000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357EEA6-6A35-2720-5C79-0B7B56719AB8}"/>
                </a:ext>
              </a:extLst>
            </p:cNvPr>
            <p:cNvGrpSpPr/>
            <p:nvPr/>
          </p:nvGrpSpPr>
          <p:grpSpPr>
            <a:xfrm>
              <a:off x="3667995" y="4983238"/>
              <a:ext cx="3402197" cy="370155"/>
              <a:chOff x="4586779" y="5256956"/>
              <a:chExt cx="3218793" cy="370155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3437006-3C32-E4E4-89FC-A3597B6323B0}"/>
                  </a:ext>
                </a:extLst>
              </p:cNvPr>
              <p:cNvSpPr txBox="1"/>
              <p:nvPr/>
            </p:nvSpPr>
            <p:spPr>
              <a:xfrm>
                <a:off x="4586779" y="5256956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Asra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2261DB8-C638-472E-F838-69B3DAE71C5E}"/>
                  </a:ext>
                </a:extLst>
              </p:cNvPr>
              <p:cNvSpPr txBox="1"/>
              <p:nvPr/>
            </p:nvSpPr>
            <p:spPr>
              <a:xfrm>
                <a:off x="6197490" y="525777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Address: 2080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8F3120A-C386-C057-6ACD-BBB8D0AD75D3}"/>
                </a:ext>
              </a:extLst>
            </p:cNvPr>
            <p:cNvGrpSpPr/>
            <p:nvPr/>
          </p:nvGrpSpPr>
          <p:grpSpPr>
            <a:xfrm>
              <a:off x="3666310" y="4082548"/>
              <a:ext cx="3402197" cy="370155"/>
              <a:chOff x="4586779" y="5256956"/>
              <a:chExt cx="3218793" cy="370155"/>
            </a:xfrm>
          </p:grpSpPr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211184B-EBB5-5F5B-3727-13AFB9BFE667}"/>
                  </a:ext>
                </a:extLst>
              </p:cNvPr>
              <p:cNvSpPr txBox="1"/>
              <p:nvPr/>
            </p:nvSpPr>
            <p:spPr>
              <a:xfrm>
                <a:off x="4586779" y="5256956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Mohimin</a:t>
                </a:r>
                <a:endParaRPr lang="en-US" dirty="0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8F4C679-403E-C791-2058-A5AFD446BB96}"/>
                  </a:ext>
                </a:extLst>
              </p:cNvPr>
              <p:cNvSpPr txBox="1"/>
              <p:nvPr/>
            </p:nvSpPr>
            <p:spPr>
              <a:xfrm>
                <a:off x="6197490" y="525777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Address: 3340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E16CC541-820B-8238-D99D-24DADEAB1706}"/>
                </a:ext>
              </a:extLst>
            </p:cNvPr>
            <p:cNvGrpSpPr/>
            <p:nvPr/>
          </p:nvGrpSpPr>
          <p:grpSpPr>
            <a:xfrm>
              <a:off x="3664624" y="3140956"/>
              <a:ext cx="3402197" cy="370155"/>
              <a:chOff x="4586779" y="5256956"/>
              <a:chExt cx="3218793" cy="370155"/>
            </a:xfrm>
          </p:grpSpPr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E64E2A0-F115-2252-1A10-5437ADC08977}"/>
                  </a:ext>
                </a:extLst>
              </p:cNvPr>
              <p:cNvSpPr txBox="1"/>
              <p:nvPr/>
            </p:nvSpPr>
            <p:spPr>
              <a:xfrm>
                <a:off x="4586779" y="5256956"/>
                <a:ext cx="1608083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Shahzaman</a:t>
                </a:r>
                <a:endParaRPr lang="en-US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F48D1E9-D092-5972-C928-6E59CB1E0FE2}"/>
                  </a:ext>
                </a:extLst>
              </p:cNvPr>
              <p:cNvSpPr txBox="1"/>
              <p:nvPr/>
            </p:nvSpPr>
            <p:spPr>
              <a:xfrm>
                <a:off x="6197490" y="5257779"/>
                <a:ext cx="1608082" cy="36933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Address: 4050</a:t>
                </a:r>
              </a:p>
            </p:txBody>
          </p:sp>
        </p:grpSp>
        <p:cxnSp>
          <p:nvCxnSpPr>
            <p:cNvPr id="5" name="Connector: Curved 4">
              <a:extLst>
                <a:ext uri="{FF2B5EF4-FFF2-40B4-BE49-F238E27FC236}">
                  <a16:creationId xmlns:a16="http://schemas.microsoft.com/office/drawing/2014/main" id="{2D9C4906-F5F9-276D-EF40-791C13A0095C}"/>
                </a:ext>
              </a:extLst>
            </p:cNvPr>
            <p:cNvCxnSpPr>
              <a:stCxn id="73" idx="2"/>
              <a:endCxn id="69" idx="0"/>
            </p:cNvCxnSpPr>
            <p:nvPr/>
          </p:nvCxnSpPr>
          <p:spPr>
            <a:xfrm rot="5400000">
              <a:off x="5080848" y="2946428"/>
              <a:ext cx="571437" cy="1700802"/>
            </a:xfrm>
            <a:prstGeom prst="curvedConnector3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Connector: Curved 5">
              <a:extLst>
                <a:ext uri="{FF2B5EF4-FFF2-40B4-BE49-F238E27FC236}">
                  <a16:creationId xmlns:a16="http://schemas.microsoft.com/office/drawing/2014/main" id="{40C96E23-C15E-6697-EDAB-1C383F704A2F}"/>
                </a:ext>
              </a:extLst>
            </p:cNvPr>
            <p:cNvCxnSpPr>
              <a:cxnSpLocks/>
              <a:stCxn id="70" idx="2"/>
              <a:endCxn id="66" idx="0"/>
            </p:cNvCxnSpPr>
            <p:nvPr/>
          </p:nvCxnSpPr>
          <p:spPr>
            <a:xfrm rot="5400000">
              <a:off x="5102985" y="3867569"/>
              <a:ext cx="530535" cy="1700803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F08C426B-EB09-E694-A5B6-0ECF883A9D9A}"/>
                </a:ext>
              </a:extLst>
            </p:cNvPr>
            <p:cNvCxnSpPr>
              <a:cxnSpLocks/>
              <a:stCxn id="67" idx="2"/>
              <a:endCxn id="63" idx="0"/>
            </p:cNvCxnSpPr>
            <p:nvPr/>
          </p:nvCxnSpPr>
          <p:spPr>
            <a:xfrm rot="5400000">
              <a:off x="5084112" y="4783761"/>
              <a:ext cx="566595" cy="1705859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E70946-6AC3-4254-F200-87F12E50B8D9}"/>
                </a:ext>
              </a:extLst>
            </p:cNvPr>
            <p:cNvSpPr txBox="1"/>
            <p:nvPr/>
          </p:nvSpPr>
          <p:spPr>
            <a:xfrm>
              <a:off x="5954266" y="2471998"/>
              <a:ext cx="5254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Top</a:t>
              </a:r>
              <a:endParaRPr lang="en-PK" b="1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3D271D2-2B44-0D65-ADF5-84004481A1F5}"/>
                </a:ext>
              </a:extLst>
            </p:cNvPr>
            <p:cNvCxnSpPr>
              <a:stCxn id="13" idx="2"/>
              <a:endCxn id="73" idx="0"/>
            </p:cNvCxnSpPr>
            <p:nvPr/>
          </p:nvCxnSpPr>
          <p:spPr>
            <a:xfrm>
              <a:off x="6216966" y="2841330"/>
              <a:ext cx="1" cy="30044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963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Stack Operations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PUSH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(Top, element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), where ‘Top’ is pointer to latest node and ‘element’ is the data to push.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𝑙𝑎𝑠𝑡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𝑜𝑝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	(Since the top will be linked to new)</a:t>
                </a: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𝑛𝑒𝑤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𝐶𝑅𝐸𝐴𝑇𝐸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_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𝑁𝑂𝐷𝐸</m:t>
                    </m:r>
                    <m:d>
                      <m:d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 dirty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</m:ctrlPr>
                          </m:dPr>
                          <m:e>
                            <m:r>
                              <a:rPr lang="en-US" sz="2800" i="1" dirty="0">
                                <a:latin typeface="Cambria Math" panose="02040503050406030204" pitchFamily="18" charset="0"/>
                                <a:ea typeface="Cascadia Code" panose="020B0609020000020004" pitchFamily="49" charset="0"/>
                                <a:cs typeface="Cascadia Code" panose="020B0609020000020004" pitchFamily="49" charset="0"/>
                              </a:rPr>
                              <m:t>𝑒𝑙𝑒𝑚𝑒𝑛𝑡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	(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Allocate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memory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for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new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node</m:t>
                    </m:r>
                    <m:r>
                      <m:rPr>
                        <m:nor/>
                      </m:rPr>
                      <a:rPr lang="en-US" sz="2800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𝑛𝑒𝑤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𝑝𝑟𝑒𝑣𝑖𝑜𝑢𝑠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𝑙𝑎𝑠𝑡</m:t>
                    </m:r>
                  </m:oMath>
                </a14:m>
                <a:endParaRPr lang="en-US" sz="28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𝑇𝑜𝑝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𝑛𝑒𝑤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27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Stack Operations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POP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(Top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), where ‘Top’ is pointer to latest node.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𝑇𝑜𝑝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𝐹𝐴𝐼𝐿</m:t>
                    </m:r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𝑇𝑜𝑝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𝑇𝑜𝑝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𝑇𝑜𝑝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𝑝𝑟𝑒𝑣𝑖𝑜𝑢𝑠</m:t>
                    </m:r>
                  </m:oMath>
                </a14:m>
                <a:endParaRPr lang="en-US" sz="28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𝑛𝑜𝑑𝑒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Note that we return only the element.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24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2213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Stack Operations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PEEK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(Top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𝑇𝑜𝑝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8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𝐹𝐴𝐼𝐿</m:t>
                    </m:r>
                  </m:oMath>
                </a14:m>
                <a:endParaRPr lang="en-US" sz="26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𝑇𝑜𝑝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→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𝑒𝑙𝑒𝑚𝑒𝑛𝑡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IS_EMPTY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(Top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𝑜𝑝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=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</a:t>
                </a:r>
                <a:b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</a:b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r>
                  <a:rPr lang="en-US" sz="28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𝑡𝑟𝑢𝑒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Font typeface="Arial" panose="020B0604020202020204" pitchFamily="34" charset="0"/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r>
                  <a:rPr lang="en-US" sz="2800" dirty="0"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𝑓𝑎𝑙𝑠𝑒</m:t>
                    </m:r>
                  </m:oMath>
                </a14:m>
                <a:endParaRPr lang="en-US" sz="28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CLEAR</a:t>
                </a:r>
                <a:r>
                  <a:rPr lang="en-US" sz="28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(Top</a:t>
                </a:r>
                <a:r>
                  <a:rPr lang="en-US" sz="28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</a:t>
                </a:r>
                <a:endParaRPr lang="en-US" sz="28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𝑤h𝑖𝑙𝑒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𝑜𝑝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≠</m:t>
                    </m:r>
                    <m:r>
                      <a:rPr lang="en-US" sz="2800" i="1" dirty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br>
                  <a:rPr lang="en-US" sz="28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</a:b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𝑃𝑂𝑃</m:t>
                    </m:r>
                  </m:oMath>
                </a14:m>
                <a:r>
                  <a:rPr lang="en-US" sz="28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𝑇𝑜𝑝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)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t="-2494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37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Complexity Analysis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biggest benefit of Stacks are low complexity for most frequent 4 operations. Only the CLEAR/DESTROY operation is expensive: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PUSH: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000" dirty="0"/>
                  <a:t> since the new element always inserts at the top.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POP: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000" dirty="0"/>
                  <a:t> since only the top element is fetched and removed.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PEEK: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000" dirty="0"/>
                  <a:t> since only the top element is read.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IS_EMPTY: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000" dirty="0"/>
                  <a:t> as we only check if the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𝑡𝑜𝑝</m:t>
                    </m:r>
                  </m:oMath>
                </a14:m>
                <a:r>
                  <a:rPr lang="en-US" sz="3000" dirty="0"/>
                  <a:t> is null.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CLEAR: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000" dirty="0"/>
                  <a:t> as we need to de-allocate memory for all elements.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 r="-129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73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 real life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first and foremost is the LIFO principle.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Second consideration is Search. Stack does not offer a Search.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Third limitation is absence of Sort.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Considering the above 3, Stacks can be used smartly in a variety of cases.</a:t>
            </a:r>
          </a:p>
        </p:txBody>
      </p:sp>
    </p:spTree>
    <p:extLst>
      <p:ext uri="{BB962C8B-B14F-4D97-AF65-F5344CB8AC3E}">
        <p14:creationId xmlns:p14="http://schemas.microsoft.com/office/powerpoint/2010/main" val="259609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 real life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88855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Stacking Pizzas inside carrier for Food Panda riders.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If you Stack up the pizzas vertically, then little space is required for 6 to 12 orders.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rider can unload only one pizza at a time; the best way would be to put the pizza of farthest customer first and nearest customer at the top.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Given, of course, that the rider also knows how to handle the job.</a:t>
            </a:r>
          </a:p>
        </p:txBody>
      </p:sp>
      <p:pic>
        <p:nvPicPr>
          <p:cNvPr id="1026" name="Picture 2" descr="Nehéz a futárok élete - Munkahelyi (T)error">
            <a:extLst>
              <a:ext uri="{FF2B5EF4-FFF2-40B4-BE49-F238E27FC236}">
                <a16:creationId xmlns:a16="http://schemas.microsoft.com/office/drawing/2014/main" id="{46F87B91-E9D1-F266-4E5C-9787E7840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0" y="254777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81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 real life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3200" dirty="0"/>
                  <a:t>Undo/Redo operations in an IDE.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Imagine an IDE without the option to undo. </a:t>
                </a:r>
                <a:r>
                  <a:rPr lang="en-US" sz="3000" i="1" dirty="0"/>
                  <a:t>Not fun!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A smart IDE will keep a stack of each operation performed.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When you press </a:t>
                </a: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𝐶𝑡𝑟𝑙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3000" dirty="0"/>
                  <a:t>, then the IDE Pops the top operation and you are back to your previous state.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Pressing it again will do another Pop. Until you are back to the original state of the document, or the Stack limit is reached.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297" t="-374" r="-1505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931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 real life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3200" dirty="0"/>
                  <a:t>Balancing Parentheses in a mathematical equation: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𝑏𝑑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)+[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+{3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3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}]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How will you determine that the brackets used in the above equation are balanced?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If you simply count the number of starting and closing brackets, then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)[](</m:t>
                    </m:r>
                  </m:oMath>
                </a14:m>
                <a:r>
                  <a:rPr lang="en-US" sz="3000" dirty="0"/>
                  <a:t> will also pass.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Stacks are a good way to check if an equation has balanced parentheses no matter how lengthy it is.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Let’s see how this can be implemented using Stack.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94" t="-1122" r="-1194" b="-87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35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In real life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Initialize an empty stack.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Scan the equation from left to right.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If the character is opening: (, {, or [ then Push into the stack.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If the character is closing: ), }, or ] then Pop from stack. If the Pop fails or the stack is empty, then the equation is not balanced. Ignore all other characters.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If the Pop is successful, but the Popped element is not the starting character of current character, then the equation is not balanced.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If there are no more characters in the string and the stack is not empty, then the equation is not balanced.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Otherwise, the equation is balanced.</a:t>
            </a:r>
          </a:p>
        </p:txBody>
      </p:sp>
    </p:spTree>
    <p:extLst>
      <p:ext uri="{BB962C8B-B14F-4D97-AF65-F5344CB8AC3E}">
        <p14:creationId xmlns:p14="http://schemas.microsoft.com/office/powerpoint/2010/main" val="306888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Write Pseudocode for this Algorithm.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Implement it using Stack. Create your own class for Stack and make sure that the data type for elements is character.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Test your program on following equations: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𝑏𝑑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)+[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+{3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+1)−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}]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+[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])∗(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{(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)∗[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)]}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{[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[{()}]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496" r="-15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18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4178</TotalTime>
  <Words>1084</Words>
  <Application>Microsoft Office PowerPoint</Application>
  <PresentationFormat>Widescreen</PresentationFormat>
  <Paragraphs>164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Cascadia Code</vt:lpstr>
      <vt:lpstr>Wingdings</vt:lpstr>
      <vt:lpstr>Office Theme</vt:lpstr>
      <vt:lpstr>DATA STRUCTURES AND ALGORITHMS (113215)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176</cp:revision>
  <dcterms:created xsi:type="dcterms:W3CDTF">2022-11-22T20:08:03Z</dcterms:created>
  <dcterms:modified xsi:type="dcterms:W3CDTF">2023-08-03T05:59:50Z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