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503" r:id="rId5"/>
    <p:sldId id="2462" r:id="rId6"/>
    <p:sldId id="2557" r:id="rId7"/>
    <p:sldId id="2558" r:id="rId8"/>
    <p:sldId id="2559" r:id="rId9"/>
    <p:sldId id="2560" r:id="rId10"/>
    <p:sldId id="2562" r:id="rId11"/>
    <p:sldId id="2563" r:id="rId12"/>
    <p:sldId id="2564" r:id="rId13"/>
    <p:sldId id="2565" r:id="rId14"/>
    <p:sldId id="2566" r:id="rId15"/>
    <p:sldId id="2567" r:id="rId16"/>
    <p:sldId id="2568" r:id="rId17"/>
    <p:sldId id="2569" r:id="rId18"/>
    <p:sldId id="2570" r:id="rId19"/>
    <p:sldId id="2573" r:id="rId20"/>
    <p:sldId id="2571" r:id="rId21"/>
    <p:sldId id="2574" r:id="rId22"/>
    <p:sldId id="243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BEAB62-A728-450D-B4C0-9368924550F8}" v="11069" dt="2023-08-16T06:18:09.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45" autoAdjust="0"/>
    <p:restoredTop sz="92288" autoAdjust="0"/>
  </p:normalViewPr>
  <p:slideViewPr>
    <p:cSldViewPr snapToGrid="0">
      <p:cViewPr varScale="1">
        <p:scale>
          <a:sx n="76" d="100"/>
          <a:sy n="76" d="100"/>
        </p:scale>
        <p:origin x="730"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16T09:05:19.288" v="14344" actId="4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16T06:18:09.595" v="14343" actId="20577"/>
        <pc:sldMkLst>
          <pc:docMk/>
          <pc:sldMk cId="3970414602" sldId="2570"/>
        </pc:sldMkLst>
        <pc:spChg chg="mod">
          <ac:chgData name="Owais Ahmed" userId="6abc7d4556b3b071" providerId="LiveId" clId="{8CBEAB62-A728-450D-B4C0-9368924550F8}" dt="2023-08-16T06:18:09.595" v="14343"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del mod modAnim">
        <pc:chgData name="Owais Ahmed" userId="6abc7d4556b3b071" providerId="LiveId" clId="{8CBEAB62-A728-450D-B4C0-9368924550F8}" dt="2023-08-16T09:05:19.288" v="14344" actId="47"/>
        <pc:sldMkLst>
          <pc:docMk/>
          <pc:sldMk cId="544744783" sldId="2575"/>
        </pc:sldMkLst>
        <pc:spChg chg="mod">
          <ac:chgData name="Owais Ahmed" userId="6abc7d4556b3b071" providerId="LiveId" clId="{8CBEAB62-A728-450D-B4C0-9368924550F8}" dt="2023-08-16T05:28:02.494" v="14333" actId="20577"/>
          <ac:spMkLst>
            <pc:docMk/>
            <pc:sldMk cId="544744783" sldId="2575"/>
            <ac:spMk id="3" creationId="{4A1C0383-58FE-E486-295E-B33B8683B938}"/>
          </ac:spMkLst>
        </pc:spChg>
        <pc:spChg chg="mod">
          <ac:chgData name="Owais Ahmed" userId="6abc7d4556b3b071" providerId="LiveId" clId="{8CBEAB62-A728-450D-B4C0-9368924550F8}" dt="2023-08-16T05:24:05.984" v="13836" actId="20577"/>
          <ac:spMkLst>
            <pc:docMk/>
            <pc:sldMk cId="544744783" sldId="2575"/>
            <ac:spMk id="215" creationId="{00000000-0000-0000-0000-000000000000}"/>
          </ac:spMkLst>
        </pc:spChg>
      </pc:sldChg>
      <pc:sldChg chg="modSp add del mod modAnim">
        <pc:chgData name="Owais Ahmed" userId="6abc7d4556b3b071" providerId="LiveId" clId="{8CBEAB62-A728-450D-B4C0-9368924550F8}" dt="2023-08-08T04:25:52.981" v="13824" actId="4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del mod modAnim">
        <pc:chgData name="Owais Ahmed" userId="6abc7d4556b3b071" providerId="LiveId" clId="{8CBEAB62-A728-450D-B4C0-9368924550F8}" dt="2023-08-08T04:25:52.981" v="13824" actId="4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8/16/2023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8/16/2023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3638401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052920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719633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4081770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130818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172845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686315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1937872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944600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879532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 way we are calculating cutoff does not require checking for Even or Odd because we’re taking Ceiling of the quotient. Also note that we need to add “start” so that the indices are according to the Array.</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418614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91297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292764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3663033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1087442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microsoft.com/office/2007/relationships/hdphoto" Target="../media/hdphoto1.wdp"/><Relationship Id="rId7" Type="http://schemas.openxmlformats.org/officeDocument/2006/relationships/image" Target="../media/image32.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Search</a:t>
            </a:r>
          </a:p>
          <a:p>
            <a:r>
              <a:rPr lang="en-US" dirty="0"/>
              <a:t>Search in Unordered Data</a:t>
            </a:r>
          </a:p>
          <a:p>
            <a:r>
              <a:rPr lang="en-US" dirty="0"/>
              <a:t>Search in Ordered Data</a:t>
            </a:r>
          </a:p>
          <a:p>
            <a:r>
              <a:rPr lang="en-US" dirty="0"/>
              <a:t>Binary Search</a:t>
            </a:r>
          </a:p>
          <a:p>
            <a:r>
              <a:rPr lang="en-US" dirty="0"/>
              <a:t>Optimization</a:t>
            </a:r>
          </a:p>
          <a:p>
            <a:r>
              <a:rPr lang="en-US" dirty="0"/>
              <a:t>Complexity Analysis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Search is one of the most frequently used functions in computers.</a:t>
            </a:r>
          </a:p>
          <a:p>
            <a:pPr marL="0" indent="0" algn="ctr">
              <a:lnSpc>
                <a:spcPct val="120000"/>
              </a:lnSpc>
              <a:buNone/>
            </a:pPr>
            <a:r>
              <a:rPr lang="en-US" sz="3200" i="1" dirty="0"/>
              <a:t>“Any algorithm which solves the search problem, namely, to retrieve information stored within some data structure, or calculated in the search space of a problem domain, either with discrete or continuous values”. [Wikipedia]</a:t>
            </a:r>
          </a:p>
          <a:p>
            <a:pPr>
              <a:lnSpc>
                <a:spcPct val="120000"/>
              </a:lnSpc>
              <a:buFont typeface="Wingdings" panose="05000000000000000000" pitchFamily="2" charset="2"/>
              <a:buChar char="§"/>
            </a:pPr>
            <a:r>
              <a:rPr lang="en-US" sz="3200" dirty="0"/>
              <a:t>It is a step-by-step method to find one or more data points in a collection of data.</a:t>
            </a:r>
          </a:p>
          <a:p>
            <a:pPr>
              <a:lnSpc>
                <a:spcPct val="120000"/>
              </a:lnSpc>
              <a:buFont typeface="Wingdings" panose="05000000000000000000" pitchFamily="2" charset="2"/>
              <a:buChar char="§"/>
            </a:pPr>
            <a:r>
              <a:rPr lang="en-US" sz="3200" dirty="0"/>
              <a:t>Different data structures employ different strategies for search.</a:t>
            </a:r>
          </a:p>
          <a:p>
            <a:pPr>
              <a:lnSpc>
                <a:spcPct val="120000"/>
              </a:lnSpc>
              <a:buFont typeface="Wingdings" panose="05000000000000000000" pitchFamily="2" charset="2"/>
              <a:buChar char="§"/>
            </a:pPr>
            <a:r>
              <a:rPr lang="en-US" sz="3200" dirty="0"/>
              <a:t>There are two types of search algorithms: Linear and Binary search</a:t>
            </a:r>
          </a:p>
          <a:p>
            <a:pPr>
              <a:lnSpc>
                <a:spcPct val="120000"/>
              </a:lnSpc>
              <a:buFont typeface="Wingdings" panose="05000000000000000000" pitchFamily="2" charset="2"/>
              <a:buChar char="§"/>
            </a:pPr>
            <a:r>
              <a:rPr lang="en-US" sz="3200" dirty="0"/>
              <a:t>Linear search is applicable on any type of data, while binary search requires the data to be already sorted.</a:t>
            </a:r>
          </a:p>
        </p:txBody>
      </p:sp>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Unordered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030013"/>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Unordered data is not sorted in any specific form.</a:t>
                </a:r>
              </a:p>
              <a:p>
                <a:pPr>
                  <a:lnSpc>
                    <a:spcPct val="120000"/>
                  </a:lnSpc>
                  <a:buFont typeface="Wingdings" panose="05000000000000000000" pitchFamily="2" charset="2"/>
                  <a:buChar char="§"/>
                </a:pPr>
                <a:r>
                  <a:rPr lang="en-US" sz="3200" dirty="0"/>
                  <a:t>In the given example of an array containing Student IDs in no particular order. Now irrespective of the search query, the program will have to go through elements without skipping any.</a:t>
                </a:r>
              </a:p>
              <a:p>
                <a:pPr lvl="1">
                  <a:lnSpc>
                    <a:spcPct val="120000"/>
                  </a:lnSpc>
                  <a:buFont typeface="Wingdings" panose="05000000000000000000" pitchFamily="2" charset="2"/>
                  <a:buChar char="§"/>
                </a:pPr>
                <a:r>
                  <a:rPr lang="en-US" sz="3000" dirty="0"/>
                  <a:t>Search for a specific value (e.g., 5144) requires visiting </a:t>
                </a:r>
                <a14:m>
                  <m:oMath xmlns:m="http://schemas.openxmlformats.org/officeDocument/2006/math">
                    <m:r>
                      <a:rPr lang="en-US" sz="3000" i="1" dirty="0" smtClean="0">
                        <a:latin typeface="Cambria Math" panose="02040503050406030204" pitchFamily="18" charset="0"/>
                      </a:rPr>
                      <m:t>𝑛</m:t>
                    </m:r>
                  </m:oMath>
                </a14:m>
                <a:r>
                  <a:rPr lang="en-US" sz="3000" dirty="0"/>
                  <a:t> elements.</a:t>
                </a:r>
              </a:p>
              <a:p>
                <a:pPr lvl="1">
                  <a:lnSpc>
                    <a:spcPct val="120000"/>
                  </a:lnSpc>
                  <a:buFont typeface="Wingdings" panose="05000000000000000000" pitchFamily="2" charset="2"/>
                  <a:buChar char="§"/>
                </a:pPr>
                <a:r>
                  <a:rPr lang="en-US" sz="3000" dirty="0"/>
                  <a:t>Search for highest number requires visiting </a:t>
                </a:r>
                <a14:m>
                  <m:oMath xmlns:m="http://schemas.openxmlformats.org/officeDocument/2006/math">
                    <m:r>
                      <a:rPr lang="en-US" sz="3000" b="0" i="1" smtClean="0">
                        <a:latin typeface="Cambria Math" panose="02040503050406030204" pitchFamily="18" charset="0"/>
                      </a:rPr>
                      <m:t>𝑛</m:t>
                    </m:r>
                  </m:oMath>
                </a14:m>
                <a:r>
                  <a:rPr lang="en-US" sz="3000" dirty="0"/>
                  <a:t> elements.</a:t>
                </a:r>
              </a:p>
              <a:p>
                <a:pPr lvl="1">
                  <a:lnSpc>
                    <a:spcPct val="120000"/>
                  </a:lnSpc>
                  <a:buFont typeface="Wingdings" panose="05000000000000000000" pitchFamily="2" charset="2"/>
                  <a:buChar char="§"/>
                </a:pPr>
                <a:r>
                  <a:rPr lang="en-US" sz="3000" dirty="0"/>
                  <a:t>Search for lowest number requires visiting </a:t>
                </a:r>
                <a14:m>
                  <m:oMath xmlns:m="http://schemas.openxmlformats.org/officeDocument/2006/math">
                    <m:r>
                      <a:rPr lang="en-US" sz="3000" b="0" i="1" smtClean="0">
                        <a:latin typeface="Cambria Math" panose="02040503050406030204" pitchFamily="18" charset="0"/>
                      </a:rPr>
                      <m:t>𝑛</m:t>
                    </m:r>
                  </m:oMath>
                </a14:m>
                <a:r>
                  <a:rPr lang="en-US" sz="3000" dirty="0"/>
                  <a:t> elements.</a:t>
                </a:r>
              </a:p>
              <a:p>
                <a:pPr>
                  <a:lnSpc>
                    <a:spcPct val="120000"/>
                  </a:lnSpc>
                  <a:buFont typeface="Wingdings" panose="05000000000000000000" pitchFamily="2" charset="2"/>
                  <a:buChar char="§"/>
                </a:pPr>
                <a:r>
                  <a:rPr lang="en-US" sz="3200" dirty="0"/>
                  <a:t>There are some techniques to mitigate the number of iterations, but the complexity will remain same.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030013"/>
              </a:xfrm>
              <a:prstGeom prst="rect">
                <a:avLst/>
              </a:prstGeom>
              <a:blipFill>
                <a:blip r:embed="rId3"/>
                <a:stretch>
                  <a:fillRect l="-727" t="-1059" r="-1194"/>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3449716494"/>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u="none" strike="noStrike" dirty="0">
                              <a:effectLst/>
                            </a:rPr>
                            <a:t>4930</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u="none" strike="noStrike" dirty="0">
                              <a:effectLst/>
                            </a:rPr>
                            <a:t>3045</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u="none" strike="noStrike" dirty="0">
                              <a:effectLst/>
                            </a:rPr>
                            <a:t>1864</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3449716494"/>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endParaRPr lang="en-US"/>
                        </a:p>
                      </a:txBody>
                      <a:tcPr marL="13464" marR="13464" marT="13464" marB="0" anchor="b">
                        <a:blipFill>
                          <a:blip r:embed="rId4"/>
                          <a:stretch>
                            <a:fillRect l="-990" t="-10526" r="-1079208"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4"/>
                          <a:stretch>
                            <a:fillRect l="-506633" t="-10526" r="-1531"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u="none" strike="noStrike" dirty="0">
                              <a:effectLst/>
                            </a:rPr>
                            <a:t>4930</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u="none" strike="noStrike" dirty="0">
                              <a:effectLst/>
                            </a:rPr>
                            <a:t>3045</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u="none" strike="noStrike" dirty="0">
                              <a:effectLst/>
                            </a:rPr>
                            <a:t>1864</a:t>
                          </a:r>
                          <a:endParaRPr lang="en-US" sz="2000" b="0"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390966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Unordered data – A variation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SEARCH</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A, n, Q), returns index of a linear array ‘A’ of size ‘n’, where the element matches ‘Q’.</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𝑛</m:t>
                    </m:r>
                    <m:r>
                      <a:rPr lang="en-US" sz="2400" i="1">
                        <a:latin typeface="Cambria Math" panose="02040503050406030204" pitchFamily="18" charset="0"/>
                        <a:ea typeface="Cascadia Code" panose="020B0609020000020004" pitchFamily="49" charset="0"/>
                        <a:cs typeface="Cascadia Code" panose="020B0609020000020004" pitchFamily="49" charset="0"/>
                      </a:rPr>
                      <m:t>=0, </m:t>
                    </m:r>
                    <m:r>
                      <a:rPr lang="en-US" sz="2400" i="1">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(Return Null if the array is empty)</a:t>
                </a: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i="1" dirty="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(Initialize counter)</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f>
                      <m:f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fPr>
                      <m:num>
                        <m:r>
                          <a:rPr lang="en-US" sz="2400" i="1" dirty="0">
                            <a:latin typeface="Cambria Math" panose="02040503050406030204" pitchFamily="18" charset="0"/>
                            <a:ea typeface="Cascadia Code" panose="020B0609020000020004" pitchFamily="49" charset="0"/>
                            <a:cs typeface="Cascadia Code" panose="020B0609020000020004" pitchFamily="49" charset="0"/>
                          </a:rPr>
                          <m:t>𝑛</m:t>
                        </m:r>
                      </m:num>
                      <m:den>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2</m:t>
                        </m:r>
                      </m:den>
                    </m:f>
                  </m:oMath>
                </a14:m>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(Traverse the array)</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(Match the element) </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r>
                  <a:rPr lang="en-US" sz="2400" i="1" dirty="0">
                    <a:latin typeface="Cambria Math" panose="02040503050406030204" pitchFamily="18" charset="0"/>
                    <a:ea typeface="Cascadia Code" panose="020B0609020000020004" pitchFamily="49" charset="0"/>
                    <a:cs typeface="Cascadia Code" panose="020B0609020000020004" pitchFamily="49" charset="0"/>
                  </a:rPr>
                  <a:t>IF </a:t>
                </a: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i="1" dirty="0">
                            <a:latin typeface="Cambria Math" panose="02040503050406030204" pitchFamily="18" charset="0"/>
                            <a:ea typeface="Cascadia Code" panose="020B0609020000020004" pitchFamily="49" charset="0"/>
                            <a:cs typeface="Cascadia Code" panose="020B0609020000020004" pitchFamily="49" charset="0"/>
                          </a:rPr>
                          <m:t>−1</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𝑖𝑛𝑑𝑒𝑥</m:t>
                    </m:r>
                    <m:r>
                      <a:rPr lang="en-US" sz="24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(Increment)</a:t>
                </a: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675" t="-1480"/>
                </a:stretch>
              </a:blipFill>
            </p:spPr>
            <p:txBody>
              <a:bodyPr/>
              <a:lstStyle/>
              <a:p>
                <a:r>
                  <a:rPr lang="en-US">
                    <a:noFill/>
                  </a:rPr>
                  <a:t> </a:t>
                </a:r>
              </a:p>
            </p:txBody>
          </p:sp>
        </mc:Fallback>
      </mc:AlternateContent>
    </p:spTree>
    <p:extLst>
      <p:ext uri="{BB962C8B-B14F-4D97-AF65-F5344CB8AC3E}">
        <p14:creationId xmlns:p14="http://schemas.microsoft.com/office/powerpoint/2010/main" val="385675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Unordered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the given variation of SEARCH function, we notice a change from the original Pseudocode.</a:t>
                </a:r>
              </a:p>
              <a:p>
                <a:pPr>
                  <a:lnSpc>
                    <a:spcPct val="120000"/>
                  </a:lnSpc>
                  <a:buFont typeface="Wingdings" panose="05000000000000000000" pitchFamily="2" charset="2"/>
                  <a:buChar char="§"/>
                </a:pPr>
                <a:r>
                  <a:rPr lang="en-US" sz="3200" dirty="0">
                    <a:ea typeface="Cascadia Code" panose="020B0609020000020004" pitchFamily="49" charset="0"/>
                    <a:cs typeface="Cascadia Code" panose="020B0609020000020004" pitchFamily="49" charset="0"/>
                  </a:rPr>
                  <a:t>The loop does not run for </a:t>
                </a:r>
                <a14:m>
                  <m:oMath xmlns:m="http://schemas.openxmlformats.org/officeDocument/2006/math">
                    <m:r>
                      <a:rPr lang="en-US" sz="320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3200" dirty="0">
                    <a:ea typeface="Cascadia Code" panose="020B0609020000020004" pitchFamily="49" charset="0"/>
                    <a:cs typeface="Cascadia Code" panose="020B0609020000020004" pitchFamily="49" charset="0"/>
                  </a:rPr>
                  <a:t> iterations, but rather </a:t>
                </a:r>
                <a14:m>
                  <m:oMath xmlns:m="http://schemas.openxmlformats.org/officeDocument/2006/math">
                    <m:f>
                      <m:fPr>
                        <m:ctrlPr>
                          <a:rPr lang="en-US" sz="3200" i="1" dirty="0">
                            <a:latin typeface="Cambria Math" panose="02040503050406030204" pitchFamily="18" charset="0"/>
                            <a:ea typeface="Cascadia Code" panose="020B0609020000020004" pitchFamily="49" charset="0"/>
                            <a:cs typeface="Cascadia Code" panose="020B0609020000020004" pitchFamily="49" charset="0"/>
                          </a:rPr>
                        </m:ctrlPr>
                      </m:fPr>
                      <m:num>
                        <m:r>
                          <a:rPr lang="en-US" sz="3200" i="1" dirty="0">
                            <a:latin typeface="Cambria Math" panose="02040503050406030204" pitchFamily="18" charset="0"/>
                            <a:ea typeface="Cascadia Code" panose="020B0609020000020004" pitchFamily="49" charset="0"/>
                            <a:cs typeface="Cascadia Code" panose="020B0609020000020004" pitchFamily="49" charset="0"/>
                          </a:rPr>
                          <m:t>𝑛</m:t>
                        </m:r>
                      </m:num>
                      <m:den>
                        <m:r>
                          <a:rPr lang="en-US" sz="3200" i="1" dirty="0">
                            <a:latin typeface="Cambria Math" panose="02040503050406030204" pitchFamily="18" charset="0"/>
                            <a:ea typeface="Cascadia Code" panose="020B0609020000020004" pitchFamily="49" charset="0"/>
                            <a:cs typeface="Cascadia Code" panose="020B0609020000020004" pitchFamily="49" charset="0"/>
                          </a:rPr>
                          <m:t>2</m:t>
                        </m:r>
                      </m:den>
                    </m:f>
                  </m:oMath>
                </a14:m>
                <a:r>
                  <a:rPr lang="en-US" sz="3200" dirty="0"/>
                  <a:t>.</a:t>
                </a:r>
              </a:p>
              <a:p>
                <a:pPr>
                  <a:lnSpc>
                    <a:spcPct val="120000"/>
                  </a:lnSpc>
                  <a:buFont typeface="Wingdings" panose="05000000000000000000" pitchFamily="2" charset="2"/>
                  <a:buChar char="§"/>
                </a:pPr>
                <a:r>
                  <a:rPr lang="en-US" sz="3200" dirty="0"/>
                  <a:t>Also, inside the loop, we match the value twice. In this way, we are effectively running a search from left to right and another from right to left.</a:t>
                </a:r>
              </a:p>
              <a:p>
                <a:pPr>
                  <a:lnSpc>
                    <a:spcPct val="120000"/>
                  </a:lnSpc>
                  <a:buFont typeface="Wingdings" panose="05000000000000000000" pitchFamily="2" charset="2"/>
                  <a:buChar char="§"/>
                </a:pPr>
                <a:r>
                  <a:rPr lang="en-US" sz="3200" dirty="0"/>
                  <a:t>However, does this variation change the complexity?</a:t>
                </a:r>
              </a:p>
              <a:p>
                <a:pPr>
                  <a:lnSpc>
                    <a:spcPct val="120000"/>
                  </a:lnSpc>
                  <a:buFont typeface="Wingdings" panose="05000000000000000000" pitchFamily="2" charset="2"/>
                  <a:buChar char="§"/>
                </a:pPr>
                <a:r>
                  <a:rPr lang="en-US" sz="3200" dirty="0"/>
                  <a:t>No, because there are now two match statements executing inside the loop, so the time complexity will remain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1038" t="-1480" b="-2343"/>
                </a:stretch>
              </a:blipFill>
            </p:spPr>
            <p:txBody>
              <a:bodyPr/>
              <a:lstStyle/>
              <a:p>
                <a:r>
                  <a:rPr lang="en-US">
                    <a:noFill/>
                  </a:rPr>
                  <a:t> </a:t>
                </a:r>
              </a:p>
            </p:txBody>
          </p:sp>
        </mc:Fallback>
      </mc:AlternateContent>
    </p:spTree>
    <p:extLst>
      <p:ext uri="{BB962C8B-B14F-4D97-AF65-F5344CB8AC3E}">
        <p14:creationId xmlns:p14="http://schemas.microsoft.com/office/powerpoint/2010/main" val="384633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030013"/>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Imagine the same array but sorted in ascending order.</a:t>
                </a:r>
              </a:p>
              <a:p>
                <a:pPr>
                  <a:lnSpc>
                    <a:spcPct val="120000"/>
                  </a:lnSpc>
                  <a:buFont typeface="Wingdings" panose="05000000000000000000" pitchFamily="2" charset="2"/>
                  <a:buChar char="§"/>
                </a:pPr>
                <a:r>
                  <a:rPr lang="en-US" sz="3200" dirty="0"/>
                  <a:t>Can you guess the time complexity for:</a:t>
                </a:r>
              </a:p>
              <a:p>
                <a:pPr lvl="1">
                  <a:lnSpc>
                    <a:spcPct val="120000"/>
                  </a:lnSpc>
                  <a:buFont typeface="Wingdings" panose="05000000000000000000" pitchFamily="2" charset="2"/>
                  <a:buChar char="§"/>
                </a:pPr>
                <a:r>
                  <a:rPr lang="en-US" sz="3000" dirty="0"/>
                  <a:t>Search for highest number?</a:t>
                </a:r>
              </a:p>
              <a:p>
                <a:pPr lvl="1">
                  <a:lnSpc>
                    <a:spcPct val="120000"/>
                  </a:lnSpc>
                  <a:buFont typeface="Wingdings" panose="05000000000000000000" pitchFamily="2" charset="2"/>
                  <a:buChar char="§"/>
                </a:pPr>
                <a:r>
                  <a:rPr lang="en-US" sz="3000" dirty="0"/>
                  <a:t>Search for lowest number?</a:t>
                </a:r>
              </a:p>
              <a:p>
                <a:pPr lvl="1">
                  <a:lnSpc>
                    <a:spcPct val="120000"/>
                  </a:lnSpc>
                  <a:buFont typeface="Wingdings" panose="05000000000000000000" pitchFamily="2" charset="2"/>
                  <a:buChar char="§"/>
                </a:pPr>
                <a:r>
                  <a:rPr lang="en-US" sz="3000" dirty="0"/>
                  <a:t>Search for a specific value (e.g., 4930)?</a:t>
                </a:r>
              </a:p>
              <a:p>
                <a:pPr>
                  <a:lnSpc>
                    <a:spcPct val="120000"/>
                  </a:lnSpc>
                  <a:buFont typeface="Wingdings" panose="05000000000000000000" pitchFamily="2" charset="2"/>
                  <a:buChar char="§"/>
                </a:pPr>
                <a:r>
                  <a:rPr lang="en-US" sz="3200" dirty="0"/>
                  <a:t>The case of highest and lowest numbers were straight forward as we only have to visit a single element.</a:t>
                </a:r>
              </a:p>
              <a:p>
                <a:pPr>
                  <a:lnSpc>
                    <a:spcPct val="120000"/>
                  </a:lnSpc>
                  <a:buFont typeface="Wingdings" panose="05000000000000000000" pitchFamily="2" charset="2"/>
                  <a:buChar char="§"/>
                </a:pPr>
                <a:r>
                  <a:rPr lang="en-US" sz="3200" dirty="0"/>
                  <a:t>However, for the third case, we need to look deeper. On the surface, it looks like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030013"/>
              </a:xfrm>
              <a:prstGeom prst="rect">
                <a:avLst/>
              </a:prstGeom>
              <a:blipFill>
                <a:blip r:embed="rId3"/>
                <a:stretch>
                  <a:fillRect l="-727" t="-1059" r="-1038"/>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1650752220"/>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1650752220"/>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endParaRPr lang="en-PK"/>
                        </a:p>
                      </a:txBody>
                      <a:tcPr marL="13464" marR="13464" marT="13464" marB="0" anchor="b">
                        <a:blipFill>
                          <a:blip r:embed="rId4"/>
                          <a:stretch>
                            <a:fillRect l="-990" t="-10526" r="-1079208"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PK"/>
                        </a:p>
                      </a:txBody>
                      <a:tcPr marL="13464" marR="13464" marT="13464" marB="0" anchor="b">
                        <a:blipFill>
                          <a:blip r:embed="rId4"/>
                          <a:stretch>
                            <a:fillRect l="-506633" t="-10526" r="-1531"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183506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172163"/>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What if we modify our algorithm to search (call it Partial Search):</a:t>
                </a:r>
              </a:p>
              <a:p>
                <a:pPr marL="514350" indent="-514350">
                  <a:lnSpc>
                    <a:spcPct val="120000"/>
                  </a:lnSpc>
                  <a:buFont typeface="+mj-lt"/>
                  <a:buAutoNum type="arabicPeriod"/>
                </a:pPr>
                <a:r>
                  <a:rPr lang="en-US" sz="3200" dirty="0"/>
                  <a:t>Go to the middle index. For Odd number, </a:t>
                </a:r>
                <a14:m>
                  <m:oMath xmlns:m="http://schemas.openxmlformats.org/officeDocument/2006/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𝑛</m:t>
                        </m:r>
                      </m:num>
                      <m:den>
                        <m:r>
                          <a:rPr lang="en-US" sz="3200" b="0" i="1" smtClean="0">
                            <a:latin typeface="Cambria Math" panose="02040503050406030204" pitchFamily="18" charset="0"/>
                          </a:rPr>
                          <m:t>2</m:t>
                        </m:r>
                      </m:den>
                    </m:f>
                  </m:oMath>
                </a14:m>
                <a:r>
                  <a:rPr lang="en-US" sz="3200" dirty="0"/>
                  <a:t> and for Even number use a ceiling function </a:t>
                </a:r>
                <a14:m>
                  <m:oMath xmlns:m="http://schemas.openxmlformats.org/officeDocument/2006/math">
                    <m:d>
                      <m:dPr>
                        <m:begChr m:val="⌈"/>
                        <m:endChr m:val="⌉"/>
                        <m:ctrlPr>
                          <a:rPr lang="en-US" sz="3200" b="0" i="1" smtClean="0">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𝑛</m:t>
                            </m:r>
                          </m:num>
                          <m:den>
                            <m:r>
                              <a:rPr lang="en-US" sz="3200" i="1">
                                <a:latin typeface="Cambria Math" panose="02040503050406030204" pitchFamily="18" charset="0"/>
                              </a:rPr>
                              <m:t>2</m:t>
                            </m:r>
                          </m:den>
                        </m:f>
                      </m:e>
                    </m:d>
                  </m:oMath>
                </a14:m>
                <a:r>
                  <a:rPr lang="en-US" sz="3200" dirty="0"/>
                  <a:t>.</a:t>
                </a:r>
              </a:p>
              <a:p>
                <a:pPr marL="514350" indent="-514350">
                  <a:lnSpc>
                    <a:spcPct val="120000"/>
                  </a:lnSpc>
                  <a:buFont typeface="+mj-lt"/>
                  <a:buAutoNum type="arabicPeriod"/>
                </a:pPr>
                <a:r>
                  <a:rPr lang="en-US" sz="3200" dirty="0"/>
                  <a:t>If the element is less than the value at middle index, then search only in the left partition.</a:t>
                </a:r>
              </a:p>
              <a:p>
                <a:pPr marL="514350" indent="-514350">
                  <a:lnSpc>
                    <a:spcPct val="120000"/>
                  </a:lnSpc>
                  <a:buFont typeface="+mj-lt"/>
                  <a:buAutoNum type="arabicPeriod"/>
                </a:pPr>
                <a:r>
                  <a:rPr lang="en-US" sz="3200" dirty="0"/>
                  <a:t>Otherwise search in the right partition.</a:t>
                </a:r>
              </a:p>
              <a:p>
                <a:pPr>
                  <a:lnSpc>
                    <a:spcPct val="120000"/>
                  </a:lnSpc>
                  <a:buFont typeface="Wingdings" panose="05000000000000000000" pitchFamily="2" charset="2"/>
                  <a:buChar char="§"/>
                </a:pPr>
                <a:r>
                  <a:rPr lang="en-US" sz="3200" dirty="0"/>
                  <a:t>This algorithm guarantees that the element will be found within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𝑛</m:t>
                            </m:r>
                          </m:num>
                          <m:den>
                            <m:r>
                              <a:rPr lang="en-US" sz="3200" b="0" i="1" smtClean="0">
                                <a:latin typeface="Cambria Math" panose="02040503050406030204" pitchFamily="18" charset="0"/>
                              </a:rPr>
                              <m:t>2</m:t>
                            </m:r>
                          </m:den>
                        </m:f>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172163"/>
              </a:xfrm>
              <a:prstGeom prst="rect">
                <a:avLst/>
              </a:prstGeom>
              <a:blipFill>
                <a:blip r:embed="rId3"/>
                <a:stretch>
                  <a:fillRect l="-986" t="-1168" r="-1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652358472"/>
                  </p:ext>
                </p:extLst>
              </p:nvPr>
            </p:nvGraphicFramePr>
            <p:xfrm>
              <a:off x="1773881" y="5704749"/>
              <a:ext cx="3795942"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652358472"/>
                  </p:ext>
                </p:extLst>
              </p:nvPr>
            </p:nvGraphicFramePr>
            <p:xfrm>
              <a:off x="1773881" y="5704749"/>
              <a:ext cx="3795942"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tblGrid>
                  <a:tr h="344302">
                    <a:tc>
                      <a:txBody>
                        <a:bodyPr/>
                        <a:lstStyle/>
                        <a:p>
                          <a:endParaRPr lang="en-US"/>
                        </a:p>
                      </a:txBody>
                      <a:tcPr marL="13464" marR="13464" marT="13464" marB="0" anchor="b">
                        <a:blipFill>
                          <a:blip r:embed="rId4"/>
                          <a:stretch>
                            <a:fillRect l="-990" t="-10526" r="-519802"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E8A4CD6-FF35-8C96-FE48-73CE2E1F1C2C}"/>
                  </a:ext>
                </a:extLst>
              </p:cNvPr>
              <p:cNvGraphicFramePr>
                <a:graphicFrameLocks noGrp="1"/>
              </p:cNvGraphicFramePr>
              <p:nvPr>
                <p:extLst>
                  <p:ext uri="{D42A27DB-BD31-4B8C-83A1-F6EECF244321}">
                    <p14:modId xmlns:p14="http://schemas.microsoft.com/office/powerpoint/2010/main" val="1095690690"/>
                  </p:ext>
                </p:extLst>
              </p:nvPr>
            </p:nvGraphicFramePr>
            <p:xfrm>
              <a:off x="6186989" y="5704749"/>
              <a:ext cx="4058904"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4" name="Table 3">
                <a:extLst>
                  <a:ext uri="{FF2B5EF4-FFF2-40B4-BE49-F238E27FC236}">
                    <a16:creationId xmlns:a16="http://schemas.microsoft.com/office/drawing/2014/main" id="{DE8A4CD6-FF35-8C96-FE48-73CE2E1F1C2C}"/>
                  </a:ext>
                </a:extLst>
              </p:cNvPr>
              <p:cNvGraphicFramePr>
                <a:graphicFrameLocks noGrp="1"/>
              </p:cNvGraphicFramePr>
              <p:nvPr>
                <p:extLst>
                  <p:ext uri="{D42A27DB-BD31-4B8C-83A1-F6EECF244321}">
                    <p14:modId xmlns:p14="http://schemas.microsoft.com/office/powerpoint/2010/main" val="1095690690"/>
                  </p:ext>
                </p:extLst>
              </p:nvPr>
            </p:nvGraphicFramePr>
            <p:xfrm>
              <a:off x="6186989" y="5704749"/>
              <a:ext cx="4058904"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endParaRPr lang="en-US"/>
                        </a:p>
                      </a:txBody>
                      <a:tcPr marL="13464" marR="13464" marT="13464" marB="0" anchor="b">
                        <a:blipFill>
                          <a:blip r:embed="rId5"/>
                          <a:stretch>
                            <a:fillRect l="-990" t="-10526" r="-562376" b="-143860"/>
                          </a:stretch>
                        </a:blipFill>
                      </a:tcPr>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5"/>
                          <a:stretch>
                            <a:fillRect l="-240816" t="-10526" r="-1020"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15092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approach is faster, but the problem remains the same. If the number of elements were 100, then we still have to go through 50 items. What if we made another split and add another level to our algorithm?</a:t>
                </a:r>
              </a:p>
              <a:p>
                <a:pPr marL="514350" indent="-514350">
                  <a:lnSpc>
                    <a:spcPct val="120000"/>
                  </a:lnSpc>
                  <a:buFont typeface="+mj-lt"/>
                  <a:buAutoNum type="arabicPeriod"/>
                </a:pPr>
                <a:r>
                  <a:rPr lang="en-US" sz="3200" dirty="0"/>
                  <a:t>Go to the middle index. For Odd number,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/2</m:t>
                    </m:r>
                  </m:oMath>
                </a14:m>
                <a:r>
                  <a:rPr lang="en-US" sz="3200" dirty="0"/>
                  <a:t> and for Even number use a ceiling function </a:t>
                </a:r>
                <a14:m>
                  <m:oMath xmlns:m="http://schemas.openxmlformats.org/officeDocument/2006/math">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/2</m:t>
                        </m:r>
                      </m:e>
                    </m:d>
                  </m:oMath>
                </a14:m>
                <a:r>
                  <a:rPr lang="en-US" sz="3200" dirty="0"/>
                  <a:t>.</a:t>
                </a:r>
              </a:p>
              <a:p>
                <a:pPr marL="514350" indent="-514350">
                  <a:lnSpc>
                    <a:spcPct val="120000"/>
                  </a:lnSpc>
                  <a:buFont typeface="+mj-lt"/>
                  <a:buAutoNum type="arabicPeriod"/>
                </a:pPr>
                <a:r>
                  <a:rPr lang="en-US" sz="3200" dirty="0"/>
                  <a:t>If the element is less than the value at index, then:</a:t>
                </a:r>
              </a:p>
              <a:p>
                <a:pPr marL="971550" lvl="1" indent="-514350">
                  <a:lnSpc>
                    <a:spcPct val="120000"/>
                  </a:lnSpc>
                  <a:buFont typeface="+mj-lt"/>
                  <a:buAutoNum type="arabicPeriod"/>
                </a:pPr>
                <a:r>
                  <a:rPr lang="en-US" sz="3000" dirty="0"/>
                  <a:t>Go to the middle index of the left partition. For Odd number, </a:t>
                </a:r>
                <a14:m>
                  <m:oMath xmlns:m="http://schemas.openxmlformats.org/officeDocument/2006/math">
                    <m:r>
                      <a:rPr lang="en-US" sz="3000" b="0" i="1" dirty="0" smtClean="0">
                        <a:latin typeface="Cambria Math" panose="02040503050406030204" pitchFamily="18" charset="0"/>
                      </a:rPr>
                      <m:t>𝑛</m:t>
                    </m:r>
                    <m:r>
                      <a:rPr lang="en-US" sz="3000" b="0" i="1" dirty="0" smtClean="0">
                        <a:latin typeface="Cambria Math" panose="02040503050406030204" pitchFamily="18" charset="0"/>
                      </a:rPr>
                      <m:t>/2</m:t>
                    </m:r>
                  </m:oMath>
                </a14:m>
                <a:r>
                  <a:rPr lang="en-US" sz="3000" dirty="0"/>
                  <a:t> and for Even number use a ceiling function </a:t>
                </a:r>
                <a14:m>
                  <m:oMath xmlns:m="http://schemas.openxmlformats.org/officeDocument/2006/math">
                    <m:d>
                      <m:dPr>
                        <m:begChr m:val="⌈"/>
                        <m:endChr m:val="⌉"/>
                        <m:ctrlPr>
                          <a:rPr lang="en-US" sz="3000" i="1" dirty="0" smtClean="0">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/2</m:t>
                        </m:r>
                      </m:e>
                    </m:d>
                  </m:oMath>
                </a14:m>
                <a:r>
                  <a:rPr lang="en-US" sz="3000" dirty="0"/>
                  <a:t>.</a:t>
                </a:r>
              </a:p>
              <a:p>
                <a:pPr marL="971550" lvl="1" indent="-514350">
                  <a:lnSpc>
                    <a:spcPct val="120000"/>
                  </a:lnSpc>
                  <a:buFont typeface="+mj-lt"/>
                  <a:buAutoNum type="arabicPeriod"/>
                </a:pPr>
                <a:r>
                  <a:rPr lang="en-US" sz="3000" dirty="0"/>
                  <a:t>If the element is less than the value at middle index, then search in left-left partition.</a:t>
                </a:r>
              </a:p>
              <a:p>
                <a:pPr marL="971550" lvl="1" indent="-514350">
                  <a:lnSpc>
                    <a:spcPct val="120000"/>
                  </a:lnSpc>
                  <a:buFont typeface="+mj-lt"/>
                  <a:buAutoNum type="arabicPeriod"/>
                </a:pPr>
                <a:r>
                  <a:rPr lang="en-US" sz="3000" dirty="0"/>
                  <a:t>Otherwise search in left-right partition.</a:t>
                </a:r>
              </a:p>
              <a:p>
                <a:pPr marL="514350" indent="-514350">
                  <a:lnSpc>
                    <a:spcPct val="120000"/>
                  </a:lnSpc>
                  <a:buFont typeface="+mj-lt"/>
                  <a:buAutoNum type="arabicPeriod"/>
                </a:pPr>
                <a:r>
                  <a:rPr lang="en-US" sz="3200" dirty="0"/>
                  <a:t>Otherwise:</a:t>
                </a:r>
              </a:p>
              <a:p>
                <a:pPr marL="971550" lvl="1" indent="-514350">
                  <a:lnSpc>
                    <a:spcPct val="120000"/>
                  </a:lnSpc>
                  <a:buFont typeface="+mj-lt"/>
                  <a:buAutoNum type="arabicPeriod"/>
                </a:pPr>
                <a:r>
                  <a:rPr lang="en-US" sz="3000" dirty="0"/>
                  <a:t>Go to the middle index of the right partition. For Odd number, </a:t>
                </a:r>
                <a14:m>
                  <m:oMath xmlns:m="http://schemas.openxmlformats.org/officeDocument/2006/math">
                    <m:r>
                      <a:rPr lang="en-US" sz="3000" b="0" i="1" dirty="0" smtClean="0">
                        <a:latin typeface="Cambria Math" panose="02040503050406030204" pitchFamily="18" charset="0"/>
                      </a:rPr>
                      <m:t>𝑛</m:t>
                    </m:r>
                    <m:r>
                      <a:rPr lang="en-US" sz="3000" b="0" i="1" dirty="0" smtClean="0">
                        <a:latin typeface="Cambria Math" panose="02040503050406030204" pitchFamily="18" charset="0"/>
                      </a:rPr>
                      <m:t>/2</m:t>
                    </m:r>
                  </m:oMath>
                </a14:m>
                <a:r>
                  <a:rPr lang="en-US" sz="3000" dirty="0"/>
                  <a:t> and for Even number use a ceiling function </a:t>
                </a:r>
                <a14:m>
                  <m:oMath xmlns:m="http://schemas.openxmlformats.org/officeDocument/2006/math">
                    <m:d>
                      <m:dPr>
                        <m:begChr m:val="⌈"/>
                        <m:endChr m:val="⌉"/>
                        <m:ctrlPr>
                          <a:rPr lang="en-US" sz="3000" i="1" dirty="0">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/2</m:t>
                        </m:r>
                      </m:e>
                    </m:d>
                  </m:oMath>
                </a14:m>
                <a:r>
                  <a:rPr lang="en-US" sz="3000" dirty="0"/>
                  <a:t>.</a:t>
                </a:r>
              </a:p>
              <a:p>
                <a:pPr marL="971550" lvl="1" indent="-514350">
                  <a:lnSpc>
                    <a:spcPct val="120000"/>
                  </a:lnSpc>
                  <a:buFont typeface="+mj-lt"/>
                  <a:buAutoNum type="arabicPeriod"/>
                </a:pPr>
                <a:r>
                  <a:rPr lang="en-US" sz="3000" dirty="0"/>
                  <a:t>If the element is less than the value at middle index, then search in right-left partition.</a:t>
                </a:r>
              </a:p>
              <a:p>
                <a:pPr marL="971550" lvl="1" indent="-514350">
                  <a:lnSpc>
                    <a:spcPct val="120000"/>
                  </a:lnSpc>
                  <a:buFont typeface="+mj-lt"/>
                  <a:buAutoNum type="arabicPeriod"/>
                </a:pPr>
                <a:r>
                  <a:rPr lang="en-US" sz="3000" dirty="0"/>
                  <a:t>Otherwise search in right-right partition.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571" t="-617"/>
                </a:stretch>
              </a:blipFill>
            </p:spPr>
            <p:txBody>
              <a:bodyPr/>
              <a:lstStyle/>
              <a:p>
                <a:r>
                  <a:rPr lang="en-US">
                    <a:noFill/>
                  </a:rPr>
                  <a:t> </a:t>
                </a:r>
              </a:p>
            </p:txBody>
          </p:sp>
        </mc:Fallback>
      </mc:AlternateContent>
    </p:spTree>
    <p:extLst>
      <p:ext uri="{BB962C8B-B14F-4D97-AF65-F5344CB8AC3E}">
        <p14:creationId xmlns:p14="http://schemas.microsoft.com/office/powerpoint/2010/main" val="316484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Search in Ordered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2727950"/>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4000" dirty="0"/>
                  <a:t>For example, if we were searching for 5144, then the right partition will begin from index 4.</a:t>
                </a:r>
              </a:p>
              <a:p>
                <a:pPr>
                  <a:lnSpc>
                    <a:spcPct val="120000"/>
                  </a:lnSpc>
                  <a:buFont typeface="Wingdings" panose="05000000000000000000" pitchFamily="2" charset="2"/>
                  <a:buChar char="§"/>
                </a:pPr>
                <a:r>
                  <a:rPr lang="en-US" sz="3600" dirty="0"/>
                  <a:t>Since </a:t>
                </a:r>
                <a14:m>
                  <m:oMath xmlns:m="http://schemas.openxmlformats.org/officeDocument/2006/math">
                    <m:r>
                      <a:rPr lang="en-US" sz="3600" b="0" i="1" smtClean="0">
                        <a:latin typeface="Cambria Math" panose="02040503050406030204" pitchFamily="18" charset="0"/>
                      </a:rPr>
                      <m:t>5144&gt;4967</m:t>
                    </m:r>
                  </m:oMath>
                </a14:m>
                <a:r>
                  <a:rPr lang="en-US" sz="3600" dirty="0"/>
                  <a:t>, therefore we again make 2 partitions.</a:t>
                </a:r>
              </a:p>
              <a:p>
                <a:pPr>
                  <a:lnSpc>
                    <a:spcPct val="120000"/>
                  </a:lnSpc>
                  <a:buFont typeface="Wingdings" panose="05000000000000000000" pitchFamily="2" charset="2"/>
                  <a:buChar char="§"/>
                </a:pPr>
                <a:r>
                  <a:rPr lang="en-US" sz="3600" dirty="0"/>
                  <a:t>Since </a:t>
                </a:r>
                <a14:m>
                  <m:oMath xmlns:m="http://schemas.openxmlformats.org/officeDocument/2006/math">
                    <m:r>
                      <a:rPr lang="en-US" sz="3600" i="1" dirty="0">
                        <a:latin typeface="Cambria Math" panose="02040503050406030204" pitchFamily="18" charset="0"/>
                      </a:rPr>
                      <m:t>5</m:t>
                    </m:r>
                    <m:r>
                      <a:rPr lang="en-US" sz="3600" b="0" i="1" dirty="0" smtClean="0">
                        <a:latin typeface="Cambria Math" panose="02040503050406030204" pitchFamily="18" charset="0"/>
                      </a:rPr>
                      <m:t>144</m:t>
                    </m:r>
                    <m:r>
                      <a:rPr lang="en-US" sz="3600" i="1" dirty="0">
                        <a:latin typeface="Cambria Math" panose="02040503050406030204" pitchFamily="18" charset="0"/>
                      </a:rPr>
                      <m:t>≥</m:t>
                    </m:r>
                    <m:r>
                      <a:rPr lang="en-US" sz="3600" b="0" i="1" dirty="0" smtClean="0">
                        <a:latin typeface="Cambria Math" panose="02040503050406030204" pitchFamily="18" charset="0"/>
                      </a:rPr>
                      <m:t>5139</m:t>
                    </m:r>
                  </m:oMath>
                </a14:m>
                <a:r>
                  <a:rPr lang="en-US" sz="3600" dirty="0"/>
                  <a:t>, therefore the element will be searched in the right-right partition which starts at index 6 and ends at index 7.</a:t>
                </a:r>
              </a:p>
              <a:p>
                <a:pPr>
                  <a:lnSpc>
                    <a:spcPct val="120000"/>
                  </a:lnSpc>
                  <a:buFont typeface="Wingdings" panose="05000000000000000000" pitchFamily="2" charset="2"/>
                  <a:buChar char="§"/>
                </a:pPr>
                <a:r>
                  <a:rPr lang="en-US" sz="3600" dirty="0"/>
                  <a:t>The BIG question now is how to keep repeating this exercise of partitioning?</a:t>
                </a: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2727950"/>
              </a:xfrm>
              <a:prstGeom prst="rect">
                <a:avLst/>
              </a:prstGeom>
              <a:blipFill>
                <a:blip r:embed="rId3"/>
                <a:stretch>
                  <a:fillRect l="-727" t="-1563"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5FA11BA-519C-B8E9-CDB3-AA9CD3B98FEF}"/>
                  </a:ext>
                </a:extLst>
              </p:cNvPr>
              <p:cNvGraphicFramePr>
                <a:graphicFrameLocks noGrp="1"/>
              </p:cNvGraphicFramePr>
              <p:nvPr>
                <p:extLst>
                  <p:ext uri="{D42A27DB-BD31-4B8C-83A1-F6EECF244321}">
                    <p14:modId xmlns:p14="http://schemas.microsoft.com/office/powerpoint/2010/main" val="653632048"/>
                  </p:ext>
                </p:extLst>
              </p:nvPr>
            </p:nvGraphicFramePr>
            <p:xfrm>
              <a:off x="1120877" y="4260536"/>
              <a:ext cx="995024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4" name="Table 3">
                <a:extLst>
                  <a:ext uri="{FF2B5EF4-FFF2-40B4-BE49-F238E27FC236}">
                    <a16:creationId xmlns:a16="http://schemas.microsoft.com/office/drawing/2014/main" id="{25FA11BA-519C-B8E9-CDB3-AA9CD3B98FEF}"/>
                  </a:ext>
                </a:extLst>
              </p:cNvPr>
              <p:cNvGraphicFramePr>
                <a:graphicFrameLocks noGrp="1"/>
              </p:cNvGraphicFramePr>
              <p:nvPr>
                <p:extLst>
                  <p:ext uri="{D42A27DB-BD31-4B8C-83A1-F6EECF244321}">
                    <p14:modId xmlns:p14="http://schemas.microsoft.com/office/powerpoint/2010/main" val="653632048"/>
                  </p:ext>
                </p:extLst>
              </p:nvPr>
            </p:nvGraphicFramePr>
            <p:xfrm>
              <a:off x="1120877" y="4260536"/>
              <a:ext cx="995024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4"/>
                          <a:stretch>
                            <a:fillRect l="-1075" t="-10526" r="-1659140"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4"/>
                          <a:stretch>
                            <a:fillRect l="-508333" t="-10526" r="-301111"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5E67BFA-3F71-083A-67AB-20A715EDDA93}"/>
                  </a:ext>
                </a:extLst>
              </p:cNvPr>
              <p:cNvGraphicFramePr>
                <a:graphicFrameLocks noGrp="1"/>
              </p:cNvGraphicFramePr>
              <p:nvPr>
                <p:extLst>
                  <p:ext uri="{D42A27DB-BD31-4B8C-83A1-F6EECF244321}">
                    <p14:modId xmlns:p14="http://schemas.microsoft.com/office/powerpoint/2010/main" val="36424866"/>
                  </p:ext>
                </p:extLst>
              </p:nvPr>
            </p:nvGraphicFramePr>
            <p:xfrm>
              <a:off x="5512852" y="5020424"/>
              <a:ext cx="604742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15E67BFA-3F71-083A-67AB-20A715EDDA93}"/>
                  </a:ext>
                </a:extLst>
              </p:cNvPr>
              <p:cNvGraphicFramePr>
                <a:graphicFrameLocks noGrp="1"/>
              </p:cNvGraphicFramePr>
              <p:nvPr>
                <p:extLst>
                  <p:ext uri="{D42A27DB-BD31-4B8C-83A1-F6EECF244321}">
                    <p14:modId xmlns:p14="http://schemas.microsoft.com/office/powerpoint/2010/main" val="36424866"/>
                  </p:ext>
                </p:extLst>
              </p:nvPr>
            </p:nvGraphicFramePr>
            <p:xfrm>
              <a:off x="5512852" y="5020424"/>
              <a:ext cx="604742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5"/>
                          <a:stretch>
                            <a:fillRect l="-1075" t="-10526" r="-969892" b="-143860"/>
                          </a:stretch>
                        </a:blip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endParaRPr lang="en-US"/>
                        </a:p>
                      </a:txBody>
                      <a:tcPr marL="13464" marR="13464" marT="13464" marB="0" anchor="b">
                        <a:blipFill>
                          <a:blip r:embed="rId5"/>
                          <a:stretch>
                            <a:fillRect l="-152222" t="-10526" r="-301111"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A72532E0-504C-C01E-B6E3-3694F19349C0}"/>
                  </a:ext>
                </a:extLst>
              </p:cNvPr>
              <p:cNvGraphicFramePr>
                <a:graphicFrameLocks noGrp="1"/>
              </p:cNvGraphicFramePr>
              <p:nvPr>
                <p:extLst>
                  <p:ext uri="{D42A27DB-BD31-4B8C-83A1-F6EECF244321}">
                    <p14:modId xmlns:p14="http://schemas.microsoft.com/office/powerpoint/2010/main" val="1781363621"/>
                  </p:ext>
                </p:extLst>
              </p:nvPr>
            </p:nvGraphicFramePr>
            <p:xfrm>
              <a:off x="717756" y="5026924"/>
              <a:ext cx="446706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6" name="Table 5">
                <a:extLst>
                  <a:ext uri="{FF2B5EF4-FFF2-40B4-BE49-F238E27FC236}">
                    <a16:creationId xmlns:a16="http://schemas.microsoft.com/office/drawing/2014/main" id="{A72532E0-504C-C01E-B6E3-3694F19349C0}"/>
                  </a:ext>
                </a:extLst>
              </p:cNvPr>
              <p:cNvGraphicFramePr>
                <a:graphicFrameLocks noGrp="1"/>
              </p:cNvGraphicFramePr>
              <p:nvPr>
                <p:extLst>
                  <p:ext uri="{D42A27DB-BD31-4B8C-83A1-F6EECF244321}">
                    <p14:modId xmlns:p14="http://schemas.microsoft.com/office/powerpoint/2010/main" val="1781363621"/>
                  </p:ext>
                </p:extLst>
              </p:nvPr>
            </p:nvGraphicFramePr>
            <p:xfrm>
              <a:off x="717756" y="5026924"/>
              <a:ext cx="446706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tblGrid>
                  <a:tr h="344302">
                    <a:tc>
                      <a:txBody>
                        <a:bodyPr/>
                        <a:lstStyle/>
                        <a:p>
                          <a:endParaRPr lang="en-US"/>
                        </a:p>
                      </a:txBody>
                      <a:tcPr marL="13464" marR="13464" marT="13464" marB="0" anchor="b">
                        <a:blipFill>
                          <a:blip r:embed="rId6"/>
                          <a:stretch>
                            <a:fillRect l="-1075" t="-10526" r="-691398"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66AA3F57-762F-68A5-0A34-CD66595BB821}"/>
                  </a:ext>
                </a:extLst>
              </p:cNvPr>
              <p:cNvGraphicFramePr>
                <a:graphicFrameLocks noGrp="1"/>
              </p:cNvGraphicFramePr>
              <p:nvPr>
                <p:extLst>
                  <p:ext uri="{D42A27DB-BD31-4B8C-83A1-F6EECF244321}">
                    <p14:modId xmlns:p14="http://schemas.microsoft.com/office/powerpoint/2010/main" val="996038965"/>
                  </p:ext>
                </p:extLst>
              </p:nvPr>
            </p:nvGraphicFramePr>
            <p:xfrm>
              <a:off x="7706124" y="5786812"/>
              <a:ext cx="3854154"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solidFill>
                          <a:srgbClr val="FFFF00"/>
                        </a:solidFill>
                      </a:tcPr>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7" name="Table 6">
                <a:extLst>
                  <a:ext uri="{FF2B5EF4-FFF2-40B4-BE49-F238E27FC236}">
                    <a16:creationId xmlns:a16="http://schemas.microsoft.com/office/drawing/2014/main" id="{66AA3F57-762F-68A5-0A34-CD66595BB821}"/>
                  </a:ext>
                </a:extLst>
              </p:cNvPr>
              <p:cNvGraphicFramePr>
                <a:graphicFrameLocks noGrp="1"/>
              </p:cNvGraphicFramePr>
              <p:nvPr>
                <p:extLst>
                  <p:ext uri="{D42A27DB-BD31-4B8C-83A1-F6EECF244321}">
                    <p14:modId xmlns:p14="http://schemas.microsoft.com/office/powerpoint/2010/main" val="996038965"/>
                  </p:ext>
                </p:extLst>
              </p:nvPr>
            </p:nvGraphicFramePr>
            <p:xfrm>
              <a:off x="7706124" y="5786812"/>
              <a:ext cx="3854154"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7"/>
                          <a:stretch>
                            <a:fillRect l="-1075" t="-10526" r="-582796"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solidFill>
                          <a:srgbClr val="FFFF00"/>
                        </a:solidFill>
                      </a:tcPr>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ECBF95C7-FB59-5ADC-4F88-3702DC89CB47}"/>
                  </a:ext>
                </a:extLst>
              </p:cNvPr>
              <p:cNvGraphicFramePr>
                <a:graphicFrameLocks noGrp="1"/>
              </p:cNvGraphicFramePr>
              <p:nvPr>
                <p:extLst>
                  <p:ext uri="{D42A27DB-BD31-4B8C-83A1-F6EECF244321}">
                    <p14:modId xmlns:p14="http://schemas.microsoft.com/office/powerpoint/2010/main" val="828414462"/>
                  </p:ext>
                </p:extLst>
              </p:nvPr>
            </p:nvGraphicFramePr>
            <p:xfrm>
              <a:off x="4697684" y="5782251"/>
              <a:ext cx="2757518"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8" name="Table 7">
                <a:extLst>
                  <a:ext uri="{FF2B5EF4-FFF2-40B4-BE49-F238E27FC236}">
                    <a16:creationId xmlns:a16="http://schemas.microsoft.com/office/drawing/2014/main" id="{ECBF95C7-FB59-5ADC-4F88-3702DC89CB47}"/>
                  </a:ext>
                </a:extLst>
              </p:cNvPr>
              <p:cNvGraphicFramePr>
                <a:graphicFrameLocks noGrp="1"/>
              </p:cNvGraphicFramePr>
              <p:nvPr>
                <p:extLst>
                  <p:ext uri="{D42A27DB-BD31-4B8C-83A1-F6EECF244321}">
                    <p14:modId xmlns:p14="http://schemas.microsoft.com/office/powerpoint/2010/main" val="828414462"/>
                  </p:ext>
                </p:extLst>
              </p:nvPr>
            </p:nvGraphicFramePr>
            <p:xfrm>
              <a:off x="4697684" y="5782251"/>
              <a:ext cx="2757518"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tblGrid>
                  <a:tr h="344302">
                    <a:tc>
                      <a:txBody>
                        <a:bodyPr/>
                        <a:lstStyle/>
                        <a:p>
                          <a:endParaRPr lang="en-US"/>
                        </a:p>
                      </a:txBody>
                      <a:tcPr marL="13464" marR="13464" marT="13464" marB="0" anchor="b">
                        <a:blipFill>
                          <a:blip r:embed="rId8"/>
                          <a:stretch>
                            <a:fillRect l="-1075" t="-10526" r="-390323" b="-143860"/>
                          </a:stretch>
                        </a:blip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endParaRPr lang="en-US"/>
                        </a:p>
                      </a:txBody>
                      <a:tcPr marL="13464" marR="13464" marT="13464" marB="0" anchor="b">
                        <a:blipFill>
                          <a:blip r:embed="rId8"/>
                          <a:stretch>
                            <a:fillRect l="-152222" t="-10526" r="-1667"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425363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Binary Search answers the BIG question.</a:t>
                </a:r>
              </a:p>
              <a:p>
                <a:pPr>
                  <a:lnSpc>
                    <a:spcPct val="120000"/>
                  </a:lnSpc>
                  <a:buFont typeface="Wingdings" panose="05000000000000000000" pitchFamily="2" charset="2"/>
                  <a:buChar char="§"/>
                </a:pPr>
                <a:r>
                  <a:rPr lang="en-US" sz="3200" dirty="0"/>
                  <a:t>The algorithm keeps partitioning the array until there are at most 2 elements left in the partition, from that point, it takes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 time to search the element.</a:t>
                </a:r>
              </a:p>
              <a:p>
                <a:pPr>
                  <a:lnSpc>
                    <a:spcPct val="120000"/>
                  </a:lnSpc>
                  <a:buFont typeface="Wingdings" panose="05000000000000000000" pitchFamily="2" charset="2"/>
                  <a:buChar char="§"/>
                </a:pPr>
                <a:r>
                  <a:rPr lang="en-US" sz="3200" dirty="0"/>
                  <a:t>The previous algorithm is called “Iterative method”. Now we will design a “Recursive method”, in which a function calls itself.</a:t>
                </a:r>
              </a:p>
              <a:p>
                <a:pPr>
                  <a:lnSpc>
                    <a:spcPct val="120000"/>
                  </a:lnSpc>
                  <a:buFont typeface="Wingdings" panose="05000000000000000000" pitchFamily="2" charset="2"/>
                  <a:buChar char="§"/>
                </a:pPr>
                <a:r>
                  <a:rPr lang="en-US" sz="3200" dirty="0"/>
                  <a:t>But before moving on, let’s first discuss a simple example of recursion.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1142" t="-1110"/>
                </a:stretch>
              </a:blipFill>
            </p:spPr>
            <p:txBody>
              <a:bodyPr/>
              <a:lstStyle/>
              <a:p>
                <a:r>
                  <a:rPr lang="en-US">
                    <a:noFill/>
                  </a:rPr>
                  <a:t> </a:t>
                </a:r>
              </a:p>
            </p:txBody>
          </p:sp>
        </mc:Fallback>
      </mc:AlternateContent>
    </p:spTree>
    <p:extLst>
      <p:ext uri="{BB962C8B-B14F-4D97-AF65-F5344CB8AC3E}">
        <p14:creationId xmlns:p14="http://schemas.microsoft.com/office/powerpoint/2010/main" val="268475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2898058"/>
                <a:ext cx="5875616" cy="357735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dirty="0"/>
                  <a:t>Iterative approach:</a:t>
                </a:r>
              </a:p>
              <a:p>
                <a:pPr marL="0" indent="0">
                  <a:lnSpc>
                    <a:spcPct val="120000"/>
                  </a:lnSpc>
                  <a:buNone/>
                </a:pPr>
                <a14:m>
                  <m:oMathPara xmlns:m="http://schemas.openxmlformats.org/officeDocument/2006/math">
                    <m:oMathParaPr>
                      <m:jc m:val="left"/>
                    </m:oMathParaPr>
                    <m:oMath xmlns:m="http://schemas.openxmlformats.org/officeDocument/2006/math">
                      <m:r>
                        <a:rPr lang="en-US" sz="3200" i="1" dirty="0" smtClean="0">
                          <a:latin typeface="Cambria Math" panose="02040503050406030204" pitchFamily="18" charset="0"/>
                        </a:rPr>
                        <m:t>𝐹𝐴𝐶𝑇𝑂𝑅𝐼𝐴𝐿</m:t>
                      </m:r>
                      <m:d>
                        <m:dPr>
                          <m:ctrlPr>
                            <a:rPr lang="en-US" sz="3200" i="1" dirty="0" smtClean="0">
                              <a:latin typeface="Cambria Math" panose="02040503050406030204" pitchFamily="18" charset="0"/>
                            </a:rPr>
                          </m:ctrlPr>
                        </m:dPr>
                        <m:e>
                          <m:r>
                            <a:rPr lang="en-US" sz="3200" i="1" dirty="0" smtClean="0">
                              <a:latin typeface="Cambria Math" panose="02040503050406030204" pitchFamily="18" charset="0"/>
                            </a:rPr>
                            <m:t>𝑛</m:t>
                          </m:r>
                        </m:e>
                      </m:d>
                    </m:oMath>
                  </m:oMathPara>
                </a14:m>
                <a:endParaRPr lang="en-US" sz="3200" dirty="0"/>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𝑆𝐸𝑇</m:t>
                    </m:r>
                    <m:r>
                      <a:rPr lang="en-US" sz="3200" b="0" i="1" smtClean="0">
                        <a:latin typeface="Cambria Math" panose="02040503050406030204" pitchFamily="18" charset="0"/>
                      </a:rPr>
                      <m:t> </m:t>
                    </m:r>
                    <m:r>
                      <a:rPr lang="en-US" sz="3200" b="0" i="1" smtClean="0">
                        <a:latin typeface="Cambria Math" panose="02040503050406030204" pitchFamily="18" charset="0"/>
                      </a:rPr>
                      <m:t>𝑝𝑟𝑜𝑑𝑢𝑐𝑡</m:t>
                    </m:r>
                    <m:r>
                      <a:rPr lang="en-US" sz="3200" b="0" i="1" smtClean="0">
                        <a:latin typeface="Cambria Math" panose="02040503050406030204" pitchFamily="18" charset="0"/>
                      </a:rPr>
                      <m:t>≔1</m:t>
                    </m:r>
                  </m:oMath>
                </a14:m>
                <a:endParaRPr lang="en-US" sz="3200" b="0" i="1" dirty="0">
                  <a:latin typeface="Cambria Math" panose="02040503050406030204" pitchFamily="18" charset="0"/>
                </a:endParaRPr>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𝑅𝐸𝑃𝐸𝐴𝑇</m:t>
                    </m:r>
                    <m:r>
                      <a:rPr lang="en-US" sz="3200" b="0" i="1" smtClean="0">
                        <a:latin typeface="Cambria Math" panose="02040503050406030204" pitchFamily="18" charset="0"/>
                      </a:rPr>
                      <m:t> </m:t>
                    </m:r>
                    <m:r>
                      <a:rPr lang="en-US" sz="3200" b="0" i="1" smtClean="0">
                        <a:latin typeface="Cambria Math" panose="02040503050406030204" pitchFamily="18" charset="0"/>
                      </a:rPr>
                      <m:t>𝑊h𝑖𝑙𝑒</m:t>
                    </m:r>
                    <m:r>
                      <a:rPr lang="en-US" sz="3200" b="0" i="1" smtClean="0">
                        <a:latin typeface="Cambria Math" panose="02040503050406030204" pitchFamily="18" charset="0"/>
                      </a:rPr>
                      <m:t> </m:t>
                    </m:r>
                    <m:r>
                      <a:rPr lang="en-US" sz="3200" b="0" i="1" smtClean="0">
                        <a:latin typeface="Cambria Math" panose="02040503050406030204" pitchFamily="18" charset="0"/>
                      </a:rPr>
                      <m:t>𝑛</m:t>
                    </m:r>
                    <m:r>
                      <a:rPr lang="en-US" sz="3200" b="0" i="1" smtClean="0">
                        <a:latin typeface="Cambria Math" panose="02040503050406030204" pitchFamily="18" charset="0"/>
                      </a:rPr>
                      <m:t>&gt;1:</m:t>
                    </m:r>
                  </m:oMath>
                </a14:m>
                <a:endParaRPr lang="en-US" sz="3200" b="0" dirty="0"/>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𝑝𝑟𝑜𝑑𝑢𝑐𝑡</m:t>
                    </m:r>
                    <m:r>
                      <a:rPr lang="en-US" sz="3000" b="0" i="1" smtClean="0">
                        <a:latin typeface="Cambria Math" panose="02040503050406030204" pitchFamily="18" charset="0"/>
                      </a:rPr>
                      <m:t>≔</m:t>
                    </m:r>
                    <m:r>
                      <a:rPr lang="en-US" sz="3000" b="0" i="1" smtClean="0">
                        <a:latin typeface="Cambria Math" panose="02040503050406030204" pitchFamily="18" charset="0"/>
                      </a:rPr>
                      <m:t>𝑝𝑟𝑜𝑑𝑢𝑐𝑡</m:t>
                    </m:r>
                    <m:r>
                      <a:rPr lang="en-US" sz="3000" b="0" i="1" smtClean="0">
                        <a:latin typeface="Cambria Math" panose="02040503050406030204" pitchFamily="18" charset="0"/>
                      </a:rPr>
                      <m:t>∗</m:t>
                    </m:r>
                    <m:r>
                      <a:rPr lang="en-US" sz="3000" b="0" i="1" smtClean="0">
                        <a:latin typeface="Cambria Math" panose="02040503050406030204" pitchFamily="18" charset="0"/>
                      </a:rPr>
                      <m:t>𝑛</m:t>
                    </m:r>
                  </m:oMath>
                </a14:m>
                <a:endParaRPr lang="en-US" sz="3000" dirty="0"/>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−1</m:t>
                    </m:r>
                  </m:oMath>
                </a14:m>
                <a:endParaRPr lang="en-US" sz="3000" dirty="0"/>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𝑅𝑒𝑡𝑢𝑟𝑛</m:t>
                    </m:r>
                    <m:r>
                      <a:rPr lang="en-US" sz="3200" b="0" i="1" smtClean="0">
                        <a:latin typeface="Cambria Math" panose="02040503050406030204" pitchFamily="18" charset="0"/>
                      </a:rPr>
                      <m:t> </m:t>
                    </m:r>
                    <m:r>
                      <a:rPr lang="en-US" sz="3200" b="0" i="1" smtClean="0">
                        <a:latin typeface="Cambria Math" panose="02040503050406030204" pitchFamily="18" charset="0"/>
                      </a:rPr>
                      <m:t>𝑝𝑟𝑜𝑑𝑢𝑐𝑡</m:t>
                    </m:r>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2898058"/>
                <a:ext cx="5875616" cy="3577358"/>
              </a:xfrm>
              <a:prstGeom prst="rect">
                <a:avLst/>
              </a:prstGeom>
              <a:blipFill>
                <a:blip r:embed="rId3"/>
                <a:stretch>
                  <a:fillRect l="-1971" t="-13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D6224BA-2D09-E23F-7F3D-886C357CD0A9}"/>
                  </a:ext>
                </a:extLst>
              </p:cNvPr>
              <p:cNvSpPr txBox="1">
                <a:spLocks/>
              </p:cNvSpPr>
              <p:nvPr/>
            </p:nvSpPr>
            <p:spPr>
              <a:xfrm>
                <a:off x="6086275" y="2898058"/>
                <a:ext cx="5875616" cy="357735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dirty="0"/>
                  <a:t>Recursive approach:</a:t>
                </a:r>
              </a:p>
              <a:p>
                <a:pPr marL="0" indent="0">
                  <a:lnSpc>
                    <a:spcPct val="120000"/>
                  </a:lnSpc>
                  <a:buNone/>
                </a:pPr>
                <a14:m>
                  <m:oMathPara xmlns:m="http://schemas.openxmlformats.org/officeDocument/2006/math">
                    <m:oMathParaPr>
                      <m:jc m:val="left"/>
                    </m:oMathParaPr>
                    <m:oMath xmlns:m="http://schemas.openxmlformats.org/officeDocument/2006/math">
                      <m:r>
                        <a:rPr lang="en-US" sz="3200" i="1" dirty="0" smtClean="0">
                          <a:latin typeface="Cambria Math" panose="02040503050406030204" pitchFamily="18" charset="0"/>
                        </a:rPr>
                        <m:t>𝐹𝐴𝐶𝑇𝑂𝑅𝐼𝐴𝐿</m:t>
                      </m:r>
                      <m:d>
                        <m:dPr>
                          <m:ctrlPr>
                            <a:rPr lang="en-US" sz="3200" i="1" dirty="0" smtClean="0">
                              <a:latin typeface="Cambria Math" panose="02040503050406030204" pitchFamily="18" charset="0"/>
                            </a:rPr>
                          </m:ctrlPr>
                        </m:dPr>
                        <m:e>
                          <m:r>
                            <a:rPr lang="en-US" sz="3200" i="1" dirty="0" smtClean="0">
                              <a:latin typeface="Cambria Math" panose="02040503050406030204" pitchFamily="18" charset="0"/>
                            </a:rPr>
                            <m:t>𝑛</m:t>
                          </m:r>
                        </m:e>
                      </m:d>
                    </m:oMath>
                  </m:oMathPara>
                </a14:m>
                <a:endParaRPr lang="en-US" sz="3200" dirty="0"/>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𝐼𝐹</m:t>
                    </m:r>
                    <m:r>
                      <a:rPr lang="en-US" sz="3200" b="0" i="1" smtClean="0">
                        <a:latin typeface="Cambria Math" panose="02040503050406030204" pitchFamily="18" charset="0"/>
                      </a:rPr>
                      <m:t> </m:t>
                    </m:r>
                    <m:r>
                      <a:rPr lang="en-US" sz="3200" b="0" i="1" smtClean="0">
                        <a:latin typeface="Cambria Math" panose="02040503050406030204" pitchFamily="18" charset="0"/>
                      </a:rPr>
                      <m:t>𝑛</m:t>
                    </m:r>
                    <m:r>
                      <a:rPr lang="en-US" sz="3200" b="0" i="1" smtClean="0">
                        <a:latin typeface="Cambria Math" panose="02040503050406030204" pitchFamily="18" charset="0"/>
                      </a:rPr>
                      <m:t>=0 </m:t>
                    </m:r>
                    <m:r>
                      <a:rPr lang="en-US" sz="3200" b="0" i="1" smtClean="0">
                        <a:latin typeface="Cambria Math" panose="02040503050406030204" pitchFamily="18" charset="0"/>
                      </a:rPr>
                      <m:t>𝑂𝑅</m:t>
                    </m:r>
                    <m:r>
                      <a:rPr lang="en-US" sz="3200" b="0" i="1" smtClean="0">
                        <a:latin typeface="Cambria Math" panose="02040503050406030204" pitchFamily="18" charset="0"/>
                      </a:rPr>
                      <m:t> </m:t>
                    </m:r>
                    <m:r>
                      <a:rPr lang="en-US" sz="3200" b="0" i="1" smtClean="0">
                        <a:latin typeface="Cambria Math" panose="02040503050406030204" pitchFamily="18" charset="0"/>
                      </a:rPr>
                      <m:t>𝑛</m:t>
                    </m:r>
                    <m:r>
                      <a:rPr lang="en-US" sz="3200" b="0" i="1" smtClean="0">
                        <a:latin typeface="Cambria Math" panose="02040503050406030204" pitchFamily="18" charset="0"/>
                      </a:rPr>
                      <m:t>=1, </m:t>
                    </m:r>
                    <m:r>
                      <a:rPr lang="en-US" sz="3200" b="0" i="1" smtClean="0">
                        <a:latin typeface="Cambria Math" panose="02040503050406030204" pitchFamily="18" charset="0"/>
                      </a:rPr>
                      <m:t>𝑡h𝑒𝑛</m:t>
                    </m:r>
                  </m:oMath>
                </a14:m>
                <a:endParaRPr lang="en-US" sz="3200" b="0" dirty="0"/>
              </a:p>
              <a:p>
                <a:pPr marL="971550" lvl="1" indent="-514350">
                  <a:lnSpc>
                    <a:spcPct val="120000"/>
                  </a:lnSpc>
                  <a:buFont typeface="+mj-lt"/>
                  <a:buAutoNum type="arabicPeriod"/>
                </a:pPr>
                <a14:m>
                  <m:oMath xmlns:m="http://schemas.openxmlformats.org/officeDocument/2006/math">
                    <m:r>
                      <a:rPr lang="en-US" sz="3000" i="1" dirty="0" smtClean="0">
                        <a:latin typeface="Cambria Math" panose="02040503050406030204" pitchFamily="18" charset="0"/>
                      </a:rPr>
                      <m:t>𝑅𝑒𝑡𝑢𝑟𝑛</m:t>
                    </m:r>
                    <m:r>
                      <a:rPr lang="en-US" sz="3000" b="0" i="1" dirty="0" smtClean="0">
                        <a:latin typeface="Cambria Math" panose="02040503050406030204" pitchFamily="18" charset="0"/>
                      </a:rPr>
                      <m:t> 1</m:t>
                    </m:r>
                  </m:oMath>
                </a14:m>
                <a:endParaRPr lang="en-US" sz="3000" dirty="0"/>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𝑂𝑇𝐻𝐸𝑅𝑊𝐼𝑆𝐸</m:t>
                    </m:r>
                  </m:oMath>
                </a14:m>
                <a:endParaRPr lang="en-US" sz="3200" dirty="0"/>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𝑅𝑒𝑡𝑢𝑟𝑛</m:t>
                    </m:r>
                    <m:r>
                      <a:rPr lang="en-US" sz="3000" b="0" i="1" smtClean="0">
                        <a:latin typeface="Cambria Math" panose="02040503050406030204" pitchFamily="18" charset="0"/>
                      </a:rPr>
                      <m:t> </m:t>
                    </m:r>
                    <m:r>
                      <a:rPr lang="en-US" sz="3000" b="0" i="1" smtClean="0">
                        <a:latin typeface="Cambria Math" panose="02040503050406030204" pitchFamily="18" charset="0"/>
                      </a:rPr>
                      <m:t>𝑛</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rPr>
                      <m:t>𝐹𝐴𝐶𝑇𝑂𝑅𝐼𝐴𝐿</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−1)</m:t>
                    </m:r>
                  </m:oMath>
                </a14:m>
                <a:endParaRPr lang="en-US" sz="3000" dirty="0"/>
              </a:p>
            </p:txBody>
          </p:sp>
        </mc:Choice>
        <mc:Fallback xmlns="">
          <p:sp>
            <p:nvSpPr>
              <p:cNvPr id="4" name="Content Placeholder 2">
                <a:extLst>
                  <a:ext uri="{FF2B5EF4-FFF2-40B4-BE49-F238E27FC236}">
                    <a16:creationId xmlns:a16="http://schemas.microsoft.com/office/drawing/2014/main" id="{8D6224BA-2D09-E23F-7F3D-886C357CD0A9}"/>
                  </a:ext>
                </a:extLst>
              </p:cNvPr>
              <p:cNvSpPr txBox="1">
                <a:spLocks noRot="1" noChangeAspect="1" noMove="1" noResize="1" noEditPoints="1" noAdjustHandles="1" noChangeArrowheads="1" noChangeShapeType="1" noTextEdit="1"/>
              </p:cNvSpPr>
              <p:nvPr/>
            </p:nvSpPr>
            <p:spPr>
              <a:xfrm>
                <a:off x="6086275" y="2898058"/>
                <a:ext cx="5875616" cy="3577358"/>
              </a:xfrm>
              <a:prstGeom prst="rect">
                <a:avLst/>
              </a:prstGeom>
              <a:blipFill>
                <a:blip r:embed="rId4"/>
                <a:stretch>
                  <a:fillRect l="-1971" t="-8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D8A133B4-136A-66C5-A226-B4498C790255}"/>
                  </a:ext>
                </a:extLst>
              </p:cNvPr>
              <p:cNvSpPr txBox="1">
                <a:spLocks/>
              </p:cNvSpPr>
              <p:nvPr/>
            </p:nvSpPr>
            <p:spPr>
              <a:xfrm>
                <a:off x="220384" y="1532586"/>
                <a:ext cx="11743016" cy="1365472"/>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Write a Pseudocode for a program that inputs a number </a:t>
                </a:r>
                <a14:m>
                  <m:oMath xmlns:m="http://schemas.openxmlformats.org/officeDocument/2006/math">
                    <m:r>
                      <a:rPr lang="en-US" sz="3200" b="0" i="1" smtClean="0">
                        <a:latin typeface="Cambria Math" panose="02040503050406030204" pitchFamily="18" charset="0"/>
                      </a:rPr>
                      <m:t>𝑛</m:t>
                    </m:r>
                  </m:oMath>
                </a14:m>
                <a:r>
                  <a:rPr lang="en-US" sz="3200" dirty="0"/>
                  <a:t> and returns its factorial.</a:t>
                </a:r>
              </a:p>
            </p:txBody>
          </p:sp>
        </mc:Choice>
        <mc:Fallback xmlns="">
          <p:sp>
            <p:nvSpPr>
              <p:cNvPr id="5" name="Content Placeholder 2">
                <a:extLst>
                  <a:ext uri="{FF2B5EF4-FFF2-40B4-BE49-F238E27FC236}">
                    <a16:creationId xmlns:a16="http://schemas.microsoft.com/office/drawing/2014/main" id="{D8A133B4-136A-66C5-A226-B4498C790255}"/>
                  </a:ext>
                </a:extLst>
              </p:cNvPr>
              <p:cNvSpPr txBox="1">
                <a:spLocks noRot="1" noChangeAspect="1" noMove="1" noResize="1" noEditPoints="1" noAdjustHandles="1" noChangeArrowheads="1" noChangeShapeType="1" noTextEdit="1"/>
              </p:cNvSpPr>
              <p:nvPr/>
            </p:nvSpPr>
            <p:spPr>
              <a:xfrm>
                <a:off x="220384" y="1532586"/>
                <a:ext cx="11743016" cy="1365472"/>
              </a:xfrm>
              <a:prstGeom prst="rect">
                <a:avLst/>
              </a:prstGeom>
              <a:blipFill>
                <a:blip r:embed="rId5"/>
                <a:stretch>
                  <a:fillRect l="-1142" t="-1339" b="-4464"/>
                </a:stretch>
              </a:blipFill>
            </p:spPr>
            <p:txBody>
              <a:bodyPr/>
              <a:lstStyle/>
              <a:p>
                <a:r>
                  <a:rPr lang="en-US">
                    <a:noFill/>
                  </a:rPr>
                  <a:t> </a:t>
                </a:r>
              </a:p>
            </p:txBody>
          </p:sp>
        </mc:Fallback>
      </mc:AlternateContent>
    </p:spTree>
    <p:extLst>
      <p:ext uri="{BB962C8B-B14F-4D97-AF65-F5344CB8AC3E}">
        <p14:creationId xmlns:p14="http://schemas.microsoft.com/office/powerpoint/2010/main" val="13890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program will execute in the following fashion (say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=5</m:t>
                    </m:r>
                  </m:oMath>
                </a14:m>
                <a:r>
                  <a:rPr lang="en-US" sz="3200" dirty="0"/>
                  <a:t>):</a:t>
                </a:r>
              </a:p>
              <a:p>
                <a:pPr marL="0" indent="0">
                  <a:lnSpc>
                    <a:spcPct val="120000"/>
                  </a:lnSpc>
                  <a:buNone/>
                </a:pPr>
                <a:r>
                  <a:rPr lang="en-US" sz="2800" b="0" dirty="0"/>
                  <a:t>1. </a:t>
                </a:r>
                <a14:m>
                  <m:oMath xmlns:m="http://schemas.openxmlformats.org/officeDocument/2006/math">
                    <m:r>
                      <a:rPr lang="en-US" sz="2800" b="0" i="1" smtClean="0">
                        <a:latin typeface="Cambria Math" panose="02040503050406030204" pitchFamily="18" charset="0"/>
                      </a:rPr>
                      <m:t>𝑅𝑒𝑡𝑢𝑟𝑛</m:t>
                    </m:r>
                    <m:r>
                      <a:rPr lang="en-US" sz="2800" b="0" i="1" smtClean="0">
                        <a:latin typeface="Cambria Math" panose="02040503050406030204" pitchFamily="18" charset="0"/>
                      </a:rPr>
                      <m:t> 5×</m:t>
                    </m:r>
                    <m:r>
                      <a:rPr lang="en-US" sz="2800" b="0" i="1" smtClean="0">
                        <a:latin typeface="Cambria Math" panose="02040503050406030204" pitchFamily="18" charset="0"/>
                        <a:ea typeface="Cambria Math" panose="02040503050406030204" pitchFamily="18" charset="0"/>
                      </a:rPr>
                      <m:t>𝐹𝐴𝐶𝑇𝑂𝑅𝐼𝐴𝐿</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4</m:t>
                        </m:r>
                      </m:e>
                    </m:d>
                  </m:oMath>
                </a14:m>
                <a:endParaRPr lang="en-US" sz="2800" b="0" dirty="0">
                  <a:ea typeface="Cambria Math" panose="02040503050406030204" pitchFamily="18" charset="0"/>
                </a:endParaRPr>
              </a:p>
              <a:p>
                <a:pPr marL="457200" lvl="1" indent="0">
                  <a:lnSpc>
                    <a:spcPct val="120000"/>
                  </a:lnSpc>
                  <a:buNone/>
                </a:pPr>
                <a:r>
                  <a:rPr lang="en-US" sz="2800" b="0" dirty="0"/>
                  <a:t>1.1 </a:t>
                </a:r>
                <a14:m>
                  <m:oMath xmlns:m="http://schemas.openxmlformats.org/officeDocument/2006/math">
                    <m:r>
                      <a:rPr lang="en-US" sz="2800" b="0" i="1" smtClean="0">
                        <a:latin typeface="Cambria Math" panose="02040503050406030204" pitchFamily="18" charset="0"/>
                      </a:rPr>
                      <m:t>𝑅𝑒𝑡𝑢𝑟𝑛</m:t>
                    </m:r>
                    <m:r>
                      <a:rPr lang="en-US" sz="2800" b="0" i="1" smtClean="0">
                        <a:latin typeface="Cambria Math" panose="02040503050406030204" pitchFamily="18" charset="0"/>
                      </a:rPr>
                      <m:t> 4×</m:t>
                    </m:r>
                    <m:r>
                      <a:rPr lang="en-US" sz="2800" i="1">
                        <a:latin typeface="Cambria Math" panose="02040503050406030204" pitchFamily="18" charset="0"/>
                        <a:ea typeface="Cambria Math" panose="02040503050406030204" pitchFamily="18" charset="0"/>
                      </a:rPr>
                      <m:t>𝐹𝐴𝐶𝑇𝑂𝑅𝐼𝐴𝐿</m:t>
                    </m:r>
                    <m:d>
                      <m:dPr>
                        <m:ctrlPr>
                          <a:rPr lang="en-US" sz="2800" i="1">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3</m:t>
                        </m:r>
                      </m:e>
                    </m:d>
                  </m:oMath>
                </a14:m>
                <a:endParaRPr lang="en-US" sz="2800" dirty="0">
                  <a:ea typeface="Cambria Math" panose="02040503050406030204" pitchFamily="18" charset="0"/>
                </a:endParaRPr>
              </a:p>
              <a:p>
                <a:pPr marL="914400" lvl="2" indent="0">
                  <a:lnSpc>
                    <a:spcPct val="120000"/>
                  </a:lnSpc>
                  <a:buNone/>
                </a:pPr>
                <a:r>
                  <a:rPr lang="en-US" sz="2800" b="0" dirty="0">
                    <a:ea typeface="Cambria Math" panose="02040503050406030204" pitchFamily="18" charset="0"/>
                  </a:rPr>
                  <a:t>1.1.1 </a:t>
                </a:r>
                <a14:m>
                  <m:oMath xmlns:m="http://schemas.openxmlformats.org/officeDocument/2006/math">
                    <m:r>
                      <a:rPr lang="en-US" sz="2800" b="0" i="1" smtClean="0">
                        <a:latin typeface="Cambria Math" panose="02040503050406030204" pitchFamily="18" charset="0"/>
                        <a:ea typeface="Cambria Math" panose="02040503050406030204" pitchFamily="18" charset="0"/>
                      </a:rPr>
                      <m:t>𝑅𝑒𝑡𝑢𝑟𝑛</m:t>
                    </m:r>
                    <m:r>
                      <a:rPr lang="en-US" sz="2800" b="0" i="1" smtClean="0">
                        <a:latin typeface="Cambria Math" panose="02040503050406030204" pitchFamily="18" charset="0"/>
                        <a:ea typeface="Cambria Math" panose="02040503050406030204" pitchFamily="18" charset="0"/>
                      </a:rPr>
                      <m:t> 3×</m:t>
                    </m:r>
                    <m:r>
                      <a:rPr lang="en-US" sz="2800" i="1">
                        <a:latin typeface="Cambria Math" panose="02040503050406030204" pitchFamily="18" charset="0"/>
                        <a:ea typeface="Cambria Math" panose="02040503050406030204" pitchFamily="18" charset="0"/>
                      </a:rPr>
                      <m:t>𝐹𝐴𝐶𝑇𝑂𝑅𝐼𝐴𝐿</m:t>
                    </m:r>
                    <m:d>
                      <m:dPr>
                        <m:ctrlPr>
                          <a:rPr lang="en-US" sz="2800" i="1">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2</m:t>
                        </m:r>
                      </m:e>
                    </m:d>
                  </m:oMath>
                </a14:m>
                <a:endParaRPr lang="en-US" sz="2800" dirty="0">
                  <a:ea typeface="Cambria Math" panose="02040503050406030204" pitchFamily="18" charset="0"/>
                </a:endParaRPr>
              </a:p>
              <a:p>
                <a:pPr marL="1371600" lvl="3" indent="0">
                  <a:lnSpc>
                    <a:spcPct val="120000"/>
                  </a:lnSpc>
                  <a:buNone/>
                </a:pPr>
                <a:r>
                  <a:rPr lang="en-US" sz="2800" b="0" dirty="0"/>
                  <a:t>1.1.1.1 </a:t>
                </a:r>
                <a14:m>
                  <m:oMath xmlns:m="http://schemas.openxmlformats.org/officeDocument/2006/math">
                    <m:r>
                      <a:rPr lang="en-US" sz="2800" b="0" i="1" smtClean="0">
                        <a:latin typeface="Cambria Math" panose="02040503050406030204" pitchFamily="18" charset="0"/>
                      </a:rPr>
                      <m:t>𝑅𝑒𝑡𝑢𝑟𝑛</m:t>
                    </m:r>
                    <m:r>
                      <a:rPr lang="en-US" sz="2800" b="0" i="1" smtClean="0">
                        <a:latin typeface="Cambria Math" panose="02040503050406030204" pitchFamily="18" charset="0"/>
                      </a:rPr>
                      <m:t> 2×</m:t>
                    </m:r>
                    <m:r>
                      <a:rPr lang="en-US" sz="2800" b="0" i="1" smtClean="0">
                        <a:latin typeface="Cambria Math" panose="02040503050406030204" pitchFamily="18" charset="0"/>
                        <a:ea typeface="Cambria Math" panose="02040503050406030204" pitchFamily="18" charset="0"/>
                      </a:rPr>
                      <m:t>𝐹𝐴𝐶𝑇𝑂𝑅𝐼𝐴𝐿</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1</m:t>
                        </m:r>
                      </m:e>
                    </m:d>
                  </m:oMath>
                </a14:m>
                <a:endParaRPr lang="en-US" sz="2800" dirty="0"/>
              </a:p>
              <a:p>
                <a:pPr>
                  <a:lnSpc>
                    <a:spcPct val="120000"/>
                  </a:lnSpc>
                  <a:buFont typeface="Wingdings" panose="05000000000000000000" pitchFamily="2" charset="2"/>
                  <a:buChar char="§"/>
                </a:pPr>
                <a:r>
                  <a:rPr lang="en-US" sz="3200" dirty="0"/>
                  <a:t>The function calls will return values like:</a:t>
                </a:r>
              </a:p>
              <a:p>
                <a:pPr marL="0" indent="0">
                  <a:lnSpc>
                    <a:spcPct val="120000"/>
                  </a:lnSpc>
                  <a:buNone/>
                </a:pPr>
                <a:r>
                  <a:rPr lang="en-US" sz="2800" dirty="0"/>
                  <a:t>Line 1.1.1.1 will return </a:t>
                </a:r>
                <a14:m>
                  <m:oMath xmlns:m="http://schemas.openxmlformats.org/officeDocument/2006/math">
                    <m:r>
                      <a:rPr lang="en-US" sz="2800" i="1" dirty="0" smtClean="0">
                        <a:latin typeface="Cambria Math" panose="02040503050406030204" pitchFamily="18" charset="0"/>
                      </a:rPr>
                      <m:t>2</m:t>
                    </m:r>
                  </m:oMath>
                </a14:m>
                <a:r>
                  <a:rPr lang="en-US" sz="2800" dirty="0"/>
                  <a:t> back to 1.1.1</a:t>
                </a:r>
                <a:endParaRPr lang="en-US" sz="2800" dirty="0">
                  <a:ea typeface="Cambria Math" panose="02040503050406030204" pitchFamily="18" charset="0"/>
                </a:endParaRPr>
              </a:p>
              <a:p>
                <a:pPr marL="0" indent="0">
                  <a:lnSpc>
                    <a:spcPct val="120000"/>
                  </a:lnSpc>
                  <a:buNone/>
                </a:pPr>
                <a:r>
                  <a:rPr lang="en-US" sz="2800" dirty="0">
                    <a:ea typeface="Cambria Math" panose="02040503050406030204" pitchFamily="18" charset="0"/>
                  </a:rPr>
                  <a:t>Line 1.1.1 will calculate </a:t>
                </a:r>
                <a14:m>
                  <m:oMath xmlns:m="http://schemas.openxmlformats.org/officeDocument/2006/math">
                    <m:r>
                      <a:rPr lang="en-US" sz="2800" b="0" i="1" smtClean="0">
                        <a:latin typeface="Cambria Math" panose="02040503050406030204" pitchFamily="18" charset="0"/>
                        <a:ea typeface="Cambria Math" panose="02040503050406030204" pitchFamily="18" charset="0"/>
                      </a:rPr>
                      <m:t>3×2</m:t>
                    </m:r>
                  </m:oMath>
                </a14:m>
                <a:r>
                  <a:rPr lang="en-US" sz="2800" dirty="0">
                    <a:ea typeface="Cambria Math" panose="02040503050406030204" pitchFamily="18" charset="0"/>
                  </a:rPr>
                  <a:t> and return 6 back to 1.1</a:t>
                </a:r>
              </a:p>
              <a:p>
                <a:pPr marL="0" indent="0">
                  <a:lnSpc>
                    <a:spcPct val="120000"/>
                  </a:lnSpc>
                  <a:buNone/>
                </a:pPr>
                <a:r>
                  <a:rPr lang="en-US" sz="2800" dirty="0">
                    <a:ea typeface="Cambria Math" panose="02040503050406030204" pitchFamily="18" charset="0"/>
                  </a:rPr>
                  <a:t>Line 1.1 will calculate </a:t>
                </a:r>
                <a14:m>
                  <m:oMath xmlns:m="http://schemas.openxmlformats.org/officeDocument/2006/math">
                    <m:r>
                      <a:rPr lang="en-US" sz="2800" b="0" i="1" smtClean="0">
                        <a:latin typeface="Cambria Math" panose="02040503050406030204" pitchFamily="18" charset="0"/>
                        <a:ea typeface="Cambria Math" panose="02040503050406030204" pitchFamily="18" charset="0"/>
                      </a:rPr>
                      <m:t>4×6</m:t>
                    </m:r>
                  </m:oMath>
                </a14:m>
                <a:r>
                  <a:rPr lang="en-US" sz="2800" dirty="0">
                    <a:ea typeface="Cambria Math" panose="02040503050406030204" pitchFamily="18" charset="0"/>
                  </a:rPr>
                  <a:t> and return 24 back to 1</a:t>
                </a:r>
              </a:p>
              <a:p>
                <a:pPr marL="0" indent="0">
                  <a:lnSpc>
                    <a:spcPct val="120000"/>
                  </a:lnSpc>
                  <a:buNone/>
                </a:pPr>
                <a:r>
                  <a:rPr lang="en-US" sz="2800" dirty="0">
                    <a:ea typeface="Cambria Math" panose="02040503050406030204" pitchFamily="18" charset="0"/>
                  </a:rPr>
                  <a:t>Line 1 will calculate </a:t>
                </a:r>
                <a14:m>
                  <m:oMath xmlns:m="http://schemas.openxmlformats.org/officeDocument/2006/math">
                    <m:r>
                      <a:rPr lang="en-US" sz="2800" b="0" i="1" smtClean="0">
                        <a:latin typeface="Cambria Math" panose="02040503050406030204" pitchFamily="18" charset="0"/>
                        <a:ea typeface="Cambria Math" panose="02040503050406030204" pitchFamily="18" charset="0"/>
                      </a:rPr>
                      <m:t>5×24</m:t>
                    </m:r>
                  </m:oMath>
                </a14:m>
                <a:r>
                  <a:rPr lang="en-US" sz="2800" dirty="0">
                    <a:ea typeface="Cambria Math" panose="02040503050406030204" pitchFamily="18" charset="0"/>
                  </a:rPr>
                  <a:t> and return </a:t>
                </a:r>
                <a14:m>
                  <m:oMath xmlns:m="http://schemas.openxmlformats.org/officeDocument/2006/math">
                    <m:r>
                      <a:rPr lang="en-US" sz="2800" i="1" dirty="0" smtClean="0">
                        <a:latin typeface="Cambria Math" panose="02040503050406030204" pitchFamily="18" charset="0"/>
                        <a:ea typeface="Cambria Math" panose="02040503050406030204" pitchFamily="18" charset="0"/>
                      </a:rPr>
                      <m:t>120</m:t>
                    </m:r>
                  </m:oMath>
                </a14:m>
                <a:r>
                  <a:rPr lang="en-US" sz="2800" dirty="0">
                    <a:ea typeface="Cambria Math" panose="02040503050406030204" pitchFamily="18" charset="0"/>
                  </a:rPr>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830" t="-1001" b="-1252"/>
                </a:stretch>
              </a:blipFill>
            </p:spPr>
            <p:txBody>
              <a:bodyPr/>
              <a:lstStyle/>
              <a:p>
                <a:r>
                  <a:rPr lang="en-US">
                    <a:noFill/>
                  </a:rPr>
                  <a:t> </a:t>
                </a:r>
              </a:p>
            </p:txBody>
          </p:sp>
        </mc:Fallback>
      </mc:AlternateContent>
    </p:spTree>
    <p:extLst>
      <p:ext uri="{BB962C8B-B14F-4D97-AF65-F5344CB8AC3E}">
        <p14:creationId xmlns:p14="http://schemas.microsoft.com/office/powerpoint/2010/main" val="132953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SEARCH</a:t>
                </a:r>
                <a:r>
                  <a:rPr lang="en-US" sz="2400" dirty="0">
                    <a:latin typeface="Cascadia Code" panose="020B0609020000020004" pitchFamily="49" charset="0"/>
                    <a:cs typeface="Cascadia Code" panose="020B0609020000020004" pitchFamily="49" charset="0"/>
                  </a:rPr>
                  <a:t>(A, </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end, Q), where ‘A’ is the array, ‘start’ and ‘end’ are the indices for search space and ‘Q’ is the element to search for.</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𝑑𝑖𝑓𝑓𝑒𝑟𝑒𝑛𝑐𝑒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(Take difference of start and end indices)</a:t>
                </a: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𝑑𝑖𝑓𝑓𝑒𝑟𝑒𝑛𝑐𝑒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(Check if the array can be partitioned further)</a:t>
                </a:r>
              </a:p>
              <a:p>
                <a:pPr marL="914400" lvl="1" indent="-457200">
                  <a:lnSpc>
                    <a:spcPct val="100000"/>
                  </a:lnSpc>
                  <a:buFont typeface="+mj-lt"/>
                  <a:buAutoNum type="alphaU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𝑐𝑢𝑡𝑜𝑓𝑓</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d>
                      <m:dPr>
                        <m:begChr m:val="⌈"/>
                        <m:endChr m:val="⌉"/>
                        <m:ctrlPr>
                          <a:rPr lang="en-US" sz="2200" b="0" i="1" dirty="0" smtClean="0">
                            <a:latin typeface="Cambria Math" panose="02040503050406030204" pitchFamily="18" charset="0"/>
                            <a:cs typeface="Cascadia Code" panose="020B0609020000020004" pitchFamily="49" charset="0"/>
                          </a:rPr>
                        </m:ctrlPr>
                      </m:dPr>
                      <m:e>
                        <m:r>
                          <a:rPr lang="en-US" sz="2200" b="0" i="1" dirty="0" smtClean="0">
                            <a:latin typeface="Cambria Math" panose="02040503050406030204" pitchFamily="18" charset="0"/>
                            <a:cs typeface="Cascadia Code" panose="020B0609020000020004" pitchFamily="49" charset="0"/>
                          </a:rPr>
                          <m:t>𝑑𝑖𝑓𝑓𝑒𝑟𝑒𝑛𝑐𝑒</m:t>
                        </m:r>
                        <m:r>
                          <a:rPr lang="en-US" sz="2200" b="0" i="1" dirty="0" smtClean="0">
                            <a:latin typeface="Cambria Math" panose="02040503050406030204" pitchFamily="18" charset="0"/>
                            <a:cs typeface="Cascadia Code" panose="020B0609020000020004" pitchFamily="49" charset="0"/>
                          </a:rPr>
                          <m:t>/2</m:t>
                        </m:r>
                      </m:e>
                    </m:d>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(Calculate the cutoff*)</a:t>
                </a:r>
              </a:p>
              <a:p>
                <a:pPr marL="914400" lvl="1" indent="-457200">
                  <a:lnSpc>
                    <a:spcPct val="100000"/>
                  </a:lnSpc>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200" i="1" dirty="0">
                            <a:latin typeface="Cambria Math" panose="02040503050406030204" pitchFamily="18" charset="0"/>
                            <a:ea typeface="Cascadia Code" panose="020B0609020000020004" pitchFamily="49" charset="0"/>
                            <a:cs typeface="Cascadia Code" panose="020B0609020000020004" pitchFamily="49" charset="0"/>
                          </a:rPr>
                          <m:t>𝑐𝑢𝑡𝑜𝑓𝑓</m:t>
                        </m:r>
                      </m:e>
                    </m:d>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(Which way to go, left or right?)</a:t>
                </a: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𝑐𝑢𝑡𝑜𝑓𝑓</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(Next search partition will be on the left)</a:t>
                </a:r>
              </a:p>
              <a:p>
                <a:pPr marL="914400" lvl="1" indent="-457200">
                  <a:lnSpc>
                    <a:spcPct val="100000"/>
                  </a:lnSpc>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𝑐𝑢𝑡𝑜𝑓𝑓</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(Next search partition will be on the right)</a:t>
                </a:r>
              </a:p>
              <a:p>
                <a:pPr marL="914400" lvl="1" indent="-457200">
                  <a:lnSpc>
                    <a:spcPct val="100000"/>
                  </a:lnSpc>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𝑆𝐸𝐴𝑅𝐶𝐻</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𝑄</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(Recursive call)</a:t>
                </a: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𝑄</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(Return the index of respective element if it matches)</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(Return null if the element was not found)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519" t="-1850"/>
                </a:stretch>
              </a:blipFill>
            </p:spPr>
            <p:txBody>
              <a:bodyPr/>
              <a:lstStyle/>
              <a:p>
                <a:r>
                  <a:rPr lang="en-US">
                    <a:noFill/>
                  </a:rPr>
                  <a:t> </a:t>
                </a:r>
              </a:p>
            </p:txBody>
          </p:sp>
        </mc:Fallback>
      </mc:AlternateContent>
    </p:spTree>
    <p:extLst>
      <p:ext uri="{BB962C8B-B14F-4D97-AF65-F5344CB8AC3E}">
        <p14:creationId xmlns:p14="http://schemas.microsoft.com/office/powerpoint/2010/main" val="213204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What just happened?</a:t>
                </a:r>
              </a:p>
              <a:p>
                <a:pPr>
                  <a:lnSpc>
                    <a:spcPct val="120000"/>
                  </a:lnSpc>
                  <a:buFont typeface="Wingdings" panose="05000000000000000000" pitchFamily="2" charset="2"/>
                  <a:buChar char="§"/>
                </a:pPr>
                <a:r>
                  <a:rPr lang="en-US" sz="3200" dirty="0"/>
                  <a:t>Assume this function was called with the parameters: </a:t>
                </a:r>
                <a14:m>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905,1864,3045</m:t>
                        </m:r>
                      </m:e>
                    </m:d>
                    <m:r>
                      <a:rPr lang="en-US" sz="3200" b="0" i="1" smtClean="0">
                        <a:latin typeface="Cambria Math" panose="02040503050406030204" pitchFamily="18" charset="0"/>
                      </a:rPr>
                      <m:t>;</m:t>
                    </m:r>
                    <m:r>
                      <a:rPr lang="en-US" sz="3200" b="0" i="1" smtClean="0">
                        <a:latin typeface="Cambria Math" panose="02040503050406030204" pitchFamily="18" charset="0"/>
                      </a:rPr>
                      <m:t>𝑠𝑡𝑎𝑟𝑡</m:t>
                    </m:r>
                    <m:r>
                      <a:rPr lang="en-US" sz="3200" b="0" i="1" smtClean="0">
                        <a:latin typeface="Cambria Math" panose="02040503050406030204" pitchFamily="18" charset="0"/>
                      </a:rPr>
                      <m:t>=0;</m:t>
                    </m:r>
                    <m:r>
                      <a:rPr lang="en-US" sz="3200" b="0" i="1" smtClean="0">
                        <a:latin typeface="Cambria Math" panose="02040503050406030204" pitchFamily="18" charset="0"/>
                      </a:rPr>
                      <m:t>𝑒𝑛𝑑</m:t>
                    </m:r>
                    <m:r>
                      <a:rPr lang="en-US" sz="3200" b="0" i="1" smtClean="0">
                        <a:latin typeface="Cambria Math" panose="02040503050406030204" pitchFamily="18" charset="0"/>
                      </a:rPr>
                      <m:t>=2;</m:t>
                    </m:r>
                    <m:r>
                      <a:rPr lang="en-US" sz="3200" b="0" i="1" smtClean="0">
                        <a:latin typeface="Cambria Math" panose="02040503050406030204" pitchFamily="18" charset="0"/>
                      </a:rPr>
                      <m:t>𝑞</m:t>
                    </m:r>
                    <m:r>
                      <a:rPr lang="en-US" sz="3200" b="0" i="1" smtClean="0">
                        <a:latin typeface="Cambria Math" panose="02040503050406030204" pitchFamily="18" charset="0"/>
                      </a:rPr>
                      <m:t>=3045</m:t>
                    </m:r>
                  </m:oMath>
                </a14:m>
                <a:endParaRPr lang="en-US" sz="3200" b="0" dirty="0"/>
              </a:p>
              <a:p>
                <a:pPr>
                  <a:lnSpc>
                    <a:spcPct val="120000"/>
                  </a:lnSpc>
                  <a:buFont typeface="Wingdings" panose="05000000000000000000" pitchFamily="2" charset="2"/>
                  <a:buChar char="§"/>
                </a:pPr>
                <a:r>
                  <a:rPr lang="en-US" sz="3200" dirty="0"/>
                  <a:t>The </a:t>
                </a:r>
                <a14:m>
                  <m:oMath xmlns:m="http://schemas.openxmlformats.org/officeDocument/2006/math">
                    <m:r>
                      <a:rPr lang="en-US" sz="3200" b="0" i="1" smtClean="0">
                        <a:latin typeface="Cambria Math" panose="02040503050406030204" pitchFamily="18" charset="0"/>
                      </a:rPr>
                      <m:t>𝑑𝑖𝑓𝑓𝑒𝑟𝑒𝑛𝑐𝑒</m:t>
                    </m:r>
                    <m:r>
                      <a:rPr lang="en-US" sz="3200" b="0" i="1" smtClean="0">
                        <a:latin typeface="Cambria Math" panose="02040503050406030204" pitchFamily="18" charset="0"/>
                      </a:rPr>
                      <m:t>=2,</m:t>
                    </m:r>
                  </m:oMath>
                </a14:m>
                <a:r>
                  <a:rPr lang="en-US" sz="3200" dirty="0"/>
                  <a:t> so the </a:t>
                </a:r>
                <a14:m>
                  <m:oMath xmlns:m="http://schemas.openxmlformats.org/officeDocument/2006/math">
                    <m:r>
                      <a:rPr lang="en-US" sz="3200" b="0" i="1" smtClean="0">
                        <a:latin typeface="Cambria Math" panose="02040503050406030204" pitchFamily="18" charset="0"/>
                      </a:rPr>
                      <m:t>𝑐𝑢𝑡𝑜𝑓𝑓</m:t>
                    </m:r>
                    <m:r>
                      <a:rPr lang="en-US" sz="3200" b="0" i="1" smtClean="0">
                        <a:latin typeface="Cambria Math" panose="02040503050406030204" pitchFamily="18" charset="0"/>
                      </a:rPr>
                      <m:t>=0+</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2/2</m:t>
                        </m:r>
                      </m:e>
                    </m:d>
                    <m:r>
                      <a:rPr lang="en-US" sz="3200" b="0" i="1" smtClean="0">
                        <a:latin typeface="Cambria Math" panose="02040503050406030204" pitchFamily="18" charset="0"/>
                      </a:rPr>
                      <m:t>=1</m:t>
                    </m:r>
                  </m:oMath>
                </a14:m>
                <a:endParaRPr lang="en-US" sz="3200" dirty="0"/>
              </a:p>
              <a:p>
                <a:pPr>
                  <a:lnSpc>
                    <a:spcPct val="120000"/>
                  </a:lnSpc>
                  <a:buFont typeface="Wingdings" panose="05000000000000000000" pitchFamily="2" charset="2"/>
                  <a:buChar char="§"/>
                </a:pPr>
                <a:r>
                  <a:rPr lang="en-US" sz="3200" dirty="0"/>
                  <a:t>At line 1B, we check if </a:t>
                </a:r>
                <a14:m>
                  <m:oMath xmlns:m="http://schemas.openxmlformats.org/officeDocument/2006/math">
                    <m:r>
                      <a:rPr lang="en-US" sz="3200" b="0" i="1" smtClean="0">
                        <a:latin typeface="Cambria Math" panose="02040503050406030204" pitchFamily="18" charset="0"/>
                      </a:rPr>
                      <m:t>𝑄</m:t>
                    </m:r>
                    <m:r>
                      <a:rPr lang="en-US" sz="3200" b="0" i="1" smtClean="0">
                        <a:latin typeface="Cambria Math" panose="02040503050406030204" pitchFamily="18" charset="0"/>
                      </a:rPr>
                      <m:t>&lt;</m:t>
                    </m:r>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𝑐𝑢𝑡𝑜𝑓𝑓</m:t>
                    </m:r>
                    <m:r>
                      <a:rPr lang="en-US" sz="3200" b="0" i="1" smtClean="0">
                        <a:latin typeface="Cambria Math" panose="02040503050406030204" pitchFamily="18" charset="0"/>
                      </a:rPr>
                      <m:t>]</m:t>
                    </m:r>
                  </m:oMath>
                </a14:m>
                <a:r>
                  <a:rPr lang="en-US" sz="3200" dirty="0"/>
                  <a:t>, which is false. Therefore, we set </a:t>
                </a:r>
                <a14:m>
                  <m:oMath xmlns:m="http://schemas.openxmlformats.org/officeDocument/2006/math">
                    <m:r>
                      <a:rPr lang="en-US" sz="3200" b="0" i="1" smtClean="0">
                        <a:latin typeface="Cambria Math" panose="02040503050406030204" pitchFamily="18" charset="0"/>
                      </a:rPr>
                      <m:t>𝑠𝑡𝑎𝑟𝑡</m:t>
                    </m:r>
                    <m:r>
                      <a:rPr lang="en-US" sz="3200" b="0" i="1" smtClean="0">
                        <a:latin typeface="Cambria Math" panose="02040503050406030204" pitchFamily="18" charset="0"/>
                      </a:rPr>
                      <m:t>=1</m:t>
                    </m:r>
                  </m:oMath>
                </a14:m>
                <a:r>
                  <a:rPr lang="en-US" sz="3200" dirty="0"/>
                  <a:t> and call this function again.</a:t>
                </a:r>
              </a:p>
              <a:p>
                <a:pPr>
                  <a:lnSpc>
                    <a:spcPct val="120000"/>
                  </a:lnSpc>
                  <a:buFont typeface="Wingdings" panose="05000000000000000000" pitchFamily="2" charset="2"/>
                  <a:buChar char="§"/>
                </a:pPr>
                <a:r>
                  <a:rPr lang="en-US" sz="3200" dirty="0"/>
                  <a:t>Now, the parameters will be: </a:t>
                </a:r>
                <a14:m>
                  <m:oMath xmlns:m="http://schemas.openxmlformats.org/officeDocument/2006/math">
                    <m:r>
                      <a:rPr lang="en-US" sz="3200" i="1">
                        <a:latin typeface="Cambria Math" panose="02040503050406030204" pitchFamily="18" charset="0"/>
                      </a:rPr>
                      <m:t>𝐴</m:t>
                    </m:r>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1864,3045</m:t>
                        </m:r>
                      </m:e>
                    </m:d>
                    <m:r>
                      <a:rPr lang="en-US" sz="3200" i="1">
                        <a:latin typeface="Cambria Math" panose="02040503050406030204" pitchFamily="18" charset="0"/>
                      </a:rPr>
                      <m:t>;</m:t>
                    </m:r>
                    <m:r>
                      <a:rPr lang="en-US" sz="3200" i="1">
                        <a:latin typeface="Cambria Math" panose="02040503050406030204" pitchFamily="18" charset="0"/>
                      </a:rPr>
                      <m:t>𝑠𝑡𝑎𝑟𝑡</m:t>
                    </m:r>
                    <m:r>
                      <a:rPr lang="en-US" sz="3200" i="1">
                        <a:latin typeface="Cambria Math" panose="02040503050406030204" pitchFamily="18" charset="0"/>
                      </a:rPr>
                      <m:t>=1;</m:t>
                    </m:r>
                    <m:r>
                      <a:rPr lang="en-US" sz="3200" i="1">
                        <a:latin typeface="Cambria Math" panose="02040503050406030204" pitchFamily="18" charset="0"/>
                      </a:rPr>
                      <m:t>𝑒𝑛𝑑</m:t>
                    </m:r>
                    <m:r>
                      <a:rPr lang="en-US" sz="3200" i="1">
                        <a:latin typeface="Cambria Math" panose="02040503050406030204" pitchFamily="18" charset="0"/>
                      </a:rPr>
                      <m:t>=2;</m:t>
                    </m:r>
                    <m:r>
                      <a:rPr lang="en-US" sz="3200" i="1">
                        <a:latin typeface="Cambria Math" panose="02040503050406030204" pitchFamily="18" charset="0"/>
                      </a:rPr>
                      <m:t>𝑞</m:t>
                    </m:r>
                    <m:r>
                      <a:rPr lang="en-US" sz="3200" i="1">
                        <a:latin typeface="Cambria Math" panose="02040503050406030204" pitchFamily="18" charset="0"/>
                      </a:rPr>
                      <m:t>=3045</m:t>
                    </m:r>
                  </m:oMath>
                </a14:m>
                <a:endParaRPr lang="en-US" sz="3200" dirty="0"/>
              </a:p>
              <a:p>
                <a:pPr>
                  <a:lnSpc>
                    <a:spcPct val="120000"/>
                  </a:lnSpc>
                  <a:buFont typeface="Wingdings" panose="05000000000000000000" pitchFamily="2" charset="2"/>
                  <a:buChar char="§"/>
                </a:pPr>
                <a:r>
                  <a:rPr lang="en-US" sz="3200" dirty="0"/>
                  <a:t>Now since </a:t>
                </a:r>
                <a14:m>
                  <m:oMath xmlns:m="http://schemas.openxmlformats.org/officeDocument/2006/math">
                    <m:r>
                      <a:rPr lang="en-US" sz="3200" b="0" i="1" smtClean="0">
                        <a:latin typeface="Cambria Math" panose="02040503050406030204" pitchFamily="18" charset="0"/>
                      </a:rPr>
                      <m:t>𝑑𝑖𝑓𝑓𝑒𝑟𝑒𝑛𝑐𝑒</m:t>
                    </m:r>
                    <m:r>
                      <a:rPr lang="en-US" sz="3200" b="0" i="1" smtClean="0">
                        <a:latin typeface="Cambria Math" panose="02040503050406030204" pitchFamily="18" charset="0"/>
                      </a:rPr>
                      <m:t>=1</m:t>
                    </m:r>
                  </m:oMath>
                </a14:m>
                <a:r>
                  <a:rPr lang="en-US" sz="3200" dirty="0"/>
                  <a:t>, therefore the program will jump to line 3 and match </a:t>
                </a:r>
                <a14:m>
                  <m:oMath xmlns:m="http://schemas.openxmlformats.org/officeDocument/2006/math">
                    <m:r>
                      <a:rPr lang="en-US" sz="3200" b="0" i="1" smtClean="0">
                        <a:latin typeface="Cambria Math" panose="02040503050406030204" pitchFamily="18" charset="0"/>
                      </a:rPr>
                      <m:t>𝐴</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𝑠𝑡𝑎𝑟𝑡</m:t>
                        </m:r>
                      </m:e>
                    </m:d>
                    <m:r>
                      <a:rPr lang="en-US" sz="3200" b="0" i="1" smtClean="0">
                        <a:latin typeface="Cambria Math" panose="02040503050406030204" pitchFamily="18" charset="0"/>
                      </a:rPr>
                      <m:t>=3045</m:t>
                    </m:r>
                  </m:oMath>
                </a14:m>
                <a:r>
                  <a:rPr lang="en-US" sz="3200" dirty="0"/>
                  <a:t> with </a:t>
                </a:r>
                <a14:m>
                  <m:oMath xmlns:m="http://schemas.openxmlformats.org/officeDocument/2006/math">
                    <m:r>
                      <a:rPr lang="en-US" sz="3200" b="0" i="1" smtClean="0">
                        <a:latin typeface="Cambria Math" panose="02040503050406030204" pitchFamily="18" charset="0"/>
                      </a:rPr>
                      <m:t>𝑄</m:t>
                    </m:r>
                    <m:r>
                      <a:rPr lang="en-US" sz="3200" b="0" i="1" smtClean="0">
                        <a:latin typeface="Cambria Math" panose="02040503050406030204" pitchFamily="18" charset="0"/>
                      </a:rPr>
                      <m:t>=3045</m:t>
                    </m:r>
                  </m:oMath>
                </a14:m>
                <a:r>
                  <a:rPr lang="en-US" sz="3200" dirty="0"/>
                  <a:t>. Since both match, therefore 1 will be returned.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830" t="-1001" r="-882" b="-2753"/>
                </a:stretch>
              </a:blipFill>
            </p:spPr>
            <p:txBody>
              <a:bodyPr/>
              <a:lstStyle/>
              <a:p>
                <a:r>
                  <a:rPr lang="en-US">
                    <a:noFill/>
                  </a:rPr>
                  <a:t> </a:t>
                </a:r>
              </a:p>
            </p:txBody>
          </p:sp>
        </mc:Fallback>
      </mc:AlternateContent>
    </p:spTree>
    <p:extLst>
      <p:ext uri="{BB962C8B-B14F-4D97-AF65-F5344CB8AC3E}">
        <p14:creationId xmlns:p14="http://schemas.microsoft.com/office/powerpoint/2010/main" val="397041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Optimization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We already know that the input array is sorted.</a:t>
                </a:r>
              </a:p>
              <a:p>
                <a:pPr>
                  <a:lnSpc>
                    <a:spcPct val="120000"/>
                  </a:lnSpc>
                  <a:buFont typeface="Wingdings" panose="05000000000000000000" pitchFamily="2" charset="2"/>
                  <a:buChar char="§"/>
                </a:pPr>
                <a:r>
                  <a:rPr lang="en-US" sz="3200" dirty="0"/>
                  <a:t>Therefore, we also know that the first element will be smallest and last will be the largest.</a:t>
                </a:r>
              </a:p>
              <a:p>
                <a:pPr>
                  <a:lnSpc>
                    <a:spcPct val="120000"/>
                  </a:lnSpc>
                  <a:buFont typeface="Wingdings" panose="05000000000000000000" pitchFamily="2" charset="2"/>
                  <a:buChar char="§"/>
                </a:pPr>
                <a:r>
                  <a:rPr lang="en-US" sz="3200" dirty="0"/>
                  <a:t>We can optimize the function by first checking if </a:t>
                </a:r>
                <a14:m>
                  <m:oMath xmlns:m="http://schemas.openxmlformats.org/officeDocument/2006/math">
                    <m:r>
                      <m:rPr>
                        <m:sty m:val="p"/>
                      </m:rPr>
                      <a:rPr lang="en-US" sz="3200" b="0" i="0" smtClean="0">
                        <a:latin typeface="Cambria Math" panose="02040503050406030204" pitchFamily="18" charset="0"/>
                      </a:rPr>
                      <m:t>A</m:t>
                    </m:r>
                    <m:r>
                      <a:rPr lang="en-US" sz="3200" b="0" i="0" smtClean="0">
                        <a:latin typeface="Cambria Math" panose="02040503050406030204" pitchFamily="18" charset="0"/>
                      </a:rPr>
                      <m:t>[</m:t>
                    </m:r>
                    <m:r>
                      <m:rPr>
                        <m:sty m:val="p"/>
                      </m:rPr>
                      <a:rPr lang="en-US" sz="3200" b="0" i="0" smtClean="0">
                        <a:latin typeface="Cambria Math" panose="02040503050406030204" pitchFamily="18" charset="0"/>
                      </a:rPr>
                      <m:t>first</m:t>
                    </m:r>
                    <m:r>
                      <a:rPr lang="en-US" sz="3200" b="0" i="0" smtClean="0">
                        <a:latin typeface="Cambria Math" panose="02040503050406030204" pitchFamily="18" charset="0"/>
                      </a:rPr>
                      <m:t>]≤</m:t>
                    </m:r>
                    <m:r>
                      <a:rPr lang="en-US" sz="3200" b="0" i="1" smtClean="0">
                        <a:latin typeface="Cambria Math" panose="02040503050406030204" pitchFamily="18" charset="0"/>
                      </a:rPr>
                      <m:t>𝑄</m:t>
                    </m:r>
                    <m:r>
                      <a:rPr lang="en-US" sz="3200" b="0" i="1" smtClean="0">
                        <a:latin typeface="Cambria Math" panose="02040503050406030204" pitchFamily="18" charset="0"/>
                      </a:rPr>
                      <m:t>≤</m:t>
                    </m:r>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𝑙𝑎𝑠𝑡</m:t>
                    </m:r>
                    <m:r>
                      <a:rPr lang="en-US" sz="3200" b="0" i="1" smtClean="0">
                        <a:latin typeface="Cambria Math" panose="02040503050406030204" pitchFamily="18" charset="0"/>
                      </a:rPr>
                      <m:t>]</m:t>
                    </m:r>
                  </m:oMath>
                </a14:m>
                <a:r>
                  <a:rPr lang="en-US" sz="3200" dirty="0"/>
                  <a:t>. If this condition is false, then </a:t>
                </a:r>
                <a14:m>
                  <m:oMath xmlns:m="http://schemas.openxmlformats.org/officeDocument/2006/math">
                    <m:r>
                      <a:rPr lang="en-US" sz="3200" b="0" i="1" smtClean="0">
                        <a:latin typeface="Cambria Math" panose="02040503050406030204" pitchFamily="18" charset="0"/>
                      </a:rPr>
                      <m:t>𝑄</m:t>
                    </m:r>
                  </m:oMath>
                </a14:m>
                <a:r>
                  <a:rPr lang="en-US" sz="3200" dirty="0"/>
                  <a:t> will not exist in the array.</a:t>
                </a:r>
              </a:p>
              <a:p>
                <a:pPr>
                  <a:lnSpc>
                    <a:spcPct val="120000"/>
                  </a:lnSpc>
                  <a:buFont typeface="Wingdings" panose="05000000000000000000" pitchFamily="2" charset="2"/>
                  <a:buChar char="§"/>
                </a:pPr>
                <a:r>
                  <a:rPr lang="en-US" sz="3200" dirty="0"/>
                  <a:t>Secondly, before each split, we can check if </a:t>
                </a:r>
                <a14:m>
                  <m:oMath xmlns:m="http://schemas.openxmlformats.org/officeDocument/2006/math">
                    <m:r>
                      <a:rPr lang="en-US" sz="3200" b="0" i="1" smtClean="0">
                        <a:latin typeface="Cambria Math" panose="02040503050406030204" pitchFamily="18" charset="0"/>
                      </a:rPr>
                      <m:t>𝐴</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𝑚𝑖𝑑</m:t>
                        </m:r>
                      </m:e>
                    </m:d>
                    <m:r>
                      <a:rPr lang="en-US" sz="3200" b="0" i="1" smtClean="0">
                        <a:latin typeface="Cambria Math" panose="02040503050406030204" pitchFamily="18" charset="0"/>
                      </a:rPr>
                      <m:t>=</m:t>
                    </m:r>
                    <m:r>
                      <a:rPr lang="en-US" sz="3200" b="0" i="1" smtClean="0">
                        <a:latin typeface="Cambria Math" panose="02040503050406030204" pitchFamily="18" charset="0"/>
                      </a:rPr>
                      <m:t>𝑄</m:t>
                    </m:r>
                  </m:oMath>
                </a14:m>
                <a:r>
                  <a:rPr lang="en-US" sz="3200" dirty="0"/>
                  <a:t>. This will also ensure that the splitting is not required if the elements match.</a:t>
                </a:r>
              </a:p>
              <a:p>
                <a:pPr>
                  <a:lnSpc>
                    <a:spcPct val="120000"/>
                  </a:lnSpc>
                  <a:buFont typeface="Wingdings" panose="05000000000000000000" pitchFamily="2" charset="2"/>
                  <a:buChar char="§"/>
                </a:pPr>
                <a:r>
                  <a:rPr lang="en-US" sz="3200" dirty="0"/>
                  <a:t>Now the worst-case scenario (the element does not exist) will be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(1)</m:t>
                    </m:r>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1038" t="-1126" r="-986"/>
                </a:stretch>
              </a:blipFill>
            </p:spPr>
            <p:txBody>
              <a:bodyPr/>
              <a:lstStyle/>
              <a:p>
                <a:r>
                  <a:rPr lang="en-US">
                    <a:noFill/>
                  </a:rPr>
                  <a:t> </a:t>
                </a:r>
              </a:p>
            </p:txBody>
          </p:sp>
        </mc:Fallback>
      </mc:AlternateContent>
    </p:spTree>
    <p:extLst>
      <p:ext uri="{BB962C8B-B14F-4D97-AF65-F5344CB8AC3E}">
        <p14:creationId xmlns:p14="http://schemas.microsoft.com/office/powerpoint/2010/main" val="228591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3578014"/>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Modify the Pseudocode and apply the optimization.</a:t>
                </a:r>
              </a:p>
              <a:p>
                <a:pPr lvl="1">
                  <a:lnSpc>
                    <a:spcPct val="120000"/>
                  </a:lnSpc>
                  <a:buFont typeface="Wingdings" panose="05000000000000000000" pitchFamily="2" charset="2"/>
                  <a:buChar char="§"/>
                </a:pPr>
                <a:r>
                  <a:rPr lang="en-US" sz="3000" dirty="0"/>
                  <a:t>Dry run the Binary Search function with:</a:t>
                </a:r>
              </a:p>
              <a:p>
                <a:pPr lvl="1">
                  <a:lnSpc>
                    <a:spcPct val="120000"/>
                  </a:lnSpc>
                  <a:buFont typeface="Wingdings" panose="05000000000000000000" pitchFamily="2" charset="2"/>
                  <a:buChar char="§"/>
                </a:pPr>
                <a:r>
                  <a:rPr lang="en-US" sz="3000" dirty="0"/>
                  <a:t>An empty array</a:t>
                </a:r>
              </a:p>
              <a:p>
                <a:pPr lvl="1">
                  <a:lnSpc>
                    <a:spcPct val="120000"/>
                  </a:lnSpc>
                  <a:buFont typeface="Wingdings" panose="05000000000000000000" pitchFamily="2" charset="2"/>
                  <a:buChar char="§"/>
                </a:pPr>
                <a:r>
                  <a:rPr lang="en-US" sz="3000" dirty="0"/>
                  <a:t>An array 𝐴=[1864,3045,64669,65073, 65185], but 𝑄=2000</a:t>
                </a:r>
              </a:p>
              <a:p>
                <a:pPr lvl="1">
                  <a:lnSpc>
                    <a:spcPct val="120000"/>
                  </a:lnSpc>
                  <a:buFont typeface="Wingdings" panose="05000000000000000000" pitchFamily="2" charset="2"/>
                  <a:buChar char="§"/>
                </a:pPr>
                <a:r>
                  <a:rPr lang="en-US" sz="3000" dirty="0"/>
                  <a:t>Array=</a:t>
                </a:r>
                <a14:m>
                  <m:oMath xmlns:m="http://schemas.openxmlformats.org/officeDocument/2006/math">
                    <m:d>
                      <m:dPr>
                        <m:begChr m:val="["/>
                        <m:endChr m:val="]"/>
                        <m:ctrlPr>
                          <a:rPr lang="en-US" sz="3000" i="1">
                            <a:latin typeface="Cambria Math" panose="02040503050406030204" pitchFamily="18" charset="0"/>
                          </a:rPr>
                        </m:ctrlPr>
                      </m:dPr>
                      <m:e>
                        <m:r>
                          <a:rPr lang="en-US" sz="3000" i="1" smtClean="0">
                            <a:latin typeface="Cambria Math" panose="02040503050406030204" pitchFamily="18" charset="0"/>
                          </a:rPr>
                          <m:t>1864,3045,64669</m:t>
                        </m:r>
                        <m:r>
                          <a:rPr lang="en-US" sz="3000" b="0" i="1" smtClean="0">
                            <a:latin typeface="Cambria Math" panose="02040503050406030204" pitchFamily="18" charset="0"/>
                          </a:rPr>
                          <m:t>,65073, 65185</m:t>
                        </m:r>
                      </m:e>
                    </m:d>
                    <m:r>
                      <a:rPr lang="en-US" sz="3000" i="1">
                        <a:latin typeface="Cambria Math" panose="02040503050406030204" pitchFamily="18" charset="0"/>
                      </a:rPr>
                      <m:t>;</m:t>
                    </m:r>
                    <m:r>
                      <a:rPr lang="en-US" sz="3000" i="1">
                        <a:latin typeface="Cambria Math" panose="02040503050406030204" pitchFamily="18" charset="0"/>
                      </a:rPr>
                      <m:t>𝑠𝑡𝑎𝑟𝑡</m:t>
                    </m:r>
                    <m:r>
                      <a:rPr lang="en-US" sz="3000" i="1">
                        <a:latin typeface="Cambria Math" panose="02040503050406030204" pitchFamily="18" charset="0"/>
                      </a:rPr>
                      <m:t>=0;</m:t>
                    </m:r>
                    <m:r>
                      <a:rPr lang="en-US" sz="3000" i="1">
                        <a:latin typeface="Cambria Math" panose="02040503050406030204" pitchFamily="18" charset="0"/>
                      </a:rPr>
                      <m:t>𝑒𝑛𝑑</m:t>
                    </m:r>
                    <m:r>
                      <a:rPr lang="en-US" sz="3000" i="1">
                        <a:latin typeface="Cambria Math" panose="02040503050406030204" pitchFamily="18" charset="0"/>
                      </a:rPr>
                      <m:t>=5;</m:t>
                    </m:r>
                    <m:r>
                      <a:rPr lang="en-US" sz="3000" i="1">
                        <a:latin typeface="Cambria Math" panose="02040503050406030204" pitchFamily="18" charset="0"/>
                      </a:rPr>
                      <m:t>𝑞</m:t>
                    </m:r>
                    <m:r>
                      <a:rPr lang="en-US" sz="3000" i="1">
                        <a:latin typeface="Cambria Math" panose="02040503050406030204" pitchFamily="18" charset="0"/>
                      </a:rPr>
                      <m:t>=65073</m:t>
                    </m:r>
                  </m:oMath>
                </a14:m>
                <a:endParaRPr lang="en-US" sz="3000" dirty="0"/>
              </a:p>
              <a:p>
                <a:pPr>
                  <a:lnSpc>
                    <a:spcPct val="120000"/>
                  </a:lnSpc>
                  <a:buFont typeface="Wingdings" panose="05000000000000000000" pitchFamily="2" charset="2"/>
                  <a:buChar char="§"/>
                </a:pPr>
                <a:r>
                  <a:rPr lang="en-US" sz="3200" dirty="0"/>
                  <a:t>To dry run a recursive program, you should capture “depth”. This will keep track of the recursion depth, which tells on which level of function call our program currently is.</a:t>
                </a:r>
              </a:p>
              <a:p>
                <a:pPr>
                  <a:lnSpc>
                    <a:spcPct val="120000"/>
                  </a:lnSpc>
                  <a:buFont typeface="Wingdings" panose="05000000000000000000" pitchFamily="2" charset="2"/>
                  <a:buChar char="§"/>
                </a:pPr>
                <a:r>
                  <a:rPr lang="en-US" sz="3200" dirty="0"/>
                  <a:t>E.g., if SEARCH function is being called within SEARCH, then the depth will be 2.</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3578014"/>
              </a:xfrm>
              <a:prstGeom prst="rect">
                <a:avLst/>
              </a:prstGeom>
              <a:blipFill>
                <a:blip r:embed="rId3"/>
                <a:stretch>
                  <a:fillRect l="-727" t="-1193" b="-2726"/>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34918803-EC30-5A49-49FD-1A59C4328C53}"/>
              </a:ext>
            </a:extLst>
          </p:cNvPr>
          <p:cNvGraphicFramePr>
            <a:graphicFrameLocks noGrp="1"/>
          </p:cNvGraphicFramePr>
          <p:nvPr>
            <p:extLst>
              <p:ext uri="{D42A27DB-BD31-4B8C-83A1-F6EECF244321}">
                <p14:modId xmlns:p14="http://schemas.microsoft.com/office/powerpoint/2010/main" val="1324723710"/>
              </p:ext>
            </p:extLst>
          </p:nvPr>
        </p:nvGraphicFramePr>
        <p:xfrm>
          <a:off x="1126222" y="5188384"/>
          <a:ext cx="9920106" cy="1198269"/>
        </p:xfrm>
        <a:graphic>
          <a:graphicData uri="http://schemas.openxmlformats.org/drawingml/2006/table">
            <a:tbl>
              <a:tblPr firstRow="1" firstCol="1" bandRow="1">
                <a:tableStyleId>{073A0DAA-6AF3-43AB-8588-CEC1D06C72B9}</a:tableStyleId>
              </a:tblPr>
              <a:tblGrid>
                <a:gridCol w="862686">
                  <a:extLst>
                    <a:ext uri="{9D8B030D-6E8A-4147-A177-3AD203B41FA5}">
                      <a16:colId xmlns:a16="http://schemas.microsoft.com/office/drawing/2014/main" val="830603743"/>
                    </a:ext>
                  </a:extLst>
                </a:gridCol>
                <a:gridCol w="1078535">
                  <a:extLst>
                    <a:ext uri="{9D8B030D-6E8A-4147-A177-3AD203B41FA5}">
                      <a16:colId xmlns:a16="http://schemas.microsoft.com/office/drawing/2014/main" val="81467276"/>
                    </a:ext>
                  </a:extLst>
                </a:gridCol>
                <a:gridCol w="3605296">
                  <a:extLst>
                    <a:ext uri="{9D8B030D-6E8A-4147-A177-3AD203B41FA5}">
                      <a16:colId xmlns:a16="http://schemas.microsoft.com/office/drawing/2014/main" val="1197675295"/>
                    </a:ext>
                  </a:extLst>
                </a:gridCol>
                <a:gridCol w="724469">
                  <a:extLst>
                    <a:ext uri="{9D8B030D-6E8A-4147-A177-3AD203B41FA5}">
                      <a16:colId xmlns:a16="http://schemas.microsoft.com/office/drawing/2014/main" val="2136189321"/>
                    </a:ext>
                  </a:extLst>
                </a:gridCol>
                <a:gridCol w="609762">
                  <a:extLst>
                    <a:ext uri="{9D8B030D-6E8A-4147-A177-3AD203B41FA5}">
                      <a16:colId xmlns:a16="http://schemas.microsoft.com/office/drawing/2014/main" val="2704382778"/>
                    </a:ext>
                  </a:extLst>
                </a:gridCol>
                <a:gridCol w="860129">
                  <a:extLst>
                    <a:ext uri="{9D8B030D-6E8A-4147-A177-3AD203B41FA5}">
                      <a16:colId xmlns:a16="http://schemas.microsoft.com/office/drawing/2014/main" val="2052564599"/>
                    </a:ext>
                  </a:extLst>
                </a:gridCol>
                <a:gridCol w="1309157">
                  <a:extLst>
                    <a:ext uri="{9D8B030D-6E8A-4147-A177-3AD203B41FA5}">
                      <a16:colId xmlns:a16="http://schemas.microsoft.com/office/drawing/2014/main" val="3216100025"/>
                    </a:ext>
                  </a:extLst>
                </a:gridCol>
                <a:gridCol w="870072">
                  <a:extLst>
                    <a:ext uri="{9D8B030D-6E8A-4147-A177-3AD203B41FA5}">
                      <a16:colId xmlns:a16="http://schemas.microsoft.com/office/drawing/2014/main" val="2309737323"/>
                    </a:ext>
                  </a:extLst>
                </a:gridCol>
              </a:tblGrid>
              <a:tr h="399423">
                <a:tc>
                  <a:txBody>
                    <a:bodyPr/>
                    <a:lstStyle/>
                    <a:p>
                      <a:pPr>
                        <a:lnSpc>
                          <a:spcPct val="107000"/>
                        </a:lnSpc>
                        <a:spcAft>
                          <a:spcPts val="800"/>
                        </a:spcAft>
                      </a:pPr>
                      <a:r>
                        <a:rPr lang="en-US" sz="1800" kern="100" dirty="0">
                          <a:effectLst/>
                        </a:rPr>
                        <a:t>Depth</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Line No.</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dirty="0">
                          <a:effectLst/>
                        </a:rPr>
                        <a:t>Array</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Start</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End</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Q</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Difference</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Cutoff</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57017950"/>
                  </a:ext>
                </a:extLst>
              </a:tr>
              <a:tr h="399423">
                <a:tc>
                  <a:txBody>
                    <a:bodyPr/>
                    <a:lstStyle/>
                    <a:p>
                      <a:pPr>
                        <a:lnSpc>
                          <a:spcPct val="107000"/>
                        </a:lnSpc>
                        <a:spcAft>
                          <a:spcPts val="800"/>
                        </a:spcAft>
                      </a:pPr>
                      <a:r>
                        <a:rPr lang="en-US" sz="1800" kern="100">
                          <a:effectLst/>
                        </a:rPr>
                        <a:t>1</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0</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[1864,3045,64669,65073,65185]</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86223544"/>
                  </a:ext>
                </a:extLst>
              </a:tr>
              <a:tr h="399423">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dirty="0">
                          <a:effectLst/>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71365500"/>
                  </a:ext>
                </a:extLst>
              </a:tr>
            </a:tbl>
          </a:graphicData>
        </a:graphic>
      </p:graphicFrame>
    </p:spTree>
    <p:extLst>
      <p:ext uri="{BB962C8B-B14F-4D97-AF65-F5344CB8AC3E}">
        <p14:creationId xmlns:p14="http://schemas.microsoft.com/office/powerpoint/2010/main" val="120143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Before the optimization, the best-case scenario was when element is at the middle index of the array. Thus, the complexity will be </a:t>
                </a:r>
                <a14:m>
                  <m:oMath xmlns:m="http://schemas.openxmlformats.org/officeDocument/2006/math">
                    <m:r>
                      <m:rPr>
                        <m:sty m:val="p"/>
                      </m:rPr>
                      <a:rPr lang="en-US" sz="3200" b="0" i="0" smtClean="0">
                        <a:latin typeface="Cambria Math" panose="02040503050406030204" pitchFamily="18" charset="0"/>
                      </a:rPr>
                      <m:t>Ω</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a:t>
                </a:r>
              </a:p>
              <a:p>
                <a:pPr>
                  <a:lnSpc>
                    <a:spcPct val="120000"/>
                  </a:lnSpc>
                  <a:buFont typeface="Wingdings" panose="05000000000000000000" pitchFamily="2" charset="2"/>
                  <a:buChar char="§"/>
                </a:pPr>
                <a:r>
                  <a:rPr lang="en-US" sz="3200" dirty="0"/>
                  <a:t>Also, before optimization, there were 3 worst-case scenarios:</a:t>
                </a:r>
              </a:p>
              <a:p>
                <a:pPr marL="971550" lvl="1" indent="-514350">
                  <a:lnSpc>
                    <a:spcPct val="120000"/>
                  </a:lnSpc>
                  <a:buFont typeface="+mj-lt"/>
                  <a:buAutoNum type="arabicPeriod"/>
                </a:pPr>
                <a:r>
                  <a:rPr lang="en-US" sz="3000" dirty="0"/>
                  <a:t>The search element is not within the range of array elements.</a:t>
                </a:r>
              </a:p>
              <a:p>
                <a:pPr marL="971550" lvl="1" indent="-514350">
                  <a:lnSpc>
                    <a:spcPct val="120000"/>
                  </a:lnSpc>
                  <a:buFont typeface="+mj-lt"/>
                  <a:buAutoNum type="arabicPeriod"/>
                </a:pPr>
                <a:r>
                  <a:rPr lang="en-US" sz="3000" dirty="0"/>
                  <a:t>The search element is within the range but not in the array.</a:t>
                </a:r>
              </a:p>
              <a:p>
                <a:pPr marL="971550" lvl="1" indent="-514350">
                  <a:lnSpc>
                    <a:spcPct val="120000"/>
                  </a:lnSpc>
                  <a:buFont typeface="+mj-lt"/>
                  <a:buAutoNum type="arabicPeriod"/>
                </a:pPr>
                <a:r>
                  <a:rPr lang="en-US" sz="3000" dirty="0"/>
                  <a:t>The first element is the search element.</a:t>
                </a:r>
              </a:p>
              <a:p>
                <a:pPr>
                  <a:lnSpc>
                    <a:spcPct val="120000"/>
                  </a:lnSpc>
                  <a:buFont typeface="Wingdings" panose="05000000000000000000" pitchFamily="2" charset="2"/>
                  <a:buChar char="§"/>
                </a:pPr>
                <a:r>
                  <a:rPr lang="en-US" sz="3200" dirty="0"/>
                  <a:t>However, after the optimization, the 1</a:t>
                </a:r>
                <a:r>
                  <a:rPr lang="en-US" sz="3200" baseline="30000" dirty="0"/>
                  <a:t>st</a:t>
                </a:r>
                <a:r>
                  <a:rPr lang="en-US" sz="3200" dirty="0"/>
                  <a:t> scenario has become a best-case. And, for the other two cases we find out the complexity by analyzing how many times the most frequent statement runs?</a:t>
                </a:r>
              </a:p>
              <a:p>
                <a:pPr>
                  <a:lnSpc>
                    <a:spcPct val="120000"/>
                  </a:lnSpc>
                  <a:buFont typeface="Wingdings" panose="05000000000000000000" pitchFamily="2" charset="2"/>
                  <a:buChar char="§"/>
                </a:pPr>
                <a:r>
                  <a:rPr lang="en-US" sz="3200" dirty="0"/>
                  <a:t>We will come back to this later in the course as we discuss Trees. For now, it’s important to note that Binary Search actually forms a Tree by recursively dividing the array.</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727" t="-876" r="-1194" b="-876"/>
                </a:stretch>
              </a:blipFill>
            </p:spPr>
            <p:txBody>
              <a:bodyPr/>
              <a:lstStyle/>
              <a:p>
                <a:r>
                  <a:rPr lang="en-US">
                    <a:noFill/>
                  </a:rPr>
                  <a:t> </a:t>
                </a:r>
              </a:p>
            </p:txBody>
          </p:sp>
        </mc:Fallback>
      </mc:AlternateContent>
    </p:spTree>
    <p:extLst>
      <p:ext uri="{BB962C8B-B14F-4D97-AF65-F5344CB8AC3E}">
        <p14:creationId xmlns:p14="http://schemas.microsoft.com/office/powerpoint/2010/main" val="172824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5226</TotalTime>
  <Words>2084</Words>
  <Application>Microsoft Office PowerPoint</Application>
  <PresentationFormat>Widescreen</PresentationFormat>
  <Paragraphs>306</Paragraphs>
  <Slides>19</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Cambria Math</vt:lpstr>
      <vt:lpstr>Cascadia Code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176</cp:revision>
  <dcterms:created xsi:type="dcterms:W3CDTF">2022-11-22T20:08:03Z</dcterms:created>
  <dcterms:modified xsi:type="dcterms:W3CDTF">2023-08-16T09:05:21Z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