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448" r:id="rId5"/>
    <p:sldId id="2462" r:id="rId6"/>
    <p:sldId id="2479" r:id="rId7"/>
    <p:sldId id="2481" r:id="rId8"/>
    <p:sldId id="2484" r:id="rId9"/>
    <p:sldId id="2482" r:id="rId10"/>
    <p:sldId id="2483" r:id="rId11"/>
    <p:sldId id="2485" r:id="rId12"/>
    <p:sldId id="2486" r:id="rId13"/>
    <p:sldId id="2487" r:id="rId14"/>
    <p:sldId id="2488" r:id="rId15"/>
    <p:sldId id="2489" r:id="rId16"/>
    <p:sldId id="2490" r:id="rId17"/>
    <p:sldId id="2491" r:id="rId18"/>
    <p:sldId id="2492" r:id="rId19"/>
    <p:sldId id="2495" r:id="rId20"/>
    <p:sldId id="2496" r:id="rId21"/>
    <p:sldId id="2497" r:id="rId22"/>
    <p:sldId id="2498" r:id="rId23"/>
    <p:sldId id="2499" r:id="rId24"/>
    <p:sldId id="2500" r:id="rId25"/>
    <p:sldId id="2501" r:id="rId26"/>
    <p:sldId id="2504" r:id="rId27"/>
    <p:sldId id="2503" r:id="rId28"/>
    <p:sldId id="2502" r:id="rId29"/>
    <p:sldId id="243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CF6123-0AE6-4BD4-ADE5-5F19A9E093E9}" v="4018" dt="2023-03-10T05:56:53.800"/>
    <p1510:client id="{C6795B63-7D89-4AA1-88EA-80EA7C4E130A}" v="688" dt="2023-03-11T05:14:48.645"/>
    <p1510:client id="{DFFDD5F8-0524-4744-8952-E0C553CC4692}" v="1416" dt="2023-03-10T06:38:40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96" autoAdjust="0"/>
    <p:restoredTop sz="89150" autoAdjust="0"/>
  </p:normalViewPr>
  <p:slideViewPr>
    <p:cSldViewPr snapToGrid="0">
      <p:cViewPr varScale="1">
        <p:scale>
          <a:sx n="35" d="100"/>
          <a:sy n="35" d="100"/>
        </p:scale>
        <p:origin x="29" y="826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Count the number of fingers. That’s probably the primary intuition behind decimal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2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87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1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52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limitation of decimal is that it requires 4 bits, but does not use it all up. So for optimal use of bits, the preferred ones are Octal and Hexadecimal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949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3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99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Data compression is another use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539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272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1101001 will become 0010110</a:t>
            </a:r>
          </a:p>
          <a:p>
            <a:pPr marL="228600" indent="-228600">
              <a:buAutoNum type="arabicPeriod"/>
            </a:pPr>
            <a:r>
              <a:rPr lang="en-US" dirty="0"/>
              <a:t>If nobody asks what happens if the input is 00000000, then ask them back why you think zero should be represented as negative or positive?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33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1101001 will become 0010110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19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299,792,400</m:t>
                    </m:r>
                  </m:oMath>
                </a14:m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6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423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37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53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1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413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169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476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512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Using NAND as universal gate is a business decision, which helps chip manufacturers to get a single chip in bulk and use it for any purpose without worrying about supply and demand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813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9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microsoft.com/office/2007/relationships/hdphoto" Target="../media/hdphoto1.wdp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Decimal Number</a:t>
            </a:r>
          </a:p>
          <a:p>
            <a:r>
              <a:rPr lang="en-US" dirty="0"/>
              <a:t>Binary Numbers</a:t>
            </a:r>
          </a:p>
          <a:p>
            <a:r>
              <a:rPr lang="en-US" dirty="0"/>
              <a:t>Octal, Hexadecimal, and more</a:t>
            </a:r>
          </a:p>
          <a:p>
            <a:r>
              <a:rPr lang="en-US" dirty="0"/>
              <a:t>Activity</a:t>
            </a:r>
          </a:p>
          <a:p>
            <a:r>
              <a:rPr lang="en-US" dirty="0"/>
              <a:t>Binary Arithmetic</a:t>
            </a:r>
          </a:p>
          <a:p>
            <a:r>
              <a:rPr lang="en-US" dirty="0"/>
              <a:t>Floating Point Numbers</a:t>
            </a:r>
          </a:p>
          <a:p>
            <a:r>
              <a:rPr lang="en-US" dirty="0"/>
              <a:t>Logic Gates</a:t>
            </a:r>
          </a:p>
          <a:p>
            <a:r>
              <a:rPr lang="en-US" dirty="0"/>
              <a:t>NAND as Universal Gate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Decimal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number system for mankind.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Base is 10, therefore 10 unique symbols.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For number 54, digit ‘4’ has a weight of 1 and 5 has a weight of 10. Meaning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+4×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=54</m:t>
                    </m:r>
                  </m:oMath>
                </a14:m>
                <a:endParaRPr lang="en-US" sz="3400" b="0" dirty="0"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Similarly,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15.34=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.3×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3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Can you express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568.23</m:t>
                    </m:r>
                  </m:oMath>
                </a14:m>
                <a:r>
                  <a:rPr lang="en-US" sz="3400" dirty="0"/>
                  <a:t> as sum of values?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Remember! All the arithmetic operations were invented for decimal numbers. They will be used only when converting from/to decimal numbers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b="-1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10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number system for computers.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Base is 2, therefore 2 unique symbols.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For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400" i="1" dirty="0" smtClean="0">
                                <a:latin typeface="Cambria Math" panose="02040503050406030204" pitchFamily="18" charset="0"/>
                              </a:rPr>
                              <m:t>110</m:t>
                            </m:r>
                          </m:e>
                        </m:d>
                      </m:e>
                      <m:sub>
                        <m:r>
                          <a:rPr lang="en-US" sz="3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400" dirty="0"/>
                  <a:t>, the weighting structure will be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+1×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+0×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endParaRPr lang="en-US" sz="3400" b="0" dirty="0"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Similarly, </a:t>
                </a:r>
                <a14:m>
                  <m:oMath xmlns:m="http://schemas.openxmlformats.org/officeDocument/2006/math"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101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.1×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+1×</m:t>
                    </m:r>
                    <m:sSup>
                      <m:sSupPr>
                        <m:ctrlP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3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=2.625</m:t>
                    </m:r>
                  </m:oMath>
                </a14:m>
                <a:endParaRPr lang="en-US" sz="3400" b="0" dirty="0"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Here,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3400" dirty="0"/>
                  <a:t> is the integer part and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0.625</m:t>
                    </m:r>
                  </m:oMath>
                </a14:m>
                <a:r>
                  <a:rPr lang="en-US" sz="3400" dirty="0"/>
                  <a:t> is fractal part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90" b="-3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93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Numbers – Waveform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1268" name="Picture 4" descr="Counters – ALL ABOUT ELECTRONICS">
            <a:extLst>
              <a:ext uri="{FF2B5EF4-FFF2-40B4-BE49-F238E27FC236}">
                <a16:creationId xmlns:a16="http://schemas.microsoft.com/office/drawing/2014/main" id="{BA91136C-DFAF-E6B0-B8E9-A20B974F7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18"/>
          <a:stretch/>
        </p:blipFill>
        <p:spPr bwMode="auto">
          <a:xfrm>
            <a:off x="1395730" y="1371600"/>
            <a:ext cx="9400540" cy="496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Binary to Decimal conversion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Use the weighted form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Convert 11001 to decimal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Decimal to Binary conversion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Keep dividing till zero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Convert 25 to binary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1971" b="-261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D0C4D95-3A08-1C5E-85E5-E142DB05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606" y="2700176"/>
            <a:ext cx="38481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1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Octal and Hexadecimal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084656" cy="488787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Octal has base 8, therefore 8 unique symbols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But why are they even needed?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Occupy all numbers that can be stored in 3 bits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Simple, closest to denary number systems (no alphabets)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Sometimes saves memory, for example in UNIX file permissions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7 </a:t>
            </a:r>
            <a:r>
              <a:rPr lang="en-US" sz="3200" dirty="0" err="1"/>
              <a:t>Colours</a:t>
            </a:r>
            <a:r>
              <a:rPr lang="en-US" sz="3200" dirty="0"/>
              <a:t> of prism can be given octal codes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Day of week can be represented in octal number system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Can you come up with anything else which can be represented in octal?</a:t>
            </a:r>
          </a:p>
        </p:txBody>
      </p:sp>
      <p:pic>
        <p:nvPicPr>
          <p:cNvPr id="9" name="Picture 2" descr="Image result for octal number funny">
            <a:extLst>
              <a:ext uri="{FF2B5EF4-FFF2-40B4-BE49-F238E27FC236}">
                <a16:creationId xmlns:a16="http://schemas.microsoft.com/office/drawing/2014/main" id="{764CE750-C9A2-4344-4CF8-589A12BAC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441" y="2423283"/>
            <a:ext cx="4448175" cy="310648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48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Octal and Hexadecimal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Octal to binary conversion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Split the digits in octal number separately and write their binary equivalent. For example, if we are converting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325</m:t>
                            </m:r>
                          </m:e>
                        </m:d>
                      </m:e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get 011 010 101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Skip the leading zero: 11010101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E4DE4D9F-7B3E-0EB0-9E06-6F6C291075F4}"/>
              </a:ext>
            </a:extLst>
          </p:cNvPr>
          <p:cNvGrpSpPr/>
          <p:nvPr/>
        </p:nvGrpSpPr>
        <p:grpSpPr>
          <a:xfrm>
            <a:off x="9064759" y="4007140"/>
            <a:ext cx="2756401" cy="2041911"/>
            <a:chOff x="4857508" y="3589863"/>
            <a:chExt cx="2327458" cy="2041911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4F964A84-1F67-44C1-AE02-038A89A0031A}"/>
                </a:ext>
              </a:extLst>
            </p:cNvPr>
            <p:cNvSpPr/>
            <p:nvPr/>
          </p:nvSpPr>
          <p:spPr>
            <a:xfrm>
              <a:off x="4857508" y="3589863"/>
              <a:ext cx="2327458" cy="652869"/>
            </a:xfrm>
            <a:custGeom>
              <a:avLst/>
              <a:gdLst>
                <a:gd name="connsiteX0" fmla="*/ 0 w 2327458"/>
                <a:gd name="connsiteY0" fmla="*/ 65287 h 652869"/>
                <a:gd name="connsiteX1" fmla="*/ 65287 w 2327458"/>
                <a:gd name="connsiteY1" fmla="*/ 0 h 652869"/>
                <a:gd name="connsiteX2" fmla="*/ 2262171 w 2327458"/>
                <a:gd name="connsiteY2" fmla="*/ 0 h 652869"/>
                <a:gd name="connsiteX3" fmla="*/ 2327458 w 2327458"/>
                <a:gd name="connsiteY3" fmla="*/ 65287 h 652869"/>
                <a:gd name="connsiteX4" fmla="*/ 2327458 w 2327458"/>
                <a:gd name="connsiteY4" fmla="*/ 587582 h 652869"/>
                <a:gd name="connsiteX5" fmla="*/ 2262171 w 2327458"/>
                <a:gd name="connsiteY5" fmla="*/ 652869 h 652869"/>
                <a:gd name="connsiteX6" fmla="*/ 65287 w 2327458"/>
                <a:gd name="connsiteY6" fmla="*/ 652869 h 652869"/>
                <a:gd name="connsiteX7" fmla="*/ 0 w 2327458"/>
                <a:gd name="connsiteY7" fmla="*/ 587582 h 652869"/>
                <a:gd name="connsiteX8" fmla="*/ 0 w 2327458"/>
                <a:gd name="connsiteY8" fmla="*/ 65287 h 65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27458" h="652869">
                  <a:moveTo>
                    <a:pt x="0" y="65287"/>
                  </a:moveTo>
                  <a:cubicBezTo>
                    <a:pt x="0" y="29230"/>
                    <a:pt x="29230" y="0"/>
                    <a:pt x="65287" y="0"/>
                  </a:cubicBezTo>
                  <a:lnTo>
                    <a:pt x="2262171" y="0"/>
                  </a:lnTo>
                  <a:cubicBezTo>
                    <a:pt x="2298228" y="0"/>
                    <a:pt x="2327458" y="29230"/>
                    <a:pt x="2327458" y="65287"/>
                  </a:cubicBezTo>
                  <a:lnTo>
                    <a:pt x="2327458" y="587582"/>
                  </a:lnTo>
                  <a:cubicBezTo>
                    <a:pt x="2327458" y="623639"/>
                    <a:pt x="2298228" y="652869"/>
                    <a:pt x="2262171" y="652869"/>
                  </a:cubicBezTo>
                  <a:lnTo>
                    <a:pt x="65287" y="652869"/>
                  </a:lnTo>
                  <a:cubicBezTo>
                    <a:pt x="29230" y="652869"/>
                    <a:pt x="0" y="623639"/>
                    <a:pt x="0" y="587582"/>
                  </a:cubicBezTo>
                  <a:lnTo>
                    <a:pt x="0" y="65287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9612" tIns="129612" rIns="129612" bIns="129612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900" kern="1200" dirty="0"/>
                <a:t>325</a:t>
              </a:r>
              <a:r>
                <a:rPr lang="en-US" sz="2900" kern="1200" baseline="-25000" dirty="0"/>
                <a:t>8</a:t>
              </a:r>
              <a:endParaRPr lang="en-GB" sz="2900" kern="1200" baseline="-25000" dirty="0"/>
            </a:p>
          </p:txBody>
        </p:sp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D792E484-ADE9-A17E-A187-38014C58A5EE}"/>
                </a:ext>
              </a:extLst>
            </p:cNvPr>
            <p:cNvSpPr/>
            <p:nvPr/>
          </p:nvSpPr>
          <p:spPr>
            <a:xfrm>
              <a:off x="4857508" y="4284384"/>
              <a:ext cx="734677" cy="652869"/>
            </a:xfrm>
            <a:custGeom>
              <a:avLst/>
              <a:gdLst>
                <a:gd name="connsiteX0" fmla="*/ 0 w 734677"/>
                <a:gd name="connsiteY0" fmla="*/ 65287 h 652869"/>
                <a:gd name="connsiteX1" fmla="*/ 65287 w 734677"/>
                <a:gd name="connsiteY1" fmla="*/ 0 h 652869"/>
                <a:gd name="connsiteX2" fmla="*/ 669390 w 734677"/>
                <a:gd name="connsiteY2" fmla="*/ 0 h 652869"/>
                <a:gd name="connsiteX3" fmla="*/ 734677 w 734677"/>
                <a:gd name="connsiteY3" fmla="*/ 65287 h 652869"/>
                <a:gd name="connsiteX4" fmla="*/ 734677 w 734677"/>
                <a:gd name="connsiteY4" fmla="*/ 587582 h 652869"/>
                <a:gd name="connsiteX5" fmla="*/ 669390 w 734677"/>
                <a:gd name="connsiteY5" fmla="*/ 652869 h 652869"/>
                <a:gd name="connsiteX6" fmla="*/ 65287 w 734677"/>
                <a:gd name="connsiteY6" fmla="*/ 652869 h 652869"/>
                <a:gd name="connsiteX7" fmla="*/ 0 w 734677"/>
                <a:gd name="connsiteY7" fmla="*/ 587582 h 652869"/>
                <a:gd name="connsiteX8" fmla="*/ 0 w 734677"/>
                <a:gd name="connsiteY8" fmla="*/ 65287 h 65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677" h="652869">
                  <a:moveTo>
                    <a:pt x="0" y="65287"/>
                  </a:moveTo>
                  <a:cubicBezTo>
                    <a:pt x="0" y="29230"/>
                    <a:pt x="29230" y="0"/>
                    <a:pt x="65287" y="0"/>
                  </a:cubicBezTo>
                  <a:lnTo>
                    <a:pt x="669390" y="0"/>
                  </a:lnTo>
                  <a:cubicBezTo>
                    <a:pt x="705447" y="0"/>
                    <a:pt x="734677" y="29230"/>
                    <a:pt x="734677" y="65287"/>
                  </a:cubicBezTo>
                  <a:lnTo>
                    <a:pt x="734677" y="587582"/>
                  </a:lnTo>
                  <a:cubicBezTo>
                    <a:pt x="734677" y="623639"/>
                    <a:pt x="705447" y="652869"/>
                    <a:pt x="669390" y="652869"/>
                  </a:cubicBezTo>
                  <a:lnTo>
                    <a:pt x="65287" y="652869"/>
                  </a:lnTo>
                  <a:cubicBezTo>
                    <a:pt x="29230" y="652869"/>
                    <a:pt x="0" y="623639"/>
                    <a:pt x="0" y="587582"/>
                  </a:cubicBezTo>
                  <a:lnTo>
                    <a:pt x="0" y="65287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9612" tIns="129612" rIns="129612" bIns="129612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900" kern="1200" dirty="0"/>
                <a:t>3</a:t>
              </a:r>
              <a:endParaRPr lang="en-GB" sz="2900" kern="1200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8DAE894-B7DC-7BDC-CD2E-FBA2EB9F4276}"/>
                </a:ext>
              </a:extLst>
            </p:cNvPr>
            <p:cNvSpPr/>
            <p:nvPr/>
          </p:nvSpPr>
          <p:spPr>
            <a:xfrm>
              <a:off x="4857508" y="4978905"/>
              <a:ext cx="734677" cy="652869"/>
            </a:xfrm>
            <a:custGeom>
              <a:avLst/>
              <a:gdLst>
                <a:gd name="connsiteX0" fmla="*/ 0 w 734677"/>
                <a:gd name="connsiteY0" fmla="*/ 65287 h 652869"/>
                <a:gd name="connsiteX1" fmla="*/ 65287 w 734677"/>
                <a:gd name="connsiteY1" fmla="*/ 0 h 652869"/>
                <a:gd name="connsiteX2" fmla="*/ 669390 w 734677"/>
                <a:gd name="connsiteY2" fmla="*/ 0 h 652869"/>
                <a:gd name="connsiteX3" fmla="*/ 734677 w 734677"/>
                <a:gd name="connsiteY3" fmla="*/ 65287 h 652869"/>
                <a:gd name="connsiteX4" fmla="*/ 734677 w 734677"/>
                <a:gd name="connsiteY4" fmla="*/ 587582 h 652869"/>
                <a:gd name="connsiteX5" fmla="*/ 669390 w 734677"/>
                <a:gd name="connsiteY5" fmla="*/ 652869 h 652869"/>
                <a:gd name="connsiteX6" fmla="*/ 65287 w 734677"/>
                <a:gd name="connsiteY6" fmla="*/ 652869 h 652869"/>
                <a:gd name="connsiteX7" fmla="*/ 0 w 734677"/>
                <a:gd name="connsiteY7" fmla="*/ 587582 h 652869"/>
                <a:gd name="connsiteX8" fmla="*/ 0 w 734677"/>
                <a:gd name="connsiteY8" fmla="*/ 65287 h 65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677" h="652869">
                  <a:moveTo>
                    <a:pt x="0" y="65287"/>
                  </a:moveTo>
                  <a:cubicBezTo>
                    <a:pt x="0" y="29230"/>
                    <a:pt x="29230" y="0"/>
                    <a:pt x="65287" y="0"/>
                  </a:cubicBezTo>
                  <a:lnTo>
                    <a:pt x="669390" y="0"/>
                  </a:lnTo>
                  <a:cubicBezTo>
                    <a:pt x="705447" y="0"/>
                    <a:pt x="734677" y="29230"/>
                    <a:pt x="734677" y="65287"/>
                  </a:cubicBezTo>
                  <a:lnTo>
                    <a:pt x="734677" y="587582"/>
                  </a:lnTo>
                  <a:cubicBezTo>
                    <a:pt x="734677" y="623639"/>
                    <a:pt x="705447" y="652869"/>
                    <a:pt x="669390" y="652869"/>
                  </a:cubicBezTo>
                  <a:lnTo>
                    <a:pt x="65287" y="652869"/>
                  </a:lnTo>
                  <a:cubicBezTo>
                    <a:pt x="29230" y="652869"/>
                    <a:pt x="0" y="623639"/>
                    <a:pt x="0" y="587582"/>
                  </a:cubicBezTo>
                  <a:lnTo>
                    <a:pt x="0" y="65287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72" tIns="114372" rIns="114372" bIns="114372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/>
                <a:t>011</a:t>
              </a:r>
              <a:endParaRPr lang="en-GB" sz="2500" kern="1200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456527D-2AC1-9CB7-7D3E-85DEF46A0AC1}"/>
                </a:ext>
              </a:extLst>
            </p:cNvPr>
            <p:cNvSpPr/>
            <p:nvPr/>
          </p:nvSpPr>
          <p:spPr>
            <a:xfrm>
              <a:off x="5653898" y="4284384"/>
              <a:ext cx="734677" cy="652869"/>
            </a:xfrm>
            <a:custGeom>
              <a:avLst/>
              <a:gdLst>
                <a:gd name="connsiteX0" fmla="*/ 0 w 734677"/>
                <a:gd name="connsiteY0" fmla="*/ 65287 h 652869"/>
                <a:gd name="connsiteX1" fmla="*/ 65287 w 734677"/>
                <a:gd name="connsiteY1" fmla="*/ 0 h 652869"/>
                <a:gd name="connsiteX2" fmla="*/ 669390 w 734677"/>
                <a:gd name="connsiteY2" fmla="*/ 0 h 652869"/>
                <a:gd name="connsiteX3" fmla="*/ 734677 w 734677"/>
                <a:gd name="connsiteY3" fmla="*/ 65287 h 652869"/>
                <a:gd name="connsiteX4" fmla="*/ 734677 w 734677"/>
                <a:gd name="connsiteY4" fmla="*/ 587582 h 652869"/>
                <a:gd name="connsiteX5" fmla="*/ 669390 w 734677"/>
                <a:gd name="connsiteY5" fmla="*/ 652869 h 652869"/>
                <a:gd name="connsiteX6" fmla="*/ 65287 w 734677"/>
                <a:gd name="connsiteY6" fmla="*/ 652869 h 652869"/>
                <a:gd name="connsiteX7" fmla="*/ 0 w 734677"/>
                <a:gd name="connsiteY7" fmla="*/ 587582 h 652869"/>
                <a:gd name="connsiteX8" fmla="*/ 0 w 734677"/>
                <a:gd name="connsiteY8" fmla="*/ 65287 h 65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677" h="652869">
                  <a:moveTo>
                    <a:pt x="0" y="65287"/>
                  </a:moveTo>
                  <a:cubicBezTo>
                    <a:pt x="0" y="29230"/>
                    <a:pt x="29230" y="0"/>
                    <a:pt x="65287" y="0"/>
                  </a:cubicBezTo>
                  <a:lnTo>
                    <a:pt x="669390" y="0"/>
                  </a:lnTo>
                  <a:cubicBezTo>
                    <a:pt x="705447" y="0"/>
                    <a:pt x="734677" y="29230"/>
                    <a:pt x="734677" y="65287"/>
                  </a:cubicBezTo>
                  <a:lnTo>
                    <a:pt x="734677" y="587582"/>
                  </a:lnTo>
                  <a:cubicBezTo>
                    <a:pt x="734677" y="623639"/>
                    <a:pt x="705447" y="652869"/>
                    <a:pt x="669390" y="652869"/>
                  </a:cubicBezTo>
                  <a:lnTo>
                    <a:pt x="65287" y="652869"/>
                  </a:lnTo>
                  <a:cubicBezTo>
                    <a:pt x="29230" y="652869"/>
                    <a:pt x="0" y="623639"/>
                    <a:pt x="0" y="587582"/>
                  </a:cubicBezTo>
                  <a:lnTo>
                    <a:pt x="0" y="65287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9612" tIns="129612" rIns="129612" bIns="129612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900" kern="1200" dirty="0"/>
                <a:t>2</a:t>
              </a:r>
              <a:endParaRPr lang="en-GB" sz="2900" kern="1200" dirty="0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FC16F735-F701-EB77-298A-BFE79E567678}"/>
                </a:ext>
              </a:extLst>
            </p:cNvPr>
            <p:cNvSpPr/>
            <p:nvPr/>
          </p:nvSpPr>
          <p:spPr>
            <a:xfrm>
              <a:off x="5653898" y="4978905"/>
              <a:ext cx="734677" cy="652869"/>
            </a:xfrm>
            <a:custGeom>
              <a:avLst/>
              <a:gdLst>
                <a:gd name="connsiteX0" fmla="*/ 0 w 734677"/>
                <a:gd name="connsiteY0" fmla="*/ 65287 h 652869"/>
                <a:gd name="connsiteX1" fmla="*/ 65287 w 734677"/>
                <a:gd name="connsiteY1" fmla="*/ 0 h 652869"/>
                <a:gd name="connsiteX2" fmla="*/ 669390 w 734677"/>
                <a:gd name="connsiteY2" fmla="*/ 0 h 652869"/>
                <a:gd name="connsiteX3" fmla="*/ 734677 w 734677"/>
                <a:gd name="connsiteY3" fmla="*/ 65287 h 652869"/>
                <a:gd name="connsiteX4" fmla="*/ 734677 w 734677"/>
                <a:gd name="connsiteY4" fmla="*/ 587582 h 652869"/>
                <a:gd name="connsiteX5" fmla="*/ 669390 w 734677"/>
                <a:gd name="connsiteY5" fmla="*/ 652869 h 652869"/>
                <a:gd name="connsiteX6" fmla="*/ 65287 w 734677"/>
                <a:gd name="connsiteY6" fmla="*/ 652869 h 652869"/>
                <a:gd name="connsiteX7" fmla="*/ 0 w 734677"/>
                <a:gd name="connsiteY7" fmla="*/ 587582 h 652869"/>
                <a:gd name="connsiteX8" fmla="*/ 0 w 734677"/>
                <a:gd name="connsiteY8" fmla="*/ 65287 h 65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677" h="652869">
                  <a:moveTo>
                    <a:pt x="0" y="65287"/>
                  </a:moveTo>
                  <a:cubicBezTo>
                    <a:pt x="0" y="29230"/>
                    <a:pt x="29230" y="0"/>
                    <a:pt x="65287" y="0"/>
                  </a:cubicBezTo>
                  <a:lnTo>
                    <a:pt x="669390" y="0"/>
                  </a:lnTo>
                  <a:cubicBezTo>
                    <a:pt x="705447" y="0"/>
                    <a:pt x="734677" y="29230"/>
                    <a:pt x="734677" y="65287"/>
                  </a:cubicBezTo>
                  <a:lnTo>
                    <a:pt x="734677" y="587582"/>
                  </a:lnTo>
                  <a:cubicBezTo>
                    <a:pt x="734677" y="623639"/>
                    <a:pt x="705447" y="652869"/>
                    <a:pt x="669390" y="652869"/>
                  </a:cubicBezTo>
                  <a:lnTo>
                    <a:pt x="65287" y="652869"/>
                  </a:lnTo>
                  <a:cubicBezTo>
                    <a:pt x="29230" y="652869"/>
                    <a:pt x="0" y="623639"/>
                    <a:pt x="0" y="587582"/>
                  </a:cubicBezTo>
                  <a:lnTo>
                    <a:pt x="0" y="65287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72" tIns="114372" rIns="114372" bIns="114372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/>
                <a:t>010</a:t>
              </a:r>
              <a:endParaRPr lang="en-GB" sz="2500" kern="1200" dirty="0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9D4F920-4598-50D3-38FA-6D6C6031EF83}"/>
                </a:ext>
              </a:extLst>
            </p:cNvPr>
            <p:cNvSpPr/>
            <p:nvPr/>
          </p:nvSpPr>
          <p:spPr>
            <a:xfrm>
              <a:off x="6450289" y="4284384"/>
              <a:ext cx="734677" cy="652869"/>
            </a:xfrm>
            <a:custGeom>
              <a:avLst/>
              <a:gdLst>
                <a:gd name="connsiteX0" fmla="*/ 0 w 734677"/>
                <a:gd name="connsiteY0" fmla="*/ 65287 h 652869"/>
                <a:gd name="connsiteX1" fmla="*/ 65287 w 734677"/>
                <a:gd name="connsiteY1" fmla="*/ 0 h 652869"/>
                <a:gd name="connsiteX2" fmla="*/ 669390 w 734677"/>
                <a:gd name="connsiteY2" fmla="*/ 0 h 652869"/>
                <a:gd name="connsiteX3" fmla="*/ 734677 w 734677"/>
                <a:gd name="connsiteY3" fmla="*/ 65287 h 652869"/>
                <a:gd name="connsiteX4" fmla="*/ 734677 w 734677"/>
                <a:gd name="connsiteY4" fmla="*/ 587582 h 652869"/>
                <a:gd name="connsiteX5" fmla="*/ 669390 w 734677"/>
                <a:gd name="connsiteY5" fmla="*/ 652869 h 652869"/>
                <a:gd name="connsiteX6" fmla="*/ 65287 w 734677"/>
                <a:gd name="connsiteY6" fmla="*/ 652869 h 652869"/>
                <a:gd name="connsiteX7" fmla="*/ 0 w 734677"/>
                <a:gd name="connsiteY7" fmla="*/ 587582 h 652869"/>
                <a:gd name="connsiteX8" fmla="*/ 0 w 734677"/>
                <a:gd name="connsiteY8" fmla="*/ 65287 h 65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677" h="652869">
                  <a:moveTo>
                    <a:pt x="0" y="65287"/>
                  </a:moveTo>
                  <a:cubicBezTo>
                    <a:pt x="0" y="29230"/>
                    <a:pt x="29230" y="0"/>
                    <a:pt x="65287" y="0"/>
                  </a:cubicBezTo>
                  <a:lnTo>
                    <a:pt x="669390" y="0"/>
                  </a:lnTo>
                  <a:cubicBezTo>
                    <a:pt x="705447" y="0"/>
                    <a:pt x="734677" y="29230"/>
                    <a:pt x="734677" y="65287"/>
                  </a:cubicBezTo>
                  <a:lnTo>
                    <a:pt x="734677" y="587582"/>
                  </a:lnTo>
                  <a:cubicBezTo>
                    <a:pt x="734677" y="623639"/>
                    <a:pt x="705447" y="652869"/>
                    <a:pt x="669390" y="652869"/>
                  </a:cubicBezTo>
                  <a:lnTo>
                    <a:pt x="65287" y="652869"/>
                  </a:lnTo>
                  <a:cubicBezTo>
                    <a:pt x="29230" y="652869"/>
                    <a:pt x="0" y="623639"/>
                    <a:pt x="0" y="587582"/>
                  </a:cubicBezTo>
                  <a:lnTo>
                    <a:pt x="0" y="65287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9612" tIns="129612" rIns="129612" bIns="129612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900" kern="1200" dirty="0"/>
                <a:t>5</a:t>
              </a:r>
              <a:endParaRPr lang="en-GB" sz="2900" kern="1200" dirty="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8DF4AC83-FEE2-0013-85F2-8147E63DEE1C}"/>
                </a:ext>
              </a:extLst>
            </p:cNvPr>
            <p:cNvSpPr/>
            <p:nvPr/>
          </p:nvSpPr>
          <p:spPr>
            <a:xfrm>
              <a:off x="6450289" y="4978905"/>
              <a:ext cx="734677" cy="652869"/>
            </a:xfrm>
            <a:custGeom>
              <a:avLst/>
              <a:gdLst>
                <a:gd name="connsiteX0" fmla="*/ 0 w 734677"/>
                <a:gd name="connsiteY0" fmla="*/ 65287 h 652869"/>
                <a:gd name="connsiteX1" fmla="*/ 65287 w 734677"/>
                <a:gd name="connsiteY1" fmla="*/ 0 h 652869"/>
                <a:gd name="connsiteX2" fmla="*/ 669390 w 734677"/>
                <a:gd name="connsiteY2" fmla="*/ 0 h 652869"/>
                <a:gd name="connsiteX3" fmla="*/ 734677 w 734677"/>
                <a:gd name="connsiteY3" fmla="*/ 65287 h 652869"/>
                <a:gd name="connsiteX4" fmla="*/ 734677 w 734677"/>
                <a:gd name="connsiteY4" fmla="*/ 587582 h 652869"/>
                <a:gd name="connsiteX5" fmla="*/ 669390 w 734677"/>
                <a:gd name="connsiteY5" fmla="*/ 652869 h 652869"/>
                <a:gd name="connsiteX6" fmla="*/ 65287 w 734677"/>
                <a:gd name="connsiteY6" fmla="*/ 652869 h 652869"/>
                <a:gd name="connsiteX7" fmla="*/ 0 w 734677"/>
                <a:gd name="connsiteY7" fmla="*/ 587582 h 652869"/>
                <a:gd name="connsiteX8" fmla="*/ 0 w 734677"/>
                <a:gd name="connsiteY8" fmla="*/ 65287 h 65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4677" h="652869">
                  <a:moveTo>
                    <a:pt x="0" y="65287"/>
                  </a:moveTo>
                  <a:cubicBezTo>
                    <a:pt x="0" y="29230"/>
                    <a:pt x="29230" y="0"/>
                    <a:pt x="65287" y="0"/>
                  </a:cubicBezTo>
                  <a:lnTo>
                    <a:pt x="669390" y="0"/>
                  </a:lnTo>
                  <a:cubicBezTo>
                    <a:pt x="705447" y="0"/>
                    <a:pt x="734677" y="29230"/>
                    <a:pt x="734677" y="65287"/>
                  </a:cubicBezTo>
                  <a:lnTo>
                    <a:pt x="734677" y="587582"/>
                  </a:lnTo>
                  <a:cubicBezTo>
                    <a:pt x="734677" y="623639"/>
                    <a:pt x="705447" y="652869"/>
                    <a:pt x="669390" y="652869"/>
                  </a:cubicBezTo>
                  <a:lnTo>
                    <a:pt x="65287" y="652869"/>
                  </a:lnTo>
                  <a:cubicBezTo>
                    <a:pt x="29230" y="652869"/>
                    <a:pt x="0" y="623639"/>
                    <a:pt x="0" y="587582"/>
                  </a:cubicBezTo>
                  <a:lnTo>
                    <a:pt x="0" y="65287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72" tIns="114372" rIns="114372" bIns="114372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kern="1200" dirty="0"/>
                <a:t>101</a:t>
              </a:r>
              <a:endParaRPr lang="en-GB" sz="2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2325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Octal and Hexadecimal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791777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Octal to Decimal conversion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Use the weighted form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  <m:t>357</m:t>
                            </m:r>
                          </m:e>
                        </m:d>
                      </m:e>
                      <m:sub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3000" dirty="0"/>
                  <a:t> to Decimal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=239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Any idea how to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  <m:t>0.687</m:t>
                            </m:r>
                          </m:e>
                        </m:d>
                      </m:e>
                      <m:sub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3000" dirty="0"/>
                  <a:t>?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0.687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×8=5.496=5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|0.496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𝑓𝑟𝑎𝑐</m:t>
                    </m:r>
                  </m:oMath>
                </a14:m>
                <a:endParaRPr lang="en-US" sz="3000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0.496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×8=3.968=3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|0.968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𝑓𝑟𝑎𝑐</m:t>
                    </m:r>
                  </m:oMath>
                </a14:m>
                <a:endParaRPr lang="en-US" sz="3000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0.968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8=7.744=7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𝑖𝑛𝑡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|0.744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𝑓𝑟𝑎𝑐</m:t>
                    </m:r>
                  </m:oMath>
                </a14:m>
                <a:endParaRPr lang="en-US" sz="3000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… go on to your level of accuracy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For an accuracy of 3 decimal places, the answer is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0.537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Decimal to Octal conversion. E.g.,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239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7917776" cy="4887878"/>
              </a:xfrm>
              <a:prstGeom prst="rect">
                <a:avLst/>
              </a:prstGeom>
              <a:blipFill>
                <a:blip r:embed="rId3"/>
                <a:stretch>
                  <a:fillRect l="-1078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C095264F-4CC4-53B1-8B51-E011782D5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3976526"/>
            <a:ext cx="42862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8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Octal and Hexadecimal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Hexa-decimal has a base of 16, therefore 16 unique symbols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Occupy all possible numbers that can be stored in 4 bits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Save memory: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Remember one byte has 8 bits (binary digits)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8 bits, we can store 2 hexadecimal numbers = 256 values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8 bits, we can store 2 denary numbers = 100 values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Uses: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ASCII (American Standard Code for Information Interchange) characters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 err="1"/>
              <a:t>Colour</a:t>
            </a:r>
            <a:r>
              <a:rPr lang="en-US" sz="3000" dirty="0"/>
              <a:t> codes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MAC addresses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Can you mention another use case?</a:t>
            </a:r>
          </a:p>
        </p:txBody>
      </p:sp>
    </p:spTree>
    <p:extLst>
      <p:ext uri="{BB962C8B-B14F-4D97-AF65-F5344CB8AC3E}">
        <p14:creationId xmlns:p14="http://schemas.microsoft.com/office/powerpoint/2010/main" val="132324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1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Convert your current CGPA into Binary, Octal, Hexadecimal numbers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Then convert the answers back again into Decimal.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Invent an imaginary number system with a base of 32.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Write down all unique symbols you’ll use.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Convert your Mobile phone number into your imaginary number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Then convert the answer back to Binary value.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59758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Arithmetic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Addition: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1111+1100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Subtraction: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1100−101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Multiplication: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1101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×1010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Division: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110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÷10</m:t>
                    </m:r>
                  </m:oMath>
                </a14:m>
                <a:endParaRPr lang="en-US" sz="3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in doubt, you can fallback to indirect calculation using decimal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23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Arithmetic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Complement method are important as they can be used to represent negative numbers.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Used when there is no minus sign available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1’s complement: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Change all 1’s to 0’s and all 0’s to 1’s (inverters or NOT circuits)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result is negative representation of the input number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Convert 1101001 into its 1’s complement form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2’s complement = 1’s complement + 1</a:t>
            </a:r>
          </a:p>
        </p:txBody>
      </p:sp>
    </p:spTree>
    <p:extLst>
      <p:ext uri="{BB962C8B-B14F-4D97-AF65-F5344CB8AC3E}">
        <p14:creationId xmlns:p14="http://schemas.microsoft.com/office/powerpoint/2010/main" val="136202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Arithmetic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Sign bit for negative representation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drawback of sign bit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Why languages have unsigned data types?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u="sng" dirty="0"/>
              <a:t>0</a:t>
            </a:r>
            <a:r>
              <a:rPr lang="en-US" sz="3000" dirty="0"/>
              <a:t>0011001 has a positive sign and value 11001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Represent the ASCII code of your blood group as a signed binary number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84488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Floating Point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Also called </a:t>
                </a:r>
                <a:r>
                  <a:rPr lang="en-US" sz="3000" i="1" dirty="0"/>
                  <a:t>Real Numbers</a:t>
                </a:r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Has 3 parts: sign bit (S), exponent (E), and mantissa (F)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For example, if the decimal number is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299,792,400</m:t>
                    </m:r>
                  </m:oMath>
                </a14:m>
                <a:r>
                  <a:rPr lang="en-US" sz="3000" dirty="0"/>
                  <a:t> then the mantissa will be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0.2997924</m:t>
                    </m:r>
                  </m:oMath>
                </a14:m>
                <a:r>
                  <a:rPr lang="en-US" sz="3000" dirty="0"/>
                  <a:t> and exponent will be 9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this number is expressed as Floating Point, the mantissa is multiplied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𝑒𝑥𝑝𝑜𝑛𝑒𝑛𝑡</m:t>
                        </m:r>
                      </m:sup>
                    </m:sSup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0.2997924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 single-precision floating point number occupies 32-bits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1 sign bit|8 Exponent bits|23 mantissa bits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Can you represent your date of birth as Floating-Point Number?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 double-precision floating point number occupies 64-bits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998" b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6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or Logic Circuits or Logic Functions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 numCol="2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Basic Gates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Symbolic Representation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Extended Gates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NAND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NOR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XOR and XNOR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XAND and XNAND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Waveforms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Truth Table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Timing Diagram</a:t>
            </a:r>
          </a:p>
        </p:txBody>
      </p:sp>
    </p:spTree>
    <p:extLst>
      <p:ext uri="{BB962C8B-B14F-4D97-AF65-F5344CB8AC3E}">
        <p14:creationId xmlns:p14="http://schemas.microsoft.com/office/powerpoint/2010/main" val="24516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- Inverter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2352029"/>
          </a:xfrm>
          <a:prstGeom prst="rect">
            <a:avLst/>
          </a:prstGeom>
        </p:spPr>
        <p:txBody>
          <a:bodyPr numCol="2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Inverter or NOT gate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Function: to invert the input value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Symbol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Truth Table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Waveform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Timing Diagram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Timing Diagram of 1011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1’s compliment circuit as application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D3CD2C2-B7AA-BEF9-74AF-9AB3E7735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0224" y="3884616"/>
            <a:ext cx="6324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D7D62965-2890-149A-A3C3-E761E8821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r="34" b="27371"/>
          <a:stretch>
            <a:fillRect/>
          </a:stretch>
        </p:blipFill>
        <p:spPr bwMode="auto">
          <a:xfrm>
            <a:off x="6534824" y="4045603"/>
            <a:ext cx="4724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147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- AND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942829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AND gate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Function: true if all are true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Symbol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10110 AND 11100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Truth Table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Waveform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Timing Diagram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3-input AND gate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C1F04B-6954-B41E-AF02-A1B6CD1C53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7797" r="17739" b="16874"/>
          <a:stretch/>
        </p:blipFill>
        <p:spPr bwMode="auto">
          <a:xfrm>
            <a:off x="6322656" y="2518101"/>
            <a:ext cx="564896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A39E24F-CAA5-D524-E64E-724D99FEF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8736" t="17418" r="18506" b="39922"/>
          <a:stretch/>
        </p:blipFill>
        <p:spPr bwMode="auto">
          <a:xfrm>
            <a:off x="5387872" y="2177735"/>
            <a:ext cx="6583744" cy="3317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715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– AND application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7F026FB-6743-AA5E-97C3-2351693D4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1080" y="1511409"/>
            <a:ext cx="10149840" cy="481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6758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- OR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942829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OR gate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Function: true if any is true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Symbol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1001 OR 1100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Truth Table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Waveform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Timing Diagram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3-input OR gate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9A09B40-E524-5765-2561-E1D7F3D63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9123" r="19941" b="17018"/>
          <a:stretch/>
        </p:blipFill>
        <p:spPr bwMode="auto">
          <a:xfrm>
            <a:off x="6898640" y="1821180"/>
            <a:ext cx="5293360" cy="3215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54EFA5F-33CE-2D86-9AFB-33A113453F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8835" t="20000" r="15819" b="40889"/>
          <a:stretch/>
        </p:blipFill>
        <p:spPr bwMode="auto">
          <a:xfrm>
            <a:off x="4952438" y="2053520"/>
            <a:ext cx="7019178" cy="3204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9220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– OR application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8AB5C-4DBA-D7F6-342F-EFC8DC5DCF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b="12655"/>
          <a:stretch/>
        </p:blipFill>
        <p:spPr bwMode="auto">
          <a:xfrm>
            <a:off x="937260" y="1598615"/>
            <a:ext cx="10317480" cy="4775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65563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D6C3ACA-F578-1BF0-E95F-10A8531DA0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399"/>
          <a:stretch/>
        </p:blipFill>
        <p:spPr>
          <a:xfrm>
            <a:off x="7621955" y="2314985"/>
            <a:ext cx="4341445" cy="3000621"/>
          </a:xfrm>
          <a:prstGeom prst="rect">
            <a:avLst/>
          </a:prstGeom>
        </p:spPr>
      </p:pic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- NAND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942829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NAND gate – NOT-AND gate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Function: false if all are true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Symbol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10110 NAND 11100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Truth Table; Waveform; Timing Diagram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3-input NAND gate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42D8EB5-27C5-3873-B5AF-04E4452AEC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135" r="16611" b="20329"/>
          <a:stretch/>
        </p:blipFill>
        <p:spPr bwMode="auto">
          <a:xfrm>
            <a:off x="5452842" y="1974004"/>
            <a:ext cx="6739158" cy="3306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0300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- XOR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942829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XOR gate – Exclusive OR gate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Function: any but not all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Symbol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10110 XOR 11100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Truth Table; Waveform; Timing Diagram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3-input XOR gate?!</a:t>
            </a:r>
          </a:p>
        </p:txBody>
      </p:sp>
      <p:pic>
        <p:nvPicPr>
          <p:cNvPr id="5" name="Picture 4" descr="Image result for xor gate">
            <a:extLst>
              <a:ext uri="{FF2B5EF4-FFF2-40B4-BE49-F238E27FC236}">
                <a16:creationId xmlns:a16="http://schemas.microsoft.com/office/drawing/2014/main" id="{4BD0F157-1158-0F77-3890-28A423CF8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877" y="1428027"/>
            <a:ext cx="2213338" cy="110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F5B21C09-575C-DD3B-9FA6-9227951822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9"/>
          <a:stretch/>
        </p:blipFill>
        <p:spPr>
          <a:xfrm>
            <a:off x="7998699" y="2414168"/>
            <a:ext cx="3964701" cy="1646472"/>
          </a:xfrm>
          <a:prstGeom prst="rect">
            <a:avLst/>
          </a:prstGeom>
        </p:spPr>
      </p:pic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FEBFA153-7CBD-C387-AE41-C7328A315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507934"/>
              </p:ext>
            </p:extLst>
          </p:nvPr>
        </p:nvGraphicFramePr>
        <p:xfrm>
          <a:off x="7254507" y="1596497"/>
          <a:ext cx="474330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03">
                  <a:extLst>
                    <a:ext uri="{9D8B030D-6E8A-4147-A177-3AD203B41FA5}">
                      <a16:colId xmlns:a16="http://schemas.microsoft.com/office/drawing/2014/main" val="268884506"/>
                    </a:ext>
                  </a:extLst>
                </a:gridCol>
                <a:gridCol w="1581103">
                  <a:extLst>
                    <a:ext uri="{9D8B030D-6E8A-4147-A177-3AD203B41FA5}">
                      <a16:colId xmlns:a16="http://schemas.microsoft.com/office/drawing/2014/main" val="1409836020"/>
                    </a:ext>
                  </a:extLst>
                </a:gridCol>
                <a:gridCol w="1581103">
                  <a:extLst>
                    <a:ext uri="{9D8B030D-6E8A-4147-A177-3AD203B41FA5}">
                      <a16:colId xmlns:a16="http://schemas.microsoft.com/office/drawing/2014/main" val="3574787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XOR B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337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39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645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6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674659"/>
                  </a:ext>
                </a:extLst>
              </a:tr>
            </a:tbl>
          </a:graphicData>
        </a:graphic>
      </p:graphicFrame>
      <p:pic>
        <p:nvPicPr>
          <p:cNvPr id="13" name="Picture 1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1994FC53-A8ED-A1EE-D32F-910649A1D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866" y="3892170"/>
            <a:ext cx="5224590" cy="241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3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NAND as Universal Gate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66850"/>
          </a:xfrm>
          <a:prstGeom prst="rect">
            <a:avLst/>
          </a:prstGeom>
        </p:spPr>
        <p:txBody>
          <a:bodyPr numCol="3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NAND as Universal gate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AND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XOR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How would you make XNOR?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CC089-8E77-7A0B-F5B2-F5EC7CB9D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811" y="3754618"/>
            <a:ext cx="43624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6F29D1-E1DC-ACE2-17EC-B7B99B9B2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415" y="3358055"/>
            <a:ext cx="366712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FB1B7B48-1E37-6883-9552-F7D5C7583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84" y="3752068"/>
            <a:ext cx="2626273" cy="67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725125D-30D6-290C-FE30-715FC319B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84" y="4847578"/>
            <a:ext cx="3672506" cy="131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05F668F-AE9A-8AB9-BB2E-F09EDB32D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566" y="4759129"/>
            <a:ext cx="4434429" cy="147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88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Logic Gates - Notations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</p:spPr>
            <p:txBody>
              <a:bodyPr numCol="1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Research communities use different notations: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NOT(A):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000" b="0" i="0" dirty="0" smtClean="0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30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AND(A, B):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OR(A, B):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NAND(A, B):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;(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NOR(A, B):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000" i="1" dirty="0">
                        <a:latin typeface="Cambria Math" panose="02040503050406030204" pitchFamily="18" charset="0"/>
                      </a:rPr>
                      <m:t>;(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XOR(A, B): </a:t>
                </a:r>
                <a14:m>
                  <m:oMath xmlns:m="http://schemas.openxmlformats.org/officeDocument/2006/math"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sz="3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bar>
                              <m:barPr>
                                <m:ctrlPr>
                                  <a:rPr lang="en-US" sz="3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3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</m:e>
                            </m:bar>
                            <m:r>
                              <a:rPr lang="en-US" sz="3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XNOR(A, B):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882" t="-740" b="-234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17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1948</TotalTime>
  <Words>1429</Words>
  <Application>Microsoft Office PowerPoint</Application>
  <PresentationFormat>Widescreen</PresentationFormat>
  <Paragraphs>262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152</cp:revision>
  <dcterms:created xsi:type="dcterms:W3CDTF">2022-11-22T20:08:03Z</dcterms:created>
  <dcterms:modified xsi:type="dcterms:W3CDTF">2023-03-11T05:17:02Z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