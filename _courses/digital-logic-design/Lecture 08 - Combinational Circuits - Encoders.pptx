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448" r:id="rId5"/>
    <p:sldId id="2462" r:id="rId6"/>
    <p:sldId id="2525" r:id="rId7"/>
    <p:sldId id="2526" r:id="rId8"/>
    <p:sldId id="2527" r:id="rId9"/>
    <p:sldId id="2528" r:id="rId10"/>
    <p:sldId id="2529" r:id="rId11"/>
    <p:sldId id="2530" r:id="rId12"/>
    <p:sldId id="243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A9EC6DC-2EC1-4120-BB9F-606007DB316C}">
          <p14:sldIdLst>
            <p14:sldId id="2448"/>
            <p14:sldId id="2462"/>
            <p14:sldId id="2525"/>
            <p14:sldId id="2526"/>
            <p14:sldId id="2527"/>
            <p14:sldId id="2528"/>
            <p14:sldId id="2529"/>
            <p14:sldId id="2530"/>
            <p14:sldId id="243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992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41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  <a:srgbClr val="A53F52"/>
    <a:srgbClr val="01023B"/>
    <a:srgbClr val="2F3342"/>
    <a:srgbClr val="2C2153"/>
    <a:srgbClr val="E99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B3EDF5-5D47-4A4C-B7C1-438542989AED}" v="1334" dt="2023-05-12T06:31:00.211"/>
    <p1510:client id="{F66FF556-EEF1-4640-96B4-457E0154F865}" v="1" dt="2023-05-13T04:52:54.01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73" autoAdjust="0"/>
    <p:restoredTop sz="89150" autoAdjust="0"/>
  </p:normalViewPr>
  <p:slideViewPr>
    <p:cSldViewPr snapToGrid="0">
      <p:cViewPr varScale="1">
        <p:scale>
          <a:sx n="73" d="100"/>
          <a:sy n="73" d="100"/>
        </p:scale>
        <p:origin x="840" y="72"/>
      </p:cViewPr>
      <p:guideLst>
        <p:guide orient="horz" pos="1992"/>
        <p:guide pos="3840"/>
        <p:guide orient="horz" pos="1416"/>
      </p:guideLst>
    </p:cSldViewPr>
  </p:slideViewPr>
  <p:outlineViewPr>
    <p:cViewPr>
      <p:scale>
        <a:sx n="33" d="100"/>
        <a:sy n="33" d="100"/>
      </p:scale>
      <p:origin x="0" y="-5189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30" d="100"/>
        <a:sy n="130" d="100"/>
      </p:scale>
      <p:origin x="0" y="-8722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wais Ahmed" userId="6abc7d4556b3b071" providerId="LiveId" clId="{F66FF556-EEF1-4640-96B4-457E0154F865}"/>
    <pc:docChg chg="addSld delSld modSld modSection">
      <pc:chgData name="Owais Ahmed" userId="6abc7d4556b3b071" providerId="LiveId" clId="{F66FF556-EEF1-4640-96B4-457E0154F865}" dt="2023-05-13T04:53:19.906" v="97" actId="20577"/>
      <pc:docMkLst>
        <pc:docMk/>
      </pc:docMkLst>
      <pc:sldChg chg="modSp mod">
        <pc:chgData name="Owais Ahmed" userId="6abc7d4556b3b071" providerId="LiveId" clId="{F66FF556-EEF1-4640-96B4-457E0154F865}" dt="2023-05-13T04:53:19.906" v="97" actId="20577"/>
        <pc:sldMkLst>
          <pc:docMk/>
          <pc:sldMk cId="1649098948" sldId="2462"/>
        </pc:sldMkLst>
        <pc:spChg chg="mod">
          <ac:chgData name="Owais Ahmed" userId="6abc7d4556b3b071" providerId="LiveId" clId="{F66FF556-EEF1-4640-96B4-457E0154F865}" dt="2023-05-13T04:53:19.906" v="97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del">
        <pc:chgData name="Owais Ahmed" userId="6abc7d4556b3b071" providerId="LiveId" clId="{F66FF556-EEF1-4640-96B4-457E0154F865}" dt="2023-05-13T04:52:51.392" v="19" actId="47"/>
        <pc:sldMkLst>
          <pc:docMk/>
          <pc:sldMk cId="138766739" sldId="2512"/>
        </pc:sldMkLst>
      </pc:sldChg>
      <pc:sldChg chg="del">
        <pc:chgData name="Owais Ahmed" userId="6abc7d4556b3b071" providerId="LiveId" clId="{F66FF556-EEF1-4640-96B4-457E0154F865}" dt="2023-05-13T04:52:46.913" v="8" actId="47"/>
        <pc:sldMkLst>
          <pc:docMk/>
          <pc:sldMk cId="3968353053" sldId="2513"/>
        </pc:sldMkLst>
      </pc:sldChg>
      <pc:sldChg chg="del">
        <pc:chgData name="Owais Ahmed" userId="6abc7d4556b3b071" providerId="LiveId" clId="{F66FF556-EEF1-4640-96B4-457E0154F865}" dt="2023-05-13T04:52:47.227" v="9" actId="47"/>
        <pc:sldMkLst>
          <pc:docMk/>
          <pc:sldMk cId="2506582921" sldId="2514"/>
        </pc:sldMkLst>
      </pc:sldChg>
      <pc:sldChg chg="del">
        <pc:chgData name="Owais Ahmed" userId="6abc7d4556b3b071" providerId="LiveId" clId="{F66FF556-EEF1-4640-96B4-457E0154F865}" dt="2023-05-13T04:52:47.257" v="10" actId="47"/>
        <pc:sldMkLst>
          <pc:docMk/>
          <pc:sldMk cId="3630275324" sldId="2515"/>
        </pc:sldMkLst>
      </pc:sldChg>
      <pc:sldChg chg="del">
        <pc:chgData name="Owais Ahmed" userId="6abc7d4556b3b071" providerId="LiveId" clId="{F66FF556-EEF1-4640-96B4-457E0154F865}" dt="2023-05-13T04:52:47.392" v="11" actId="47"/>
        <pc:sldMkLst>
          <pc:docMk/>
          <pc:sldMk cId="2260093899" sldId="2516"/>
        </pc:sldMkLst>
      </pc:sldChg>
      <pc:sldChg chg="del">
        <pc:chgData name="Owais Ahmed" userId="6abc7d4556b3b071" providerId="LiveId" clId="{F66FF556-EEF1-4640-96B4-457E0154F865}" dt="2023-05-13T04:52:47.571" v="12" actId="47"/>
        <pc:sldMkLst>
          <pc:docMk/>
          <pc:sldMk cId="3635332893" sldId="2517"/>
        </pc:sldMkLst>
      </pc:sldChg>
      <pc:sldChg chg="del">
        <pc:chgData name="Owais Ahmed" userId="6abc7d4556b3b071" providerId="LiveId" clId="{F66FF556-EEF1-4640-96B4-457E0154F865}" dt="2023-05-13T04:52:47.705" v="13" actId="47"/>
        <pc:sldMkLst>
          <pc:docMk/>
          <pc:sldMk cId="274451281" sldId="2518"/>
        </pc:sldMkLst>
      </pc:sldChg>
      <pc:sldChg chg="del">
        <pc:chgData name="Owais Ahmed" userId="6abc7d4556b3b071" providerId="LiveId" clId="{F66FF556-EEF1-4640-96B4-457E0154F865}" dt="2023-05-13T04:52:47.889" v="14" actId="47"/>
        <pc:sldMkLst>
          <pc:docMk/>
          <pc:sldMk cId="3443898139" sldId="2519"/>
        </pc:sldMkLst>
      </pc:sldChg>
      <pc:sldChg chg="del">
        <pc:chgData name="Owais Ahmed" userId="6abc7d4556b3b071" providerId="LiveId" clId="{F66FF556-EEF1-4640-96B4-457E0154F865}" dt="2023-05-13T04:52:48.009" v="15" actId="47"/>
        <pc:sldMkLst>
          <pc:docMk/>
          <pc:sldMk cId="1670142563" sldId="2520"/>
        </pc:sldMkLst>
      </pc:sldChg>
      <pc:sldChg chg="del">
        <pc:chgData name="Owais Ahmed" userId="6abc7d4556b3b071" providerId="LiveId" clId="{F66FF556-EEF1-4640-96B4-457E0154F865}" dt="2023-05-13T04:52:48.584" v="16" actId="47"/>
        <pc:sldMkLst>
          <pc:docMk/>
          <pc:sldMk cId="2879534782" sldId="2521"/>
        </pc:sldMkLst>
      </pc:sldChg>
      <pc:sldChg chg="del">
        <pc:chgData name="Owais Ahmed" userId="6abc7d4556b3b071" providerId="LiveId" clId="{F66FF556-EEF1-4640-96B4-457E0154F865}" dt="2023-05-13T04:52:51.954" v="20" actId="47"/>
        <pc:sldMkLst>
          <pc:docMk/>
          <pc:sldMk cId="3203612919" sldId="2522"/>
        </pc:sldMkLst>
      </pc:sldChg>
      <pc:sldChg chg="del">
        <pc:chgData name="Owais Ahmed" userId="6abc7d4556b3b071" providerId="LiveId" clId="{F66FF556-EEF1-4640-96B4-457E0154F865}" dt="2023-05-13T04:52:48.892" v="17" actId="47"/>
        <pc:sldMkLst>
          <pc:docMk/>
          <pc:sldMk cId="2774964235" sldId="2523"/>
        </pc:sldMkLst>
      </pc:sldChg>
      <pc:sldChg chg="del">
        <pc:chgData name="Owais Ahmed" userId="6abc7d4556b3b071" providerId="LiveId" clId="{F66FF556-EEF1-4640-96B4-457E0154F865}" dt="2023-05-13T04:52:49.277" v="18" actId="47"/>
        <pc:sldMkLst>
          <pc:docMk/>
          <pc:sldMk cId="3413511003" sldId="2524"/>
        </pc:sldMkLst>
      </pc:sldChg>
      <pc:sldChg chg="add del">
        <pc:chgData name="Owais Ahmed" userId="6abc7d4556b3b071" providerId="LiveId" clId="{F66FF556-EEF1-4640-96B4-457E0154F865}" dt="2023-05-13T04:52:54.002" v="21"/>
        <pc:sldMkLst>
          <pc:docMk/>
          <pc:sldMk cId="3001113582" sldId="2525"/>
        </pc:sldMkLst>
      </pc:sldChg>
      <pc:sldChg chg="add del">
        <pc:chgData name="Owais Ahmed" userId="6abc7d4556b3b071" providerId="LiveId" clId="{F66FF556-EEF1-4640-96B4-457E0154F865}" dt="2023-05-13T04:52:54.002" v="21"/>
        <pc:sldMkLst>
          <pc:docMk/>
          <pc:sldMk cId="202094545" sldId="2526"/>
        </pc:sldMkLst>
      </pc:sldChg>
      <pc:sldChg chg="add del">
        <pc:chgData name="Owais Ahmed" userId="6abc7d4556b3b071" providerId="LiveId" clId="{F66FF556-EEF1-4640-96B4-457E0154F865}" dt="2023-05-13T04:52:54.002" v="21"/>
        <pc:sldMkLst>
          <pc:docMk/>
          <pc:sldMk cId="1648087129" sldId="2527"/>
        </pc:sldMkLst>
      </pc:sldChg>
      <pc:sldChg chg="add del">
        <pc:chgData name="Owais Ahmed" userId="6abc7d4556b3b071" providerId="LiveId" clId="{F66FF556-EEF1-4640-96B4-457E0154F865}" dt="2023-05-13T04:52:54.002" v="21"/>
        <pc:sldMkLst>
          <pc:docMk/>
          <pc:sldMk cId="1433193464" sldId="2528"/>
        </pc:sldMkLst>
      </pc:sldChg>
      <pc:sldChg chg="add del">
        <pc:chgData name="Owais Ahmed" userId="6abc7d4556b3b071" providerId="LiveId" clId="{F66FF556-EEF1-4640-96B4-457E0154F865}" dt="2023-05-13T04:52:54.002" v="21"/>
        <pc:sldMkLst>
          <pc:docMk/>
          <pc:sldMk cId="542833528" sldId="2529"/>
        </pc:sldMkLst>
      </pc:sldChg>
      <pc:sldChg chg="add del">
        <pc:chgData name="Owais Ahmed" userId="6abc7d4556b3b071" providerId="LiveId" clId="{F66FF556-EEF1-4640-96B4-457E0154F865}" dt="2023-05-13T04:52:54.002" v="21"/>
        <pc:sldMkLst>
          <pc:docMk/>
          <pc:sldMk cId="3815450665" sldId="2530"/>
        </pc:sldMkLst>
      </pc:sldChg>
      <pc:sldMasterChg chg="delSldLayout">
        <pc:chgData name="Owais Ahmed" userId="6abc7d4556b3b071" providerId="LiveId" clId="{F66FF556-EEF1-4640-96B4-457E0154F865}" dt="2023-05-13T04:52:51.954" v="20" actId="47"/>
        <pc:sldMasterMkLst>
          <pc:docMk/>
          <pc:sldMasterMk cId="692820" sldId="2147483648"/>
        </pc:sldMasterMkLst>
        <pc:sldLayoutChg chg="del">
          <pc:chgData name="Owais Ahmed" userId="6abc7d4556b3b071" providerId="LiveId" clId="{F66FF556-EEF1-4640-96B4-457E0154F865}" dt="2023-05-13T04:52:51.954" v="20" actId="47"/>
          <pc:sldLayoutMkLst>
            <pc:docMk/>
            <pc:sldMasterMk cId="692820" sldId="2147483648"/>
            <pc:sldLayoutMk cId="3227223299" sldId="2147483681"/>
          </pc:sldLayoutMkLst>
        </pc:sldLayoutChg>
      </pc:sldMasterChg>
    </pc:docChg>
  </pc:docChgLst>
  <pc:docChgLst>
    <pc:chgData name="Owais Ahmed" userId="6abc7d4556b3b071" providerId="LiveId" clId="{66B3EDF5-5D47-4A4C-B7C1-438542989AED}"/>
    <pc:docChg chg="undo custSel addSld modSld sldOrd modSection">
      <pc:chgData name="Owais Ahmed" userId="6abc7d4556b3b071" providerId="LiveId" clId="{66B3EDF5-5D47-4A4C-B7C1-438542989AED}" dt="2023-05-12T06:31:00.211" v="1474" actId="20577"/>
      <pc:docMkLst>
        <pc:docMk/>
      </pc:docMkLst>
      <pc:sldChg chg="modSp mod modAnim">
        <pc:chgData name="Owais Ahmed" userId="6abc7d4556b3b071" providerId="LiveId" clId="{66B3EDF5-5D47-4A4C-B7C1-438542989AED}" dt="2023-05-12T05:34:57.038" v="413" actId="20577"/>
        <pc:sldMkLst>
          <pc:docMk/>
          <pc:sldMk cId="3001113582" sldId="2525"/>
        </pc:sldMkLst>
        <pc:spChg chg="mod">
          <ac:chgData name="Owais Ahmed" userId="6abc7d4556b3b071" providerId="LiveId" clId="{66B3EDF5-5D47-4A4C-B7C1-438542989AED}" dt="2023-05-12T05:34:57.038" v="413" actId="20577"/>
          <ac:spMkLst>
            <pc:docMk/>
            <pc:sldMk cId="3001113582" sldId="2525"/>
            <ac:spMk id="3" creationId="{4A1C0383-58FE-E486-295E-B33B8683B938}"/>
          </ac:spMkLst>
        </pc:spChg>
      </pc:sldChg>
      <pc:sldChg chg="addSp delSp modSp mod delAnim modAnim">
        <pc:chgData name="Owais Ahmed" userId="6abc7d4556b3b071" providerId="LiveId" clId="{66B3EDF5-5D47-4A4C-B7C1-438542989AED}" dt="2023-05-12T05:31:36.116" v="385" actId="20577"/>
        <pc:sldMkLst>
          <pc:docMk/>
          <pc:sldMk cId="1433193464" sldId="2528"/>
        </pc:sldMkLst>
        <pc:spChg chg="mod">
          <ac:chgData name="Owais Ahmed" userId="6abc7d4556b3b071" providerId="LiveId" clId="{66B3EDF5-5D47-4A4C-B7C1-438542989AED}" dt="2023-05-12T05:31:36.116" v="385" actId="20577"/>
          <ac:spMkLst>
            <pc:docMk/>
            <pc:sldMk cId="1433193464" sldId="2528"/>
            <ac:spMk id="3" creationId="{4A1C0383-58FE-E486-295E-B33B8683B938}"/>
          </ac:spMkLst>
        </pc:spChg>
        <pc:graphicFrameChg chg="add mod modGraphic">
          <ac:chgData name="Owais Ahmed" userId="6abc7d4556b3b071" providerId="LiveId" clId="{66B3EDF5-5D47-4A4C-B7C1-438542989AED}" dt="2023-05-12T05:27:57.653" v="110" actId="14100"/>
          <ac:graphicFrameMkLst>
            <pc:docMk/>
            <pc:sldMk cId="1433193464" sldId="2528"/>
            <ac:graphicFrameMk id="4" creationId="{DF9AFB90-19C1-CFF2-7505-1D4C3C29F626}"/>
          </ac:graphicFrameMkLst>
        </pc:graphicFrameChg>
        <pc:picChg chg="del">
          <ac:chgData name="Owais Ahmed" userId="6abc7d4556b3b071" providerId="LiveId" clId="{66B3EDF5-5D47-4A4C-B7C1-438542989AED}" dt="2023-05-12T05:12:39.477" v="0" actId="478"/>
          <ac:picMkLst>
            <pc:docMk/>
            <pc:sldMk cId="1433193464" sldId="2528"/>
            <ac:picMk id="5" creationId="{2F73BAA3-ED53-2E78-BBE6-36CD98ED8EDF}"/>
          </ac:picMkLst>
        </pc:picChg>
      </pc:sldChg>
      <pc:sldChg chg="delSp modSp add mod modAnim">
        <pc:chgData name="Owais Ahmed" userId="6abc7d4556b3b071" providerId="LiveId" clId="{66B3EDF5-5D47-4A4C-B7C1-438542989AED}" dt="2023-05-12T06:21:16.316" v="660" actId="5793"/>
        <pc:sldMkLst>
          <pc:docMk/>
          <pc:sldMk cId="542833528" sldId="2529"/>
        </pc:sldMkLst>
        <pc:spChg chg="mod">
          <ac:chgData name="Owais Ahmed" userId="6abc7d4556b3b071" providerId="LiveId" clId="{66B3EDF5-5D47-4A4C-B7C1-438542989AED}" dt="2023-05-12T06:21:16.316" v="660" actId="5793"/>
          <ac:spMkLst>
            <pc:docMk/>
            <pc:sldMk cId="542833528" sldId="2529"/>
            <ac:spMk id="3" creationId="{4A1C0383-58FE-E486-295E-B33B8683B938}"/>
          </ac:spMkLst>
        </pc:spChg>
        <pc:spChg chg="del">
          <ac:chgData name="Owais Ahmed" userId="6abc7d4556b3b071" providerId="LiveId" clId="{66B3EDF5-5D47-4A4C-B7C1-438542989AED}" dt="2023-05-12T05:36:52.163" v="439" actId="478"/>
          <ac:spMkLst>
            <pc:docMk/>
            <pc:sldMk cId="542833528" sldId="2529"/>
            <ac:spMk id="214" creationId="{00000000-0000-0000-0000-000000000000}"/>
          </ac:spMkLst>
        </pc:spChg>
        <pc:spChg chg="mod">
          <ac:chgData name="Owais Ahmed" userId="6abc7d4556b3b071" providerId="LiveId" clId="{66B3EDF5-5D47-4A4C-B7C1-438542989AED}" dt="2023-05-12T05:35:03.853" v="417" actId="20577"/>
          <ac:spMkLst>
            <pc:docMk/>
            <pc:sldMk cId="542833528" sldId="2529"/>
            <ac:spMk id="215" creationId="{00000000-0000-0000-0000-000000000000}"/>
          </ac:spMkLst>
        </pc:spChg>
        <pc:graphicFrameChg chg="mod modGraphic">
          <ac:chgData name="Owais Ahmed" userId="6abc7d4556b3b071" providerId="LiveId" clId="{66B3EDF5-5D47-4A4C-B7C1-438542989AED}" dt="2023-05-12T05:38:49.288" v="482" actId="20577"/>
          <ac:graphicFrameMkLst>
            <pc:docMk/>
            <pc:sldMk cId="542833528" sldId="2529"/>
            <ac:graphicFrameMk id="4" creationId="{DF9AFB90-19C1-CFF2-7505-1D4C3C29F626}"/>
          </ac:graphicFrameMkLst>
        </pc:graphicFrameChg>
      </pc:sldChg>
      <pc:sldChg chg="addSp delSp modSp add mod ord addAnim delAnim modAnim">
        <pc:chgData name="Owais Ahmed" userId="6abc7d4556b3b071" providerId="LiveId" clId="{66B3EDF5-5D47-4A4C-B7C1-438542989AED}" dt="2023-05-12T06:31:00.211" v="1474" actId="20577"/>
        <pc:sldMkLst>
          <pc:docMk/>
          <pc:sldMk cId="3815450665" sldId="2530"/>
        </pc:sldMkLst>
        <pc:spChg chg="add del mod">
          <ac:chgData name="Owais Ahmed" userId="6abc7d4556b3b071" providerId="LiveId" clId="{66B3EDF5-5D47-4A4C-B7C1-438542989AED}" dt="2023-05-12T06:27:23.186" v="1250" actId="14100"/>
          <ac:spMkLst>
            <pc:docMk/>
            <pc:sldMk cId="3815450665" sldId="2530"/>
            <ac:spMk id="3" creationId="{4A1C0383-58FE-E486-295E-B33B8683B938}"/>
          </ac:spMkLst>
        </pc:spChg>
        <pc:spChg chg="add del mod">
          <ac:chgData name="Owais Ahmed" userId="6abc7d4556b3b071" providerId="LiveId" clId="{66B3EDF5-5D47-4A4C-B7C1-438542989AED}" dt="2023-05-12T06:25:54.553" v="1132"/>
          <ac:spMkLst>
            <pc:docMk/>
            <pc:sldMk cId="3815450665" sldId="2530"/>
            <ac:spMk id="7" creationId="{A5D9E12E-97B8-81FD-444C-534133F87EC4}"/>
          </ac:spMkLst>
        </pc:spChg>
        <pc:spChg chg="add mod">
          <ac:chgData name="Owais Ahmed" userId="6abc7d4556b3b071" providerId="LiveId" clId="{66B3EDF5-5D47-4A4C-B7C1-438542989AED}" dt="2023-05-12T06:31:00.211" v="1474" actId="20577"/>
          <ac:spMkLst>
            <pc:docMk/>
            <pc:sldMk cId="3815450665" sldId="2530"/>
            <ac:spMk id="8" creationId="{E86488E5-2A03-C75A-A82E-09CF01568B5F}"/>
          </ac:spMkLst>
        </pc:spChg>
        <pc:spChg chg="mod">
          <ac:chgData name="Owais Ahmed" userId="6abc7d4556b3b071" providerId="LiveId" clId="{66B3EDF5-5D47-4A4C-B7C1-438542989AED}" dt="2023-05-12T06:21:30.038" v="684" actId="20577"/>
          <ac:spMkLst>
            <pc:docMk/>
            <pc:sldMk cId="3815450665" sldId="2530"/>
            <ac:spMk id="215" creationId="{00000000-0000-0000-0000-000000000000}"/>
          </ac:spMkLst>
        </pc:spChg>
        <pc:graphicFrameChg chg="add del mod">
          <ac:chgData name="Owais Ahmed" userId="6abc7d4556b3b071" providerId="LiveId" clId="{66B3EDF5-5D47-4A4C-B7C1-438542989AED}" dt="2023-05-12T06:24:31.198" v="1117"/>
          <ac:graphicFrameMkLst>
            <pc:docMk/>
            <pc:sldMk cId="3815450665" sldId="2530"/>
            <ac:graphicFrameMk id="4" creationId="{28291E2F-4666-6141-B8A4-41720C3B4C5D}"/>
          </ac:graphicFrameMkLst>
        </pc:graphicFrameChg>
        <pc:graphicFrameChg chg="add mod modGraphic">
          <ac:chgData name="Owais Ahmed" userId="6abc7d4556b3b071" providerId="LiveId" clId="{66B3EDF5-5D47-4A4C-B7C1-438542989AED}" dt="2023-05-12T06:30:52.158" v="1454" actId="113"/>
          <ac:graphicFrameMkLst>
            <pc:docMk/>
            <pc:sldMk cId="3815450665" sldId="2530"/>
            <ac:graphicFrameMk id="5" creationId="{81711665-5D7A-5878-1AF0-C6E82C4EFCF5}"/>
          </ac:graphicFrameMkLst>
        </pc:graphicFrameChg>
        <pc:picChg chg="del">
          <ac:chgData name="Owais Ahmed" userId="6abc7d4556b3b071" providerId="LiveId" clId="{66B3EDF5-5D47-4A4C-B7C1-438542989AED}" dt="2023-05-12T06:21:31.774" v="685" actId="478"/>
          <ac:picMkLst>
            <pc:docMk/>
            <pc:sldMk cId="3815450665" sldId="2530"/>
            <ac:picMk id="6" creationId="{E08C3D0A-1BD6-C3F5-B1A8-ACC00C030D1C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F97DFCF-F890-A143-9133-C8B65C9B01E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E2C281-2434-D94F-B4BD-BA3CD4DB8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D5B4E-BF3E-3B45-A4BA-D6C3B92870D7}" type="datetimeFigureOut">
              <a:rPr lang="en-US" smtClean="0"/>
              <a:t>5/13/2023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17CBFA-633D-5540-AFAA-BE1F495EC62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B5631-D714-AD41-853B-A883ADC344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5AE8BC-2AB3-9E4C-9797-2A6F8A74C7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39870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A8621B-8C8E-49BA-8772-41D0FE75A082}" type="datetimeFigureOut">
              <a:rPr lang="en-US" smtClean="0"/>
              <a:t>5/13/2023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8B34ED-4CDD-41C9-90F7-D768D5559A6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5970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8B34ED-4CDD-41C9-90F7-D768D5559A6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87606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48017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53162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228600" indent="-228600">
                  <a:buAutoNum type="arabicPeriod"/>
                </a:pPr>
                <a:r>
                  <a:rPr lang="en-US" dirty="0"/>
                  <a:t>Note that we do not need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228600" indent="-228600">
                  <a:buAutoNum type="arabicPeriod"/>
                </a:pPr>
                <a:r>
                  <a:rPr lang="en-US" dirty="0"/>
                  <a:t>Note that we do not need </a:t>
                </a:r>
                <a:r>
                  <a:rPr lang="en-US" i="0" dirty="0">
                    <a:latin typeface="Cambria Math" panose="02040503050406030204" pitchFamily="18" charset="0"/>
                  </a:rPr>
                  <a:t>𝐷_0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80377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228600" indent="-228600">
                  <a:buAutoNum type="arabicPeriod"/>
                </a:pPr>
                <a:r>
                  <a:rPr lang="en-US" dirty="0"/>
                  <a:t>Note that we do not need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228600" indent="-228600">
                  <a:buAutoNum type="arabicPeriod"/>
                </a:pPr>
                <a:r>
                  <a:rPr lang="en-US" dirty="0"/>
                  <a:t>Note that we do not need </a:t>
                </a:r>
                <a:r>
                  <a:rPr lang="en-US" i="0" dirty="0">
                    <a:latin typeface="Cambria Math" panose="02040503050406030204" pitchFamily="18" charset="0"/>
                  </a:rPr>
                  <a:t>𝐷_0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4896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228600" indent="-228600">
                  <a:buAutoNum type="arabicPeriod"/>
                </a:pPr>
                <a:r>
                  <a:rPr lang="en-US" dirty="0"/>
                  <a:t>Note that we do not need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228600" indent="-228600">
                  <a:buAutoNum type="arabicPeriod"/>
                </a:pPr>
                <a:r>
                  <a:rPr lang="en-US" dirty="0"/>
                  <a:t>Note that we do not need </a:t>
                </a:r>
                <a:r>
                  <a:rPr lang="en-US" i="0" dirty="0">
                    <a:latin typeface="Cambria Math" panose="02040503050406030204" pitchFamily="18" charset="0"/>
                  </a:rPr>
                  <a:t>𝐷_0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4734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69795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12343" y="5922140"/>
            <a:ext cx="5167313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8235C5-25B1-4243-9762-4AAD3C08E8B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38600" y="3608511"/>
            <a:ext cx="4114800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cap="all" baseline="0"/>
            </a:lvl1pPr>
          </a:lstStyle>
          <a:p>
            <a:r>
              <a:rPr lang="en-US" spc="300" dirty="0"/>
              <a:t>ANNUAL REVIEW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8B2C6E-DB6F-4476-8E95-9F6EC79392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836" y="2445633"/>
            <a:ext cx="11490325" cy="823913"/>
          </a:xfrm>
        </p:spPr>
        <p:txBody>
          <a:bodyPr>
            <a:noAutofit/>
          </a:bodyPr>
          <a:lstStyle>
            <a:lvl1pPr>
              <a:lnSpc>
                <a:spcPct val="150000"/>
              </a:lnSpc>
              <a:spcBef>
                <a:spcPts val="1000"/>
              </a:spcBef>
              <a:defRPr sz="4000" cap="all" spc="300" baseline="0"/>
            </a:lvl1pPr>
          </a:lstStyle>
          <a:p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823031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prstGeom prst="parallelogram">
            <a:avLst/>
          </a:pr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83D428-B974-43F4-9246-0A2EECA11A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68819" y="642927"/>
            <a:ext cx="4846320" cy="1435947"/>
          </a:xfrm>
        </p:spPr>
        <p:txBody>
          <a:bodyPr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5400" baseline="0"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D00A38D-CFE8-4333-B9D2-D3E7EACA4F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68820" y="2078875"/>
            <a:ext cx="4114800" cy="3798888"/>
          </a:xfrm>
        </p:spPr>
        <p:txBody>
          <a:bodyPr>
            <a:noAutofit/>
          </a:bodyPr>
          <a:lstStyle>
            <a:lvl1pPr marL="0" indent="0">
              <a:buNone/>
              <a:defRPr sz="1800" spc="3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A8588E-221D-4931-A290-C5C418443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68820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115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5539E44-E270-49B4-8B0A-07870325AA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25539" y="1546138"/>
            <a:ext cx="4023360" cy="464871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400" spc="300" baseline="0" dirty="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en-US" dirty="0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46932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2799617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B0E4A3-5566-43FE-A59F-2C4F4FE7F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7832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67922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242487 w 6096000"/>
              <a:gd name="connsiteY2" fmla="*/ 6833286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67922"/>
              <a:gd name="connsiteX1" fmla="*/ 6096000 w 6096000"/>
              <a:gd name="connsiteY1" fmla="*/ 0 h 6867922"/>
              <a:gd name="connsiteX2" fmla="*/ 4228633 w 6096000"/>
              <a:gd name="connsiteY2" fmla="*/ 6867922 h 6867922"/>
              <a:gd name="connsiteX3" fmla="*/ 0 w 6096000"/>
              <a:gd name="connsiteY3" fmla="*/ 6858000 h 6867922"/>
              <a:gd name="connsiteX4" fmla="*/ 0 w 6096000"/>
              <a:gd name="connsiteY4" fmla="*/ 0 h 6867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67922">
                <a:moveTo>
                  <a:pt x="0" y="0"/>
                </a:moveTo>
                <a:lnTo>
                  <a:pt x="6096000" y="0"/>
                </a:lnTo>
                <a:lnTo>
                  <a:pt x="4228633" y="686792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ABA725B-4BCB-1D48-9C5D-46706B1871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262871"/>
            <a:ext cx="5251450" cy="1661297"/>
          </a:xfrm>
        </p:spPr>
        <p:txBody>
          <a:bodyPr anchor="b"/>
          <a:lstStyle>
            <a:lvl1pPr algn="l">
              <a:defRPr sz="6000" spc="3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C356F-E483-4AFD-856C-13BB8E8A56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0" y="4378134"/>
            <a:ext cx="5251450" cy="36512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60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890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074E6-E39E-4D19-B91F-8E84F37CBF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92279" y="365125"/>
            <a:ext cx="4018722" cy="573989"/>
          </a:xfrm>
        </p:spPr>
        <p:txBody>
          <a:bodyPr lIns="0" rIns="0">
            <a:noAutofit/>
          </a:bodyPr>
          <a:lstStyle>
            <a:lvl1pPr algn="l">
              <a:defRPr sz="3200" spc="300"/>
            </a:lvl1pPr>
          </a:lstStyle>
          <a:p>
            <a:r>
              <a:rPr lang="en-US" dirty="0"/>
              <a:t>SLIDE TITLE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D1B16-7058-45AD-9B19-E19CAF966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2279" y="1263841"/>
            <a:ext cx="4018722" cy="4636392"/>
          </a:xfrm>
        </p:spPr>
        <p:txBody>
          <a:bodyPr lIns="0" rIns="0">
            <a:noAutofit/>
          </a:bodyPr>
          <a:lstStyle>
            <a:lvl1pPr>
              <a:lnSpc>
                <a:spcPct val="150000"/>
              </a:lnSpc>
              <a:spcBef>
                <a:spcPts val="500"/>
              </a:spcBef>
              <a:defRPr sz="1600"/>
            </a:lvl1pPr>
            <a:lvl2pPr>
              <a:lnSpc>
                <a:spcPct val="150000"/>
              </a:lnSpc>
              <a:spcBef>
                <a:spcPts val="500"/>
              </a:spcBef>
              <a:defRPr sz="1400"/>
            </a:lvl2pPr>
            <a:lvl3pPr>
              <a:lnSpc>
                <a:spcPct val="150000"/>
              </a:lnSpc>
              <a:spcBef>
                <a:spcPts val="500"/>
              </a:spcBef>
              <a:defRPr sz="1400"/>
            </a:lvl3pPr>
            <a:lvl4pPr>
              <a:lnSpc>
                <a:spcPct val="150000"/>
              </a:lnSpc>
              <a:spcBef>
                <a:spcPts val="500"/>
              </a:spcBef>
              <a:defRPr sz="1200"/>
            </a:lvl4pPr>
            <a:lvl5pPr>
              <a:lnSpc>
                <a:spcPct val="150000"/>
              </a:lnSpc>
              <a:spcBef>
                <a:spcPts val="500"/>
              </a:spcBef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9" name="Slide Number Placeholder 5">
            <a:extLst>
              <a:ext uri="{FF2B5EF4-FFF2-40B4-BE49-F238E27FC236}">
                <a16:creationId xmlns:a16="http://schemas.microsoft.com/office/drawing/2014/main" id="{3DEB48E0-328C-45EE-A8BD-90E6AB2610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CA175D-816E-4F70-96CC-8A1FD0EB16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66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323519C8-24DE-471D-85A9-7A8AFACEC45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0513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47F0F1E-7AF5-4B76-928C-7B28010C4F9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366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063D0E8E-9491-4AF0-918D-A0B782C5FD6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0513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042F54CB-9200-4D74-968A-0A3E5871D9E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66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1D925119-27E3-496E-86BC-23416F94FB6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0513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F93AF7-D4DC-42B5-8A4F-B5F3ABBB03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81678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39680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45D17-D652-4766-B11C-2E8D8390D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767791"/>
            <a:ext cx="11002962" cy="823913"/>
          </a:xfrm>
        </p:spPr>
        <p:txBody>
          <a:bodyPr>
            <a:noAutofit/>
          </a:bodyPr>
          <a:lstStyle>
            <a:lvl1pPr>
              <a:defRPr sz="4800" spc="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C7A58C-70BA-43E5-BD90-83ADB63B0C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8A60B7-2499-42C6-8A74-ACDAE24574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634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179BAC-E989-4203-B9B4-662803654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4607137"/>
            <a:ext cx="4114800" cy="421480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>
              <a:defRPr sz="1400" spc="30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0CCC81E-A013-4315-AD13-97BA3AA955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78756" y="1569719"/>
            <a:ext cx="9234488" cy="2651443"/>
          </a:xfrm>
        </p:spPr>
        <p:txBody>
          <a:bodyPr>
            <a:noAutofit/>
          </a:bodyPr>
          <a:lstStyle>
            <a:lvl1pPr marL="0" indent="0" algn="ctr">
              <a:buNone/>
              <a:defRPr sz="32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95553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2">
            <a:extLst>
              <a:ext uri="{FF2B5EF4-FFF2-40B4-BE49-F238E27FC236}">
                <a16:creationId xmlns:a16="http://schemas.microsoft.com/office/drawing/2014/main" id="{0EF11611-8537-47CC-87AC-2E25428B7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  <a:endParaRPr lang="en-US" sz="4800" dirty="0"/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D1A63A52-1E65-414B-BBC3-D31F515791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78601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ED7E0E1A-1E64-4A9A-9C8B-69486BD112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9900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E462965-19D7-4A65-B394-9AE76A5B4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9107" y="3864355"/>
            <a:ext cx="5157787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FAEC14D1-0BEA-4D9A-9D96-A56B6A9B07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9107" y="4531139"/>
            <a:ext cx="5157787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1507BB47-1AB4-42F2-99FF-453A0622B8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65107" y="3864355"/>
            <a:ext cx="5183188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438D6EEA-A0DB-4B5F-8F41-A9C1F2C094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65107" y="4531139"/>
            <a:ext cx="5183188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A4909F59-7529-454A-A1EF-3CC1EADEF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0834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">
            <a:extLst>
              <a:ext uri="{FF2B5EF4-FFF2-40B4-BE49-F238E27FC236}">
                <a16:creationId xmlns:a16="http://schemas.microsoft.com/office/drawing/2014/main" id="{6186F91B-547E-43BC-9BCE-04619DAAF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  <a:endParaRPr lang="en-US" sz="4800" dirty="0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635DFA1-45D2-4EFE-8BB2-BE96634669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0121" y="3669506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2F2918FE-A84E-4303-AEF3-4FD66CDD73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60438" y="1624013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E2401025-9BC9-4BDD-97DA-CA763CF846B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42155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B7C4AAB6-897A-4ABD-AD50-2D86B197E91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22920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90D65EC-6EB4-4594-91E9-5C3DE7C3BA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41837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611CF730-D055-47C2-A626-299F429D41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2919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F09E06A6-BFDD-42BD-BA69-2CD3BEF0F73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5592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58000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1661160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6CDEBF2-B5C9-4887-B717-81C3D1A73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6A7FA3-8C13-4E5A-88C4-4357C8ACD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07044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196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9074D0F-754F-4F2C-A410-F222D2D2346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Autofit/>
          </a:bodyPr>
          <a:lstStyle/>
          <a:p>
            <a:r>
              <a:rPr lang="en-US" sz="4000" spc="300"/>
              <a:t>Click to edit Master title style</a:t>
            </a:r>
            <a:endParaRPr lang="en-US" sz="4000" spc="300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12343" y="5137992"/>
            <a:ext cx="5167313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1D89734B-03E0-4ADE-8F62-C819F3E976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8194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2" name="Text Placeholder 13">
            <a:extLst>
              <a:ext uri="{FF2B5EF4-FFF2-40B4-BE49-F238E27FC236}">
                <a16:creationId xmlns:a16="http://schemas.microsoft.com/office/drawing/2014/main" id="{85971F4D-8B59-4B3E-9169-64E0EF1BA8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63664" y="3893330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3" name="Text Placeholder 13">
            <a:extLst>
              <a:ext uri="{FF2B5EF4-FFF2-40B4-BE49-F238E27FC236}">
                <a16:creationId xmlns:a16="http://schemas.microsoft.com/office/drawing/2014/main" id="{90B19777-E2ED-419C-B486-857117FD081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39138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4" name="Online Image Placeholder 33">
            <a:extLst>
              <a:ext uri="{FF2B5EF4-FFF2-40B4-BE49-F238E27FC236}">
                <a16:creationId xmlns:a16="http://schemas.microsoft.com/office/drawing/2014/main" id="{1A58EB44-F532-4998-B316-61C738C37BF5}"/>
              </a:ext>
            </a:extLst>
          </p:cNvPr>
          <p:cNvSpPr>
            <a:spLocks noGrp="1"/>
          </p:cNvSpPr>
          <p:nvPr>
            <p:ph type="clipArt" sz="quarter" idx="19" hasCustomPrompt="1"/>
          </p:nvPr>
        </p:nvSpPr>
        <p:spPr>
          <a:xfrm>
            <a:off x="1754768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5" name="Online Image Placeholder 33">
            <a:extLst>
              <a:ext uri="{FF2B5EF4-FFF2-40B4-BE49-F238E27FC236}">
                <a16:creationId xmlns:a16="http://schemas.microsoft.com/office/drawing/2014/main" id="{33763C3C-3545-40BD-9B2C-DC4C0E4CE819}"/>
              </a:ext>
            </a:extLst>
          </p:cNvPr>
          <p:cNvSpPr>
            <a:spLocks noGrp="1"/>
          </p:cNvSpPr>
          <p:nvPr>
            <p:ph type="clipArt" sz="quarter" idx="20" hasCustomPrompt="1"/>
          </p:nvPr>
        </p:nvSpPr>
        <p:spPr>
          <a:xfrm>
            <a:off x="5730240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6" name="Online Image Placeholder 33">
            <a:extLst>
              <a:ext uri="{FF2B5EF4-FFF2-40B4-BE49-F238E27FC236}">
                <a16:creationId xmlns:a16="http://schemas.microsoft.com/office/drawing/2014/main" id="{1C5D3777-17F3-4225-8C52-2EF1DB4FD54A}"/>
              </a:ext>
            </a:extLst>
          </p:cNvPr>
          <p:cNvSpPr>
            <a:spLocks noGrp="1"/>
          </p:cNvSpPr>
          <p:nvPr>
            <p:ph type="clipArt" sz="quarter" idx="21" hasCustomPrompt="1"/>
          </p:nvPr>
        </p:nvSpPr>
        <p:spPr>
          <a:xfrm>
            <a:off x="9705712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31737403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7425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05F96C-D634-4A69-95EC-3D002BD68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365125"/>
            <a:ext cx="11002962" cy="8239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757E98-D0FB-43E3-98BC-711F6A2F5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519" y="1365813"/>
            <a:ext cx="10989920" cy="4811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65B72-2E86-4BA3-94F2-3ADFA40B7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1F3FD-3DB9-46B7-85E1-E8B8878A40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2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1" r:id="rId3"/>
    <p:sldLayoutId id="2147483651" r:id="rId4"/>
    <p:sldLayoutId id="2147483660" r:id="rId5"/>
    <p:sldLayoutId id="2147483677" r:id="rId6"/>
    <p:sldLayoutId id="2147483666" r:id="rId7"/>
    <p:sldLayoutId id="2147483679" r:id="rId8"/>
    <p:sldLayoutId id="2147483653" r:id="rId9"/>
    <p:sldLayoutId id="2147483678" r:id="rId10"/>
    <p:sldLayoutId id="2147483680" r:id="rId11"/>
    <p:sldLayoutId id="2147483681" r:id="rId12"/>
  </p:sldLayoutIdLst>
  <p:hf hdr="0" ftr="0" dt="0"/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2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microsoft.com/office/2007/relationships/hdphoto" Target="../media/hdphoto1.wdp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abstract image">
            <a:extLst>
              <a:ext uri="{FF2B5EF4-FFF2-40B4-BE49-F238E27FC236}">
                <a16:creationId xmlns:a16="http://schemas.microsoft.com/office/drawing/2014/main" id="{9AB29DBC-55D3-49D9-BB44-4936739C4B5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alphaModFix amt="52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/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79DC1498-E692-42BA-B69F-6D37E6CFA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837" y="1477926"/>
            <a:ext cx="11525730" cy="2307265"/>
          </a:xfrm>
        </p:spPr>
        <p:txBody>
          <a:bodyPr/>
          <a:lstStyle/>
          <a:p>
            <a:r>
              <a:rPr lang="en-US" sz="5400" b="1" dirty="0"/>
              <a:t>DIGITAL LOGIC DESIGN (111776)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AE828D-1E63-455F-949D-0C5454A7FE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0837" y="5699050"/>
            <a:ext cx="11525730" cy="1073889"/>
          </a:xfrm>
        </p:spPr>
        <p:txBody>
          <a:bodyPr/>
          <a:lstStyle/>
          <a:p>
            <a:r>
              <a:rPr lang="en-US" sz="2000" dirty="0"/>
              <a:t>Dr. Owais Hussain</a:t>
            </a:r>
          </a:p>
        </p:txBody>
      </p:sp>
    </p:spTree>
    <p:extLst>
      <p:ext uri="{BB962C8B-B14F-4D97-AF65-F5344CB8AC3E}">
        <p14:creationId xmlns:p14="http://schemas.microsoft.com/office/powerpoint/2010/main" val="3927832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A87B3-0A27-4EE9-979E-B69581E47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pic>
        <p:nvPicPr>
          <p:cNvPr id="8" name="Picture Placeholder 7" descr="group of people at a conference table">
            <a:extLst>
              <a:ext uri="{FF2B5EF4-FFF2-40B4-BE49-F238E27FC236}">
                <a16:creationId xmlns:a16="http://schemas.microsoft.com/office/drawing/2014/main" id="{BB76F5AB-0940-46E1-85F9-6A870D7D04C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0370" r="20370"/>
          <a:stretch/>
        </p:blipFill>
        <p:spPr/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3C89A40-EEAA-43AB-9A3A-B2CFDE450F1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68820" y="2078875"/>
            <a:ext cx="4114800" cy="4136198"/>
          </a:xfrm>
        </p:spPr>
        <p:txBody>
          <a:bodyPr/>
          <a:lstStyle/>
          <a:p>
            <a:r>
              <a:rPr lang="en-US" dirty="0"/>
              <a:t>Encoders</a:t>
            </a:r>
          </a:p>
          <a:p>
            <a:r>
              <a:rPr lang="en-US" dirty="0"/>
              <a:t>Octal Encoders</a:t>
            </a:r>
          </a:p>
          <a:p>
            <a:r>
              <a:rPr lang="en-US" dirty="0"/>
              <a:t>Decimal Encoders</a:t>
            </a:r>
          </a:p>
          <a:p>
            <a:r>
              <a:rPr lang="en-US" dirty="0"/>
              <a:t>Hex Encoders</a:t>
            </a:r>
          </a:p>
          <a:p>
            <a:r>
              <a:rPr lang="en-US" dirty="0"/>
              <a:t>Priority </a:t>
            </a:r>
            <a:r>
              <a:rPr lang="en-US" dirty="0" err="1"/>
              <a:t>Enconders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9F8048-1E86-48F4-B246-D2F8C54B7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098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Encoders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8"/>
                <a:ext cx="11743016" cy="4857702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2600" dirty="0"/>
                  <a:t>Encoders are Combinational circuits used to reduce the number of input signals. If there are </a:t>
                </a:r>
                <a14:m>
                  <m:oMath xmlns:m="http://schemas.openxmlformats.org/officeDocument/2006/math">
                    <m:r>
                      <a:rPr lang="en-US" sz="26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600" dirty="0"/>
                  <a:t> input signals, then the number of possible out output signals will be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6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r>
                  <a:rPr lang="en-US" sz="2600" dirty="0"/>
                  <a:t>.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2600" dirty="0"/>
                  <a:t>The value of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600" dirty="0"/>
                  <a:t> may or may not be in a series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2600" dirty="0"/>
                  <a:t>. For example, there can be a 16 to 4-bit Encoder, and also a 10 to 4-bit Encoder. In both cases, the minimum number of output lines required is 4.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2600" dirty="0"/>
                  <a:t>Encoders are of 4 types:</a:t>
                </a:r>
              </a:p>
              <a:p>
                <a:pPr lvl="1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2400" dirty="0"/>
                  <a:t>Octal Encoders</a:t>
                </a:r>
              </a:p>
              <a:p>
                <a:pPr lvl="1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2400" dirty="0"/>
                  <a:t>Decimal Encoders</a:t>
                </a:r>
              </a:p>
              <a:p>
                <a:pPr lvl="1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2400" dirty="0"/>
                  <a:t>Hex Encoders</a:t>
                </a:r>
              </a:p>
              <a:p>
                <a:pPr lvl="1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2400" dirty="0"/>
                  <a:t>Priority Encoders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8"/>
                <a:ext cx="11743016" cy="4857702"/>
              </a:xfrm>
              <a:prstGeom prst="rect">
                <a:avLst/>
              </a:prstGeom>
              <a:blipFill>
                <a:blip r:embed="rId3"/>
                <a:stretch>
                  <a:fillRect l="-778" t="-1004" r="-1505" b="-23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01113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Encoders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8"/>
                <a:ext cx="5875616" cy="4942828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2600" dirty="0"/>
                  <a:t>The circuit can be constructed simply using OR gates.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2600" dirty="0"/>
                  <a:t>4 to 2-bit Encoder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2600" dirty="0"/>
                  <a:t>The first input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600" dirty="0"/>
                  <a:t> is not used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2600" dirty="0"/>
                  <a:t>As in Decoders, only a single input can be enabled at a time.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2600" dirty="0"/>
                  <a:t>The output equations can be extracted by analyzing the circuit as well as the truth table.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2600" dirty="0"/>
                  <a:t>Output: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US" sz="26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8"/>
                <a:ext cx="5875616" cy="4942828"/>
              </a:xfrm>
              <a:prstGeom prst="rect">
                <a:avLst/>
              </a:prstGeom>
              <a:blipFill>
                <a:blip r:embed="rId3"/>
                <a:stretch>
                  <a:fillRect l="-1556" t="-9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E08C3D0A-1BD6-C3F5-B1A8-ACC00C030D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3631" y="1664953"/>
            <a:ext cx="5604354" cy="2570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94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Encoders – Octal Encoders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7"/>
                <a:ext cx="7136857" cy="1650987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</m:oMath>
                </a14:m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</m:oMath>
                </a14:m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7"/>
                <a:ext cx="7136857" cy="1650987"/>
              </a:xfrm>
              <a:prstGeom prst="rect">
                <a:avLst/>
              </a:prstGeom>
              <a:blipFill>
                <a:blip r:embed="rId3"/>
                <a:stretch>
                  <a:fillRect l="-1110" t="-11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6">
                <a:extLst>
                  <a:ext uri="{FF2B5EF4-FFF2-40B4-BE49-F238E27FC236}">
                    <a16:creationId xmlns:a16="http://schemas.microsoft.com/office/drawing/2014/main" id="{DE8350FC-8EC9-F1AD-0A09-7035ADFF3A1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20384" y="3183576"/>
              <a:ext cx="6979203" cy="3291840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634473">
                      <a:extLst>
                        <a:ext uri="{9D8B030D-6E8A-4147-A177-3AD203B41FA5}">
                          <a16:colId xmlns:a16="http://schemas.microsoft.com/office/drawing/2014/main" val="1622799176"/>
                        </a:ext>
                      </a:extLst>
                    </a:gridCol>
                    <a:gridCol w="634473">
                      <a:extLst>
                        <a:ext uri="{9D8B030D-6E8A-4147-A177-3AD203B41FA5}">
                          <a16:colId xmlns:a16="http://schemas.microsoft.com/office/drawing/2014/main" val="3976595367"/>
                        </a:ext>
                      </a:extLst>
                    </a:gridCol>
                    <a:gridCol w="634473">
                      <a:extLst>
                        <a:ext uri="{9D8B030D-6E8A-4147-A177-3AD203B41FA5}">
                          <a16:colId xmlns:a16="http://schemas.microsoft.com/office/drawing/2014/main" val="2994353103"/>
                        </a:ext>
                      </a:extLst>
                    </a:gridCol>
                    <a:gridCol w="634473">
                      <a:extLst>
                        <a:ext uri="{9D8B030D-6E8A-4147-A177-3AD203B41FA5}">
                          <a16:colId xmlns:a16="http://schemas.microsoft.com/office/drawing/2014/main" val="4089050060"/>
                        </a:ext>
                      </a:extLst>
                    </a:gridCol>
                    <a:gridCol w="634473">
                      <a:extLst>
                        <a:ext uri="{9D8B030D-6E8A-4147-A177-3AD203B41FA5}">
                          <a16:colId xmlns:a16="http://schemas.microsoft.com/office/drawing/2014/main" val="2896109130"/>
                        </a:ext>
                      </a:extLst>
                    </a:gridCol>
                    <a:gridCol w="634473">
                      <a:extLst>
                        <a:ext uri="{9D8B030D-6E8A-4147-A177-3AD203B41FA5}">
                          <a16:colId xmlns:a16="http://schemas.microsoft.com/office/drawing/2014/main" val="254732573"/>
                        </a:ext>
                      </a:extLst>
                    </a:gridCol>
                    <a:gridCol w="634473">
                      <a:extLst>
                        <a:ext uri="{9D8B030D-6E8A-4147-A177-3AD203B41FA5}">
                          <a16:colId xmlns:a16="http://schemas.microsoft.com/office/drawing/2014/main" val="197861000"/>
                        </a:ext>
                      </a:extLst>
                    </a:gridCol>
                    <a:gridCol w="634473">
                      <a:extLst>
                        <a:ext uri="{9D8B030D-6E8A-4147-A177-3AD203B41FA5}">
                          <a16:colId xmlns:a16="http://schemas.microsoft.com/office/drawing/2014/main" val="428486957"/>
                        </a:ext>
                      </a:extLst>
                    </a:gridCol>
                    <a:gridCol w="634473">
                      <a:extLst>
                        <a:ext uri="{9D8B030D-6E8A-4147-A177-3AD203B41FA5}">
                          <a16:colId xmlns:a16="http://schemas.microsoft.com/office/drawing/2014/main" val="1470399303"/>
                        </a:ext>
                      </a:extLst>
                    </a:gridCol>
                    <a:gridCol w="634473">
                      <a:extLst>
                        <a:ext uri="{9D8B030D-6E8A-4147-A177-3AD203B41FA5}">
                          <a16:colId xmlns:a16="http://schemas.microsoft.com/office/drawing/2014/main" val="1844918402"/>
                        </a:ext>
                      </a:extLst>
                    </a:gridCol>
                    <a:gridCol w="634473">
                      <a:extLst>
                        <a:ext uri="{9D8B030D-6E8A-4147-A177-3AD203B41FA5}">
                          <a16:colId xmlns:a16="http://schemas.microsoft.com/office/drawing/2014/main" val="2560013296"/>
                        </a:ext>
                      </a:extLst>
                    </a:gridCol>
                  </a:tblGrid>
                  <a:tr h="339269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smtClean="0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  <m:sub>
                                    <m:r>
                                      <a:rPr lang="en-US" b="1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smtClean="0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  <m:sub>
                                    <m:r>
                                      <a:rPr lang="en-US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smtClean="0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  <m:sub>
                                    <m:r>
                                      <a:rPr lang="en-US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smtClean="0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  <m:sub>
                                    <m:r>
                                      <a:rPr lang="en-US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smtClean="0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  <m:sub>
                                    <m:r>
                                      <a:rPr lang="en-US" b="1" smtClean="0"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smtClean="0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  <m:sub>
                                    <m:r>
                                      <a:rPr lang="en-US" b="1" smtClean="0"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smtClean="0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  <m:sub>
                                    <m:r>
                                      <a:rPr lang="en-US" b="1" smtClean="0"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smtClean="0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  <m:sub>
                                    <m:r>
                                      <a:rPr lang="en-US" b="1" smtClean="0">
                                        <a:latin typeface="Cambria Math" panose="02040503050406030204" pitchFamily="18" charset="0"/>
                                      </a:rPr>
                                      <m:t>𝟕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u="none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US" i="1" u="none" dirty="0"/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u="none" dirty="0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US" i="1" u="none" dirty="0"/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u="none" smtClean="0">
                                    <a:latin typeface="Cambria Math" panose="02040503050406030204" pitchFamily="18" charset="0"/>
                                  </a:rPr>
                                  <m:t>𝒛</m:t>
                                </m:r>
                              </m:oMath>
                            </m:oMathPara>
                          </a14:m>
                          <a:endParaRPr lang="en-US" i="1" u="none" dirty="0"/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54671497"/>
                      </a:ext>
                    </a:extLst>
                  </a:tr>
                  <a:tr h="33926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40166951"/>
                      </a:ext>
                    </a:extLst>
                  </a:tr>
                  <a:tr h="33926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69127878"/>
                      </a:ext>
                    </a:extLst>
                  </a:tr>
                  <a:tr h="33926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14129683"/>
                      </a:ext>
                    </a:extLst>
                  </a:tr>
                  <a:tr h="33926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11768726"/>
                      </a:ext>
                    </a:extLst>
                  </a:tr>
                  <a:tr h="33926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39149221"/>
                      </a:ext>
                    </a:extLst>
                  </a:tr>
                  <a:tr h="33926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65979829"/>
                      </a:ext>
                    </a:extLst>
                  </a:tr>
                  <a:tr h="33926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3457461"/>
                      </a:ext>
                    </a:extLst>
                  </a:tr>
                  <a:tr h="33926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7016173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6">
                <a:extLst>
                  <a:ext uri="{FF2B5EF4-FFF2-40B4-BE49-F238E27FC236}">
                    <a16:creationId xmlns:a16="http://schemas.microsoft.com/office/drawing/2014/main" id="{DE8350FC-8EC9-F1AD-0A09-7035ADFF3A1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61737864"/>
                  </p:ext>
                </p:extLst>
              </p:nvPr>
            </p:nvGraphicFramePr>
            <p:xfrm>
              <a:off x="220384" y="3183576"/>
              <a:ext cx="6979203" cy="3291840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634473">
                      <a:extLst>
                        <a:ext uri="{9D8B030D-6E8A-4147-A177-3AD203B41FA5}">
                          <a16:colId xmlns:a16="http://schemas.microsoft.com/office/drawing/2014/main" val="1622799176"/>
                        </a:ext>
                      </a:extLst>
                    </a:gridCol>
                    <a:gridCol w="634473">
                      <a:extLst>
                        <a:ext uri="{9D8B030D-6E8A-4147-A177-3AD203B41FA5}">
                          <a16:colId xmlns:a16="http://schemas.microsoft.com/office/drawing/2014/main" val="3976595367"/>
                        </a:ext>
                      </a:extLst>
                    </a:gridCol>
                    <a:gridCol w="634473">
                      <a:extLst>
                        <a:ext uri="{9D8B030D-6E8A-4147-A177-3AD203B41FA5}">
                          <a16:colId xmlns:a16="http://schemas.microsoft.com/office/drawing/2014/main" val="2994353103"/>
                        </a:ext>
                      </a:extLst>
                    </a:gridCol>
                    <a:gridCol w="634473">
                      <a:extLst>
                        <a:ext uri="{9D8B030D-6E8A-4147-A177-3AD203B41FA5}">
                          <a16:colId xmlns:a16="http://schemas.microsoft.com/office/drawing/2014/main" val="4089050060"/>
                        </a:ext>
                      </a:extLst>
                    </a:gridCol>
                    <a:gridCol w="634473">
                      <a:extLst>
                        <a:ext uri="{9D8B030D-6E8A-4147-A177-3AD203B41FA5}">
                          <a16:colId xmlns:a16="http://schemas.microsoft.com/office/drawing/2014/main" val="2896109130"/>
                        </a:ext>
                      </a:extLst>
                    </a:gridCol>
                    <a:gridCol w="634473">
                      <a:extLst>
                        <a:ext uri="{9D8B030D-6E8A-4147-A177-3AD203B41FA5}">
                          <a16:colId xmlns:a16="http://schemas.microsoft.com/office/drawing/2014/main" val="254732573"/>
                        </a:ext>
                      </a:extLst>
                    </a:gridCol>
                    <a:gridCol w="634473">
                      <a:extLst>
                        <a:ext uri="{9D8B030D-6E8A-4147-A177-3AD203B41FA5}">
                          <a16:colId xmlns:a16="http://schemas.microsoft.com/office/drawing/2014/main" val="197861000"/>
                        </a:ext>
                      </a:extLst>
                    </a:gridCol>
                    <a:gridCol w="634473">
                      <a:extLst>
                        <a:ext uri="{9D8B030D-6E8A-4147-A177-3AD203B41FA5}">
                          <a16:colId xmlns:a16="http://schemas.microsoft.com/office/drawing/2014/main" val="428486957"/>
                        </a:ext>
                      </a:extLst>
                    </a:gridCol>
                    <a:gridCol w="634473">
                      <a:extLst>
                        <a:ext uri="{9D8B030D-6E8A-4147-A177-3AD203B41FA5}">
                          <a16:colId xmlns:a16="http://schemas.microsoft.com/office/drawing/2014/main" val="1470399303"/>
                        </a:ext>
                      </a:extLst>
                    </a:gridCol>
                    <a:gridCol w="634473">
                      <a:extLst>
                        <a:ext uri="{9D8B030D-6E8A-4147-A177-3AD203B41FA5}">
                          <a16:colId xmlns:a16="http://schemas.microsoft.com/office/drawing/2014/main" val="1844918402"/>
                        </a:ext>
                      </a:extLst>
                    </a:gridCol>
                    <a:gridCol w="634473">
                      <a:extLst>
                        <a:ext uri="{9D8B030D-6E8A-4147-A177-3AD203B41FA5}">
                          <a16:colId xmlns:a16="http://schemas.microsoft.com/office/drawing/2014/main" val="2560013296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962" t="-1667" r="-1002885" b="-8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962" t="-1667" r="-902885" b="-8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99048" t="-1667" r="-794286" b="-8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01923" t="-1667" r="-701923" b="-8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01923" t="-1667" r="-601923" b="-8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501923" t="-1667" r="-501923" b="-8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601923" t="-1667" r="-401923" b="-8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701923" t="-1667" r="-301923" b="-8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794286" t="-1667" r="-199048" b="-8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902885" t="-1667" r="-100962" b="-8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2885" t="-1667" r="-962" b="-82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5467149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4016695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6912787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1412968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1176872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3914922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6597982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345746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70161734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2F73BAA3-ED53-2E78-BBE6-36CD98ED8E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7241" y="1371601"/>
            <a:ext cx="4729656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087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Encoders – Decimal Encoders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5" y="1532587"/>
                <a:ext cx="5392139" cy="494282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</m:oMath>
                </a14:m>
                <a:endParaRPr lang="en-US" sz="2400" b="0" dirty="0"/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</m:oMath>
                </a14:m>
                <a:endParaRPr lang="en-US" sz="2400" b="0" dirty="0"/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</m:oMath>
                </a14:m>
                <a:endParaRPr lang="en-US" sz="2400" dirty="0"/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</m:oMath>
                </a14:m>
                <a:endParaRPr lang="en-US" sz="2400" b="0" dirty="0"/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2400" dirty="0"/>
                  <a:t>Note that there are still 6 possibilities left for output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2400" b="0" dirty="0"/>
                  <a:t>.</a:t>
                </a:r>
                <a:r>
                  <a:rPr lang="en-US" sz="2400" dirty="0"/>
                  <a:t> But for a decimal digit, we do not need them.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2400" dirty="0"/>
                  <a:t>Can you design the logic circuit for this?</a:t>
                </a:r>
                <a:endParaRPr lang="en-US" sz="2400" b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5" y="1532587"/>
                <a:ext cx="5392139" cy="4942829"/>
              </a:xfrm>
              <a:prstGeom prst="rect">
                <a:avLst/>
              </a:prstGeom>
              <a:blipFill>
                <a:blip r:embed="rId3"/>
                <a:stretch>
                  <a:fillRect l="-1469" t="-617" r="-2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6">
                <a:extLst>
                  <a:ext uri="{FF2B5EF4-FFF2-40B4-BE49-F238E27FC236}">
                    <a16:creationId xmlns:a16="http://schemas.microsoft.com/office/drawing/2014/main" id="{DF9AFB90-19C1-CFF2-7505-1D4C3C29F62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612524" y="1767840"/>
              <a:ext cx="6477002" cy="4569895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462643">
                      <a:extLst>
                        <a:ext uri="{9D8B030D-6E8A-4147-A177-3AD203B41FA5}">
                          <a16:colId xmlns:a16="http://schemas.microsoft.com/office/drawing/2014/main" val="1622799176"/>
                        </a:ext>
                      </a:extLst>
                    </a:gridCol>
                    <a:gridCol w="462643">
                      <a:extLst>
                        <a:ext uri="{9D8B030D-6E8A-4147-A177-3AD203B41FA5}">
                          <a16:colId xmlns:a16="http://schemas.microsoft.com/office/drawing/2014/main" val="3976595367"/>
                        </a:ext>
                      </a:extLst>
                    </a:gridCol>
                    <a:gridCol w="462643">
                      <a:extLst>
                        <a:ext uri="{9D8B030D-6E8A-4147-A177-3AD203B41FA5}">
                          <a16:colId xmlns:a16="http://schemas.microsoft.com/office/drawing/2014/main" val="2994353103"/>
                        </a:ext>
                      </a:extLst>
                    </a:gridCol>
                    <a:gridCol w="462643">
                      <a:extLst>
                        <a:ext uri="{9D8B030D-6E8A-4147-A177-3AD203B41FA5}">
                          <a16:colId xmlns:a16="http://schemas.microsoft.com/office/drawing/2014/main" val="4089050060"/>
                        </a:ext>
                      </a:extLst>
                    </a:gridCol>
                    <a:gridCol w="462643">
                      <a:extLst>
                        <a:ext uri="{9D8B030D-6E8A-4147-A177-3AD203B41FA5}">
                          <a16:colId xmlns:a16="http://schemas.microsoft.com/office/drawing/2014/main" val="2896109130"/>
                        </a:ext>
                      </a:extLst>
                    </a:gridCol>
                    <a:gridCol w="462643">
                      <a:extLst>
                        <a:ext uri="{9D8B030D-6E8A-4147-A177-3AD203B41FA5}">
                          <a16:colId xmlns:a16="http://schemas.microsoft.com/office/drawing/2014/main" val="254732573"/>
                        </a:ext>
                      </a:extLst>
                    </a:gridCol>
                    <a:gridCol w="462643">
                      <a:extLst>
                        <a:ext uri="{9D8B030D-6E8A-4147-A177-3AD203B41FA5}">
                          <a16:colId xmlns:a16="http://schemas.microsoft.com/office/drawing/2014/main" val="197861000"/>
                        </a:ext>
                      </a:extLst>
                    </a:gridCol>
                    <a:gridCol w="462643">
                      <a:extLst>
                        <a:ext uri="{9D8B030D-6E8A-4147-A177-3AD203B41FA5}">
                          <a16:colId xmlns:a16="http://schemas.microsoft.com/office/drawing/2014/main" val="428486957"/>
                        </a:ext>
                      </a:extLst>
                    </a:gridCol>
                    <a:gridCol w="462643">
                      <a:extLst>
                        <a:ext uri="{9D8B030D-6E8A-4147-A177-3AD203B41FA5}">
                          <a16:colId xmlns:a16="http://schemas.microsoft.com/office/drawing/2014/main" val="4097968453"/>
                        </a:ext>
                      </a:extLst>
                    </a:gridCol>
                    <a:gridCol w="462643">
                      <a:extLst>
                        <a:ext uri="{9D8B030D-6E8A-4147-A177-3AD203B41FA5}">
                          <a16:colId xmlns:a16="http://schemas.microsoft.com/office/drawing/2014/main" val="2531993680"/>
                        </a:ext>
                      </a:extLst>
                    </a:gridCol>
                    <a:gridCol w="462643">
                      <a:extLst>
                        <a:ext uri="{9D8B030D-6E8A-4147-A177-3AD203B41FA5}">
                          <a16:colId xmlns:a16="http://schemas.microsoft.com/office/drawing/2014/main" val="1470399303"/>
                        </a:ext>
                      </a:extLst>
                    </a:gridCol>
                    <a:gridCol w="462643">
                      <a:extLst>
                        <a:ext uri="{9D8B030D-6E8A-4147-A177-3AD203B41FA5}">
                          <a16:colId xmlns:a16="http://schemas.microsoft.com/office/drawing/2014/main" val="1498135837"/>
                        </a:ext>
                      </a:extLst>
                    </a:gridCol>
                    <a:gridCol w="462643">
                      <a:extLst>
                        <a:ext uri="{9D8B030D-6E8A-4147-A177-3AD203B41FA5}">
                          <a16:colId xmlns:a16="http://schemas.microsoft.com/office/drawing/2014/main" val="1844918402"/>
                        </a:ext>
                      </a:extLst>
                    </a:gridCol>
                    <a:gridCol w="462643">
                      <a:extLst>
                        <a:ext uri="{9D8B030D-6E8A-4147-A177-3AD203B41FA5}">
                          <a16:colId xmlns:a16="http://schemas.microsoft.com/office/drawing/2014/main" val="2560013296"/>
                        </a:ext>
                      </a:extLst>
                    </a:gridCol>
                  </a:tblGrid>
                  <a:tr h="41544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smtClean="0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  <m:sub>
                                    <m:r>
                                      <a:rPr lang="en-US" b="1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smtClean="0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  <m:sub>
                                    <m:r>
                                      <a:rPr lang="en-US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smtClean="0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  <m:sub>
                                    <m:r>
                                      <a:rPr lang="en-US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smtClean="0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  <m:sub>
                                    <m:r>
                                      <a:rPr lang="en-US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smtClean="0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  <m:sub>
                                    <m:r>
                                      <a:rPr lang="en-US" b="1" smtClean="0"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smtClean="0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  <m:sub>
                                    <m:r>
                                      <a:rPr lang="en-US" b="1" smtClean="0"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smtClean="0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  <m:sub>
                                    <m:r>
                                      <a:rPr lang="en-US" b="1" smtClean="0"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smtClean="0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  <m:sub>
                                    <m:r>
                                      <a:rPr lang="en-US" b="1" smtClean="0">
                                        <a:latin typeface="Cambria Math" panose="02040503050406030204" pitchFamily="18" charset="0"/>
                                      </a:rPr>
                                      <m:t>𝟕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smtClean="0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  <m:sub>
                                    <m:r>
                                      <a:rPr lang="en-US" b="1" i="0" smtClean="0">
                                        <a:latin typeface="Cambria Math" panose="02040503050406030204" pitchFamily="18" charset="0"/>
                                      </a:rPr>
                                      <m:t>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smtClean="0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  <m:sub>
                                    <m:r>
                                      <a:rPr lang="en-US" b="1" i="0" smtClean="0">
                                        <a:latin typeface="Cambria Math" panose="02040503050406030204" pitchFamily="18" charset="0"/>
                                      </a:rPr>
                                      <m:t>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u="none" smtClean="0">
                                    <a:latin typeface="Cambria Math" panose="02040503050406030204" pitchFamily="18" charset="0"/>
                                  </a:rPr>
                                  <m:t>𝒘</m:t>
                                </m:r>
                              </m:oMath>
                            </m:oMathPara>
                          </a14:m>
                          <a:endParaRPr lang="en-US" i="1" u="none" dirty="0"/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u="none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US" i="1" u="none" dirty="0"/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u="none" dirty="0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US" i="1" u="none" dirty="0"/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u="none" smtClean="0">
                                    <a:latin typeface="Cambria Math" panose="02040503050406030204" pitchFamily="18" charset="0"/>
                                  </a:rPr>
                                  <m:t>𝒛</m:t>
                                </m:r>
                              </m:oMath>
                            </m:oMathPara>
                          </a14:m>
                          <a:endParaRPr lang="en-US" i="1" u="none" dirty="0"/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54671497"/>
                      </a:ext>
                    </a:extLst>
                  </a:tr>
                  <a:tr h="415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40166951"/>
                      </a:ext>
                    </a:extLst>
                  </a:tr>
                  <a:tr h="415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69127878"/>
                      </a:ext>
                    </a:extLst>
                  </a:tr>
                  <a:tr h="415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14129683"/>
                      </a:ext>
                    </a:extLst>
                  </a:tr>
                  <a:tr h="415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11768726"/>
                      </a:ext>
                    </a:extLst>
                  </a:tr>
                  <a:tr h="415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39149221"/>
                      </a:ext>
                    </a:extLst>
                  </a:tr>
                  <a:tr h="415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65979829"/>
                      </a:ext>
                    </a:extLst>
                  </a:tr>
                  <a:tr h="415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3457461"/>
                      </a:ext>
                    </a:extLst>
                  </a:tr>
                  <a:tr h="415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70161734"/>
                      </a:ext>
                    </a:extLst>
                  </a:tr>
                  <a:tr h="415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12293185"/>
                      </a:ext>
                    </a:extLst>
                  </a:tr>
                  <a:tr h="415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4599059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6">
                <a:extLst>
                  <a:ext uri="{FF2B5EF4-FFF2-40B4-BE49-F238E27FC236}">
                    <a16:creationId xmlns:a16="http://schemas.microsoft.com/office/drawing/2014/main" id="{DF9AFB90-19C1-CFF2-7505-1D4C3C29F62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30014357"/>
                  </p:ext>
                </p:extLst>
              </p:nvPr>
            </p:nvGraphicFramePr>
            <p:xfrm>
              <a:off x="5612524" y="1767840"/>
              <a:ext cx="6477002" cy="4569895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462643">
                      <a:extLst>
                        <a:ext uri="{9D8B030D-6E8A-4147-A177-3AD203B41FA5}">
                          <a16:colId xmlns:a16="http://schemas.microsoft.com/office/drawing/2014/main" val="1622799176"/>
                        </a:ext>
                      </a:extLst>
                    </a:gridCol>
                    <a:gridCol w="462643">
                      <a:extLst>
                        <a:ext uri="{9D8B030D-6E8A-4147-A177-3AD203B41FA5}">
                          <a16:colId xmlns:a16="http://schemas.microsoft.com/office/drawing/2014/main" val="3976595367"/>
                        </a:ext>
                      </a:extLst>
                    </a:gridCol>
                    <a:gridCol w="462643">
                      <a:extLst>
                        <a:ext uri="{9D8B030D-6E8A-4147-A177-3AD203B41FA5}">
                          <a16:colId xmlns:a16="http://schemas.microsoft.com/office/drawing/2014/main" val="2994353103"/>
                        </a:ext>
                      </a:extLst>
                    </a:gridCol>
                    <a:gridCol w="462643">
                      <a:extLst>
                        <a:ext uri="{9D8B030D-6E8A-4147-A177-3AD203B41FA5}">
                          <a16:colId xmlns:a16="http://schemas.microsoft.com/office/drawing/2014/main" val="4089050060"/>
                        </a:ext>
                      </a:extLst>
                    </a:gridCol>
                    <a:gridCol w="462643">
                      <a:extLst>
                        <a:ext uri="{9D8B030D-6E8A-4147-A177-3AD203B41FA5}">
                          <a16:colId xmlns:a16="http://schemas.microsoft.com/office/drawing/2014/main" val="2896109130"/>
                        </a:ext>
                      </a:extLst>
                    </a:gridCol>
                    <a:gridCol w="462643">
                      <a:extLst>
                        <a:ext uri="{9D8B030D-6E8A-4147-A177-3AD203B41FA5}">
                          <a16:colId xmlns:a16="http://schemas.microsoft.com/office/drawing/2014/main" val="254732573"/>
                        </a:ext>
                      </a:extLst>
                    </a:gridCol>
                    <a:gridCol w="462643">
                      <a:extLst>
                        <a:ext uri="{9D8B030D-6E8A-4147-A177-3AD203B41FA5}">
                          <a16:colId xmlns:a16="http://schemas.microsoft.com/office/drawing/2014/main" val="197861000"/>
                        </a:ext>
                      </a:extLst>
                    </a:gridCol>
                    <a:gridCol w="462643">
                      <a:extLst>
                        <a:ext uri="{9D8B030D-6E8A-4147-A177-3AD203B41FA5}">
                          <a16:colId xmlns:a16="http://schemas.microsoft.com/office/drawing/2014/main" val="428486957"/>
                        </a:ext>
                      </a:extLst>
                    </a:gridCol>
                    <a:gridCol w="462643">
                      <a:extLst>
                        <a:ext uri="{9D8B030D-6E8A-4147-A177-3AD203B41FA5}">
                          <a16:colId xmlns:a16="http://schemas.microsoft.com/office/drawing/2014/main" val="4097968453"/>
                        </a:ext>
                      </a:extLst>
                    </a:gridCol>
                    <a:gridCol w="462643">
                      <a:extLst>
                        <a:ext uri="{9D8B030D-6E8A-4147-A177-3AD203B41FA5}">
                          <a16:colId xmlns:a16="http://schemas.microsoft.com/office/drawing/2014/main" val="2531993680"/>
                        </a:ext>
                      </a:extLst>
                    </a:gridCol>
                    <a:gridCol w="462643">
                      <a:extLst>
                        <a:ext uri="{9D8B030D-6E8A-4147-A177-3AD203B41FA5}">
                          <a16:colId xmlns:a16="http://schemas.microsoft.com/office/drawing/2014/main" val="1470399303"/>
                        </a:ext>
                      </a:extLst>
                    </a:gridCol>
                    <a:gridCol w="462643">
                      <a:extLst>
                        <a:ext uri="{9D8B030D-6E8A-4147-A177-3AD203B41FA5}">
                          <a16:colId xmlns:a16="http://schemas.microsoft.com/office/drawing/2014/main" val="1498135837"/>
                        </a:ext>
                      </a:extLst>
                    </a:gridCol>
                    <a:gridCol w="462643">
                      <a:extLst>
                        <a:ext uri="{9D8B030D-6E8A-4147-A177-3AD203B41FA5}">
                          <a16:colId xmlns:a16="http://schemas.microsoft.com/office/drawing/2014/main" val="1844918402"/>
                        </a:ext>
                      </a:extLst>
                    </a:gridCol>
                    <a:gridCol w="462643">
                      <a:extLst>
                        <a:ext uri="{9D8B030D-6E8A-4147-A177-3AD203B41FA5}">
                          <a16:colId xmlns:a16="http://schemas.microsoft.com/office/drawing/2014/main" val="2560013296"/>
                        </a:ext>
                      </a:extLst>
                    </a:gridCol>
                  </a:tblGrid>
                  <a:tr h="41544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t="-1471" r="-1301316" b="-10147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000" t="-1471" r="-1201316" b="-10147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0000" t="-1471" r="-1101316" b="-10147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00000" t="-1471" r="-1001316" b="-10147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00000" t="-1471" r="-901316" b="-10147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500000" t="-1471" r="-801316" b="-10147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600000" t="-1471" r="-701316" b="-10147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700000" t="-1471" r="-601316" b="-10147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800000" t="-1471" r="-501316" b="-10147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900000" t="-1471" r="-401316" b="-10147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0000" t="-1471" r="-301316" b="-10147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100000" t="-1471" r="-201316" b="-10147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200000" t="-1471" r="-101316" b="-10147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300000" t="-1471" r="-1316" b="-101470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54671497"/>
                      </a:ext>
                    </a:extLst>
                  </a:tr>
                  <a:tr h="415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40166951"/>
                      </a:ext>
                    </a:extLst>
                  </a:tr>
                  <a:tr h="415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69127878"/>
                      </a:ext>
                    </a:extLst>
                  </a:tr>
                  <a:tr h="415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14129683"/>
                      </a:ext>
                    </a:extLst>
                  </a:tr>
                  <a:tr h="415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11768726"/>
                      </a:ext>
                    </a:extLst>
                  </a:tr>
                  <a:tr h="415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39149221"/>
                      </a:ext>
                    </a:extLst>
                  </a:tr>
                  <a:tr h="415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65979829"/>
                      </a:ext>
                    </a:extLst>
                  </a:tr>
                  <a:tr h="415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3457461"/>
                      </a:ext>
                    </a:extLst>
                  </a:tr>
                  <a:tr h="415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70161734"/>
                      </a:ext>
                    </a:extLst>
                  </a:tr>
                  <a:tr h="415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12293185"/>
                      </a:ext>
                    </a:extLst>
                  </a:tr>
                  <a:tr h="415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4599059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433193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Encoders – Hex Encoders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6" y="1532587"/>
                <a:ext cx="4383146" cy="494282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2400" b="0" dirty="0">
                    <a:latin typeface="Cambria Math" panose="02040503050406030204" pitchFamily="18" charset="0"/>
                  </a:rPr>
                  <a:t>Similar to Decimal Encoders, the Hex Encoders range from 0-9, A-F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2400" b="0" dirty="0">
                    <a:latin typeface="Cambria Math" panose="02040503050406030204" pitchFamily="18" charset="0"/>
                  </a:rPr>
                  <a:t>Complete the equations for all output bits. E.g.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13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sub>
                    </m:sSub>
                  </m:oMath>
                </a14:m>
                <a:endParaRPr lang="en-US" sz="2400" b="0" dirty="0"/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2400" dirty="0"/>
                  <a:t>…</a:t>
                </a:r>
                <a:endParaRPr lang="en-US" sz="2400" b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6" y="1532587"/>
                <a:ext cx="4383146" cy="4942829"/>
              </a:xfrm>
              <a:prstGeom prst="rect">
                <a:avLst/>
              </a:prstGeom>
              <a:blipFill>
                <a:blip r:embed="rId3"/>
                <a:stretch>
                  <a:fillRect l="-1808" t="-986" r="-22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6">
                <a:extLst>
                  <a:ext uri="{FF2B5EF4-FFF2-40B4-BE49-F238E27FC236}">
                    <a16:creationId xmlns:a16="http://schemas.microsoft.com/office/drawing/2014/main" id="{DF9AFB90-19C1-CFF2-7505-1D4C3C29F62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603532" y="1154121"/>
              <a:ext cx="7588460" cy="5699760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379423">
                      <a:extLst>
                        <a:ext uri="{9D8B030D-6E8A-4147-A177-3AD203B41FA5}">
                          <a16:colId xmlns:a16="http://schemas.microsoft.com/office/drawing/2014/main" val="1622799176"/>
                        </a:ext>
                      </a:extLst>
                    </a:gridCol>
                    <a:gridCol w="379423">
                      <a:extLst>
                        <a:ext uri="{9D8B030D-6E8A-4147-A177-3AD203B41FA5}">
                          <a16:colId xmlns:a16="http://schemas.microsoft.com/office/drawing/2014/main" val="3976595367"/>
                        </a:ext>
                      </a:extLst>
                    </a:gridCol>
                    <a:gridCol w="379423">
                      <a:extLst>
                        <a:ext uri="{9D8B030D-6E8A-4147-A177-3AD203B41FA5}">
                          <a16:colId xmlns:a16="http://schemas.microsoft.com/office/drawing/2014/main" val="2994353103"/>
                        </a:ext>
                      </a:extLst>
                    </a:gridCol>
                    <a:gridCol w="379423">
                      <a:extLst>
                        <a:ext uri="{9D8B030D-6E8A-4147-A177-3AD203B41FA5}">
                          <a16:colId xmlns:a16="http://schemas.microsoft.com/office/drawing/2014/main" val="4089050060"/>
                        </a:ext>
                      </a:extLst>
                    </a:gridCol>
                    <a:gridCol w="379423">
                      <a:extLst>
                        <a:ext uri="{9D8B030D-6E8A-4147-A177-3AD203B41FA5}">
                          <a16:colId xmlns:a16="http://schemas.microsoft.com/office/drawing/2014/main" val="2896109130"/>
                        </a:ext>
                      </a:extLst>
                    </a:gridCol>
                    <a:gridCol w="379423">
                      <a:extLst>
                        <a:ext uri="{9D8B030D-6E8A-4147-A177-3AD203B41FA5}">
                          <a16:colId xmlns:a16="http://schemas.microsoft.com/office/drawing/2014/main" val="254732573"/>
                        </a:ext>
                      </a:extLst>
                    </a:gridCol>
                    <a:gridCol w="379423">
                      <a:extLst>
                        <a:ext uri="{9D8B030D-6E8A-4147-A177-3AD203B41FA5}">
                          <a16:colId xmlns:a16="http://schemas.microsoft.com/office/drawing/2014/main" val="197861000"/>
                        </a:ext>
                      </a:extLst>
                    </a:gridCol>
                    <a:gridCol w="379423">
                      <a:extLst>
                        <a:ext uri="{9D8B030D-6E8A-4147-A177-3AD203B41FA5}">
                          <a16:colId xmlns:a16="http://schemas.microsoft.com/office/drawing/2014/main" val="428486957"/>
                        </a:ext>
                      </a:extLst>
                    </a:gridCol>
                    <a:gridCol w="379423">
                      <a:extLst>
                        <a:ext uri="{9D8B030D-6E8A-4147-A177-3AD203B41FA5}">
                          <a16:colId xmlns:a16="http://schemas.microsoft.com/office/drawing/2014/main" val="4097968453"/>
                        </a:ext>
                      </a:extLst>
                    </a:gridCol>
                    <a:gridCol w="379423">
                      <a:extLst>
                        <a:ext uri="{9D8B030D-6E8A-4147-A177-3AD203B41FA5}">
                          <a16:colId xmlns:a16="http://schemas.microsoft.com/office/drawing/2014/main" val="2531993680"/>
                        </a:ext>
                      </a:extLst>
                    </a:gridCol>
                    <a:gridCol w="379423">
                      <a:extLst>
                        <a:ext uri="{9D8B030D-6E8A-4147-A177-3AD203B41FA5}">
                          <a16:colId xmlns:a16="http://schemas.microsoft.com/office/drawing/2014/main" val="3389219131"/>
                        </a:ext>
                      </a:extLst>
                    </a:gridCol>
                    <a:gridCol w="379423">
                      <a:extLst>
                        <a:ext uri="{9D8B030D-6E8A-4147-A177-3AD203B41FA5}">
                          <a16:colId xmlns:a16="http://schemas.microsoft.com/office/drawing/2014/main" val="3217438447"/>
                        </a:ext>
                      </a:extLst>
                    </a:gridCol>
                    <a:gridCol w="379423">
                      <a:extLst>
                        <a:ext uri="{9D8B030D-6E8A-4147-A177-3AD203B41FA5}">
                          <a16:colId xmlns:a16="http://schemas.microsoft.com/office/drawing/2014/main" val="536548636"/>
                        </a:ext>
                      </a:extLst>
                    </a:gridCol>
                    <a:gridCol w="379423">
                      <a:extLst>
                        <a:ext uri="{9D8B030D-6E8A-4147-A177-3AD203B41FA5}">
                          <a16:colId xmlns:a16="http://schemas.microsoft.com/office/drawing/2014/main" val="2665123548"/>
                        </a:ext>
                      </a:extLst>
                    </a:gridCol>
                    <a:gridCol w="379423">
                      <a:extLst>
                        <a:ext uri="{9D8B030D-6E8A-4147-A177-3AD203B41FA5}">
                          <a16:colId xmlns:a16="http://schemas.microsoft.com/office/drawing/2014/main" val="3541989293"/>
                        </a:ext>
                      </a:extLst>
                    </a:gridCol>
                    <a:gridCol w="379423">
                      <a:extLst>
                        <a:ext uri="{9D8B030D-6E8A-4147-A177-3AD203B41FA5}">
                          <a16:colId xmlns:a16="http://schemas.microsoft.com/office/drawing/2014/main" val="1260891040"/>
                        </a:ext>
                      </a:extLst>
                    </a:gridCol>
                    <a:gridCol w="379423">
                      <a:extLst>
                        <a:ext uri="{9D8B030D-6E8A-4147-A177-3AD203B41FA5}">
                          <a16:colId xmlns:a16="http://schemas.microsoft.com/office/drawing/2014/main" val="1470399303"/>
                        </a:ext>
                      </a:extLst>
                    </a:gridCol>
                    <a:gridCol w="379423">
                      <a:extLst>
                        <a:ext uri="{9D8B030D-6E8A-4147-A177-3AD203B41FA5}">
                          <a16:colId xmlns:a16="http://schemas.microsoft.com/office/drawing/2014/main" val="1498135837"/>
                        </a:ext>
                      </a:extLst>
                    </a:gridCol>
                    <a:gridCol w="379423">
                      <a:extLst>
                        <a:ext uri="{9D8B030D-6E8A-4147-A177-3AD203B41FA5}">
                          <a16:colId xmlns:a16="http://schemas.microsoft.com/office/drawing/2014/main" val="1844918402"/>
                        </a:ext>
                      </a:extLst>
                    </a:gridCol>
                    <a:gridCol w="379423">
                      <a:extLst>
                        <a:ext uri="{9D8B030D-6E8A-4147-A177-3AD203B41FA5}">
                          <a16:colId xmlns:a16="http://schemas.microsoft.com/office/drawing/2014/main" val="2560013296"/>
                        </a:ext>
                      </a:extLst>
                    </a:gridCol>
                  </a:tblGrid>
                  <a:tr h="30291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smtClean="0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  <m:sub>
                                    <m:r>
                                      <a:rPr lang="en-US" sz="1600" b="1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smtClean="0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  <m:sub>
                                    <m:r>
                                      <a:rPr lang="en-US" sz="16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smtClean="0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  <m:sub>
                                    <m:r>
                                      <a:rPr lang="en-US" sz="16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smtClean="0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  <m:sub>
                                    <m:r>
                                      <a:rPr lang="en-US" sz="16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smtClean="0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  <m:sub>
                                    <m:r>
                                      <a:rPr lang="en-US" sz="1600" b="1" smtClean="0"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smtClean="0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  <m:sub>
                                    <m:r>
                                      <a:rPr lang="en-US" sz="1600" b="1" smtClean="0"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smtClean="0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  <m:sub>
                                    <m:r>
                                      <a:rPr lang="en-US" sz="1600" b="1" smtClean="0"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smtClean="0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  <m:sub>
                                    <m:r>
                                      <a:rPr lang="en-US" sz="1600" b="1" smtClean="0">
                                        <a:latin typeface="Cambria Math" panose="02040503050406030204" pitchFamily="18" charset="0"/>
                                      </a:rPr>
                                      <m:t>𝟕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smtClean="0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  <m:sub>
                                    <m:r>
                                      <a:rPr lang="en-US" sz="1600" b="1" i="0" smtClean="0">
                                        <a:latin typeface="Cambria Math" panose="02040503050406030204" pitchFamily="18" charset="0"/>
                                      </a:rPr>
                                      <m:t>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smtClean="0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  <m:sub>
                                    <m:r>
                                      <a:rPr lang="en-US" sz="1600" b="1" i="0" smtClean="0">
                                        <a:latin typeface="Cambria Math" panose="02040503050406030204" pitchFamily="18" charset="0"/>
                                      </a:rPr>
                                      <m:t>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smtClean="0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  <m:sub>
                                    <m:r>
                                      <a:rPr lang="en-US" sz="1600" b="1" i="0" smtClean="0">
                                        <a:latin typeface="Cambria Math" panose="02040503050406030204" pitchFamily="18" charset="0"/>
                                      </a:rPr>
                                      <m:t>𝟏𝟎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smtClean="0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  <m:sub>
                                    <m:r>
                                      <a:rPr lang="en-US" sz="1600" b="1" i="0" smtClean="0">
                                        <a:latin typeface="Cambria Math" panose="02040503050406030204" pitchFamily="18" charset="0"/>
                                      </a:rPr>
                                      <m:t>𝟏𝟏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smtClean="0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  <m:sub>
                                    <m:r>
                                      <a:rPr lang="en-US" sz="1600" b="1" i="0" smtClean="0">
                                        <a:latin typeface="Cambria Math" panose="02040503050406030204" pitchFamily="18" charset="0"/>
                                      </a:rPr>
                                      <m:t>𝟏𝟐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smtClean="0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  <m:sub>
                                    <m:r>
                                      <a:rPr lang="en-US" sz="1600" b="1" i="0" smtClean="0">
                                        <a:latin typeface="Cambria Math" panose="02040503050406030204" pitchFamily="18" charset="0"/>
                                      </a:rPr>
                                      <m:t>𝟏𝟑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smtClean="0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  <m:sub>
                                    <m:r>
                                      <a:rPr lang="en-US" sz="1600" b="1" i="0" smtClean="0">
                                        <a:latin typeface="Cambria Math" panose="02040503050406030204" pitchFamily="18" charset="0"/>
                                      </a:rPr>
                                      <m:t>𝟏𝟒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smtClean="0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  <m:sub>
                                    <m:r>
                                      <a:rPr lang="en-US" sz="1600" b="1" i="0" smtClean="0">
                                        <a:latin typeface="Cambria Math" panose="02040503050406030204" pitchFamily="18" charset="0"/>
                                      </a:rPr>
                                      <m:t>𝟏𝟓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u="none" smtClean="0">
                                    <a:latin typeface="Cambria Math" panose="02040503050406030204" pitchFamily="18" charset="0"/>
                                  </a:rPr>
                                  <m:t>𝒘</m:t>
                                </m:r>
                              </m:oMath>
                            </m:oMathPara>
                          </a14:m>
                          <a:endParaRPr lang="en-US" sz="1600" i="1" u="none" dirty="0"/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u="none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US" sz="1600" i="1" u="none" dirty="0"/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u="none" dirty="0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US" sz="1600" i="1" u="none" dirty="0"/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u="none" smtClean="0">
                                    <a:latin typeface="Cambria Math" panose="02040503050406030204" pitchFamily="18" charset="0"/>
                                  </a:rPr>
                                  <m:t>𝒛</m:t>
                                </m:r>
                              </m:oMath>
                            </m:oMathPara>
                          </a14:m>
                          <a:endParaRPr lang="en-US" sz="1600" i="1" u="none" dirty="0"/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54671497"/>
                      </a:ext>
                    </a:extLst>
                  </a:tr>
                  <a:tr h="30291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1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40166951"/>
                      </a:ext>
                    </a:extLst>
                  </a:tr>
                  <a:tr h="30291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1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69127878"/>
                      </a:ext>
                    </a:extLst>
                  </a:tr>
                  <a:tr h="30291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1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14129683"/>
                      </a:ext>
                    </a:extLst>
                  </a:tr>
                  <a:tr h="30291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1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11768726"/>
                      </a:ext>
                    </a:extLst>
                  </a:tr>
                  <a:tr h="30291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1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39149221"/>
                      </a:ext>
                    </a:extLst>
                  </a:tr>
                  <a:tr h="30291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1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65979829"/>
                      </a:ext>
                    </a:extLst>
                  </a:tr>
                  <a:tr h="30291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1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3457461"/>
                      </a:ext>
                    </a:extLst>
                  </a:tr>
                  <a:tr h="30291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1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70161734"/>
                      </a:ext>
                    </a:extLst>
                  </a:tr>
                  <a:tr h="30291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1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12293185"/>
                      </a:ext>
                    </a:extLst>
                  </a:tr>
                  <a:tr h="30291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1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45990598"/>
                      </a:ext>
                    </a:extLst>
                  </a:tr>
                  <a:tr h="30291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kumimoji="0" lang="en-U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kumimoji="0" lang="en-U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kumimoji="0" lang="en-U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78601093"/>
                      </a:ext>
                    </a:extLst>
                  </a:tr>
                  <a:tr h="30291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kumimoji="0" lang="en-U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kumimoji="0" lang="en-U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kumimoji="0" lang="en-U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1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4516026"/>
                      </a:ext>
                    </a:extLst>
                  </a:tr>
                  <a:tr h="30291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kumimoji="0" lang="en-U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kumimoji="0" lang="en-U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kumimoji="0" lang="en-U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kumimoji="0" lang="en-U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1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72035335"/>
                      </a:ext>
                    </a:extLst>
                  </a:tr>
                  <a:tr h="30291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kumimoji="0" lang="en-U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kumimoji="0" lang="en-U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kumimoji="0" lang="en-U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kumimoji="0" lang="en-U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1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23678623"/>
                      </a:ext>
                    </a:extLst>
                  </a:tr>
                  <a:tr h="30291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kumimoji="0" lang="en-U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kumimoji="0" lang="en-U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kumimoji="0" lang="en-U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kumimoji="0" lang="en-U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1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83842231"/>
                      </a:ext>
                    </a:extLst>
                  </a:tr>
                  <a:tr h="30291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kumimoji="0" lang="en-U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kumimoji="0" lang="en-U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kumimoji="0" lang="en-U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1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0806036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6">
                <a:extLst>
                  <a:ext uri="{FF2B5EF4-FFF2-40B4-BE49-F238E27FC236}">
                    <a16:creationId xmlns:a16="http://schemas.microsoft.com/office/drawing/2014/main" id="{DF9AFB90-19C1-CFF2-7505-1D4C3C29F62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07421970"/>
                  </p:ext>
                </p:extLst>
              </p:nvPr>
            </p:nvGraphicFramePr>
            <p:xfrm>
              <a:off x="4603532" y="1154121"/>
              <a:ext cx="7588460" cy="5699760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379423">
                      <a:extLst>
                        <a:ext uri="{9D8B030D-6E8A-4147-A177-3AD203B41FA5}">
                          <a16:colId xmlns:a16="http://schemas.microsoft.com/office/drawing/2014/main" val="1622799176"/>
                        </a:ext>
                      </a:extLst>
                    </a:gridCol>
                    <a:gridCol w="379423">
                      <a:extLst>
                        <a:ext uri="{9D8B030D-6E8A-4147-A177-3AD203B41FA5}">
                          <a16:colId xmlns:a16="http://schemas.microsoft.com/office/drawing/2014/main" val="3976595367"/>
                        </a:ext>
                      </a:extLst>
                    </a:gridCol>
                    <a:gridCol w="379423">
                      <a:extLst>
                        <a:ext uri="{9D8B030D-6E8A-4147-A177-3AD203B41FA5}">
                          <a16:colId xmlns:a16="http://schemas.microsoft.com/office/drawing/2014/main" val="2994353103"/>
                        </a:ext>
                      </a:extLst>
                    </a:gridCol>
                    <a:gridCol w="379423">
                      <a:extLst>
                        <a:ext uri="{9D8B030D-6E8A-4147-A177-3AD203B41FA5}">
                          <a16:colId xmlns:a16="http://schemas.microsoft.com/office/drawing/2014/main" val="4089050060"/>
                        </a:ext>
                      </a:extLst>
                    </a:gridCol>
                    <a:gridCol w="379423">
                      <a:extLst>
                        <a:ext uri="{9D8B030D-6E8A-4147-A177-3AD203B41FA5}">
                          <a16:colId xmlns:a16="http://schemas.microsoft.com/office/drawing/2014/main" val="2896109130"/>
                        </a:ext>
                      </a:extLst>
                    </a:gridCol>
                    <a:gridCol w="379423">
                      <a:extLst>
                        <a:ext uri="{9D8B030D-6E8A-4147-A177-3AD203B41FA5}">
                          <a16:colId xmlns:a16="http://schemas.microsoft.com/office/drawing/2014/main" val="254732573"/>
                        </a:ext>
                      </a:extLst>
                    </a:gridCol>
                    <a:gridCol w="379423">
                      <a:extLst>
                        <a:ext uri="{9D8B030D-6E8A-4147-A177-3AD203B41FA5}">
                          <a16:colId xmlns:a16="http://schemas.microsoft.com/office/drawing/2014/main" val="197861000"/>
                        </a:ext>
                      </a:extLst>
                    </a:gridCol>
                    <a:gridCol w="379423">
                      <a:extLst>
                        <a:ext uri="{9D8B030D-6E8A-4147-A177-3AD203B41FA5}">
                          <a16:colId xmlns:a16="http://schemas.microsoft.com/office/drawing/2014/main" val="428486957"/>
                        </a:ext>
                      </a:extLst>
                    </a:gridCol>
                    <a:gridCol w="379423">
                      <a:extLst>
                        <a:ext uri="{9D8B030D-6E8A-4147-A177-3AD203B41FA5}">
                          <a16:colId xmlns:a16="http://schemas.microsoft.com/office/drawing/2014/main" val="4097968453"/>
                        </a:ext>
                      </a:extLst>
                    </a:gridCol>
                    <a:gridCol w="379423">
                      <a:extLst>
                        <a:ext uri="{9D8B030D-6E8A-4147-A177-3AD203B41FA5}">
                          <a16:colId xmlns:a16="http://schemas.microsoft.com/office/drawing/2014/main" val="2531993680"/>
                        </a:ext>
                      </a:extLst>
                    </a:gridCol>
                    <a:gridCol w="379423">
                      <a:extLst>
                        <a:ext uri="{9D8B030D-6E8A-4147-A177-3AD203B41FA5}">
                          <a16:colId xmlns:a16="http://schemas.microsoft.com/office/drawing/2014/main" val="3389219131"/>
                        </a:ext>
                      </a:extLst>
                    </a:gridCol>
                    <a:gridCol w="379423">
                      <a:extLst>
                        <a:ext uri="{9D8B030D-6E8A-4147-A177-3AD203B41FA5}">
                          <a16:colId xmlns:a16="http://schemas.microsoft.com/office/drawing/2014/main" val="3217438447"/>
                        </a:ext>
                      </a:extLst>
                    </a:gridCol>
                    <a:gridCol w="379423">
                      <a:extLst>
                        <a:ext uri="{9D8B030D-6E8A-4147-A177-3AD203B41FA5}">
                          <a16:colId xmlns:a16="http://schemas.microsoft.com/office/drawing/2014/main" val="536548636"/>
                        </a:ext>
                      </a:extLst>
                    </a:gridCol>
                    <a:gridCol w="379423">
                      <a:extLst>
                        <a:ext uri="{9D8B030D-6E8A-4147-A177-3AD203B41FA5}">
                          <a16:colId xmlns:a16="http://schemas.microsoft.com/office/drawing/2014/main" val="2665123548"/>
                        </a:ext>
                      </a:extLst>
                    </a:gridCol>
                    <a:gridCol w="379423">
                      <a:extLst>
                        <a:ext uri="{9D8B030D-6E8A-4147-A177-3AD203B41FA5}">
                          <a16:colId xmlns:a16="http://schemas.microsoft.com/office/drawing/2014/main" val="3541989293"/>
                        </a:ext>
                      </a:extLst>
                    </a:gridCol>
                    <a:gridCol w="379423">
                      <a:extLst>
                        <a:ext uri="{9D8B030D-6E8A-4147-A177-3AD203B41FA5}">
                          <a16:colId xmlns:a16="http://schemas.microsoft.com/office/drawing/2014/main" val="1260891040"/>
                        </a:ext>
                      </a:extLst>
                    </a:gridCol>
                    <a:gridCol w="379423">
                      <a:extLst>
                        <a:ext uri="{9D8B030D-6E8A-4147-A177-3AD203B41FA5}">
                          <a16:colId xmlns:a16="http://schemas.microsoft.com/office/drawing/2014/main" val="1470399303"/>
                        </a:ext>
                      </a:extLst>
                    </a:gridCol>
                    <a:gridCol w="379423">
                      <a:extLst>
                        <a:ext uri="{9D8B030D-6E8A-4147-A177-3AD203B41FA5}">
                          <a16:colId xmlns:a16="http://schemas.microsoft.com/office/drawing/2014/main" val="1498135837"/>
                        </a:ext>
                      </a:extLst>
                    </a:gridCol>
                    <a:gridCol w="379423">
                      <a:extLst>
                        <a:ext uri="{9D8B030D-6E8A-4147-A177-3AD203B41FA5}">
                          <a16:colId xmlns:a16="http://schemas.microsoft.com/office/drawing/2014/main" val="1844918402"/>
                        </a:ext>
                      </a:extLst>
                    </a:gridCol>
                    <a:gridCol w="379423">
                      <a:extLst>
                        <a:ext uri="{9D8B030D-6E8A-4147-A177-3AD203B41FA5}">
                          <a16:colId xmlns:a16="http://schemas.microsoft.com/office/drawing/2014/main" val="2560013296"/>
                        </a:ext>
                      </a:extLst>
                    </a:gridCol>
                  </a:tblGrid>
                  <a:tr h="3352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613" t="-1818" r="-1911290" b="-162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000" t="-1818" r="-1780952" b="-162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3226" t="-1818" r="-1709677" b="-162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03226" t="-1818" r="-1609677" b="-162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03226" t="-1818" r="-1509677" b="-162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95238" t="-1818" r="-1385714" b="-162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604839" t="-1818" r="-1308065" b="-162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704839" t="-1818" r="-1208065" b="-162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804839" t="-1818" r="-1108065" b="-162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890476" t="-1818" r="-990476" b="-162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6452" t="-1818" r="-906452" b="-162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106452" t="-1818" r="-806452" b="-162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206452" t="-1818" r="-706452" b="-162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285714" t="-1818" r="-595238" b="-162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408065" t="-1818" r="-504839" b="-162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508065" t="-1818" r="-404839" b="-162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608065" t="-1818" r="-304839" b="-162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680952" t="-1818" r="-200000" b="-162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809677" t="-1818" r="-103226" b="-162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909677" t="-1818" r="-3226" b="-16236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54671497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1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40166951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1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69127878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1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14129683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1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11768726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1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39149221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1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65979829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1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3457461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1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70161734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1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12293185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1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45990598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kumimoji="0" lang="en-U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kumimoji="0" lang="en-U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kumimoji="0" lang="en-U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78601093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kumimoji="0" lang="en-U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kumimoji="0" lang="en-U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kumimoji="0" lang="en-U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1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4516026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kumimoji="0" lang="en-U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kumimoji="0" lang="en-U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kumimoji="0" lang="en-U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kumimoji="0" lang="en-U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1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72035335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kumimoji="0" lang="en-U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kumimoji="0" lang="en-U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kumimoji="0" lang="en-U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kumimoji="0" lang="en-U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1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23678623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kumimoji="0" lang="en-U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kumimoji="0" lang="en-U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kumimoji="0" lang="en-U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kumimoji="0" lang="en-U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1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83842231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kumimoji="0" lang="en-U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kumimoji="0" lang="en-U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kumimoji="0" lang="en-U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1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0806036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542833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Encoders – Priority Encoders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9"/>
            <a:ext cx="11743016" cy="184858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dirty="0"/>
              <a:t>By design, the Encoders should have only one input signals as HIGH. If more than 1 inputs are high, then there will be multiple outputs with same bits.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dirty="0"/>
              <a:t>The priority function allows the Encoder to produce a BCD output  corresponding to the highest-order input. If more than 1 bits are HIGH, then the lower order bits will follow “Don’t care” rule and will be ignored.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6">
                <a:extLst>
                  <a:ext uri="{FF2B5EF4-FFF2-40B4-BE49-F238E27FC236}">
                    <a16:creationId xmlns:a16="http://schemas.microsoft.com/office/drawing/2014/main" id="{81711665-5D7A-5878-1AF0-C6E82C4EFCF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20384" y="3381177"/>
              <a:ext cx="6979203" cy="3172023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634473">
                      <a:extLst>
                        <a:ext uri="{9D8B030D-6E8A-4147-A177-3AD203B41FA5}">
                          <a16:colId xmlns:a16="http://schemas.microsoft.com/office/drawing/2014/main" val="1622799176"/>
                        </a:ext>
                      </a:extLst>
                    </a:gridCol>
                    <a:gridCol w="634473">
                      <a:extLst>
                        <a:ext uri="{9D8B030D-6E8A-4147-A177-3AD203B41FA5}">
                          <a16:colId xmlns:a16="http://schemas.microsoft.com/office/drawing/2014/main" val="3976595367"/>
                        </a:ext>
                      </a:extLst>
                    </a:gridCol>
                    <a:gridCol w="634473">
                      <a:extLst>
                        <a:ext uri="{9D8B030D-6E8A-4147-A177-3AD203B41FA5}">
                          <a16:colId xmlns:a16="http://schemas.microsoft.com/office/drawing/2014/main" val="2994353103"/>
                        </a:ext>
                      </a:extLst>
                    </a:gridCol>
                    <a:gridCol w="634473">
                      <a:extLst>
                        <a:ext uri="{9D8B030D-6E8A-4147-A177-3AD203B41FA5}">
                          <a16:colId xmlns:a16="http://schemas.microsoft.com/office/drawing/2014/main" val="4089050060"/>
                        </a:ext>
                      </a:extLst>
                    </a:gridCol>
                    <a:gridCol w="634473">
                      <a:extLst>
                        <a:ext uri="{9D8B030D-6E8A-4147-A177-3AD203B41FA5}">
                          <a16:colId xmlns:a16="http://schemas.microsoft.com/office/drawing/2014/main" val="2896109130"/>
                        </a:ext>
                      </a:extLst>
                    </a:gridCol>
                    <a:gridCol w="634473">
                      <a:extLst>
                        <a:ext uri="{9D8B030D-6E8A-4147-A177-3AD203B41FA5}">
                          <a16:colId xmlns:a16="http://schemas.microsoft.com/office/drawing/2014/main" val="254732573"/>
                        </a:ext>
                      </a:extLst>
                    </a:gridCol>
                    <a:gridCol w="634473">
                      <a:extLst>
                        <a:ext uri="{9D8B030D-6E8A-4147-A177-3AD203B41FA5}">
                          <a16:colId xmlns:a16="http://schemas.microsoft.com/office/drawing/2014/main" val="197861000"/>
                        </a:ext>
                      </a:extLst>
                    </a:gridCol>
                    <a:gridCol w="634473">
                      <a:extLst>
                        <a:ext uri="{9D8B030D-6E8A-4147-A177-3AD203B41FA5}">
                          <a16:colId xmlns:a16="http://schemas.microsoft.com/office/drawing/2014/main" val="428486957"/>
                        </a:ext>
                      </a:extLst>
                    </a:gridCol>
                    <a:gridCol w="634473">
                      <a:extLst>
                        <a:ext uri="{9D8B030D-6E8A-4147-A177-3AD203B41FA5}">
                          <a16:colId xmlns:a16="http://schemas.microsoft.com/office/drawing/2014/main" val="1470399303"/>
                        </a:ext>
                      </a:extLst>
                    </a:gridCol>
                    <a:gridCol w="634473">
                      <a:extLst>
                        <a:ext uri="{9D8B030D-6E8A-4147-A177-3AD203B41FA5}">
                          <a16:colId xmlns:a16="http://schemas.microsoft.com/office/drawing/2014/main" val="1844918402"/>
                        </a:ext>
                      </a:extLst>
                    </a:gridCol>
                    <a:gridCol w="634473">
                      <a:extLst>
                        <a:ext uri="{9D8B030D-6E8A-4147-A177-3AD203B41FA5}">
                          <a16:colId xmlns:a16="http://schemas.microsoft.com/office/drawing/2014/main" val="2560013296"/>
                        </a:ext>
                      </a:extLst>
                    </a:gridCol>
                  </a:tblGrid>
                  <a:tr h="35244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smtClean="0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  <m:sub>
                                    <m:r>
                                      <a:rPr lang="en-US" sz="1600" b="1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smtClean="0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  <m:sub>
                                    <m:r>
                                      <a:rPr lang="en-US" sz="16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smtClean="0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  <m:sub>
                                    <m:r>
                                      <a:rPr lang="en-US" sz="16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smtClean="0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  <m:sub>
                                    <m:r>
                                      <a:rPr lang="en-US" sz="1600" b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smtClean="0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  <m:sub>
                                    <m:r>
                                      <a:rPr lang="en-US" sz="1600" b="1" smtClean="0"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smtClean="0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  <m:sub>
                                    <m:r>
                                      <a:rPr lang="en-US" sz="1600" b="1" smtClean="0"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smtClean="0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  <m:sub>
                                    <m:r>
                                      <a:rPr lang="en-US" sz="1600" b="1" smtClean="0"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smtClean="0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  <m:sub>
                                    <m:r>
                                      <a:rPr lang="en-US" sz="1600" b="1" smtClean="0">
                                        <a:latin typeface="Cambria Math" panose="02040503050406030204" pitchFamily="18" charset="0"/>
                                      </a:rPr>
                                      <m:t>𝟕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u="none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US" sz="1600" i="1" u="none" dirty="0"/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u="none" dirty="0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US" sz="1600" i="1" u="none" dirty="0"/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u="none" smtClean="0">
                                    <a:latin typeface="Cambria Math" panose="02040503050406030204" pitchFamily="18" charset="0"/>
                                  </a:rPr>
                                  <m:t>𝒛</m:t>
                                </m:r>
                              </m:oMath>
                            </m:oMathPara>
                          </a14:m>
                          <a:endParaRPr lang="en-US" sz="1600" i="1" u="none" dirty="0"/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54671497"/>
                      </a:ext>
                    </a:extLst>
                  </a:tr>
                  <a:tr h="35244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40166951"/>
                      </a:ext>
                    </a:extLst>
                  </a:tr>
                  <a:tr h="35244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69127878"/>
                      </a:ext>
                    </a:extLst>
                  </a:tr>
                  <a:tr h="35244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14129683"/>
                      </a:ext>
                    </a:extLst>
                  </a:tr>
                  <a:tr h="35244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11768726"/>
                      </a:ext>
                    </a:extLst>
                  </a:tr>
                  <a:tr h="35244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39149221"/>
                      </a:ext>
                    </a:extLst>
                  </a:tr>
                  <a:tr h="35244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sz="16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sz="16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sz="16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highlight>
                                <a:srgbClr val="FF0000"/>
                              </a:highlight>
                              <a:uLnTx/>
                              <a:uFillTx/>
                            </a:rPr>
                            <a:t>1</a:t>
                          </a:r>
                          <a:endParaRPr lang="en-US" sz="1600" b="1" dirty="0">
                            <a:highlight>
                              <a:srgbClr val="FF0000"/>
                            </a:highlight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sz="16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sz="16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sz="16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/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/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65979829"/>
                      </a:ext>
                    </a:extLst>
                  </a:tr>
                  <a:tr h="35244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3457461"/>
                      </a:ext>
                    </a:extLst>
                  </a:tr>
                  <a:tr h="35244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7016173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6">
                <a:extLst>
                  <a:ext uri="{FF2B5EF4-FFF2-40B4-BE49-F238E27FC236}">
                    <a16:creationId xmlns:a16="http://schemas.microsoft.com/office/drawing/2014/main" id="{81711665-5D7A-5878-1AF0-C6E82C4EFCF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20103935"/>
                  </p:ext>
                </p:extLst>
              </p:nvPr>
            </p:nvGraphicFramePr>
            <p:xfrm>
              <a:off x="220384" y="3381177"/>
              <a:ext cx="6979203" cy="3172023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634473">
                      <a:extLst>
                        <a:ext uri="{9D8B030D-6E8A-4147-A177-3AD203B41FA5}">
                          <a16:colId xmlns:a16="http://schemas.microsoft.com/office/drawing/2014/main" val="1622799176"/>
                        </a:ext>
                      </a:extLst>
                    </a:gridCol>
                    <a:gridCol w="634473">
                      <a:extLst>
                        <a:ext uri="{9D8B030D-6E8A-4147-A177-3AD203B41FA5}">
                          <a16:colId xmlns:a16="http://schemas.microsoft.com/office/drawing/2014/main" val="3976595367"/>
                        </a:ext>
                      </a:extLst>
                    </a:gridCol>
                    <a:gridCol w="634473">
                      <a:extLst>
                        <a:ext uri="{9D8B030D-6E8A-4147-A177-3AD203B41FA5}">
                          <a16:colId xmlns:a16="http://schemas.microsoft.com/office/drawing/2014/main" val="2994353103"/>
                        </a:ext>
                      </a:extLst>
                    </a:gridCol>
                    <a:gridCol w="634473">
                      <a:extLst>
                        <a:ext uri="{9D8B030D-6E8A-4147-A177-3AD203B41FA5}">
                          <a16:colId xmlns:a16="http://schemas.microsoft.com/office/drawing/2014/main" val="4089050060"/>
                        </a:ext>
                      </a:extLst>
                    </a:gridCol>
                    <a:gridCol w="634473">
                      <a:extLst>
                        <a:ext uri="{9D8B030D-6E8A-4147-A177-3AD203B41FA5}">
                          <a16:colId xmlns:a16="http://schemas.microsoft.com/office/drawing/2014/main" val="2896109130"/>
                        </a:ext>
                      </a:extLst>
                    </a:gridCol>
                    <a:gridCol w="634473">
                      <a:extLst>
                        <a:ext uri="{9D8B030D-6E8A-4147-A177-3AD203B41FA5}">
                          <a16:colId xmlns:a16="http://schemas.microsoft.com/office/drawing/2014/main" val="254732573"/>
                        </a:ext>
                      </a:extLst>
                    </a:gridCol>
                    <a:gridCol w="634473">
                      <a:extLst>
                        <a:ext uri="{9D8B030D-6E8A-4147-A177-3AD203B41FA5}">
                          <a16:colId xmlns:a16="http://schemas.microsoft.com/office/drawing/2014/main" val="197861000"/>
                        </a:ext>
                      </a:extLst>
                    </a:gridCol>
                    <a:gridCol w="634473">
                      <a:extLst>
                        <a:ext uri="{9D8B030D-6E8A-4147-A177-3AD203B41FA5}">
                          <a16:colId xmlns:a16="http://schemas.microsoft.com/office/drawing/2014/main" val="428486957"/>
                        </a:ext>
                      </a:extLst>
                    </a:gridCol>
                    <a:gridCol w="634473">
                      <a:extLst>
                        <a:ext uri="{9D8B030D-6E8A-4147-A177-3AD203B41FA5}">
                          <a16:colId xmlns:a16="http://schemas.microsoft.com/office/drawing/2014/main" val="1470399303"/>
                        </a:ext>
                      </a:extLst>
                    </a:gridCol>
                    <a:gridCol w="634473">
                      <a:extLst>
                        <a:ext uri="{9D8B030D-6E8A-4147-A177-3AD203B41FA5}">
                          <a16:colId xmlns:a16="http://schemas.microsoft.com/office/drawing/2014/main" val="1844918402"/>
                        </a:ext>
                      </a:extLst>
                    </a:gridCol>
                    <a:gridCol w="634473">
                      <a:extLst>
                        <a:ext uri="{9D8B030D-6E8A-4147-A177-3AD203B41FA5}">
                          <a16:colId xmlns:a16="http://schemas.microsoft.com/office/drawing/2014/main" val="2560013296"/>
                        </a:ext>
                      </a:extLst>
                    </a:gridCol>
                  </a:tblGrid>
                  <a:tr h="35244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962" r="-1002885" b="-8155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962" r="-902885" b="-8155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99048" r="-794286" b="-8155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1923" r="-701923" b="-8155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1923" r="-601923" b="-8155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1923" r="-501923" b="-8155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01923" r="-401923" b="-8155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01923" r="-301923" b="-8155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94286" r="-199048" b="-8155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902885" r="-100962" b="-8155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2885" r="-962" b="-81551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54671497"/>
                      </a:ext>
                    </a:extLst>
                  </a:tr>
                  <a:tr h="35244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40166951"/>
                      </a:ext>
                    </a:extLst>
                  </a:tr>
                  <a:tr h="35244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69127878"/>
                      </a:ext>
                    </a:extLst>
                  </a:tr>
                  <a:tr h="35244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14129683"/>
                      </a:ext>
                    </a:extLst>
                  </a:tr>
                  <a:tr h="35244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11768726"/>
                      </a:ext>
                    </a:extLst>
                  </a:tr>
                  <a:tr h="35244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39149221"/>
                      </a:ext>
                    </a:extLst>
                  </a:tr>
                  <a:tr h="35244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sz="16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sz="16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sz="16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highlight>
                                <a:srgbClr val="FF0000"/>
                              </a:highlight>
                              <a:uLnTx/>
                              <a:uFillTx/>
                            </a:rPr>
                            <a:t>1</a:t>
                          </a:r>
                          <a:endParaRPr lang="en-US" sz="1600" b="1" dirty="0">
                            <a:highlight>
                              <a:srgbClr val="FF0000"/>
                            </a:highlight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sz="16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sz="16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sz="16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/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/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65979829"/>
                      </a:ext>
                    </a:extLst>
                  </a:tr>
                  <a:tr h="35244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0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3457461"/>
                      </a:ext>
                    </a:extLst>
                  </a:tr>
                  <a:tr h="35244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1600" b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</a:rPr>
                            <a:t>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1</a:t>
                          </a:r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7016173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E86488E5-2A03-C75A-A82E-09CF01568B5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437832" y="3303391"/>
                <a:ext cx="4677968" cy="3172023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2400" dirty="0"/>
                  <a:t>In the Truth Table,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sz="2400" dirty="0"/>
                  <a:t> are both HIGH.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2400" dirty="0"/>
                  <a:t>In this case, the output can be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101</m:t>
                    </m:r>
                  </m:oMath>
                </a14:m>
                <a:r>
                  <a:rPr lang="en-US" sz="2400" dirty="0"/>
                  <a:t> as well as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011</m:t>
                    </m:r>
                  </m:oMath>
                </a14:m>
                <a:endParaRPr lang="en-US" sz="2400" dirty="0"/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2400" dirty="0"/>
                  <a:t>Priority Encoders will ignore the lower order bit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US" sz="2400" dirty="0"/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2400" dirty="0"/>
                  <a:t>The answer will be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101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E86488E5-2A03-C75A-A82E-09CF01568B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7832" y="3303391"/>
                <a:ext cx="4677968" cy="3172023"/>
              </a:xfrm>
              <a:prstGeom prst="rect">
                <a:avLst/>
              </a:prstGeom>
              <a:blipFill>
                <a:blip r:embed="rId4"/>
                <a:stretch>
                  <a:fillRect l="-1693" t="-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5450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Placeholder 7" descr="abstract image">
            <a:extLst>
              <a:ext uri="{FF2B5EF4-FFF2-40B4-BE49-F238E27FC236}">
                <a16:creationId xmlns:a16="http://schemas.microsoft.com/office/drawing/2014/main" id="{D5C5EA1B-F06D-4AD1-B526-89C2DF7722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2717" r="45642"/>
          <a:stretch/>
        </p:blipFill>
        <p:spPr>
          <a:xfrm rot="16200000">
            <a:off x="2667001" y="-2666999"/>
            <a:ext cx="6858000" cy="12192000"/>
          </a:xfrm>
          <a:prstGeom prst="rect">
            <a:avLst/>
          </a:prstGeom>
          <a:noFill/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4F7706BE-EF2E-459C-8778-01DDD354C63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rmAutofit/>
          </a:bodyPr>
          <a:lstStyle/>
          <a:p>
            <a:r>
              <a:rPr lang="en-US" sz="4000" spc="300" dirty="0"/>
              <a:t>THANK YOU</a:t>
            </a:r>
          </a:p>
        </p:txBody>
      </p:sp>
      <p:pic>
        <p:nvPicPr>
          <p:cNvPr id="24" name="Online Image Placeholder 23" descr="User">
            <a:extLst>
              <a:ext uri="{FF2B5EF4-FFF2-40B4-BE49-F238E27FC236}">
                <a16:creationId xmlns:a16="http://schemas.microsoft.com/office/drawing/2014/main" id="{E896B487-8C07-495F-95BF-B8F4960E1E8D}"/>
              </a:ext>
            </a:extLst>
          </p:cNvPr>
          <p:cNvPicPr>
            <a:picLocks noGrp="1" noChangeAspect="1"/>
          </p:cNvPicPr>
          <p:nvPr>
            <p:ph type="clipArt" sz="quarter" idx="19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/>
      </p:pic>
      <p:pic>
        <p:nvPicPr>
          <p:cNvPr id="12" name="Online Image Placeholder 11" descr="Smart Phone">
            <a:extLst>
              <a:ext uri="{FF2B5EF4-FFF2-40B4-BE49-F238E27FC236}">
                <a16:creationId xmlns:a16="http://schemas.microsoft.com/office/drawing/2014/main" id="{4E709B75-16EA-4581-AED9-567DEF45A6B2}"/>
              </a:ext>
            </a:extLst>
          </p:cNvPr>
          <p:cNvPicPr>
            <a:picLocks noGrp="1" noChangeAspect="1"/>
          </p:cNvPicPr>
          <p:nvPr>
            <p:ph type="clipArt" sz="quarter" idx="20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30873" y="3118670"/>
            <a:ext cx="730250" cy="730250"/>
          </a:xfrm>
        </p:spPr>
      </p:pic>
      <p:pic>
        <p:nvPicPr>
          <p:cNvPr id="28" name="Online Image Placeholder 27" descr="Envelope">
            <a:extLst>
              <a:ext uri="{FF2B5EF4-FFF2-40B4-BE49-F238E27FC236}">
                <a16:creationId xmlns:a16="http://schemas.microsoft.com/office/drawing/2014/main" id="{D4D09222-33EB-4F99-9A89-51E2E1E97584}"/>
              </a:ext>
            </a:extLst>
          </p:cNvPr>
          <p:cNvPicPr>
            <a:picLocks noGrp="1" noChangeAspect="1"/>
          </p:cNvPicPr>
          <p:nvPr>
            <p:ph type="clipArt" sz="quarter" idx="21"/>
          </p:nvPr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B070B25-2BBC-49AC-9CFA-1CD7195DF2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Owais Hussain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E2524A0-105C-4170-BB48-CD0756FB3DF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+92 345-3174270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E57A531-5B0F-485D-A015-BC78AD089BA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16525" y="3903126"/>
            <a:ext cx="3572351" cy="518795"/>
          </a:xfrm>
        </p:spPr>
        <p:txBody>
          <a:bodyPr>
            <a:normAutofit fontScale="92500"/>
          </a:bodyPr>
          <a:lstStyle/>
          <a:p>
            <a:r>
              <a:rPr lang="en-US" dirty="0"/>
              <a:t>owais.hussain@kiet.edu.pk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47C414-85D9-40D6-9BB3-5AF68A84F41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86288" y="5137992"/>
            <a:ext cx="7219423" cy="518795"/>
          </a:xfrm>
        </p:spPr>
        <p:txBody>
          <a:bodyPr/>
          <a:lstStyle/>
          <a:p>
            <a:r>
              <a:rPr lang="en-US" sz="1700" dirty="0"/>
              <a:t>https://www.researchgate.net/profile/Owais-Hussain-3</a:t>
            </a:r>
          </a:p>
        </p:txBody>
      </p:sp>
    </p:spTree>
    <p:extLst>
      <p:ext uri="{BB962C8B-B14F-4D97-AF65-F5344CB8AC3E}">
        <p14:creationId xmlns:p14="http://schemas.microsoft.com/office/powerpoint/2010/main" val="927727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53F52"/>
      </a:accent1>
      <a:accent2>
        <a:srgbClr val="E99757"/>
      </a:accent2>
      <a:accent3>
        <a:srgbClr val="2F3342"/>
      </a:accent3>
      <a:accent4>
        <a:srgbClr val="2C2153"/>
      </a:accent4>
      <a:accent5>
        <a:srgbClr val="01023B"/>
      </a:accent5>
      <a:accent6>
        <a:srgbClr val="7F7F7F"/>
      </a:accent6>
      <a:hlink>
        <a:srgbClr val="3A3838"/>
      </a:hlink>
      <a:folHlink>
        <a:srgbClr val="D0CEC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ch presentation_Win32_LW_v2.potx" id="{3AEEB70B-72AA-432B-B699-7833EBF4B1FE}" vid="{14A49A59-25D4-4203-BE02-DE6939C7C5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55BB9993-D5F9-46FA-B2E5-80E3632E982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B7E2D32-4FDD-4266-880C-17595B80143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3D9F223-918A-45AF-9B53-56AB9E5E21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 presentation</Template>
  <TotalTime>5154</TotalTime>
  <Words>1215</Words>
  <Application>Microsoft Office PowerPoint</Application>
  <PresentationFormat>Widescreen</PresentationFormat>
  <Paragraphs>760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Cambria Math</vt:lpstr>
      <vt:lpstr>Wingdings</vt:lpstr>
      <vt:lpstr>Office Theme</vt:lpstr>
      <vt:lpstr>DIGITAL LOGIC DESIGN (111776)</vt:lpstr>
      <vt:lpstr>Agenda</vt:lpstr>
      <vt:lpstr>Sample 2</vt:lpstr>
      <vt:lpstr>Sample 2</vt:lpstr>
      <vt:lpstr>Sample 2</vt:lpstr>
      <vt:lpstr>Sample 2</vt:lpstr>
      <vt:lpstr>Sample 2</vt:lpstr>
      <vt:lpstr>Sample 2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INFLUENCE MINING IN COMPLEX NETWORKS</dc:title>
  <dc:creator>Owais Ahmed</dc:creator>
  <cp:lastModifiedBy>Owais Ahmed</cp:lastModifiedBy>
  <cp:revision>491</cp:revision>
  <dcterms:created xsi:type="dcterms:W3CDTF">2022-11-22T20:08:03Z</dcterms:created>
  <dcterms:modified xsi:type="dcterms:W3CDTF">2023-05-13T04:53:30Z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