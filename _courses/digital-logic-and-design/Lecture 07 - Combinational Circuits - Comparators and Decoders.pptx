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2448" r:id="rId5"/>
    <p:sldId id="2462" r:id="rId6"/>
    <p:sldId id="2512" r:id="rId7"/>
    <p:sldId id="2513" r:id="rId8"/>
    <p:sldId id="2514" r:id="rId9"/>
    <p:sldId id="2515" r:id="rId10"/>
    <p:sldId id="2516" r:id="rId11"/>
    <p:sldId id="2517" r:id="rId12"/>
    <p:sldId id="2518" r:id="rId13"/>
    <p:sldId id="2519" r:id="rId14"/>
    <p:sldId id="2520" r:id="rId15"/>
    <p:sldId id="2521" r:id="rId16"/>
    <p:sldId id="2523" r:id="rId17"/>
    <p:sldId id="2524" r:id="rId18"/>
    <p:sldId id="2522" r:id="rId19"/>
    <p:sldId id="243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A9EC6DC-2EC1-4120-BB9F-606007DB316C}">
          <p14:sldIdLst>
            <p14:sldId id="2448"/>
            <p14:sldId id="2462"/>
            <p14:sldId id="2512"/>
            <p14:sldId id="2513"/>
            <p14:sldId id="2514"/>
            <p14:sldId id="2515"/>
            <p14:sldId id="2516"/>
            <p14:sldId id="2517"/>
            <p14:sldId id="2518"/>
            <p14:sldId id="2519"/>
            <p14:sldId id="2520"/>
            <p14:sldId id="2521"/>
            <p14:sldId id="2523"/>
            <p14:sldId id="2524"/>
            <p14:sldId id="2522"/>
            <p14:sldId id="243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9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4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A53F52"/>
    <a:srgbClr val="01023B"/>
    <a:srgbClr val="2F3342"/>
    <a:srgbClr val="2C2153"/>
    <a:srgbClr val="E99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B3EDF5-5D47-4A4C-B7C1-438542989AED}" v="1334" dt="2023-05-12T06:31:00.2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73" autoAdjust="0"/>
    <p:restoredTop sz="89150" autoAdjust="0"/>
  </p:normalViewPr>
  <p:slideViewPr>
    <p:cSldViewPr snapToGrid="0">
      <p:cViewPr varScale="1">
        <p:scale>
          <a:sx n="73" d="100"/>
          <a:sy n="73" d="100"/>
        </p:scale>
        <p:origin x="840" y="72"/>
      </p:cViewPr>
      <p:guideLst>
        <p:guide orient="horz" pos="1992"/>
        <p:guide pos="3840"/>
        <p:guide orient="horz" pos="1416"/>
      </p:guideLst>
    </p:cSldViewPr>
  </p:slideViewPr>
  <p:outlineViewPr>
    <p:cViewPr>
      <p:scale>
        <a:sx n="33" d="100"/>
        <a:sy n="33" d="100"/>
      </p:scale>
      <p:origin x="0" y="-518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8722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wais Ahmed" userId="6abc7d4556b3b071" providerId="LiveId" clId="{1105492D-8A17-4515-8455-269A7C52C7C9}"/>
    <pc:docChg chg="delSld modSection">
      <pc:chgData name="Owais Ahmed" userId="6abc7d4556b3b071" providerId="LiveId" clId="{1105492D-8A17-4515-8455-269A7C52C7C9}" dt="2023-05-13T04:53:54.331" v="0" actId="47"/>
      <pc:docMkLst>
        <pc:docMk/>
      </pc:docMkLst>
      <pc:sldChg chg="del">
        <pc:chgData name="Owais Ahmed" userId="6abc7d4556b3b071" providerId="LiveId" clId="{1105492D-8A17-4515-8455-269A7C52C7C9}" dt="2023-05-13T04:53:54.331" v="0" actId="47"/>
        <pc:sldMkLst>
          <pc:docMk/>
          <pc:sldMk cId="3001113582" sldId="2525"/>
        </pc:sldMkLst>
      </pc:sldChg>
      <pc:sldChg chg="del">
        <pc:chgData name="Owais Ahmed" userId="6abc7d4556b3b071" providerId="LiveId" clId="{1105492D-8A17-4515-8455-269A7C52C7C9}" dt="2023-05-13T04:53:54.331" v="0" actId="47"/>
        <pc:sldMkLst>
          <pc:docMk/>
          <pc:sldMk cId="202094545" sldId="2526"/>
        </pc:sldMkLst>
      </pc:sldChg>
      <pc:sldChg chg="del">
        <pc:chgData name="Owais Ahmed" userId="6abc7d4556b3b071" providerId="LiveId" clId="{1105492D-8A17-4515-8455-269A7C52C7C9}" dt="2023-05-13T04:53:54.331" v="0" actId="47"/>
        <pc:sldMkLst>
          <pc:docMk/>
          <pc:sldMk cId="1648087129" sldId="2527"/>
        </pc:sldMkLst>
      </pc:sldChg>
      <pc:sldChg chg="del">
        <pc:chgData name="Owais Ahmed" userId="6abc7d4556b3b071" providerId="LiveId" clId="{1105492D-8A17-4515-8455-269A7C52C7C9}" dt="2023-05-13T04:53:54.331" v="0" actId="47"/>
        <pc:sldMkLst>
          <pc:docMk/>
          <pc:sldMk cId="1433193464" sldId="2528"/>
        </pc:sldMkLst>
      </pc:sldChg>
      <pc:sldChg chg="del">
        <pc:chgData name="Owais Ahmed" userId="6abc7d4556b3b071" providerId="LiveId" clId="{1105492D-8A17-4515-8455-269A7C52C7C9}" dt="2023-05-13T04:53:54.331" v="0" actId="47"/>
        <pc:sldMkLst>
          <pc:docMk/>
          <pc:sldMk cId="542833528" sldId="2529"/>
        </pc:sldMkLst>
      </pc:sldChg>
      <pc:sldChg chg="del">
        <pc:chgData name="Owais Ahmed" userId="6abc7d4556b3b071" providerId="LiveId" clId="{1105492D-8A17-4515-8455-269A7C52C7C9}" dt="2023-05-13T04:53:54.331" v="0" actId="47"/>
        <pc:sldMkLst>
          <pc:docMk/>
          <pc:sldMk cId="3815450665" sldId="2530"/>
        </pc:sldMkLst>
      </pc:sldChg>
    </pc:docChg>
  </pc:docChgLst>
  <pc:docChgLst>
    <pc:chgData name="Owais Ahmed" userId="6abc7d4556b3b071" providerId="LiveId" clId="{66B3EDF5-5D47-4A4C-B7C1-438542989AED}"/>
    <pc:docChg chg="undo custSel addSld modSld sldOrd modSection">
      <pc:chgData name="Owais Ahmed" userId="6abc7d4556b3b071" providerId="LiveId" clId="{66B3EDF5-5D47-4A4C-B7C1-438542989AED}" dt="2023-05-12T06:31:00.211" v="1474" actId="20577"/>
      <pc:docMkLst>
        <pc:docMk/>
      </pc:docMkLst>
      <pc:sldChg chg="modSp mod modAnim">
        <pc:chgData name="Owais Ahmed" userId="6abc7d4556b3b071" providerId="LiveId" clId="{66B3EDF5-5D47-4A4C-B7C1-438542989AED}" dt="2023-05-12T05:34:57.038" v="413" actId="20577"/>
        <pc:sldMkLst>
          <pc:docMk/>
          <pc:sldMk cId="3001113582" sldId="2525"/>
        </pc:sldMkLst>
        <pc:spChg chg="mod">
          <ac:chgData name="Owais Ahmed" userId="6abc7d4556b3b071" providerId="LiveId" clId="{66B3EDF5-5D47-4A4C-B7C1-438542989AED}" dt="2023-05-12T05:34:57.038" v="413" actId="20577"/>
          <ac:spMkLst>
            <pc:docMk/>
            <pc:sldMk cId="3001113582" sldId="2525"/>
            <ac:spMk id="3" creationId="{4A1C0383-58FE-E486-295E-B33B8683B938}"/>
          </ac:spMkLst>
        </pc:spChg>
      </pc:sldChg>
      <pc:sldChg chg="addSp delSp modSp mod delAnim modAnim">
        <pc:chgData name="Owais Ahmed" userId="6abc7d4556b3b071" providerId="LiveId" clId="{66B3EDF5-5D47-4A4C-B7C1-438542989AED}" dt="2023-05-12T05:31:36.116" v="385" actId="20577"/>
        <pc:sldMkLst>
          <pc:docMk/>
          <pc:sldMk cId="1433193464" sldId="2528"/>
        </pc:sldMkLst>
        <pc:spChg chg="mod">
          <ac:chgData name="Owais Ahmed" userId="6abc7d4556b3b071" providerId="LiveId" clId="{66B3EDF5-5D47-4A4C-B7C1-438542989AED}" dt="2023-05-12T05:31:36.116" v="385" actId="20577"/>
          <ac:spMkLst>
            <pc:docMk/>
            <pc:sldMk cId="1433193464" sldId="2528"/>
            <ac:spMk id="3" creationId="{4A1C0383-58FE-E486-295E-B33B8683B938}"/>
          </ac:spMkLst>
        </pc:spChg>
        <pc:graphicFrameChg chg="add mod modGraphic">
          <ac:chgData name="Owais Ahmed" userId="6abc7d4556b3b071" providerId="LiveId" clId="{66B3EDF5-5D47-4A4C-B7C1-438542989AED}" dt="2023-05-12T05:27:57.653" v="110" actId="14100"/>
          <ac:graphicFrameMkLst>
            <pc:docMk/>
            <pc:sldMk cId="1433193464" sldId="2528"/>
            <ac:graphicFrameMk id="4" creationId="{DF9AFB90-19C1-CFF2-7505-1D4C3C29F626}"/>
          </ac:graphicFrameMkLst>
        </pc:graphicFrameChg>
        <pc:picChg chg="del">
          <ac:chgData name="Owais Ahmed" userId="6abc7d4556b3b071" providerId="LiveId" clId="{66B3EDF5-5D47-4A4C-B7C1-438542989AED}" dt="2023-05-12T05:12:39.477" v="0" actId="478"/>
          <ac:picMkLst>
            <pc:docMk/>
            <pc:sldMk cId="1433193464" sldId="2528"/>
            <ac:picMk id="5" creationId="{2F73BAA3-ED53-2E78-BBE6-36CD98ED8EDF}"/>
          </ac:picMkLst>
        </pc:picChg>
      </pc:sldChg>
      <pc:sldChg chg="delSp modSp add mod modAnim">
        <pc:chgData name="Owais Ahmed" userId="6abc7d4556b3b071" providerId="LiveId" clId="{66B3EDF5-5D47-4A4C-B7C1-438542989AED}" dt="2023-05-12T06:21:16.316" v="660" actId="5793"/>
        <pc:sldMkLst>
          <pc:docMk/>
          <pc:sldMk cId="542833528" sldId="2529"/>
        </pc:sldMkLst>
        <pc:spChg chg="mod">
          <ac:chgData name="Owais Ahmed" userId="6abc7d4556b3b071" providerId="LiveId" clId="{66B3EDF5-5D47-4A4C-B7C1-438542989AED}" dt="2023-05-12T06:21:16.316" v="660" actId="5793"/>
          <ac:spMkLst>
            <pc:docMk/>
            <pc:sldMk cId="542833528" sldId="2529"/>
            <ac:spMk id="3" creationId="{4A1C0383-58FE-E486-295E-B33B8683B938}"/>
          </ac:spMkLst>
        </pc:spChg>
        <pc:spChg chg="del">
          <ac:chgData name="Owais Ahmed" userId="6abc7d4556b3b071" providerId="LiveId" clId="{66B3EDF5-5D47-4A4C-B7C1-438542989AED}" dt="2023-05-12T05:36:52.163" v="439" actId="478"/>
          <ac:spMkLst>
            <pc:docMk/>
            <pc:sldMk cId="542833528" sldId="2529"/>
            <ac:spMk id="214" creationId="{00000000-0000-0000-0000-000000000000}"/>
          </ac:spMkLst>
        </pc:spChg>
        <pc:spChg chg="mod">
          <ac:chgData name="Owais Ahmed" userId="6abc7d4556b3b071" providerId="LiveId" clId="{66B3EDF5-5D47-4A4C-B7C1-438542989AED}" dt="2023-05-12T05:35:03.853" v="417" actId="20577"/>
          <ac:spMkLst>
            <pc:docMk/>
            <pc:sldMk cId="542833528" sldId="2529"/>
            <ac:spMk id="215" creationId="{00000000-0000-0000-0000-000000000000}"/>
          </ac:spMkLst>
        </pc:spChg>
        <pc:graphicFrameChg chg="mod modGraphic">
          <ac:chgData name="Owais Ahmed" userId="6abc7d4556b3b071" providerId="LiveId" clId="{66B3EDF5-5D47-4A4C-B7C1-438542989AED}" dt="2023-05-12T05:38:49.288" v="482" actId="20577"/>
          <ac:graphicFrameMkLst>
            <pc:docMk/>
            <pc:sldMk cId="542833528" sldId="2529"/>
            <ac:graphicFrameMk id="4" creationId="{DF9AFB90-19C1-CFF2-7505-1D4C3C29F626}"/>
          </ac:graphicFrameMkLst>
        </pc:graphicFrameChg>
      </pc:sldChg>
      <pc:sldChg chg="addSp delSp modSp add mod ord addAnim delAnim modAnim">
        <pc:chgData name="Owais Ahmed" userId="6abc7d4556b3b071" providerId="LiveId" clId="{66B3EDF5-5D47-4A4C-B7C1-438542989AED}" dt="2023-05-12T06:31:00.211" v="1474" actId="20577"/>
        <pc:sldMkLst>
          <pc:docMk/>
          <pc:sldMk cId="3815450665" sldId="2530"/>
        </pc:sldMkLst>
        <pc:spChg chg="add del mod">
          <ac:chgData name="Owais Ahmed" userId="6abc7d4556b3b071" providerId="LiveId" clId="{66B3EDF5-5D47-4A4C-B7C1-438542989AED}" dt="2023-05-12T06:27:23.186" v="1250" actId="14100"/>
          <ac:spMkLst>
            <pc:docMk/>
            <pc:sldMk cId="3815450665" sldId="2530"/>
            <ac:spMk id="3" creationId="{4A1C0383-58FE-E486-295E-B33B8683B938}"/>
          </ac:spMkLst>
        </pc:spChg>
        <pc:spChg chg="add del mod">
          <ac:chgData name="Owais Ahmed" userId="6abc7d4556b3b071" providerId="LiveId" clId="{66B3EDF5-5D47-4A4C-B7C1-438542989AED}" dt="2023-05-12T06:25:54.553" v="1132"/>
          <ac:spMkLst>
            <pc:docMk/>
            <pc:sldMk cId="3815450665" sldId="2530"/>
            <ac:spMk id="7" creationId="{A5D9E12E-97B8-81FD-444C-534133F87EC4}"/>
          </ac:spMkLst>
        </pc:spChg>
        <pc:spChg chg="add mod">
          <ac:chgData name="Owais Ahmed" userId="6abc7d4556b3b071" providerId="LiveId" clId="{66B3EDF5-5D47-4A4C-B7C1-438542989AED}" dt="2023-05-12T06:31:00.211" v="1474" actId="20577"/>
          <ac:spMkLst>
            <pc:docMk/>
            <pc:sldMk cId="3815450665" sldId="2530"/>
            <ac:spMk id="8" creationId="{E86488E5-2A03-C75A-A82E-09CF01568B5F}"/>
          </ac:spMkLst>
        </pc:spChg>
        <pc:spChg chg="mod">
          <ac:chgData name="Owais Ahmed" userId="6abc7d4556b3b071" providerId="LiveId" clId="{66B3EDF5-5D47-4A4C-B7C1-438542989AED}" dt="2023-05-12T06:21:30.038" v="684" actId="20577"/>
          <ac:spMkLst>
            <pc:docMk/>
            <pc:sldMk cId="3815450665" sldId="2530"/>
            <ac:spMk id="215" creationId="{00000000-0000-0000-0000-000000000000}"/>
          </ac:spMkLst>
        </pc:spChg>
        <pc:graphicFrameChg chg="add del mod">
          <ac:chgData name="Owais Ahmed" userId="6abc7d4556b3b071" providerId="LiveId" clId="{66B3EDF5-5D47-4A4C-B7C1-438542989AED}" dt="2023-05-12T06:24:31.198" v="1117"/>
          <ac:graphicFrameMkLst>
            <pc:docMk/>
            <pc:sldMk cId="3815450665" sldId="2530"/>
            <ac:graphicFrameMk id="4" creationId="{28291E2F-4666-6141-B8A4-41720C3B4C5D}"/>
          </ac:graphicFrameMkLst>
        </pc:graphicFrameChg>
        <pc:graphicFrameChg chg="add mod modGraphic">
          <ac:chgData name="Owais Ahmed" userId="6abc7d4556b3b071" providerId="LiveId" clId="{66B3EDF5-5D47-4A4C-B7C1-438542989AED}" dt="2023-05-12T06:30:52.158" v="1454" actId="113"/>
          <ac:graphicFrameMkLst>
            <pc:docMk/>
            <pc:sldMk cId="3815450665" sldId="2530"/>
            <ac:graphicFrameMk id="5" creationId="{81711665-5D7A-5878-1AF0-C6E82C4EFCF5}"/>
          </ac:graphicFrameMkLst>
        </pc:graphicFrameChg>
        <pc:picChg chg="del">
          <ac:chgData name="Owais Ahmed" userId="6abc7d4556b3b071" providerId="LiveId" clId="{66B3EDF5-5D47-4A4C-B7C1-438542989AED}" dt="2023-05-12T06:21:31.774" v="685" actId="478"/>
          <ac:picMkLst>
            <pc:docMk/>
            <pc:sldMk cId="3815450665" sldId="2530"/>
            <ac:picMk id="6" creationId="{E08C3D0A-1BD6-C3F5-B1A8-ACC00C030D1C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97DFCF-F890-A143-9133-C8B65C9B0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2C281-2434-D94F-B4BD-BA3CD4DB8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D5B4E-BF3E-3B45-A4BA-D6C3B92870D7}" type="datetimeFigureOut">
              <a:rPr lang="en-US" smtClean="0"/>
              <a:t>5/13/2023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7CBFA-633D-5540-AFAA-BE1F495EC6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B5631-D714-AD41-853B-A883ADC344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AE8BC-2AB3-9E4C-9797-2A6F8A74C7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9870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8621B-8C8E-49BA-8772-41D0FE75A082}" type="datetimeFigureOut">
              <a:rPr lang="en-US" smtClean="0"/>
              <a:t>5/13/2023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B34ED-4CDD-41C9-90F7-D768D5559A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97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8B34ED-4CDD-41C9-90F7-D768D5559A6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87606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71722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6918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81775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https://circuitverse.org/simulator/edit/2-bit-comparator-5a2a3ff7-a850-490a-9276-873238b5beb5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0250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96143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7305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17250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5485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29649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7731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 rtl="0">
              <a:buAutoNum type="arabicPeriod"/>
            </a:pPr>
            <a:r>
              <a:rPr lang="en-US" dirty="0"/>
              <a:t>https://circuitverse.org/simulator/edit/bcd-to-7-segment-decoder-0e272c25-de71-4748-a7dc-2e67fdf15968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31851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 rtl="0">
              <a:buAutoNum type="arabicPeriod"/>
            </a:pPr>
            <a:r>
              <a:rPr lang="en-US" dirty="0"/>
              <a:t>https://circuitverse.org/simulator/edit/bcd-to-7-segment-decoder-0e272c25-de71-4748-a7dc-2e67fdf15968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51529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820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12343" y="5922140"/>
            <a:ext cx="5167313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8235C5-25B1-4243-9762-4AAD3C08E8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0" y="3608511"/>
            <a:ext cx="4114800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cap="all" baseline="0"/>
            </a:lvl1pPr>
          </a:lstStyle>
          <a:p>
            <a:r>
              <a:rPr lang="en-US" spc="300" dirty="0"/>
              <a:t>ANNUAL REVIEW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B2C6E-DB6F-4476-8E95-9F6EC793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36" y="2445633"/>
            <a:ext cx="11490325" cy="823913"/>
          </a:xfrm>
        </p:spPr>
        <p:txBody>
          <a:bodyPr>
            <a:no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4000" cap="all" spc="300" baseline="0"/>
            </a:lvl1pPr>
          </a:lstStyle>
          <a:p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230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3D428-B974-43F4-9246-0A2EECA11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8819" y="642927"/>
            <a:ext cx="4846320" cy="1435947"/>
          </a:xfrm>
        </p:spPr>
        <p:txBody>
          <a:bodyPr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5400" baseline="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D00A38D-CFE8-4333-B9D2-D3E7EACA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68820" y="2078875"/>
            <a:ext cx="4114800" cy="3798888"/>
          </a:xfrm>
        </p:spPr>
        <p:txBody>
          <a:bodyPr>
            <a:noAutofit/>
          </a:bodyPr>
          <a:lstStyle>
            <a:lvl1pPr marL="0" indent="0">
              <a:buNone/>
              <a:defRPr sz="1800" spc="3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A8588E-221D-4931-A290-C5C418443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8820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11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5539E44-E270-49B4-8B0A-07870325A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5539" y="1546138"/>
            <a:ext cx="4023360" cy="464871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spc="300" baseline="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99617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0E4A3-5566-43FE-A59F-2C4F4FE7F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83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62871"/>
            <a:ext cx="5251450" cy="1661297"/>
          </a:xfrm>
        </p:spPr>
        <p:txBody>
          <a:bodyPr anchor="b"/>
          <a:lstStyle>
            <a:lvl1pPr algn="l">
              <a:defRPr sz="6000" spc="3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378134"/>
            <a:ext cx="5251450" cy="36512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6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9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>
            <a:noAutofit/>
          </a:bodyPr>
          <a:lstStyle>
            <a:lvl1pPr algn="l">
              <a:defRPr sz="3200" spc="300"/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263841"/>
            <a:ext cx="4018722" cy="4636392"/>
          </a:xfrm>
        </p:spPr>
        <p:txBody>
          <a:bodyPr lIns="0" rIns="0">
            <a:no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CA175D-816E-4F70-96CC-8A1FD0EB1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66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323519C8-24DE-471D-85A9-7A8AFACEC4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513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47F0F1E-7AF5-4B76-928C-7B28010C4F9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063D0E8E-9491-4AF0-918D-A0B782C5FD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13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042F54CB-9200-4D74-968A-0A3E5871D9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66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1D925119-27E3-496E-86BC-23416F94FB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513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F93AF7-D4DC-42B5-8A4F-B5F3ABBB0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1678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9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5D17-D652-4766-B11C-2E8D8390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767791"/>
            <a:ext cx="11002962" cy="823913"/>
          </a:xfrm>
        </p:spPr>
        <p:txBody>
          <a:bodyPr>
            <a:noAutofit/>
          </a:bodyPr>
          <a:lstStyle>
            <a:lvl1pPr>
              <a:defRPr sz="4800"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7A58C-70BA-43E5-BD90-83ADB63B0C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A60B7-2499-42C6-8A74-ACDAE2457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63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79BAC-E989-4203-B9B4-66280365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4607137"/>
            <a:ext cx="4114800" cy="4214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>
              <a:defRPr sz="1400" spc="30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CCC81E-A013-4315-AD13-97BA3AA955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8756" y="1569719"/>
            <a:ext cx="9234488" cy="2651443"/>
          </a:xfrm>
        </p:spPr>
        <p:txBody>
          <a:bodyPr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55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0EF11611-8537-47CC-87AC-2E25428B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1A63A52-1E65-414B-BBC3-D31F51579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8601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D7E0E1A-1E64-4A9A-9C8B-69486BD112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E462965-19D7-4A65-B394-9AE76A5B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3864355"/>
            <a:ext cx="5157787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FAEC14D1-0BEA-4D9A-9D96-A56B6A9B0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4531139"/>
            <a:ext cx="5157787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507BB47-1AB4-42F2-99FF-453A0622B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107" y="3864355"/>
            <a:ext cx="5183188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438D6EEA-A0DB-4B5F-8F41-A9C1F2C09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107" y="4531139"/>
            <a:ext cx="5183188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A4909F59-7529-454A-A1EF-3CC1EADE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83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id="{6186F91B-547E-43BC-9BCE-04619DAA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635DFA1-45D2-4EFE-8BB2-BE96634669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121" y="3669506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F2918FE-A84E-4303-AEF3-4FD66CDD7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438" y="1624013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2401025-9BC9-4BDD-97DA-CA763CF846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2155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B7C4AAB6-897A-4ABD-AD50-2D86B197E9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2920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90D65EC-6EB4-4594-91E9-5C3DE7C3B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1837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611CF730-D055-47C2-A626-299F429D4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2919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F09E06A6-BFDD-42BD-BA69-2CD3BEF0F7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59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58000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661160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CDEBF2-B5C9-4887-B717-81C3D1A7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6A7FA3-8C13-4E5A-88C4-4357C8AC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044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19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074D0F-754F-4F2C-A410-F222D2D234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Autofit/>
          </a:bodyPr>
          <a:lstStyle/>
          <a:p>
            <a:r>
              <a:rPr lang="en-US" sz="4000" spc="300"/>
              <a:t>Click to edit Master title style</a:t>
            </a:r>
            <a:endParaRPr lang="en-US" sz="4000" spc="30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137992"/>
            <a:ext cx="5167313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1D89734B-03E0-4ADE-8F62-C819F3E976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194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85971F4D-8B59-4B3E-9169-64E0EF1BA8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3664" y="3893330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90B19777-E2ED-419C-B486-857117FD08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9138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4" name="Online Image Placeholder 33">
            <a:extLst>
              <a:ext uri="{FF2B5EF4-FFF2-40B4-BE49-F238E27FC236}">
                <a16:creationId xmlns:a16="http://schemas.microsoft.com/office/drawing/2014/main" id="{1A58EB44-F532-4998-B316-61C738C37BF5}"/>
              </a:ext>
            </a:extLst>
          </p:cNvPr>
          <p:cNvSpPr>
            <a:spLocks noGrp="1"/>
          </p:cNvSpPr>
          <p:nvPr>
            <p:ph type="clipArt" sz="quarter" idx="19" hasCustomPrompt="1"/>
          </p:nvPr>
        </p:nvSpPr>
        <p:spPr>
          <a:xfrm>
            <a:off x="1754768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5" name="Online Image Placeholder 33">
            <a:extLst>
              <a:ext uri="{FF2B5EF4-FFF2-40B4-BE49-F238E27FC236}">
                <a16:creationId xmlns:a16="http://schemas.microsoft.com/office/drawing/2014/main" id="{33763C3C-3545-40BD-9B2C-DC4C0E4CE819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5730240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6" name="Online Image Placeholder 33">
            <a:extLst>
              <a:ext uri="{FF2B5EF4-FFF2-40B4-BE49-F238E27FC236}">
                <a16:creationId xmlns:a16="http://schemas.microsoft.com/office/drawing/2014/main" id="{1C5D3777-17F3-4225-8C52-2EF1DB4FD54A}"/>
              </a:ext>
            </a:extLst>
          </p:cNvPr>
          <p:cNvSpPr>
            <a:spLocks noGrp="1"/>
          </p:cNvSpPr>
          <p:nvPr>
            <p:ph type="clipArt" sz="quarter" idx="21" hasCustomPrompt="1"/>
          </p:nvPr>
        </p:nvSpPr>
        <p:spPr>
          <a:xfrm>
            <a:off x="9705712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17374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22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1" r:id="rId3"/>
    <p:sldLayoutId id="2147483651" r:id="rId4"/>
    <p:sldLayoutId id="2147483660" r:id="rId5"/>
    <p:sldLayoutId id="2147483677" r:id="rId6"/>
    <p:sldLayoutId id="2147483666" r:id="rId7"/>
    <p:sldLayoutId id="2147483679" r:id="rId8"/>
    <p:sldLayoutId id="2147483653" r:id="rId9"/>
    <p:sldLayoutId id="2147483678" r:id="rId10"/>
    <p:sldLayoutId id="2147483680" r:id="rId11"/>
    <p:sldLayoutId id="2147483681" r:id="rId12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png"/><Relationship Id="rId4" Type="http://schemas.openxmlformats.org/officeDocument/2006/relationships/image" Target="../media/image10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microsoft.com/office/2007/relationships/hdphoto" Target="../media/hdphoto1.wdp"/><Relationship Id="rId7" Type="http://schemas.openxmlformats.org/officeDocument/2006/relationships/image" Target="../media/image2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7.png"/><Relationship Id="rId5" Type="http://schemas.openxmlformats.org/officeDocument/2006/relationships/image" Target="../media/image26.svg"/><Relationship Id="rId4" Type="http://schemas.openxmlformats.org/officeDocument/2006/relationships/image" Target="../media/image25.png"/><Relationship Id="rId9" Type="http://schemas.openxmlformats.org/officeDocument/2006/relationships/image" Target="../media/image3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bstract image">
            <a:extLst>
              <a:ext uri="{FF2B5EF4-FFF2-40B4-BE49-F238E27FC236}">
                <a16:creationId xmlns:a16="http://schemas.microsoft.com/office/drawing/2014/main" id="{9AB29DBC-55D3-49D9-BB44-4936739C4B5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alphaModFix amt="52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/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79DC1498-E692-42BA-B69F-6D37E6CFA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7" y="1477926"/>
            <a:ext cx="11525730" cy="2307265"/>
          </a:xfrm>
        </p:spPr>
        <p:txBody>
          <a:bodyPr/>
          <a:lstStyle/>
          <a:p>
            <a:r>
              <a:rPr lang="en-US" sz="5400" b="1" dirty="0"/>
              <a:t>DIGITAL LOGIC DESIGN (111776)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E828D-1E63-455F-949D-0C5454A7FE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0837" y="5699050"/>
            <a:ext cx="11525730" cy="1073889"/>
          </a:xfrm>
        </p:spPr>
        <p:txBody>
          <a:bodyPr/>
          <a:lstStyle/>
          <a:p>
            <a:r>
              <a:rPr lang="en-US" sz="2000" dirty="0"/>
              <a:t>Dr. Owais Hussain</a:t>
            </a:r>
          </a:p>
        </p:txBody>
      </p:sp>
    </p:spTree>
    <p:extLst>
      <p:ext uri="{BB962C8B-B14F-4D97-AF65-F5344CB8AC3E}">
        <p14:creationId xmlns:p14="http://schemas.microsoft.com/office/powerpoint/2010/main" val="3927832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87B3-0A27-4EE9-979E-B69581E47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pic>
        <p:nvPicPr>
          <p:cNvPr id="8" name="Picture Placeholder 7" descr="group of people at a conference table">
            <a:extLst>
              <a:ext uri="{FF2B5EF4-FFF2-40B4-BE49-F238E27FC236}">
                <a16:creationId xmlns:a16="http://schemas.microsoft.com/office/drawing/2014/main" id="{BB76F5AB-0940-46E1-85F9-6A870D7D04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0370" r="20370"/>
          <a:stretch/>
        </p:blipFill>
        <p:spPr/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C89A40-EEAA-43AB-9A3A-B2CFDE450F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68820" y="2078875"/>
            <a:ext cx="4114800" cy="4136198"/>
          </a:xfrm>
        </p:spPr>
        <p:txBody>
          <a:bodyPr/>
          <a:lstStyle/>
          <a:p>
            <a:r>
              <a:rPr lang="en-US" dirty="0"/>
              <a:t>Comparators</a:t>
            </a:r>
          </a:p>
          <a:p>
            <a:r>
              <a:rPr lang="en-US" dirty="0"/>
              <a:t>Decoders</a:t>
            </a:r>
          </a:p>
          <a:p>
            <a:r>
              <a:rPr lang="en-US" dirty="0"/>
              <a:t>Binary to Decimal Decoder</a:t>
            </a:r>
          </a:p>
          <a:p>
            <a:r>
              <a:rPr lang="en-US" dirty="0"/>
              <a:t>7-Segment Display Decoder</a:t>
            </a:r>
          </a:p>
          <a:p>
            <a:r>
              <a:rPr lang="en-US" dirty="0"/>
              <a:t>Encoders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F8048-1E86-48F4-B246-D2F8C54B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098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Comparators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8"/>
                <a:ext cx="11743016" cy="4942828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Compares the magnitude of two input signals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There are 2 input signals and 3 outputs</a:t>
                </a:r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2800" dirty="0"/>
                  <a:t>Given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800" dirty="0"/>
                  <a:t> as input</a:t>
                </a:r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2800" dirty="0"/>
                  <a:t>Output 1 is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sz="2800" b="0" dirty="0"/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2800" dirty="0"/>
                  <a:t>Output 2 is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sz="2800" b="0" dirty="0"/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2800" dirty="0"/>
                  <a:t>Output 3 is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sz="2800" dirty="0"/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Only 1 output signal can be True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Basic operation is performed using XNOR (NAND) gate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8"/>
                <a:ext cx="11743016" cy="4942828"/>
              </a:xfrm>
              <a:prstGeom prst="rect">
                <a:avLst/>
              </a:prstGeom>
              <a:blipFill>
                <a:blip r:embed="rId3"/>
                <a:stretch>
                  <a:fillRect l="-1297" t="-1726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766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Comparators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8"/>
            <a:ext cx="11743016" cy="130145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1-bit Comparator</a:t>
            </a:r>
            <a:endParaRPr lang="en-US" sz="3000" dirty="0"/>
          </a:p>
        </p:txBody>
      </p:sp>
      <p:sp>
        <p:nvSpPr>
          <p:cNvPr id="4" name="object 7">
            <a:extLst>
              <a:ext uri="{FF2B5EF4-FFF2-40B4-BE49-F238E27FC236}">
                <a16:creationId xmlns:a16="http://schemas.microsoft.com/office/drawing/2014/main" id="{13D06C2E-EAB3-8B4A-95DA-D3CE1386F9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6664" y="2933291"/>
            <a:ext cx="4306736" cy="3619909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3429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50" dirty="0">
              <a:solidFill>
                <a:prstClr val="black"/>
              </a:solidFill>
            </a:endParaRPr>
          </a:p>
        </p:txBody>
      </p:sp>
      <p:pic>
        <p:nvPicPr>
          <p:cNvPr id="1026" name="Picture 2" descr="Binary Comparators">
            <a:extLst>
              <a:ext uri="{FF2B5EF4-FFF2-40B4-BE49-F238E27FC236}">
                <a16:creationId xmlns:a16="http://schemas.microsoft.com/office/drawing/2014/main" id="{758D6147-3607-4D34-1B46-8F7357D56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838" y="2933290"/>
            <a:ext cx="5166686" cy="3520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8353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Comparators – n-bit </a:t>
            </a:r>
            <a:endParaRPr lang="en-US" sz="320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8"/>
                <a:ext cx="11743016" cy="4942828"/>
              </a:xfrm>
              <a:prstGeom prst="rect">
                <a:avLst/>
              </a:prstGeom>
            </p:spPr>
            <p:txBody>
              <a:bodyPr>
                <a:normAutofit fontScale="925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2-bit Comparators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3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;</m:t>
                    </m:r>
                    <m:sSub>
                      <m:sSubPr>
                        <m:ctrlPr>
                          <a:rPr lang="en-US" sz="3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3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3400" dirty="0"/>
                  <a:t>)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3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.</m:t>
                    </m:r>
                    <m:sSub>
                      <m:sSubPr>
                        <m:ctrlPr>
                          <a:rPr lang="en-US" sz="3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+</m:t>
                    </m:r>
                    <m:bar>
                      <m:barPr>
                        <m:pos m:val="top"/>
                        <m:ctrlPr>
                          <a:rPr lang="en-US" sz="3400" b="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3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4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3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ba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.</m:t>
                    </m:r>
                    <m:bar>
                      <m:barPr>
                        <m:pos m:val="top"/>
                        <m:ctrlPr>
                          <a:rPr lang="en-US" sz="34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3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sz="3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bar>
                  </m:oMath>
                </a14:m>
                <a:r>
                  <a:rPr lang="en-US" sz="3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3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400" i="1">
                        <a:latin typeface="Cambria Math" panose="02040503050406030204" pitchFamily="18" charset="0"/>
                      </a:rPr>
                      <m:t>.</m:t>
                    </m:r>
                    <m:sSub>
                      <m:sSubPr>
                        <m:ctrlPr>
                          <a:rPr lang="en-US" sz="3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400" i="1">
                        <a:latin typeface="Cambria Math" panose="02040503050406030204" pitchFamily="18" charset="0"/>
                      </a:rPr>
                      <m:t>+</m:t>
                    </m:r>
                    <m:bar>
                      <m:barPr>
                        <m:pos m:val="top"/>
                        <m:ctrlPr>
                          <a:rPr lang="en-US" sz="34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3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4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3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bar>
                    <m:r>
                      <a:rPr lang="en-US" sz="3400" i="1">
                        <a:latin typeface="Cambria Math" panose="02040503050406030204" pitchFamily="18" charset="0"/>
                      </a:rPr>
                      <m:t>.</m:t>
                    </m:r>
                    <m:bar>
                      <m:barPr>
                        <m:pos m:val="top"/>
                        <m:ctrlPr>
                          <a:rPr lang="en-US" sz="34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3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4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sz="3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bar>
                  </m:oMath>
                </a14:m>
                <a:r>
                  <a:rPr lang="en-US" sz="3400" dirty="0"/>
                  <a:t>, then </a:t>
                </a: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3400" dirty="0"/>
                  <a:t>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.</m:t>
                    </m:r>
                    <m:sSub>
                      <m:sSubPr>
                        <m:ctrlPr>
                          <a:rPr lang="en-US" sz="3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3400" dirty="0"/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If the above is not true, then try </a:t>
                </a: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sz="3400" dirty="0"/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b="0" dirty="0"/>
                  <a:t>Since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3200" dirty="0"/>
                  <a:t>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32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3200" dirty="0"/>
                  <a:t>, meaning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200" i="1">
                        <a:latin typeface="Cambria Math" panose="02040503050406030204" pitchFamily="18" charset="0"/>
                      </a:rPr>
                      <m:t>.</m:t>
                    </m:r>
                    <m:bar>
                      <m:barPr>
                        <m:pos m:val="top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bar>
                  </m:oMath>
                </a14:m>
                <a:endParaRPr lang="en-US" sz="3200" dirty="0"/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Also,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3200" dirty="0"/>
                  <a:t>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32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32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3200" dirty="0"/>
                  <a:t>, meaning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200" i="1">
                        <a:latin typeface="Cambria Math" panose="02040503050406030204" pitchFamily="18" charset="0"/>
                      </a:rPr>
                      <m:t>.</m:t>
                    </m:r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3200" i="1">
                        <a:latin typeface="Cambria Math" panose="02040503050406030204" pitchFamily="18" charset="0"/>
                      </a:rPr>
                      <m:t>.</m:t>
                    </m:r>
                    <m:bar>
                      <m:barPr>
                        <m:pos m:val="top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bar>
                  </m:oMath>
                </a14:m>
                <a:endParaRPr lang="en-US" sz="3200" dirty="0"/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Therefore,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3200" dirty="0"/>
                  <a:t>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200" i="1">
                        <a:latin typeface="Cambria Math" panose="02040503050406030204" pitchFamily="18" charset="0"/>
                      </a:rPr>
                      <m:t>.</m:t>
                    </m:r>
                    <m:bar>
                      <m:barPr>
                        <m:pos m:val="top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bar>
                    <m:r>
                      <a:rPr lang="en-US" sz="32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200" i="1">
                        <a:latin typeface="Cambria Math" panose="02040503050406030204" pitchFamily="18" charset="0"/>
                      </a:rPr>
                      <m:t>.</m:t>
                    </m:r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3200" i="1">
                        <a:latin typeface="Cambria Math" panose="02040503050406030204" pitchFamily="18" charset="0"/>
                      </a:rPr>
                      <m:t>.</m:t>
                    </m:r>
                    <m:bar>
                      <m:barPr>
                        <m:pos m:val="top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ba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3200" dirty="0"/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If both the above are False, then </a:t>
                </a: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3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8"/>
                <a:ext cx="11743016" cy="4942828"/>
              </a:xfrm>
              <a:prstGeom prst="rect">
                <a:avLst/>
              </a:prstGeom>
              <a:blipFill>
                <a:blip r:embed="rId3"/>
                <a:stretch>
                  <a:fillRect l="-1090" t="-24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6582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Comparators – n-bit </a:t>
            </a:r>
            <a:endParaRPr lang="en-US" sz="320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8"/>
            <a:ext cx="11743016" cy="115485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We can also use a pair of 1-bit Comparators to create a 2-bit comparator.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32B1C1-CCFE-BD0A-EFF7-F2015D677D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675" y="2687440"/>
            <a:ext cx="8064649" cy="382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275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Comparators – n-bit </a:t>
            </a:r>
            <a:endParaRPr lang="en-US" sz="320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8"/>
                <a:ext cx="5875616" cy="4942828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4-bit comparator using a pair of 2-bit comparators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If the higher order bit is 1 for </a:t>
                </a: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3400" b="0" dirty="0"/>
                  <a:t> and higher order bit is 0 for </a:t>
                </a: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3400" b="0" dirty="0"/>
                  <a:t> then </a:t>
                </a: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sz="3400" b="0" dirty="0"/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b="0" dirty="0"/>
                  <a:t>Exercise: what will be the output if </a:t>
                </a: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=0110,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=0011</m:t>
                    </m:r>
                  </m:oMath>
                </a14:m>
                <a:r>
                  <a:rPr lang="en-US" sz="3400" b="0" dirty="0"/>
                  <a:t>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8"/>
                <a:ext cx="5875616" cy="4942828"/>
              </a:xfrm>
              <a:prstGeom prst="rect">
                <a:avLst/>
              </a:prstGeom>
              <a:blipFill>
                <a:blip r:embed="rId3"/>
                <a:stretch>
                  <a:fillRect l="-2593" t="-17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bject 2">
            <a:extLst>
              <a:ext uri="{FF2B5EF4-FFF2-40B4-BE49-F238E27FC236}">
                <a16:creationId xmlns:a16="http://schemas.microsoft.com/office/drawing/2014/main" id="{A3ABBF99-8FDF-D6DC-9B82-B181895A3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5998" y="1929618"/>
            <a:ext cx="5875617" cy="3853581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3429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5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0093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Decoders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8"/>
                <a:ext cx="11743016" cy="2210578"/>
              </a:xfrm>
              <a:prstGeom prst="rect">
                <a:avLst/>
              </a:prstGeom>
            </p:spPr>
            <p:txBody>
              <a:bodyPr>
                <a:normAutofit fontScale="70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A Decoder is a multi-input, multi-output digital circuit which Decodes </a:t>
                </a:r>
                <a14:m>
                  <m:oMath xmlns:m="http://schemas.openxmlformats.org/officeDocument/2006/math">
                    <m:r>
                      <a:rPr lang="en-US" sz="3400" b="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3400" dirty="0"/>
                  <a:t> inputs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400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sz="3400" b="0" i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3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400" dirty="0"/>
                  <a:t> possible outputs.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If a Decoder has active output as HIGH, then in the output set, only one output bit will be HIGH, all others will be LOW.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Similarly, if the active output is LOW, then only one output bit will be LOW, all others will be HIGH.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8"/>
                <a:ext cx="11743016" cy="2210578"/>
              </a:xfrm>
              <a:prstGeom prst="rect">
                <a:avLst/>
              </a:prstGeom>
              <a:blipFill>
                <a:blip r:embed="rId3"/>
                <a:stretch>
                  <a:fillRect l="-675" t="-5234" r="-830" b="-16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bject 6">
            <a:extLst>
              <a:ext uri="{FF2B5EF4-FFF2-40B4-BE49-F238E27FC236}">
                <a16:creationId xmlns:a16="http://schemas.microsoft.com/office/drawing/2014/main" id="{98DFEECE-746A-B3B1-F649-546CFF5DF057}"/>
              </a:ext>
            </a:extLst>
          </p:cNvPr>
          <p:cNvSpPr/>
          <p:nvPr/>
        </p:nvSpPr>
        <p:spPr>
          <a:xfrm>
            <a:off x="220384" y="3743166"/>
            <a:ext cx="5981019" cy="27604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FFFADE8B-00E0-E8EE-56D2-92F1E9D2C0E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41101054"/>
                  </p:ext>
                </p:extLst>
              </p:nvPr>
            </p:nvGraphicFramePr>
            <p:xfrm>
              <a:off x="6351174" y="3743169"/>
              <a:ext cx="5612226" cy="27604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35371">
                      <a:extLst>
                        <a:ext uri="{9D8B030D-6E8A-4147-A177-3AD203B41FA5}">
                          <a16:colId xmlns:a16="http://schemas.microsoft.com/office/drawing/2014/main" val="1622799176"/>
                        </a:ext>
                      </a:extLst>
                    </a:gridCol>
                    <a:gridCol w="935371">
                      <a:extLst>
                        <a:ext uri="{9D8B030D-6E8A-4147-A177-3AD203B41FA5}">
                          <a16:colId xmlns:a16="http://schemas.microsoft.com/office/drawing/2014/main" val="3976595367"/>
                        </a:ext>
                      </a:extLst>
                    </a:gridCol>
                    <a:gridCol w="935371">
                      <a:extLst>
                        <a:ext uri="{9D8B030D-6E8A-4147-A177-3AD203B41FA5}">
                          <a16:colId xmlns:a16="http://schemas.microsoft.com/office/drawing/2014/main" val="2994353103"/>
                        </a:ext>
                      </a:extLst>
                    </a:gridCol>
                    <a:gridCol w="935371">
                      <a:extLst>
                        <a:ext uri="{9D8B030D-6E8A-4147-A177-3AD203B41FA5}">
                          <a16:colId xmlns:a16="http://schemas.microsoft.com/office/drawing/2014/main" val="4089050060"/>
                        </a:ext>
                      </a:extLst>
                    </a:gridCol>
                    <a:gridCol w="935371">
                      <a:extLst>
                        <a:ext uri="{9D8B030D-6E8A-4147-A177-3AD203B41FA5}">
                          <a16:colId xmlns:a16="http://schemas.microsoft.com/office/drawing/2014/main" val="2896109130"/>
                        </a:ext>
                      </a:extLst>
                    </a:gridCol>
                    <a:gridCol w="935371">
                      <a:extLst>
                        <a:ext uri="{9D8B030D-6E8A-4147-A177-3AD203B41FA5}">
                          <a16:colId xmlns:a16="http://schemas.microsoft.com/office/drawing/2014/main" val="254732573"/>
                        </a:ext>
                      </a:extLst>
                    </a:gridCol>
                  </a:tblGrid>
                  <a:tr h="55208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54671497"/>
                      </a:ext>
                    </a:extLst>
                  </a:tr>
                  <a:tr h="5520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40166951"/>
                      </a:ext>
                    </a:extLst>
                  </a:tr>
                  <a:tr h="5520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69127878"/>
                      </a:ext>
                    </a:extLst>
                  </a:tr>
                  <a:tr h="5520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14129683"/>
                      </a:ext>
                    </a:extLst>
                  </a:tr>
                  <a:tr h="5520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1176872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FFFADE8B-00E0-E8EE-56D2-92F1E9D2C0E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41101054"/>
                  </p:ext>
                </p:extLst>
              </p:nvPr>
            </p:nvGraphicFramePr>
            <p:xfrm>
              <a:off x="6351174" y="3743169"/>
              <a:ext cx="5612226" cy="27604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35371">
                      <a:extLst>
                        <a:ext uri="{9D8B030D-6E8A-4147-A177-3AD203B41FA5}">
                          <a16:colId xmlns:a16="http://schemas.microsoft.com/office/drawing/2014/main" val="1622799176"/>
                        </a:ext>
                      </a:extLst>
                    </a:gridCol>
                    <a:gridCol w="935371">
                      <a:extLst>
                        <a:ext uri="{9D8B030D-6E8A-4147-A177-3AD203B41FA5}">
                          <a16:colId xmlns:a16="http://schemas.microsoft.com/office/drawing/2014/main" val="3976595367"/>
                        </a:ext>
                      </a:extLst>
                    </a:gridCol>
                    <a:gridCol w="935371">
                      <a:extLst>
                        <a:ext uri="{9D8B030D-6E8A-4147-A177-3AD203B41FA5}">
                          <a16:colId xmlns:a16="http://schemas.microsoft.com/office/drawing/2014/main" val="2994353103"/>
                        </a:ext>
                      </a:extLst>
                    </a:gridCol>
                    <a:gridCol w="935371">
                      <a:extLst>
                        <a:ext uri="{9D8B030D-6E8A-4147-A177-3AD203B41FA5}">
                          <a16:colId xmlns:a16="http://schemas.microsoft.com/office/drawing/2014/main" val="4089050060"/>
                        </a:ext>
                      </a:extLst>
                    </a:gridCol>
                    <a:gridCol w="935371">
                      <a:extLst>
                        <a:ext uri="{9D8B030D-6E8A-4147-A177-3AD203B41FA5}">
                          <a16:colId xmlns:a16="http://schemas.microsoft.com/office/drawing/2014/main" val="2896109130"/>
                        </a:ext>
                      </a:extLst>
                    </a:gridCol>
                    <a:gridCol w="935371">
                      <a:extLst>
                        <a:ext uri="{9D8B030D-6E8A-4147-A177-3AD203B41FA5}">
                          <a16:colId xmlns:a16="http://schemas.microsoft.com/office/drawing/2014/main" val="254732573"/>
                        </a:ext>
                      </a:extLst>
                    </a:gridCol>
                  </a:tblGrid>
                  <a:tr h="55208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649" t="-5495" r="-501299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01307" t="-5495" r="-404575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54671497"/>
                      </a:ext>
                    </a:extLst>
                  </a:tr>
                  <a:tr h="5520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40166951"/>
                      </a:ext>
                    </a:extLst>
                  </a:tr>
                  <a:tr h="5520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69127878"/>
                      </a:ext>
                    </a:extLst>
                  </a:tr>
                  <a:tr h="5520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14129683"/>
                      </a:ext>
                    </a:extLst>
                  </a:tr>
                  <a:tr h="5520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1176872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635332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Decoders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8"/>
                <a:ext cx="11743016" cy="2776166"/>
              </a:xfrm>
              <a:prstGeom prst="rect">
                <a:avLst/>
              </a:prstGeom>
            </p:spPr>
            <p:txBody>
              <a:bodyPr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Example: what will be the logic circuit required to Decode a binary code </a:t>
                </a: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1011</m:t>
                    </m:r>
                  </m:oMath>
                </a14:m>
                <a:r>
                  <a:rPr lang="en-US" sz="3400" dirty="0"/>
                  <a:t>?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3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bar>
                      <m:barPr>
                        <m:pos m:val="top"/>
                        <m:ctrlPr>
                          <a:rPr lang="en-US" sz="340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3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4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3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bar>
                    <m:sSub>
                      <m:sSubPr>
                        <m:ctrlPr>
                          <a:rPr lang="en-US" sz="3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3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3400" dirty="0"/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Can you provide the logic circuit for a Decoder, which is 1 only on input </a:t>
                </a: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1001</m:t>
                    </m:r>
                  </m:oMath>
                </a14:m>
                <a:r>
                  <a:rPr lang="en-US" sz="3400" dirty="0"/>
                  <a:t>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8"/>
                <a:ext cx="11743016" cy="2776166"/>
              </a:xfrm>
              <a:prstGeom prst="rect">
                <a:avLst/>
              </a:prstGeom>
              <a:blipFill>
                <a:blip r:embed="rId3"/>
                <a:stretch>
                  <a:fillRect l="-1297" t="-4825" b="-63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bject 6">
            <a:extLst>
              <a:ext uri="{FF2B5EF4-FFF2-40B4-BE49-F238E27FC236}">
                <a16:creationId xmlns:a16="http://schemas.microsoft.com/office/drawing/2014/main" id="{9CEEBCAD-7534-5DAC-3496-3C187C8B0C5A}"/>
              </a:ext>
            </a:extLst>
          </p:cNvPr>
          <p:cNvSpPr/>
          <p:nvPr/>
        </p:nvSpPr>
        <p:spPr>
          <a:xfrm>
            <a:off x="545464" y="4469742"/>
            <a:ext cx="4878947" cy="172534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7E2FB018-2865-1103-B4C6-92B5CEF2563E}"/>
              </a:ext>
            </a:extLst>
          </p:cNvPr>
          <p:cNvSpPr/>
          <p:nvPr/>
        </p:nvSpPr>
        <p:spPr>
          <a:xfrm>
            <a:off x="6767591" y="4308754"/>
            <a:ext cx="4096420" cy="208941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4451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Decoders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8"/>
                <a:ext cx="11743016" cy="4857702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Designing a 4-bit Decoder.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If the input is 4 bits, then the output will be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=16</m:t>
                    </m:r>
                  </m:oMath>
                </a14:m>
                <a:r>
                  <a:rPr lang="en-US" sz="3400" dirty="0"/>
                  <a:t> bits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We will design the active-LOW Decoder, meaning only single output bit will be LOW.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Decoders are counter parts of Encoders. While Encoders are used to represent many states of data in a few lines, Decoder does the opposite.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8"/>
                <a:ext cx="11743016" cy="4857702"/>
              </a:xfrm>
              <a:prstGeom prst="rect">
                <a:avLst/>
              </a:prstGeom>
              <a:blipFill>
                <a:blip r:embed="rId3"/>
                <a:stretch>
                  <a:fillRect l="-1297" t="-1757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3898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Binary to Decimal Decoder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8"/>
            <a:ext cx="11743016" cy="57736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A 4-bit Binary to Decimal Decoder </a:t>
            </a:r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A93E5F76-531C-6E4A-9203-2B35913C7A0F}"/>
              </a:ext>
            </a:extLst>
          </p:cNvPr>
          <p:cNvSpPr/>
          <p:nvPr/>
        </p:nvSpPr>
        <p:spPr>
          <a:xfrm>
            <a:off x="220384" y="2099319"/>
            <a:ext cx="9354540" cy="4464514"/>
          </a:xfrm>
          <a:prstGeom prst="rect">
            <a:avLst/>
          </a:prstGeom>
          <a:blipFill>
            <a:blip r:embed="rId3" cstate="print"/>
            <a:stretch>
              <a:fillRect t="-15242" b="1"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0B1FBC3-E0D2-8950-ABFD-9CD2B37224D4}"/>
              </a:ext>
            </a:extLst>
          </p:cNvPr>
          <p:cNvGrpSpPr/>
          <p:nvPr/>
        </p:nvGrpSpPr>
        <p:grpSpPr>
          <a:xfrm>
            <a:off x="9574924" y="2680875"/>
            <a:ext cx="2059685" cy="3301401"/>
            <a:chOff x="6632829" y="2220235"/>
            <a:chExt cx="2059685" cy="3301401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79C44C3E-9295-D720-5C81-D8D6929ED6B3}"/>
                </a:ext>
              </a:extLst>
            </p:cNvPr>
            <p:cNvSpPr/>
            <p:nvPr/>
          </p:nvSpPr>
          <p:spPr>
            <a:xfrm>
              <a:off x="6791251" y="2220235"/>
              <a:ext cx="1728603" cy="330140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7CBF3BCE-D597-7173-0F89-75DB24B56413}"/>
                </a:ext>
              </a:extLst>
            </p:cNvPr>
            <p:cNvSpPr txBox="1"/>
            <p:nvPr/>
          </p:nvSpPr>
          <p:spPr>
            <a:xfrm>
              <a:off x="6632829" y="3450716"/>
              <a:ext cx="116205" cy="879475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sz="1400" b="1" spc="-110" dirty="0">
                  <a:solidFill>
                    <a:srgbClr val="FF0000"/>
                  </a:solidFill>
                  <a:latin typeface="Trebuchet MS"/>
                  <a:cs typeface="Trebuchet MS"/>
                </a:rPr>
                <a:t>0</a:t>
              </a:r>
              <a:endParaRPr sz="1400">
                <a:latin typeface="Trebuchet MS"/>
                <a:cs typeface="Trebuchet MS"/>
              </a:endParaRPr>
            </a:p>
            <a:p>
              <a:pPr marL="12700">
                <a:lnSpc>
                  <a:spcPct val="100000"/>
                </a:lnSpc>
              </a:pPr>
              <a:r>
                <a:rPr sz="1400" b="1" spc="-110" dirty="0">
                  <a:solidFill>
                    <a:srgbClr val="FF0000"/>
                  </a:solidFill>
                  <a:latin typeface="Trebuchet MS"/>
                  <a:cs typeface="Trebuchet MS"/>
                </a:rPr>
                <a:t>0</a:t>
              </a:r>
              <a:endParaRPr sz="1400">
                <a:latin typeface="Trebuchet MS"/>
                <a:cs typeface="Trebuchet MS"/>
              </a:endParaRPr>
            </a:p>
            <a:p>
              <a:pPr marL="12700">
                <a:lnSpc>
                  <a:spcPct val="100000"/>
                </a:lnSpc>
              </a:pPr>
              <a:r>
                <a:rPr sz="1400" b="1" spc="-110" dirty="0">
                  <a:solidFill>
                    <a:srgbClr val="FF0000"/>
                  </a:solidFill>
                  <a:latin typeface="Trebuchet MS"/>
                  <a:cs typeface="Trebuchet MS"/>
                </a:rPr>
                <a:t>0</a:t>
              </a:r>
              <a:endParaRPr sz="1400">
                <a:latin typeface="Trebuchet MS"/>
                <a:cs typeface="Trebuchet MS"/>
              </a:endParaRPr>
            </a:p>
            <a:p>
              <a:pPr marL="12700">
                <a:lnSpc>
                  <a:spcPct val="100000"/>
                </a:lnSpc>
              </a:pPr>
              <a:r>
                <a:rPr sz="1400" b="1" spc="-110" dirty="0">
                  <a:solidFill>
                    <a:srgbClr val="FF0000"/>
                  </a:solidFill>
                  <a:latin typeface="Trebuchet MS"/>
                  <a:cs typeface="Trebuchet MS"/>
                </a:rPr>
                <a:t>0</a:t>
              </a:r>
              <a:endParaRPr sz="1400">
                <a:latin typeface="Trebuchet MS"/>
                <a:cs typeface="Trebuchet MS"/>
              </a:endParaRPr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2FFD8032-2961-EE4B-9FD5-AA99C476C2C6}"/>
                </a:ext>
              </a:extLst>
            </p:cNvPr>
            <p:cNvSpPr txBox="1"/>
            <p:nvPr/>
          </p:nvSpPr>
          <p:spPr>
            <a:xfrm>
              <a:off x="8576309" y="2383663"/>
              <a:ext cx="116205" cy="3013710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sz="1400" b="1" spc="-110" dirty="0">
                  <a:solidFill>
                    <a:srgbClr val="FF0000"/>
                  </a:solidFill>
                  <a:latin typeface="Trebuchet MS"/>
                  <a:cs typeface="Trebuchet MS"/>
                </a:rPr>
                <a:t>0</a:t>
              </a:r>
              <a:endParaRPr sz="1400" dirty="0">
                <a:latin typeface="Trebuchet MS"/>
                <a:cs typeface="Trebuchet MS"/>
              </a:endParaRPr>
            </a:p>
            <a:p>
              <a:pPr marL="12700">
                <a:lnSpc>
                  <a:spcPct val="100000"/>
                </a:lnSpc>
              </a:pPr>
              <a:r>
                <a:rPr sz="1400" spc="-70" dirty="0">
                  <a:solidFill>
                    <a:srgbClr val="00AFEF"/>
                  </a:solidFill>
                  <a:latin typeface="Arial"/>
                  <a:cs typeface="Arial"/>
                </a:rPr>
                <a:t>1</a:t>
              </a:r>
              <a:endParaRPr sz="1400" dirty="0">
                <a:latin typeface="Arial"/>
                <a:cs typeface="Arial"/>
              </a:endParaRPr>
            </a:p>
            <a:p>
              <a:pPr marL="12700">
                <a:lnSpc>
                  <a:spcPct val="100000"/>
                </a:lnSpc>
              </a:pPr>
              <a:r>
                <a:rPr sz="1400" spc="-70" dirty="0">
                  <a:solidFill>
                    <a:srgbClr val="00AFEF"/>
                  </a:solidFill>
                  <a:latin typeface="Arial"/>
                  <a:cs typeface="Arial"/>
                </a:rPr>
                <a:t>1</a:t>
              </a:r>
              <a:endParaRPr sz="1400" dirty="0">
                <a:latin typeface="Arial"/>
                <a:cs typeface="Arial"/>
              </a:endParaRPr>
            </a:p>
            <a:p>
              <a:pPr marL="12700">
                <a:lnSpc>
                  <a:spcPct val="100000"/>
                </a:lnSpc>
              </a:pPr>
              <a:r>
                <a:rPr sz="1400" spc="-70" dirty="0">
                  <a:solidFill>
                    <a:srgbClr val="00AFEF"/>
                  </a:solidFill>
                  <a:latin typeface="Arial"/>
                  <a:cs typeface="Arial"/>
                </a:rPr>
                <a:t>1</a:t>
              </a:r>
              <a:endParaRPr sz="1400" dirty="0">
                <a:latin typeface="Arial"/>
                <a:cs typeface="Arial"/>
              </a:endParaRPr>
            </a:p>
            <a:p>
              <a:pPr marL="12700">
                <a:lnSpc>
                  <a:spcPct val="100000"/>
                </a:lnSpc>
              </a:pPr>
              <a:r>
                <a:rPr sz="1400" spc="-70" dirty="0">
                  <a:solidFill>
                    <a:srgbClr val="00AFEF"/>
                  </a:solidFill>
                  <a:latin typeface="Arial"/>
                  <a:cs typeface="Arial"/>
                </a:rPr>
                <a:t>1</a:t>
              </a:r>
              <a:endParaRPr sz="1400" dirty="0">
                <a:latin typeface="Arial"/>
                <a:cs typeface="Arial"/>
              </a:endParaRPr>
            </a:p>
            <a:p>
              <a:pPr marL="12700">
                <a:lnSpc>
                  <a:spcPct val="100000"/>
                </a:lnSpc>
              </a:pPr>
              <a:r>
                <a:rPr sz="1400" spc="-70" dirty="0">
                  <a:solidFill>
                    <a:srgbClr val="00AFEF"/>
                  </a:solidFill>
                  <a:latin typeface="Arial"/>
                  <a:cs typeface="Arial"/>
                </a:rPr>
                <a:t>1</a:t>
              </a:r>
              <a:endParaRPr sz="1400" dirty="0">
                <a:latin typeface="Arial"/>
                <a:cs typeface="Arial"/>
              </a:endParaRPr>
            </a:p>
            <a:p>
              <a:pPr marL="12700">
                <a:lnSpc>
                  <a:spcPct val="100000"/>
                </a:lnSpc>
              </a:pPr>
              <a:r>
                <a:rPr sz="1400" spc="-70" dirty="0">
                  <a:solidFill>
                    <a:srgbClr val="00AFEF"/>
                  </a:solidFill>
                  <a:latin typeface="Arial"/>
                  <a:cs typeface="Arial"/>
                </a:rPr>
                <a:t>1</a:t>
              </a:r>
              <a:endParaRPr sz="1400" dirty="0">
                <a:latin typeface="Arial"/>
                <a:cs typeface="Arial"/>
              </a:endParaRPr>
            </a:p>
            <a:p>
              <a:pPr marL="12700">
                <a:lnSpc>
                  <a:spcPct val="100000"/>
                </a:lnSpc>
              </a:pPr>
              <a:r>
                <a:rPr sz="1400" spc="-70" dirty="0">
                  <a:solidFill>
                    <a:srgbClr val="00AFEF"/>
                  </a:solidFill>
                  <a:latin typeface="Arial"/>
                  <a:cs typeface="Arial"/>
                </a:rPr>
                <a:t>1</a:t>
              </a:r>
              <a:endParaRPr sz="1400" dirty="0">
                <a:latin typeface="Arial"/>
                <a:cs typeface="Arial"/>
              </a:endParaRPr>
            </a:p>
            <a:p>
              <a:pPr marL="12700">
                <a:lnSpc>
                  <a:spcPct val="100000"/>
                </a:lnSpc>
              </a:pPr>
              <a:r>
                <a:rPr sz="1400" spc="-70" dirty="0">
                  <a:solidFill>
                    <a:srgbClr val="00AFEF"/>
                  </a:solidFill>
                  <a:latin typeface="Arial"/>
                  <a:cs typeface="Arial"/>
                </a:rPr>
                <a:t>1</a:t>
              </a:r>
              <a:endParaRPr sz="1400" dirty="0">
                <a:latin typeface="Arial"/>
                <a:cs typeface="Arial"/>
              </a:endParaRPr>
            </a:p>
            <a:p>
              <a:pPr marL="12700">
                <a:lnSpc>
                  <a:spcPct val="100000"/>
                </a:lnSpc>
              </a:pPr>
              <a:r>
                <a:rPr sz="1400" spc="-70" dirty="0">
                  <a:solidFill>
                    <a:srgbClr val="00AFEF"/>
                  </a:solidFill>
                  <a:latin typeface="Arial"/>
                  <a:cs typeface="Arial"/>
                </a:rPr>
                <a:t>1</a:t>
              </a:r>
              <a:endParaRPr sz="1400" dirty="0">
                <a:latin typeface="Arial"/>
                <a:cs typeface="Arial"/>
              </a:endParaRPr>
            </a:p>
            <a:p>
              <a:pPr marL="12700">
                <a:lnSpc>
                  <a:spcPct val="100000"/>
                </a:lnSpc>
              </a:pPr>
              <a:r>
                <a:rPr sz="1400" spc="-70" dirty="0">
                  <a:solidFill>
                    <a:srgbClr val="00AFEF"/>
                  </a:solidFill>
                  <a:latin typeface="Arial"/>
                  <a:cs typeface="Arial"/>
                </a:rPr>
                <a:t>1</a:t>
              </a:r>
              <a:endParaRPr sz="1400" dirty="0">
                <a:latin typeface="Arial"/>
                <a:cs typeface="Arial"/>
              </a:endParaRPr>
            </a:p>
            <a:p>
              <a:pPr marL="12700">
                <a:lnSpc>
                  <a:spcPct val="100000"/>
                </a:lnSpc>
              </a:pPr>
              <a:r>
                <a:rPr sz="1400" spc="-70" dirty="0">
                  <a:solidFill>
                    <a:srgbClr val="00AFEF"/>
                  </a:solidFill>
                  <a:latin typeface="Arial"/>
                  <a:cs typeface="Arial"/>
                </a:rPr>
                <a:t>1</a:t>
              </a:r>
              <a:endParaRPr sz="1400" dirty="0">
                <a:latin typeface="Arial"/>
                <a:cs typeface="Arial"/>
              </a:endParaRPr>
            </a:p>
            <a:p>
              <a:pPr marL="12700">
                <a:lnSpc>
                  <a:spcPct val="100000"/>
                </a:lnSpc>
              </a:pPr>
              <a:r>
                <a:rPr sz="1400" spc="-70" dirty="0">
                  <a:solidFill>
                    <a:srgbClr val="00AFEF"/>
                  </a:solidFill>
                  <a:latin typeface="Arial"/>
                  <a:cs typeface="Arial"/>
                </a:rPr>
                <a:t>1</a:t>
              </a:r>
              <a:endParaRPr sz="1400" dirty="0">
                <a:latin typeface="Arial"/>
                <a:cs typeface="Arial"/>
              </a:endParaRPr>
            </a:p>
            <a:p>
              <a:pPr marL="12700">
                <a:lnSpc>
                  <a:spcPct val="100000"/>
                </a:lnSpc>
              </a:pPr>
              <a:r>
                <a:rPr sz="1400" spc="-70" dirty="0">
                  <a:solidFill>
                    <a:srgbClr val="00AFEF"/>
                  </a:solidFill>
                  <a:latin typeface="Arial"/>
                  <a:cs typeface="Arial"/>
                </a:rPr>
                <a:t>1</a:t>
              </a:r>
              <a:endParaRPr sz="1400" dirty="0">
                <a:latin typeface="Arial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70142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7-Segment Display Decoder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7040487" cy="289226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What’s a 7-Segment Display?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How is each number represented?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BCD to 7-Segment Display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How will digit ‘7’ be displayed?</a:t>
            </a:r>
          </a:p>
        </p:txBody>
      </p:sp>
      <p:sp>
        <p:nvSpPr>
          <p:cNvPr id="4" name="object 6">
            <a:extLst>
              <a:ext uri="{FF2B5EF4-FFF2-40B4-BE49-F238E27FC236}">
                <a16:creationId xmlns:a16="http://schemas.microsoft.com/office/drawing/2014/main" id="{9C647149-9C80-441D-EB72-3838DA63EDC0}"/>
              </a:ext>
            </a:extLst>
          </p:cNvPr>
          <p:cNvSpPr/>
          <p:nvPr/>
        </p:nvSpPr>
        <p:spPr>
          <a:xfrm>
            <a:off x="9126509" y="1433074"/>
            <a:ext cx="1644705" cy="245154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1EC1DE95-46B7-0BDF-60D5-CB2B3B104D9F}"/>
              </a:ext>
            </a:extLst>
          </p:cNvPr>
          <p:cNvSpPr/>
          <p:nvPr/>
        </p:nvSpPr>
        <p:spPr>
          <a:xfrm>
            <a:off x="240097" y="4585841"/>
            <a:ext cx="7372903" cy="126968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F8489E17-B075-ED3B-E3B8-5DD74D67634D}"/>
              </a:ext>
            </a:extLst>
          </p:cNvPr>
          <p:cNvSpPr/>
          <p:nvPr/>
        </p:nvSpPr>
        <p:spPr>
          <a:xfrm>
            <a:off x="7934325" y="4212046"/>
            <a:ext cx="4029075" cy="200025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79534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7-Segment Display Decoder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8"/>
                <a:ext cx="11743016" cy="4857702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Since BCD are represented in 4-bit pairs, all 0-9 digits are represented in 4 bits.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To display ‘7’, the respective binary code will be set:</a:t>
                </a:r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=0;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=1;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=1;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3200" dirty="0"/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The 7-Segment Decoder decodes </a:t>
                </a:r>
                <a14:m>
                  <m:oMath xmlns:m="http://schemas.openxmlformats.org/officeDocument/2006/math">
                    <m:r>
                      <a:rPr lang="en-US" sz="3400" i="1" dirty="0" smtClean="0">
                        <a:latin typeface="Cambria Math" panose="02040503050406030204" pitchFamily="18" charset="0"/>
                      </a:rPr>
                      <m:t>0111</m:t>
                    </m:r>
                  </m:oMath>
                </a14:m>
                <a:r>
                  <a:rPr lang="en-US" sz="3400" dirty="0"/>
                  <a:t> and turns </a:t>
                </a: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3400" b="0" dirty="0"/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The LED’s mapped against output lines </a:t>
                </a: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3400" dirty="0"/>
                  <a:t> are lit up, while other 4 remain switched off.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8"/>
                <a:ext cx="11743016" cy="4857702"/>
              </a:xfrm>
              <a:prstGeom prst="rect">
                <a:avLst/>
              </a:prstGeom>
              <a:blipFill>
                <a:blip r:embed="rId3"/>
                <a:stretch>
                  <a:fillRect l="-1297" t="-1757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4964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7-Segment Display Decoder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7CE7F4-E379-81E5-825B-1730643775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1015" y="93087"/>
            <a:ext cx="4395892" cy="665455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5AF75C21-9502-DE89-43F7-856D4D4DD9B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8"/>
                <a:ext cx="4927438" cy="4857702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Complete circuit of 7-Segment Display Decoder.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In </a:t>
                </a:r>
                <a:r>
                  <a:rPr lang="en-US" sz="3400" dirty="0" err="1"/>
                  <a:t>Circuitverse</a:t>
                </a:r>
                <a:r>
                  <a:rPr lang="en-US" sz="3400" dirty="0"/>
                  <a:t>, the pin configuration is: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𝑇𝑅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𝐵𝑅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𝐵𝐿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𝑇𝐿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sz="2800" dirty="0"/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Visit the link given in notes to simulate</a:t>
                </a: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5AF75C21-9502-DE89-43F7-856D4D4DD9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8"/>
                <a:ext cx="4927438" cy="4857702"/>
              </a:xfrm>
              <a:prstGeom prst="rect">
                <a:avLst/>
              </a:prstGeom>
              <a:blipFill>
                <a:blip r:embed="rId4"/>
                <a:stretch>
                  <a:fillRect l="-3094" t="-1757" b="-3639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4E07A6CA-1A77-2819-6200-CC43DBC990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0662" y="1532351"/>
            <a:ext cx="2630353" cy="4963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511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Revision Activity (optional)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8"/>
            <a:ext cx="11743016" cy="485770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2600" b="1" dirty="0"/>
              <a:t>Rules: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en-US" sz="2600" dirty="0"/>
              <a:t>You will attempt half of these questions from each chapter, of your own choice.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en-US" sz="2600" dirty="0"/>
              <a:t>For each question where there are multiple parts, attempt only one part.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en-US" sz="2600" dirty="0"/>
              <a:t>On completion of this activity, you will retain full marks for 2 activities.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en-US" sz="2600" dirty="0"/>
              <a:t>Scan each solution separately and submit on LMS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en-US" sz="2600" dirty="0"/>
              <a:t>Zero tolerance on Plagiarism.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600" dirty="0"/>
              <a:t>Chapter 4: Q: 3, 4, 5, 8, 11, 13, 14, 15, 19, 21, 24, 29, 32, 36, 39, 41, 44, 50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600" dirty="0"/>
              <a:t>Chapter 5: Q: 2, 3, 14, 15, 20, 22, 23, 29, 30, 31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600" dirty="0"/>
              <a:t>Chapter 6: 2, 3, 4, 6, 13, 14</a:t>
            </a:r>
          </a:p>
        </p:txBody>
      </p:sp>
    </p:spTree>
    <p:extLst>
      <p:ext uri="{BB962C8B-B14F-4D97-AF65-F5344CB8AC3E}">
        <p14:creationId xmlns:p14="http://schemas.microsoft.com/office/powerpoint/2010/main" val="3203612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Placeholder 7" descr="abstract image">
            <a:extLst>
              <a:ext uri="{FF2B5EF4-FFF2-40B4-BE49-F238E27FC236}">
                <a16:creationId xmlns:a16="http://schemas.microsoft.com/office/drawing/2014/main" id="{D5C5EA1B-F06D-4AD1-B526-89C2DF772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2717" r="45642"/>
          <a:stretch/>
        </p:blipFill>
        <p:spPr>
          <a:xfrm rot="16200000">
            <a:off x="2667001" y="-2666999"/>
            <a:ext cx="6858000" cy="12192000"/>
          </a:xfrm>
          <a:prstGeom prst="rect">
            <a:avLst/>
          </a:prstGeom>
          <a:noFill/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F7706BE-EF2E-459C-8778-01DDD354C63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rmAutofit/>
          </a:bodyPr>
          <a:lstStyle/>
          <a:p>
            <a:r>
              <a:rPr lang="en-US" sz="4000" spc="300" dirty="0"/>
              <a:t>THANK YOU</a:t>
            </a:r>
          </a:p>
        </p:txBody>
      </p:sp>
      <p:pic>
        <p:nvPicPr>
          <p:cNvPr id="24" name="Online Image Placeholder 23" descr="User">
            <a:extLst>
              <a:ext uri="{FF2B5EF4-FFF2-40B4-BE49-F238E27FC236}">
                <a16:creationId xmlns:a16="http://schemas.microsoft.com/office/drawing/2014/main" id="{E896B487-8C07-495F-95BF-B8F4960E1E8D}"/>
              </a:ext>
            </a:extLst>
          </p:cNvPr>
          <p:cNvPicPr>
            <a:picLocks noGrp="1" noChangeAspect="1"/>
          </p:cNvPicPr>
          <p:nvPr>
            <p:ph type="clipArt" sz="quarter" idx="19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/>
      </p:pic>
      <p:pic>
        <p:nvPicPr>
          <p:cNvPr id="12" name="Online Image Placeholder 11" descr="Smart Phone">
            <a:extLst>
              <a:ext uri="{FF2B5EF4-FFF2-40B4-BE49-F238E27FC236}">
                <a16:creationId xmlns:a16="http://schemas.microsoft.com/office/drawing/2014/main" id="{4E709B75-16EA-4581-AED9-567DEF45A6B2}"/>
              </a:ext>
            </a:extLst>
          </p:cNvPr>
          <p:cNvPicPr>
            <a:picLocks noGrp="1" noChangeAspect="1"/>
          </p:cNvPicPr>
          <p:nvPr>
            <p:ph type="clipArt" sz="quarter" idx="20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30873" y="3118670"/>
            <a:ext cx="730250" cy="730250"/>
          </a:xfrm>
        </p:spPr>
      </p:pic>
      <p:pic>
        <p:nvPicPr>
          <p:cNvPr id="28" name="Online Image Placeholder 27" descr="Envelope">
            <a:extLst>
              <a:ext uri="{FF2B5EF4-FFF2-40B4-BE49-F238E27FC236}">
                <a16:creationId xmlns:a16="http://schemas.microsoft.com/office/drawing/2014/main" id="{D4D09222-33EB-4F99-9A89-51E2E1E97584}"/>
              </a:ext>
            </a:extLst>
          </p:cNvPr>
          <p:cNvPicPr>
            <a:picLocks noGrp="1" noChangeAspect="1"/>
          </p:cNvPicPr>
          <p:nvPr>
            <p:ph type="clipArt" sz="quarter" idx="21"/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070B25-2BBC-49AC-9CFA-1CD7195DF2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Owais Hussain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2524A0-105C-4170-BB48-CD0756FB3D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+92 345-3174270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E57A531-5B0F-485D-A015-BC78AD089BA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16525" y="3903126"/>
            <a:ext cx="3572351" cy="518795"/>
          </a:xfrm>
        </p:spPr>
        <p:txBody>
          <a:bodyPr>
            <a:normAutofit fontScale="92500"/>
          </a:bodyPr>
          <a:lstStyle/>
          <a:p>
            <a:r>
              <a:rPr lang="en-US" dirty="0"/>
              <a:t>owais.hussain@kiet.edu.pk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C414-85D9-40D6-9BB3-5AF68A84F4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86288" y="5137992"/>
            <a:ext cx="7219423" cy="518795"/>
          </a:xfrm>
        </p:spPr>
        <p:txBody>
          <a:bodyPr/>
          <a:lstStyle/>
          <a:p>
            <a:r>
              <a:rPr lang="en-US" sz="1700" dirty="0"/>
              <a:t>https://www.researchgate.net/profile/Owais-Hussain-3</a:t>
            </a:r>
          </a:p>
        </p:txBody>
      </p:sp>
    </p:spTree>
    <p:extLst>
      <p:ext uri="{BB962C8B-B14F-4D97-AF65-F5344CB8AC3E}">
        <p14:creationId xmlns:p14="http://schemas.microsoft.com/office/powerpoint/2010/main" val="927727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 presentation_Win32_LW_v2.potx" id="{3AEEB70B-72AA-432B-B699-7833EBF4B1FE}" vid="{14A49A59-25D4-4203-BE02-DE6939C7C5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3D9F223-918A-45AF-9B53-56AB9E5E21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1B7E2D32-4FDD-4266-880C-17595B80143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5BB9993-D5F9-46FA-B2E5-80E3632E98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presentation</Template>
  <TotalTime>5154</TotalTime>
  <Words>928</Words>
  <Application>Microsoft Office PowerPoint</Application>
  <PresentationFormat>Widescreen</PresentationFormat>
  <Paragraphs>158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Cambria Math</vt:lpstr>
      <vt:lpstr>Trebuchet MS</vt:lpstr>
      <vt:lpstr>Wingdings</vt:lpstr>
      <vt:lpstr>Office Theme</vt:lpstr>
      <vt:lpstr>DIGITAL LOGIC DESIGN (111776)</vt:lpstr>
      <vt:lpstr>Agenda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INFLUENCE MINING IN COMPLEX NETWORKS</dc:title>
  <dc:creator>Owais Ahmed</dc:creator>
  <cp:lastModifiedBy>Owais Ahmed</cp:lastModifiedBy>
  <cp:revision>491</cp:revision>
  <dcterms:created xsi:type="dcterms:W3CDTF">2022-11-22T20:08:03Z</dcterms:created>
  <dcterms:modified xsi:type="dcterms:W3CDTF">2023-05-13T04:53:57Z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